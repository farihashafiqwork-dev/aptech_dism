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57" r:id="rId9"/>
    <p:sldId id="258" r:id="rId10"/>
    <p:sldId id="259" r:id="rId11"/>
    <p:sldId id="260" r:id="rId12"/>
    <p:sldId id="296" r:id="rId13"/>
    <p:sldId id="267" r:id="rId14"/>
    <p:sldId id="268" r:id="rId15"/>
    <p:sldId id="270" r:id="rId16"/>
    <p:sldId id="278" r:id="rId17"/>
    <p:sldId id="280" r:id="rId18"/>
    <p:sldId id="281" r:id="rId19"/>
    <p:sldId id="271" r:id="rId20"/>
    <p:sldId id="272" r:id="rId21"/>
    <p:sldId id="275" r:id="rId22"/>
    <p:sldId id="273" r:id="rId23"/>
    <p:sldId id="297" r:id="rId24"/>
    <p:sldId id="298" r:id="rId25"/>
    <p:sldId id="300" r:id="rId26"/>
    <p:sldId id="279" r:id="rId27"/>
    <p:sldId id="299" r:id="rId28"/>
    <p:sldId id="274" r:id="rId29"/>
    <p:sldId id="276" r:id="rId30"/>
    <p:sldId id="277" r:id="rId31"/>
    <p:sldId id="285" r:id="rId32"/>
    <p:sldId id="286" r:id="rId33"/>
    <p:sldId id="287" r:id="rId34"/>
    <p:sldId id="282" r:id="rId35"/>
    <p:sldId id="283" r:id="rId36"/>
    <p:sldId id="284" r:id="rId37"/>
    <p:sldId id="288" r:id="rId38"/>
    <p:sldId id="290" r:id="rId39"/>
    <p:sldId id="289" r:id="rId40"/>
    <p:sldId id="291" r:id="rId41"/>
    <p:sldId id="292" r:id="rId42"/>
    <p:sldId id="293" r:id="rId43"/>
    <p:sldId id="294" r:id="rId44"/>
    <p:sldId id="29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hammad Shahryar" initials="MS" lastIdx="1" clrIdx="0">
    <p:extLst>
      <p:ext uri="{19B8F6BF-5375-455C-9EA6-DF929625EA0E}">
        <p15:presenceInfo xmlns:p15="http://schemas.microsoft.com/office/powerpoint/2012/main" userId="S-1-5-21-3985379720-896011338-3875669009-38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1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5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0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6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42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9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5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2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97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5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9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DEED8-D61F-46E2-8782-6ABDBEE9EA44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26D9B-CAEF-4253-A2F9-034ED18F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3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5289-C60C-4371-BD03-174979231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661" y="822553"/>
            <a:ext cx="5782716" cy="2150719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080808"/>
                </a:solidFill>
              </a:rPr>
              <a:t>Introduction to mySQL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FC195-C419-4044-B060-92164AAA3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3211118"/>
            <a:ext cx="3312734" cy="1141851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2000" dirty="0"/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17564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EAC9-7D5C-4B4C-9018-6C52040C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String Data Types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E45EE36-8ADC-4375-8D95-C30B9CC5F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380368"/>
              </p:ext>
            </p:extLst>
          </p:nvPr>
        </p:nvGraphicFramePr>
        <p:xfrm>
          <a:off x="1399732" y="1904778"/>
          <a:ext cx="8722464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705">
                  <a:extLst>
                    <a:ext uri="{9D8B030D-6E8A-4147-A177-3AD203B41FA5}">
                      <a16:colId xmlns:a16="http://schemas.microsoft.com/office/drawing/2014/main" val="1990849163"/>
                    </a:ext>
                  </a:extLst>
                </a:gridCol>
                <a:gridCol w="6517759">
                  <a:extLst>
                    <a:ext uri="{9D8B030D-6E8A-4147-A177-3AD203B41FA5}">
                      <a16:colId xmlns:a16="http://schemas.microsoft.com/office/drawing/2014/main" val="2420114618"/>
                    </a:ext>
                  </a:extLst>
                </a:gridCol>
              </a:tblGrid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Data type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04669808"/>
                  </a:ext>
                </a:extLst>
              </a:tr>
              <a:tr h="103668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CHAR(size)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 FIXED length string (can contain letters, numbers, and special characters). The 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 parameter specifies the column length in characters - can be from 0 to 255. Default is 1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712261340"/>
                  </a:ext>
                </a:extLst>
              </a:tr>
              <a:tr h="1036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VARCHAR(size)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VARIABLE length string (can contain letters, numbers, and special characters). The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 parameter specifies the maximum column length in characters - can be from 0 to 65535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00520284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BINARY(size)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Equal to CHAR(), but stores binary byte strings. The 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 parameter specifies the column length in bytes. Default is 1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3123051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VARBINARY(size)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Equal to VARCHAR(), but stores binary byte strings. The 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 parameter specifies the maximum column length in bytes.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71329225"/>
                  </a:ext>
                </a:extLst>
              </a:tr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TINYBLOB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For BLOBs (Binary Large </a:t>
                      </a:r>
                      <a:r>
                        <a:rPr lang="en-US" dirty="0" err="1">
                          <a:effectLst/>
                        </a:rPr>
                        <a:t>OBjects</a:t>
                      </a:r>
                      <a:r>
                        <a:rPr lang="en-US" dirty="0">
                          <a:effectLst/>
                        </a:rPr>
                        <a:t>). Max length: 255 bytes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04732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697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EAC9-7D5C-4B4C-9018-6C52040C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String Data Types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E45EE36-8ADC-4375-8D95-C30B9CC5F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245461"/>
              </p:ext>
            </p:extLst>
          </p:nvPr>
        </p:nvGraphicFramePr>
        <p:xfrm>
          <a:off x="1399732" y="1904778"/>
          <a:ext cx="8722464" cy="4819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705">
                  <a:extLst>
                    <a:ext uri="{9D8B030D-6E8A-4147-A177-3AD203B41FA5}">
                      <a16:colId xmlns:a16="http://schemas.microsoft.com/office/drawing/2014/main" val="1990849163"/>
                    </a:ext>
                  </a:extLst>
                </a:gridCol>
                <a:gridCol w="6517759">
                  <a:extLst>
                    <a:ext uri="{9D8B030D-6E8A-4147-A177-3AD203B41FA5}">
                      <a16:colId xmlns:a16="http://schemas.microsoft.com/office/drawing/2014/main" val="2420114618"/>
                    </a:ext>
                  </a:extLst>
                </a:gridCol>
              </a:tblGrid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Data type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04669808"/>
                  </a:ext>
                </a:extLst>
              </a:tr>
              <a:tr h="103668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TINYTEXT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Holds a string with a maximum length of 255 characters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712261340"/>
                  </a:ext>
                </a:extLst>
              </a:tr>
              <a:tr h="103668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TEXT(size)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Holds a string with a maximum length of 65,535 bytes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00520284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BLOB(size)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For BLOBs (Binary Large </a:t>
                      </a:r>
                      <a:r>
                        <a:rPr lang="en-US" dirty="0" err="1">
                          <a:effectLst/>
                        </a:rPr>
                        <a:t>OBjects</a:t>
                      </a:r>
                      <a:r>
                        <a:rPr lang="en-US" dirty="0">
                          <a:effectLst/>
                        </a:rPr>
                        <a:t>). Holds up to 65,535 bytes of data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3123051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MEDIUMTEXT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Holds a string with a maximum length of 16,777,215 characters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71329225"/>
                  </a:ext>
                </a:extLst>
              </a:tr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MEDIUMBLOB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For BLOBs (Binary Large </a:t>
                      </a:r>
                      <a:r>
                        <a:rPr lang="en-US" dirty="0" err="1">
                          <a:effectLst/>
                        </a:rPr>
                        <a:t>OBjects</a:t>
                      </a:r>
                      <a:r>
                        <a:rPr lang="en-US" dirty="0">
                          <a:effectLst/>
                        </a:rPr>
                        <a:t>). Holds up to 16,777,215 bytes of data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04732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464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EAC9-7D5C-4B4C-9018-6C52040C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numeric Data Types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E45EE36-8ADC-4375-8D95-C30B9CC5F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030641"/>
              </p:ext>
            </p:extLst>
          </p:nvPr>
        </p:nvGraphicFramePr>
        <p:xfrm>
          <a:off x="1399732" y="1904778"/>
          <a:ext cx="8722464" cy="4649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705">
                  <a:extLst>
                    <a:ext uri="{9D8B030D-6E8A-4147-A177-3AD203B41FA5}">
                      <a16:colId xmlns:a16="http://schemas.microsoft.com/office/drawing/2014/main" val="1990849163"/>
                    </a:ext>
                  </a:extLst>
                </a:gridCol>
                <a:gridCol w="6517759">
                  <a:extLst>
                    <a:ext uri="{9D8B030D-6E8A-4147-A177-3AD203B41FA5}">
                      <a16:colId xmlns:a16="http://schemas.microsoft.com/office/drawing/2014/main" val="2420114618"/>
                    </a:ext>
                  </a:extLst>
                </a:gridCol>
              </a:tblGrid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Data type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04669808"/>
                  </a:ext>
                </a:extLst>
              </a:tr>
              <a:tr h="103668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BIT(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bit-value type. The number of bits per value is specified in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. The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 parameter can hold a value from 1 to 64. The default value for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 is 1.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00520284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TINYINT(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 very small integer. Signed range is from -128 to 127. Unsigned range is from 0 to 255. The 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 parameter specifies the maximum display width (which is 255)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3123051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BOOL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Zero is considered as false, nonzero values are considered as true.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71329225"/>
                  </a:ext>
                </a:extLst>
              </a:tr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BOOLEAN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Equal to BOOL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04732995"/>
                  </a:ext>
                </a:extLst>
              </a:tr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SMALLINT(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small integer. Signed range is from -32768 to 32767. Unsigned range is from 0 to 65535. The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 parameter specifies the maximum display width (which is 255)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66259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075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EAC9-7D5C-4B4C-9018-6C52040C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numeric Data Types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E45EE36-8ADC-4375-8D95-C30B9CC5F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225301"/>
              </p:ext>
            </p:extLst>
          </p:nvPr>
        </p:nvGraphicFramePr>
        <p:xfrm>
          <a:off x="1399732" y="1904778"/>
          <a:ext cx="8722464" cy="4771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705">
                  <a:extLst>
                    <a:ext uri="{9D8B030D-6E8A-4147-A177-3AD203B41FA5}">
                      <a16:colId xmlns:a16="http://schemas.microsoft.com/office/drawing/2014/main" val="1990849163"/>
                    </a:ext>
                  </a:extLst>
                </a:gridCol>
                <a:gridCol w="6517759">
                  <a:extLst>
                    <a:ext uri="{9D8B030D-6E8A-4147-A177-3AD203B41FA5}">
                      <a16:colId xmlns:a16="http://schemas.microsoft.com/office/drawing/2014/main" val="2420114618"/>
                    </a:ext>
                  </a:extLst>
                </a:gridCol>
              </a:tblGrid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Data type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04669808"/>
                  </a:ext>
                </a:extLst>
              </a:tr>
              <a:tr h="1036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MEDIUMINT(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 medium integer. Signed range is from -8388608 to 8388607. Unsigned range is from 0 to 16777215. The 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 parameter specifies the maximum display width (which is 255)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00520284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INT(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 medium integer. Signed range is from -2147483648 to 2147483647. Unsigned range is from 0 to 4294967295. The 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 parameter specifies the maximum display width (which is 255)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3123051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INTEGER(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Equal to INT(size)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71329225"/>
                  </a:ext>
                </a:extLst>
              </a:tr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BIGINT(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large integer. Signed range is from -9223372036854775808 to 9223372036854775807. Unsigned range is from 0 to 18446744073709551615. The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 parameter specifies the maximum display width (which is 255)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04732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5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EAC9-7D5C-4B4C-9018-6C52040C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numeric Data Types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E45EE36-8ADC-4375-8D95-C30B9CC5F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264053"/>
              </p:ext>
            </p:extLst>
          </p:nvPr>
        </p:nvGraphicFramePr>
        <p:xfrm>
          <a:off x="1399732" y="1904778"/>
          <a:ext cx="8722464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705">
                  <a:extLst>
                    <a:ext uri="{9D8B030D-6E8A-4147-A177-3AD203B41FA5}">
                      <a16:colId xmlns:a16="http://schemas.microsoft.com/office/drawing/2014/main" val="1990849163"/>
                    </a:ext>
                  </a:extLst>
                </a:gridCol>
                <a:gridCol w="6517759">
                  <a:extLst>
                    <a:ext uri="{9D8B030D-6E8A-4147-A177-3AD203B41FA5}">
                      <a16:colId xmlns:a16="http://schemas.microsoft.com/office/drawing/2014/main" val="2420114618"/>
                    </a:ext>
                  </a:extLst>
                </a:gridCol>
              </a:tblGrid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Data type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04669808"/>
                  </a:ext>
                </a:extLst>
              </a:tr>
              <a:tr h="1036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FLOAT(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 i="1">
                          <a:effectLst/>
                        </a:rPr>
                        <a:t>d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floating point number. The total number of digits is specified in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. The number of digits after the decimal point is specified in the </a:t>
                      </a:r>
                      <a:r>
                        <a:rPr lang="en-US" i="1" dirty="0">
                          <a:effectLst/>
                        </a:rPr>
                        <a:t>d</a:t>
                      </a:r>
                      <a:r>
                        <a:rPr lang="en-US" dirty="0">
                          <a:effectLst/>
                        </a:rPr>
                        <a:t> parameter. This syntax is deprecated in MySQL 8.0.17, and it will be removed in future MySQL versions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00520284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FLOAT(</a:t>
                      </a:r>
                      <a:r>
                        <a:rPr lang="en-US" i="1">
                          <a:effectLst/>
                        </a:rPr>
                        <a:t>p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 floating point number. MySQL uses the </a:t>
                      </a:r>
                      <a:r>
                        <a:rPr lang="en-US" i="1">
                          <a:effectLst/>
                        </a:rPr>
                        <a:t>p</a:t>
                      </a:r>
                      <a:r>
                        <a:rPr lang="en-US">
                          <a:effectLst/>
                        </a:rPr>
                        <a:t> value to determine whether to use FLOAT or DOUBLE for the resulting data type. If </a:t>
                      </a:r>
                      <a:r>
                        <a:rPr lang="en-US" i="1">
                          <a:effectLst/>
                        </a:rPr>
                        <a:t>p</a:t>
                      </a:r>
                      <a:r>
                        <a:rPr lang="en-US">
                          <a:effectLst/>
                        </a:rPr>
                        <a:t> is from 0 to 24, the data type becomes FLOAT(). If </a:t>
                      </a:r>
                      <a:r>
                        <a:rPr lang="en-US" i="1">
                          <a:effectLst/>
                        </a:rPr>
                        <a:t>p</a:t>
                      </a:r>
                      <a:r>
                        <a:rPr lang="en-US">
                          <a:effectLst/>
                        </a:rPr>
                        <a:t> is from 25 to 53, the data type becomes DOUBLE()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3123051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DECIMAL(</a:t>
                      </a:r>
                      <a:r>
                        <a:rPr lang="en-US" i="1">
                          <a:effectLst/>
                        </a:rPr>
                        <a:t>size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 i="1">
                          <a:effectLst/>
                        </a:rPr>
                        <a:t>d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An exact fixed-point number. The total number of digits is specified in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. The number of digits after the decimal point is specified in the </a:t>
                      </a:r>
                      <a:r>
                        <a:rPr lang="en-US" i="1" dirty="0">
                          <a:effectLst/>
                        </a:rPr>
                        <a:t>d</a:t>
                      </a:r>
                      <a:r>
                        <a:rPr lang="en-US" dirty="0">
                          <a:effectLst/>
                        </a:rPr>
                        <a:t> parameter. The maximum number for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 is 65. The maximum number for </a:t>
                      </a:r>
                      <a:r>
                        <a:rPr lang="en-US" i="1" dirty="0">
                          <a:effectLst/>
                        </a:rPr>
                        <a:t>d</a:t>
                      </a:r>
                      <a:r>
                        <a:rPr lang="en-US" dirty="0">
                          <a:effectLst/>
                        </a:rPr>
                        <a:t> is 30. The default value for 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 is 10. The default value for </a:t>
                      </a:r>
                      <a:r>
                        <a:rPr lang="en-US" i="1" dirty="0">
                          <a:effectLst/>
                        </a:rPr>
                        <a:t>d</a:t>
                      </a:r>
                      <a:r>
                        <a:rPr lang="en-US" dirty="0">
                          <a:effectLst/>
                        </a:rPr>
                        <a:t> is 0.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71329225"/>
                  </a:ext>
                </a:extLst>
              </a:tr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DEC(</a:t>
                      </a:r>
                      <a:r>
                        <a:rPr lang="en-US" i="1" dirty="0">
                          <a:effectLst/>
                        </a:rPr>
                        <a:t>size</a:t>
                      </a:r>
                      <a:r>
                        <a:rPr lang="en-US" dirty="0">
                          <a:effectLst/>
                        </a:rPr>
                        <a:t>, </a:t>
                      </a:r>
                      <a:r>
                        <a:rPr lang="en-US" i="1" dirty="0">
                          <a:effectLst/>
                        </a:rPr>
                        <a:t>d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Equal to DECIMAL(</a:t>
                      </a:r>
                      <a:r>
                        <a:rPr lang="en-US" dirty="0" err="1">
                          <a:effectLst/>
                        </a:rPr>
                        <a:t>size,d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04732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39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EAC9-7D5C-4B4C-9018-6C52040C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numeric Data Types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E45EE36-8ADC-4375-8D95-C30B9CC5F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871953"/>
              </p:ext>
            </p:extLst>
          </p:nvPr>
        </p:nvGraphicFramePr>
        <p:xfrm>
          <a:off x="386317" y="2205054"/>
          <a:ext cx="11419366" cy="4219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961">
                  <a:extLst>
                    <a:ext uri="{9D8B030D-6E8A-4147-A177-3AD203B41FA5}">
                      <a16:colId xmlns:a16="http://schemas.microsoft.com/office/drawing/2014/main" val="1990849163"/>
                    </a:ext>
                  </a:extLst>
                </a:gridCol>
                <a:gridCol w="9537405">
                  <a:extLst>
                    <a:ext uri="{9D8B030D-6E8A-4147-A177-3AD203B41FA5}">
                      <a16:colId xmlns:a16="http://schemas.microsoft.com/office/drawing/2014/main" val="2420114618"/>
                    </a:ext>
                  </a:extLst>
                </a:gridCol>
              </a:tblGrid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Data type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04669808"/>
                  </a:ext>
                </a:extLst>
              </a:tr>
              <a:tr h="86633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DATE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date. Format: YYYY-MM-DD. The supported range is from '1000-01-01' to '9999-12-31'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00520284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DATETIME(</a:t>
                      </a:r>
                      <a:r>
                        <a:rPr lang="en-US" i="1" dirty="0" err="1">
                          <a:effectLst/>
                        </a:rPr>
                        <a:t>fsp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date and time combination. Format: YYYY-MM-DD </a:t>
                      </a:r>
                      <a:r>
                        <a:rPr lang="en-US" dirty="0" err="1">
                          <a:effectLst/>
                        </a:rPr>
                        <a:t>hh:mm:ss</a:t>
                      </a:r>
                      <a:r>
                        <a:rPr lang="en-US" dirty="0">
                          <a:effectLst/>
                        </a:rPr>
                        <a:t>. The supported range is from '1000-01-01 00:00:00' to '9999-12-31 23:59:59'. Adding DEFAULT and ON UPDATE in the column definition to get automatic initialization and updating to the current date and time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3123051"/>
                  </a:ext>
                </a:extLst>
              </a:tr>
              <a:tr h="809123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TIMESTAMP(</a:t>
                      </a:r>
                      <a:r>
                        <a:rPr lang="en-US" i="1" dirty="0" err="1">
                          <a:effectLst/>
                        </a:rPr>
                        <a:t>fsp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 timestamp. TIMESTAMP values are stored as the number of seconds since the Unix epoch ('1970-01-01 00:00:00' UTC). Format: YYYY-MM-DD hh:mm:ss. The supported range is from '1970-01-01 00:00:01' UTC to '2038-01-09 03:14:07' UTC. Automatic initialization and updating to the current date and time can be specified using DEFAULT CURRENT_TIMESTAMP and ON UPDATE CURRENT_TIMESTAMP in the column definition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71329225"/>
                  </a:ext>
                </a:extLst>
              </a:tr>
              <a:tr h="35399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TIME(</a:t>
                      </a:r>
                      <a:r>
                        <a:rPr lang="en-US" i="1" dirty="0" err="1">
                          <a:effectLst/>
                        </a:rPr>
                        <a:t>fsp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time. Format: </a:t>
                      </a:r>
                      <a:r>
                        <a:rPr lang="en-US" dirty="0" err="1">
                          <a:effectLst/>
                        </a:rPr>
                        <a:t>hh:mm:ss</a:t>
                      </a:r>
                      <a:r>
                        <a:rPr lang="en-US" dirty="0">
                          <a:effectLst/>
                        </a:rPr>
                        <a:t>. The supported range is from '-838:59:59' to '838:59:59'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04732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697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120513"/>
              </p:ext>
            </p:extLst>
          </p:nvPr>
        </p:nvGraphicFramePr>
        <p:xfrm>
          <a:off x="581025" y="2468305"/>
          <a:ext cx="11029950" cy="4081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48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779824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DATABASE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DATABASE statement is used to create a new SQL database.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DATABASE testing;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77992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DATABASE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DATABASE</a:t>
                      </a:r>
                      <a:r>
                        <a:rPr lang="en-US" dirty="0"/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statement is used to drop an existing SQL database.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DATABASE testing;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  <a:tr h="2129116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column1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column2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column3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 statement is used to create a new table in a database.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Persons (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varchar(255),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FirstName varchar(255),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Address varchar(255),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City varchar(255)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4785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A5E8207-D75B-4119-81C3-8E135F84C10E}"/>
              </a:ext>
            </a:extLst>
          </p:cNvPr>
          <p:cNvSpPr txBox="1"/>
          <p:nvPr/>
        </p:nvSpPr>
        <p:spPr>
          <a:xfrm>
            <a:off x="3463774" y="1790116"/>
            <a:ext cx="4320478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CREATE &amp; DROP DATABASE</a:t>
            </a:r>
          </a:p>
          <a:p>
            <a:pPr algn="ctr"/>
            <a:r>
              <a:rPr lang="en-US" b="1" u="sng" dirty="0"/>
              <a:t>CREATE TABLE</a:t>
            </a:r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77492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6755607"/>
              </p:ext>
            </p:extLst>
          </p:nvPr>
        </p:nvGraphicFramePr>
        <p:xfrm>
          <a:off x="581025" y="2574635"/>
          <a:ext cx="11029950" cy="4081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4058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773942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 INTO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column3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...)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 (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value3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...);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 INTO statement is used to insert new records in a table.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 INTO Customers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Address, City,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PostalCode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Country)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 ('Cardinal', 'Tom B.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Erichsen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 'Skagen 21', 'Stavanger', '4006', 'Norway');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90153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 INTO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 (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value3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...);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you are adding values for all the columns of the table, you do not need to specify the column names in the SQL query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 INTO Customers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Address, City,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PostalCode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Country)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 ('Cardinal', 'Tom B.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Erichsen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 'Skagen 21', 'Stavanger', '4006', 'Norway');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FEEA6B5-8479-4235-BE3B-F963D4440C87}"/>
              </a:ext>
            </a:extLst>
          </p:cNvPr>
          <p:cNvSpPr txBox="1"/>
          <p:nvPr/>
        </p:nvSpPr>
        <p:spPr>
          <a:xfrm>
            <a:off x="4226164" y="1801020"/>
            <a:ext cx="2795702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CREATE TABLE</a:t>
            </a:r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47672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860666"/>
              </p:ext>
            </p:extLst>
          </p:nvPr>
        </p:nvGraphicFramePr>
        <p:xfrm>
          <a:off x="581025" y="2404513"/>
          <a:ext cx="11029950" cy="3416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42536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99785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TABLE statement is used to drop an existing table in a database.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TABLE Shippers;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992799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TRUNCATE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TRUNCATE TABLE statement is used to delete the data inside a table, but not the table itself.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TRUNCATE TABLE Shippers;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353507" y="1801020"/>
            <a:ext cx="2541017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DROP TABLE</a:t>
            </a:r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4066142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239703"/>
              </p:ext>
            </p:extLst>
          </p:nvPr>
        </p:nvGraphicFramePr>
        <p:xfrm>
          <a:off x="581025" y="2404513"/>
          <a:ext cx="11029950" cy="395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857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 statement is used to add, delete, or modify columns in an existing 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 Email varchar(255);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3388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COLUMN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COLUMN statement is used to delete a column in a 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 COLUMN Email;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  <a:tr h="13388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MODIFY COLUMN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MODIFY COLUMN statement is used to change the data type of a column in a 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Persons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MODIFY COLUMN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DateOfBirth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year;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694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328855" y="1801020"/>
            <a:ext cx="2590324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ALTER TABLE</a:t>
            </a:r>
          </a:p>
          <a:p>
            <a:pPr algn="ctr"/>
            <a:endParaRPr lang="en-US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D0419-FB50-4BA4-A770-ACAED2F3AFCF}"/>
              </a:ext>
            </a:extLst>
          </p:cNvPr>
          <p:cNvSpPr txBox="1"/>
          <p:nvPr/>
        </p:nvSpPr>
        <p:spPr>
          <a:xfrm>
            <a:off x="0" y="6414237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Note: Set auto increment as per your choice by altering the table. </a:t>
            </a:r>
            <a:r>
              <a:rPr lang="en-US" sz="1600" b="1" dirty="0"/>
              <a:t>ALTER TABLE </a:t>
            </a:r>
            <a:r>
              <a:rPr lang="en-US" sz="1600" b="1" dirty="0" err="1"/>
              <a:t>tableName</a:t>
            </a:r>
            <a:r>
              <a:rPr lang="en-US" sz="1600" b="1" dirty="0"/>
              <a:t> AUTO_INCREMENT = 1000;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8599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216933"/>
              </p:ext>
            </p:extLst>
          </p:nvPr>
        </p:nvGraphicFramePr>
        <p:xfrm>
          <a:off x="581025" y="2404513"/>
          <a:ext cx="11029950" cy="261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857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CHNAGE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rename a column in a 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CHNAGE Email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EmailAddress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varchar(50)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3388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old_</a:t>
                      </a:r>
                      <a:r>
                        <a:rPr lang="en-US" sz="1800" b="0" i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RENAME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new_table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rename a table.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 TABLE Customers</a:t>
                      </a:r>
                      <a:br>
                        <a:rPr lang="en-US" dirty="0"/>
                      </a:br>
                      <a:r>
                        <a:rPr lang="en-US" dirty="0"/>
                        <a:t>RENAME </a:t>
                      </a:r>
                      <a:r>
                        <a:rPr lang="en-US" dirty="0" err="1"/>
                        <a:t>Customer_Details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328855" y="1801020"/>
            <a:ext cx="2590324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ALTER TABLE</a:t>
            </a:r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440848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DFF2E6-D8EE-4254-B1CE-C96BD7BC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90686"/>
            <a:ext cx="11029615" cy="18569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SQL constraints are used to specify rules for the data in a table.</a:t>
            </a:r>
          </a:p>
          <a:p>
            <a:r>
              <a:rPr lang="en-US" dirty="0"/>
              <a:t>Constraints are used to limit the type of data that can go into a table. This ensures the accuracy and reliability of the data in the table. If there is any violation between the constraint and the data action, the action is aborted.</a:t>
            </a:r>
          </a:p>
          <a:p>
            <a:r>
              <a:rPr lang="en-US" dirty="0"/>
              <a:t>Constraints can be column level or table level. Column level constraints apply to a column, and table level constraints apply to the whole table.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199589" y="1801020"/>
            <a:ext cx="2848857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CONSTRAINTS</a:t>
            </a:r>
          </a:p>
          <a:p>
            <a:pPr algn="ctr"/>
            <a:endParaRPr lang="en-US" b="1" u="sng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710803D-060F-400B-9315-489F4CC20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500728"/>
              </p:ext>
            </p:extLst>
          </p:nvPr>
        </p:nvGraphicFramePr>
        <p:xfrm>
          <a:off x="490278" y="3824367"/>
          <a:ext cx="1112052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2001">
                  <a:extLst>
                    <a:ext uri="{9D8B030D-6E8A-4147-A177-3AD203B41FA5}">
                      <a16:colId xmlns:a16="http://schemas.microsoft.com/office/drawing/2014/main" val="1458180165"/>
                    </a:ext>
                  </a:extLst>
                </a:gridCol>
                <a:gridCol w="8198527">
                  <a:extLst>
                    <a:ext uri="{9D8B030D-6E8A-4147-A177-3AD203B41FA5}">
                      <a16:colId xmlns:a16="http://schemas.microsoft.com/office/drawing/2014/main" val="1947514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Ensures that a column cannot have a NULL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247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Ensures that all values in a column are different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8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Ensures that the values in a column satisfies a specific condition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51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Sets a default value for a column if no value is specified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322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to create and retrieve data from the database very quickly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756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combination of a NOT NULL and UNIQUE.  Uniquely identifies each row in a table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1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FOREIGN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Prevents actions that would destroy links between tables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350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582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58647"/>
              </p:ext>
            </p:extLst>
          </p:nvPr>
        </p:nvGraphicFramePr>
        <p:xfrm>
          <a:off x="580858" y="2826810"/>
          <a:ext cx="1102995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212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721395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274343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191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column1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constraint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column2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constraint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column3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constraint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Constraints can be specified when the table is created with the CREATE TABLE statement, or after the table is created</a:t>
                      </a:r>
                      <a:br>
                        <a:rPr lang="en-US" dirty="0"/>
                      </a:br>
                      <a:r>
                        <a:rPr lang="en-US" dirty="0"/>
                        <a:t>with the ALTER TABLE statement.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Persons (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 NOT NULL UNIQUE 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VARCHAR(50) NOT 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FirstName VARCHAR(50) NOT 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Age INT CHECK (Age &gt;= 18),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City VARCAHR(20) DEFAULT ‘Karachi’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199589" y="1801020"/>
            <a:ext cx="2848857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CONSTRAINTS</a:t>
            </a:r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580029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542656"/>
              </p:ext>
            </p:extLst>
          </p:nvPr>
        </p:nvGraphicFramePr>
        <p:xfrm>
          <a:off x="581192" y="2194560"/>
          <a:ext cx="11029950" cy="445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212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423684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572054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270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79857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column1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constraint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PRIMARY KEY (column 1)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PRIMARY KEY constraint uniquely identifies each record in a table.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 keys must contain UNIQUE values, and cannot contain NULL values.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Persons (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ID int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varchar(255)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FirstName varchar(255),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Age int,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PRIMARY KEY (ID) 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204383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column1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constraint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constraint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constraint 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PRIMARY KEY (column 1, column2)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allow naming a  PRIMARY KEY constraint, and for defining a constraint on multiple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Persons (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ID int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varchar(255)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FirstName varchar(255),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Age int,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CONSTRAINT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PK_Person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PRIMARY KEY 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ID,LastName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087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296092" y="1801020"/>
            <a:ext cx="2655856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PRIMARY KEY</a:t>
            </a:r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491784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950181"/>
              </p:ext>
            </p:extLst>
          </p:nvPr>
        </p:nvGraphicFramePr>
        <p:xfrm>
          <a:off x="42533" y="2162661"/>
          <a:ext cx="1208921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5604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752480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5011134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218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56043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column1 datatype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constraint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dirty="0"/>
                      </a:b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PRIMARY KEY (column 1)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PRIMARY KEY constraint uniquely identifies each record in a table.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 keys must contain UNIQUE values, and cannot contain NULL values.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Persons (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varchar(255)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FirstName varchar(255),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Age int,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PRIMARY KEY 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249410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Orders (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OrderNumber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PRIMARY KEY 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FOREIGN KEY 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REFERENCES Persons(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KEY on the "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column when the "Orders" table is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TABLE Orders (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OrderNumber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 NOT NULL,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PRIMARY KEY 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FOREIGN KEY 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REFERENCES Persons(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087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275734" y="1801020"/>
            <a:ext cx="2696572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FOREIGN KEY</a:t>
            </a:r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301333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353134"/>
              </p:ext>
            </p:extLst>
          </p:nvPr>
        </p:nvGraphicFramePr>
        <p:xfrm>
          <a:off x="581192" y="2855580"/>
          <a:ext cx="11229753" cy="386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917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485703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654875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412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1530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INDEX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...);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CREATE INDEX statement is used to create indexes in tables.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Duplicate values are allowed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INDEX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idx_lastname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Persons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1530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UNIQUE INDEX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...);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CREATE INDEX statement is used to create indexes in tables.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Duplicate values are not allowed</a:t>
                      </a:r>
                    </a:p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 INDEX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idx_lastname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Persons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512116"/>
                  </a:ext>
                </a:extLst>
              </a:tr>
              <a:tr h="1153040">
                <a:tc>
                  <a:txBody>
                    <a:bodyPr/>
                    <a:lstStyle/>
                    <a:p>
                      <a:r>
                        <a:rPr lang="en-US" dirty="0"/>
                        <a:t>DROP INDEX </a:t>
                      </a:r>
                      <a:r>
                        <a:rPr lang="en-US" dirty="0" err="1"/>
                        <a:t>index_name</a:t>
                      </a:r>
                      <a:r>
                        <a:rPr lang="en-US" dirty="0"/>
                        <a:t> ON </a:t>
                      </a:r>
                      <a:r>
                        <a:rPr lang="en-US" dirty="0" err="1"/>
                        <a:t>table_name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DROP INDEX statement is used to delete an index in a table.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INDEX </a:t>
                      </a:r>
                      <a:r>
                        <a:rPr lang="en-US" dirty="0" err="1"/>
                        <a:t>idx_name</a:t>
                      </a:r>
                      <a:r>
                        <a:rPr lang="en-US" dirty="0"/>
                        <a:t> ON Persons;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7682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942762" y="1801020"/>
            <a:ext cx="3362523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INDEX STATEMENT</a:t>
            </a:r>
          </a:p>
          <a:p>
            <a:pPr algn="ctr"/>
            <a:endParaRPr lang="en-US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D213F-4C30-4A57-BDB4-8ADD1D714CB2}"/>
              </a:ext>
            </a:extLst>
          </p:cNvPr>
          <p:cNvSpPr txBox="1"/>
          <p:nvPr/>
        </p:nvSpPr>
        <p:spPr>
          <a:xfrm>
            <a:off x="361507" y="2209249"/>
            <a:ext cx="11000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Indexes are used to retrieve data from the database more quickly than otherwise. The users cannot see the indexes,</a:t>
            </a:r>
          </a:p>
          <a:p>
            <a:r>
              <a:rPr lang="en-US" dirty="0"/>
              <a:t> they are just used to speed up searches/queries.</a:t>
            </a:r>
          </a:p>
        </p:txBody>
      </p:sp>
    </p:spTree>
    <p:extLst>
      <p:ext uri="{BB962C8B-B14F-4D97-AF65-F5344CB8AC3E}">
        <p14:creationId xmlns:p14="http://schemas.microsoft.com/office/powerpoint/2010/main" val="566083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631623"/>
              </p:ext>
            </p:extLst>
          </p:nvPr>
        </p:nvGraphicFramePr>
        <p:xfrm>
          <a:off x="581192" y="2855580"/>
          <a:ext cx="11229753" cy="151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917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485703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654875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412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1530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INDEX FROM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CREATE INDEX statement is used to check details of index.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INDEX FROM Persons;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942762" y="1801020"/>
            <a:ext cx="3362523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INDEX STATEMENT</a:t>
            </a:r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385629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727016"/>
              </p:ext>
            </p:extLst>
          </p:nvPr>
        </p:nvGraphicFramePr>
        <p:xfrm>
          <a:off x="580858" y="2485263"/>
          <a:ext cx="11029950" cy="3859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857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125409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column2, ...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condition3 ...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AND operator displays a record if all the conditions separated by AND are 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Country = 'Germany' AND City = 'Berlin';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02072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column2, ...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condition3 ...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OR operator displays a record if any the conditions separated by OR are 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City = 'Berlin' OR City = 'Stuttgart';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  <a:tr h="1116564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column2, ...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NOT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NOT operator displays a record if the condition(s) is NOT True.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NOT Country = 'Germany';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694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521557" y="1939519"/>
            <a:ext cx="42049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 AND, OR, NOT OPERATORS</a:t>
            </a:r>
          </a:p>
        </p:txBody>
      </p:sp>
    </p:spTree>
    <p:extLst>
      <p:ext uri="{BB962C8B-B14F-4D97-AF65-F5344CB8AC3E}">
        <p14:creationId xmlns:p14="http://schemas.microsoft.com/office/powerpoint/2010/main" val="3705287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813742"/>
              </p:ext>
            </p:extLst>
          </p:nvPr>
        </p:nvGraphicFramePr>
        <p:xfrm>
          <a:off x="724591" y="2532414"/>
          <a:ext cx="10742817" cy="44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93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2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BETWEEN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value2;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BETWEEN operator selects values within a given range. The values can be numbers, text, or dates.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Products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Price BETWEEN 10 AND 20;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BETWEEN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value2;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NOT BETWEEN operator selects values to display the products outside the range.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Products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Price NOT BETWEEN 10 AND 20;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  <a:tr h="119729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column2, ...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 AND 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NOT IN (value1,value2,value3,...)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statement selects all products with a price between 10 and 20. In addition; do not show products with a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1,2, or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Products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Price BETWEEN 10 AND 20 AND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NOT IN (1,2,3);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694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648805" y="1939519"/>
            <a:ext cx="395044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BETWEEN OPERATORS</a:t>
            </a:r>
          </a:p>
        </p:txBody>
      </p:sp>
    </p:spTree>
    <p:extLst>
      <p:ext uri="{BB962C8B-B14F-4D97-AF65-F5344CB8AC3E}">
        <p14:creationId xmlns:p14="http://schemas.microsoft.com/office/powerpoint/2010/main" val="197721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8681980"/>
              </p:ext>
            </p:extLst>
          </p:nvPr>
        </p:nvGraphicFramePr>
        <p:xfrm>
          <a:off x="724591" y="2532414"/>
          <a:ext cx="10742817" cy="294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93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2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 (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...);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IN operator allows you to specify multiple values in a WHERE clause.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Country IN ('Germany', 'France', 'UK');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NOT IN (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...);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Country NOT IN ('Germany', 'France', 'UK');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201712" y="1939519"/>
            <a:ext cx="284462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IN OPERATORS</a:t>
            </a:r>
          </a:p>
        </p:txBody>
      </p:sp>
    </p:spTree>
    <p:extLst>
      <p:ext uri="{BB962C8B-B14F-4D97-AF65-F5344CB8AC3E}">
        <p14:creationId xmlns:p14="http://schemas.microsoft.com/office/powerpoint/2010/main" val="4205070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548616"/>
              </p:ext>
            </p:extLst>
          </p:nvPr>
        </p:nvGraphicFramePr>
        <p:xfrm>
          <a:off x="724591" y="2532414"/>
          <a:ext cx="10742817" cy="294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93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2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column2, ...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 BY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column1, column2, ...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ASC|DESC;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ORDER BY keyword is used to sort the result-set in ascending or descending order.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 BY Country DESC;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multiple columns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 BY Country ASC,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DESC;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480921" y="1939519"/>
            <a:ext cx="228620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ORDER BY</a:t>
            </a:r>
          </a:p>
        </p:txBody>
      </p:sp>
    </p:spTree>
    <p:extLst>
      <p:ext uri="{BB962C8B-B14F-4D97-AF65-F5344CB8AC3E}">
        <p14:creationId xmlns:p14="http://schemas.microsoft.com/office/powerpoint/2010/main" val="1507857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390345"/>
              </p:ext>
            </p:extLst>
          </p:nvPr>
        </p:nvGraphicFramePr>
        <p:xfrm>
          <a:off x="724591" y="2532414"/>
          <a:ext cx="10742817" cy="2129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93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2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 BY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GROUP BY statement groups rows that have the same values into summary rows, like "find the number of customers in each country".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COUNT(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Country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 BY Country;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461013" y="1939519"/>
            <a:ext cx="232602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GROUP BY</a:t>
            </a:r>
          </a:p>
        </p:txBody>
      </p:sp>
    </p:spTree>
    <p:extLst>
      <p:ext uri="{BB962C8B-B14F-4D97-AF65-F5344CB8AC3E}">
        <p14:creationId xmlns:p14="http://schemas.microsoft.com/office/powerpoint/2010/main" val="3437803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748950"/>
              </p:ext>
            </p:extLst>
          </p:nvPr>
        </p:nvGraphicFramePr>
        <p:xfrm>
          <a:off x="724591" y="2532414"/>
          <a:ext cx="10742817" cy="2129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93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2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 BY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HAVING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 BY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</a:rPr>
                        <a:t>The HAVING </a:t>
                      </a:r>
                      <a:r>
                        <a:rPr lang="en-US" dirty="0"/>
                        <a:t>clause was added to SQL because the WHERE keyword cannot be used with aggregate functions.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COUNT(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Country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 BY Country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HAVING COUNT(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&gt; 5;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607175" y="1939519"/>
            <a:ext cx="203369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HAVING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AD9E32-C89D-4314-9499-BE27ABC2700F}"/>
              </a:ext>
            </a:extLst>
          </p:cNvPr>
          <p:cNvSpPr/>
          <p:nvPr/>
        </p:nvSpPr>
        <p:spPr>
          <a:xfrm>
            <a:off x="628895" y="5109104"/>
            <a:ext cx="11029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  <a:t>The HAVING </a:t>
            </a:r>
            <a:r>
              <a:rPr lang="en-US"/>
              <a:t>statement </a:t>
            </a:r>
            <a:r>
              <a:rPr lang="en-US" dirty="0"/>
              <a:t>is often used with aggregate functions like MAX(), MIN, COUNT(), AVG(), SUM()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to group the result-set by one or more columns.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24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403790"/>
              </p:ext>
            </p:extLst>
          </p:nvPr>
        </p:nvGraphicFramePr>
        <p:xfrm>
          <a:off x="416247" y="2532414"/>
          <a:ext cx="11467407" cy="294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246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82246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82246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2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DISTINCT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column2, ...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</a:rPr>
                        <a:t>The SELECT DISTINCT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statement is used to return only distinct (different) values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DISTINCT Country FROM Customers;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COUNT(DISTINCT Country) FROM Customers;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3069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898234" y="1939519"/>
            <a:ext cx="345158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DISTINCT Statement</a:t>
            </a:r>
          </a:p>
        </p:txBody>
      </p:sp>
    </p:spTree>
    <p:extLst>
      <p:ext uri="{BB962C8B-B14F-4D97-AF65-F5344CB8AC3E}">
        <p14:creationId xmlns:p14="http://schemas.microsoft.com/office/powerpoint/2010/main" val="54259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68074"/>
              </p:ext>
            </p:extLst>
          </p:nvPr>
        </p:nvGraphicFramePr>
        <p:xfrm>
          <a:off x="724591" y="2532414"/>
          <a:ext cx="10742817" cy="4216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93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2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column1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value1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column2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...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UPDATE statement is used to modify the existing records in a table.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 'Alfred Schmidt', City = 'Frankfurt'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 1;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this WHERE clause that determines how many records will be updated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PostalCode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 00000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Country = 'Mexico';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dirty="0"/>
                        <a:t>SET SQL_SAFE_UPDATES = 1;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Disable safe mode while updating (</a:t>
                      </a:r>
                      <a:r>
                        <a:rPr lang="en-US"/>
                        <a:t>if needed)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0498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849180" y="1939519"/>
            <a:ext cx="354969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UPDATE STATEMENT</a:t>
            </a:r>
          </a:p>
        </p:txBody>
      </p:sp>
    </p:spTree>
    <p:extLst>
      <p:ext uri="{BB962C8B-B14F-4D97-AF65-F5344CB8AC3E}">
        <p14:creationId xmlns:p14="http://schemas.microsoft.com/office/powerpoint/2010/main" val="2518168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001949"/>
              </p:ext>
            </p:extLst>
          </p:nvPr>
        </p:nvGraphicFramePr>
        <p:xfrm>
          <a:off x="724591" y="2532414"/>
          <a:ext cx="10742817" cy="294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93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39220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 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DELETE statement is used to delete existing records in a table.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 FROM Customers WHERE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='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Alfreds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Futterkiste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 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all records from 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872232" y="1939519"/>
            <a:ext cx="350358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DELETE STATEMENT</a:t>
            </a:r>
          </a:p>
        </p:txBody>
      </p:sp>
    </p:spTree>
    <p:extLst>
      <p:ext uri="{BB962C8B-B14F-4D97-AF65-F5344CB8AC3E}">
        <p14:creationId xmlns:p14="http://schemas.microsoft.com/office/powerpoint/2010/main" val="2717201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864574"/>
              </p:ext>
            </p:extLst>
          </p:nvPr>
        </p:nvGraphicFramePr>
        <p:xfrm>
          <a:off x="724591" y="3091607"/>
          <a:ext cx="10742817" cy="291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234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39952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64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column_names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 NULL;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IS NULL is used to check a field with a NULL value is a field with no value.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Address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Address IS NULL;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column_names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 NOT NULL;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IS NOT NULL is used to check a field with a non-empty value is a field with a value.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Address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Address IS NOT NULL;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273428" y="1939519"/>
            <a:ext cx="27011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NULL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E6535-AAA1-430B-9806-74DED730B8CC}"/>
              </a:ext>
            </a:extLst>
          </p:cNvPr>
          <p:cNvSpPr txBox="1"/>
          <p:nvPr/>
        </p:nvSpPr>
        <p:spPr>
          <a:xfrm>
            <a:off x="724591" y="2360425"/>
            <a:ext cx="10813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is not possible to test for NULL values with comparison operators, such as =, &lt;, or &lt;&gt;.  Therefore, IS NULL and </a:t>
            </a:r>
          </a:p>
          <a:p>
            <a:r>
              <a:rPr lang="en-US" dirty="0"/>
              <a:t>IS NOT NULL operators are used.</a:t>
            </a:r>
          </a:p>
        </p:txBody>
      </p:sp>
    </p:spTree>
    <p:extLst>
      <p:ext uri="{BB962C8B-B14F-4D97-AF65-F5344CB8AC3E}">
        <p14:creationId xmlns:p14="http://schemas.microsoft.com/office/powerpoint/2010/main" val="343084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036660"/>
              </p:ext>
            </p:extLst>
          </p:nvPr>
        </p:nvGraphicFramePr>
        <p:xfrm>
          <a:off x="724591" y="3091607"/>
          <a:ext cx="10742817" cy="291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2349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39952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5809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64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LIMIT clause is used to specify the number of records to return.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 3;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 clause with 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Country='Germany'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 3;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245988" y="1939519"/>
            <a:ext cx="27560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LIMIT CLAUSE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E6535-AAA1-430B-9806-74DED730B8CC}"/>
              </a:ext>
            </a:extLst>
          </p:cNvPr>
          <p:cNvSpPr txBox="1"/>
          <p:nvPr/>
        </p:nvSpPr>
        <p:spPr>
          <a:xfrm>
            <a:off x="724591" y="2360425"/>
            <a:ext cx="10408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LIMIT clause is useful on large tables with thousands of records. Returning a large number of records can</a:t>
            </a:r>
          </a:p>
          <a:p>
            <a:r>
              <a:rPr lang="en-US" dirty="0"/>
              <a:t> impact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16863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8524578"/>
              </p:ext>
            </p:extLst>
          </p:nvPr>
        </p:nvGraphicFramePr>
        <p:xfrm>
          <a:off x="724591" y="3091607"/>
          <a:ext cx="10886217" cy="291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571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444907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6287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64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MIN(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MIN() function returns the smallest value of the selected column.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MIN(Price) AS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SmallestPrice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Products;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MAX(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MAX() function returns the smallest value of the selected column.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MAX(Price) AS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LargestPrice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Products;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291018" y="1939519"/>
            <a:ext cx="466602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MIN() AND MAX()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E6535-AAA1-430B-9806-74DED730B8CC}"/>
              </a:ext>
            </a:extLst>
          </p:cNvPr>
          <p:cNvSpPr txBox="1"/>
          <p:nvPr/>
        </p:nvSpPr>
        <p:spPr>
          <a:xfrm>
            <a:off x="724591" y="2360425"/>
            <a:ext cx="10408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LIMIT clause is useful on large tables with thousands of records. Returning a large number of records can</a:t>
            </a:r>
          </a:p>
          <a:p>
            <a:r>
              <a:rPr lang="en-US" dirty="0"/>
              <a:t> impact performance.</a:t>
            </a:r>
          </a:p>
        </p:txBody>
      </p:sp>
    </p:spTree>
    <p:extLst>
      <p:ext uri="{BB962C8B-B14F-4D97-AF65-F5344CB8AC3E}">
        <p14:creationId xmlns:p14="http://schemas.microsoft.com/office/powerpoint/2010/main" val="922268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5021751"/>
              </p:ext>
            </p:extLst>
          </p:nvPr>
        </p:nvGraphicFramePr>
        <p:xfrm>
          <a:off x="581192" y="2532414"/>
          <a:ext cx="10886217" cy="418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571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444907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62873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64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COUNT(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COUNT() function returns the number of rows that matches a specified criterion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COUNT(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Products;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AVG(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AVG() function returns the average value of a numeric column.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AVG(Price)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Products;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SUM(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table_name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SUM() function returns the total sum of a numeric column.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SUM(Quantity)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OrderDetails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19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2682746" y="1939519"/>
            <a:ext cx="588257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COUNT(), AVG(), AND SUM() FUNCTIONS</a:t>
            </a:r>
          </a:p>
        </p:txBody>
      </p:sp>
    </p:spTree>
    <p:extLst>
      <p:ext uri="{BB962C8B-B14F-4D97-AF65-F5344CB8AC3E}">
        <p14:creationId xmlns:p14="http://schemas.microsoft.com/office/powerpoint/2010/main" val="4249485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828012"/>
              </p:ext>
            </p:extLst>
          </p:nvPr>
        </p:nvGraphicFramePr>
        <p:xfrm>
          <a:off x="283506" y="3049014"/>
          <a:ext cx="11571795" cy="3744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7047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7044748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</a:tblGrid>
              <a:tr h="26647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LIKE Operator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26647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WHERE </a:t>
                      </a:r>
                      <a:r>
                        <a:rPr lang="en-US" dirty="0" err="1">
                          <a:effectLst/>
                        </a:rPr>
                        <a:t>CustomerName</a:t>
                      </a:r>
                      <a:r>
                        <a:rPr lang="en-US" dirty="0">
                          <a:effectLst/>
                        </a:rPr>
                        <a:t> LIKE 'a%'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Finds any values that start with "a"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242291047"/>
                  </a:ext>
                </a:extLst>
              </a:tr>
              <a:tr h="26647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WHERE </a:t>
                      </a:r>
                      <a:r>
                        <a:rPr lang="en-US" dirty="0" err="1">
                          <a:effectLst/>
                        </a:rPr>
                        <a:t>CustomerName</a:t>
                      </a:r>
                      <a:r>
                        <a:rPr lang="en-US" dirty="0">
                          <a:effectLst/>
                        </a:rPr>
                        <a:t> LIKE '%a'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Finds any values that end with "a"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02853334"/>
                  </a:ext>
                </a:extLst>
              </a:tr>
              <a:tr h="26647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WHERE </a:t>
                      </a:r>
                      <a:r>
                        <a:rPr lang="en-US" dirty="0" err="1">
                          <a:effectLst/>
                        </a:rPr>
                        <a:t>CustomerName</a:t>
                      </a:r>
                      <a:r>
                        <a:rPr lang="en-US" dirty="0">
                          <a:effectLst/>
                        </a:rPr>
                        <a:t> LIKE '%or%'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Finds any values that have "or" in any position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65157410"/>
                  </a:ext>
                </a:extLst>
              </a:tr>
              <a:tr h="26647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WHERE </a:t>
                      </a:r>
                      <a:r>
                        <a:rPr lang="en-US" dirty="0" err="1">
                          <a:effectLst/>
                        </a:rPr>
                        <a:t>CustomerName</a:t>
                      </a:r>
                      <a:r>
                        <a:rPr lang="en-US" dirty="0">
                          <a:effectLst/>
                        </a:rPr>
                        <a:t> LIKE '_r%'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Finds any values that have "r" in the second position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84493069"/>
                  </a:ext>
                </a:extLst>
              </a:tr>
              <a:tr h="66089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WHERE </a:t>
                      </a:r>
                      <a:r>
                        <a:rPr lang="en-US" dirty="0" err="1">
                          <a:effectLst/>
                        </a:rPr>
                        <a:t>CustomerName</a:t>
                      </a:r>
                      <a:r>
                        <a:rPr lang="en-US" dirty="0">
                          <a:effectLst/>
                        </a:rPr>
                        <a:t> LIKE 'a_%'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Finds any values that start with "a" and are at least 2 characters in length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52127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WHERE </a:t>
                      </a:r>
                      <a:r>
                        <a:rPr lang="en-US" dirty="0" err="1">
                          <a:effectLst/>
                        </a:rPr>
                        <a:t>CustomerName</a:t>
                      </a:r>
                      <a:r>
                        <a:rPr lang="en-US" dirty="0">
                          <a:effectLst/>
                        </a:rPr>
                        <a:t> LIKE 'a__%'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Finds any values that start with "a" and are at least 3 characters in length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101238579"/>
                  </a:ext>
                </a:extLst>
              </a:tr>
              <a:tr h="42898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WHERE </a:t>
                      </a:r>
                      <a:r>
                        <a:rPr lang="en-US" dirty="0" err="1">
                          <a:effectLst/>
                        </a:rPr>
                        <a:t>ContactName</a:t>
                      </a:r>
                      <a:r>
                        <a:rPr lang="en-US" dirty="0">
                          <a:effectLst/>
                        </a:rPr>
                        <a:t> LIKE '</a:t>
                      </a:r>
                      <a:r>
                        <a:rPr lang="en-US" dirty="0" err="1">
                          <a:effectLst/>
                        </a:rPr>
                        <a:t>a%o</a:t>
                      </a:r>
                      <a:r>
                        <a:rPr lang="en-US" dirty="0">
                          <a:effectLst/>
                        </a:rPr>
                        <a:t>'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Finds any values that start with "a" and ends with "o"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40119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005327" y="1855954"/>
            <a:ext cx="310431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LIKE OPERATORS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A761C-CC38-4A9A-B11E-22C19C2F37C3}"/>
              </a:ext>
            </a:extLst>
          </p:cNvPr>
          <p:cNvSpPr txBox="1"/>
          <p:nvPr/>
        </p:nvSpPr>
        <p:spPr>
          <a:xfrm>
            <a:off x="558381" y="2241807"/>
            <a:ext cx="999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Syntax: </a:t>
            </a:r>
          </a:p>
          <a:p>
            <a:r>
              <a:rPr lang="en-US" dirty="0"/>
              <a:t>SELECT </a:t>
            </a:r>
            <a:r>
              <a:rPr lang="en-US" i="1" dirty="0"/>
              <a:t>column1, column2, ... </a:t>
            </a:r>
            <a:r>
              <a:rPr lang="en-US" dirty="0"/>
              <a:t>FROM </a:t>
            </a:r>
            <a:r>
              <a:rPr lang="en-US" i="1" dirty="0" err="1"/>
              <a:t>table_name</a:t>
            </a:r>
            <a:r>
              <a:rPr lang="en-US" i="1" dirty="0"/>
              <a:t> </a:t>
            </a:r>
            <a:r>
              <a:rPr lang="en-US" dirty="0"/>
              <a:t>WHERE </a:t>
            </a:r>
            <a:r>
              <a:rPr lang="en-US" i="1" dirty="0" err="1"/>
              <a:t>columnN</a:t>
            </a:r>
            <a:r>
              <a:rPr lang="en-US" dirty="0"/>
              <a:t> LIKE </a:t>
            </a:r>
            <a:r>
              <a:rPr lang="en-US" i="1" dirty="0"/>
              <a:t>pattern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04502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5582395"/>
              </p:ext>
            </p:extLst>
          </p:nvPr>
        </p:nvGraphicFramePr>
        <p:xfrm>
          <a:off x="310102" y="3266036"/>
          <a:ext cx="1157179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027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4192337">
                  <a:extLst>
                    <a:ext uri="{9D8B030D-6E8A-4147-A177-3AD203B41FA5}">
                      <a16:colId xmlns:a16="http://schemas.microsoft.com/office/drawing/2014/main" val="469240481"/>
                    </a:ext>
                  </a:extLst>
                </a:gridCol>
                <a:gridCol w="4125432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Symbol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26647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%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Represents zero or more characters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bl% finds bl, black, blue, and blob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242291047"/>
                  </a:ext>
                </a:extLst>
              </a:tr>
              <a:tr h="26647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_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Represents a single character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h_t</a:t>
                      </a:r>
                      <a:r>
                        <a:rPr lang="en-US" dirty="0">
                          <a:effectLst/>
                        </a:rPr>
                        <a:t> finds hot, hat, and hit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0285333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497278" y="1855954"/>
            <a:ext cx="412042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WILDCARD CHARACTERS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A761C-CC38-4A9A-B11E-22C19C2F37C3}"/>
              </a:ext>
            </a:extLst>
          </p:cNvPr>
          <p:cNvSpPr txBox="1"/>
          <p:nvPr/>
        </p:nvSpPr>
        <p:spPr>
          <a:xfrm>
            <a:off x="452055" y="2423344"/>
            <a:ext cx="999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wildcard character is used to substitute one or more characters in a string.</a:t>
            </a:r>
          </a:p>
        </p:txBody>
      </p:sp>
    </p:spTree>
    <p:extLst>
      <p:ext uri="{BB962C8B-B14F-4D97-AF65-F5344CB8AC3E}">
        <p14:creationId xmlns:p14="http://schemas.microsoft.com/office/powerpoint/2010/main" val="3740018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6CE9D7-B4BB-45A9-92E6-F16C0ADE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08" y="2851116"/>
            <a:ext cx="4926475" cy="25927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JOIN clause is used to combine rows from two or more tables, based on a related column between them.</a:t>
            </a:r>
          </a:p>
          <a:p>
            <a:pPr marL="0" indent="0">
              <a:buNone/>
            </a:pPr>
            <a:r>
              <a:rPr lang="en-US" dirty="0"/>
              <a:t> Different types of Joins are as follows: INNER JOIN, LEFT JOIN, RIGHT JOIN, and SELF JOIN.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751835" y="1939519"/>
            <a:ext cx="174438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JOINS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5B6663B-8004-4243-B7E2-13E536B36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611"/>
          <a:stretch/>
        </p:blipFill>
        <p:spPr bwMode="auto">
          <a:xfrm>
            <a:off x="5507667" y="2564037"/>
            <a:ext cx="6463930" cy="4113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2714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8B81-E55C-4D99-B285-3AE73CD7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4FDCA59-C70E-4461-BFA7-51DA24DAB6E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8532303"/>
              </p:ext>
            </p:extLst>
          </p:nvPr>
        </p:nvGraphicFramePr>
        <p:xfrm>
          <a:off x="127592" y="3289641"/>
          <a:ext cx="511426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565">
                  <a:extLst>
                    <a:ext uri="{9D8B030D-6E8A-4147-A177-3AD203B41FA5}">
                      <a16:colId xmlns:a16="http://schemas.microsoft.com/office/drawing/2014/main" val="2846457017"/>
                    </a:ext>
                  </a:extLst>
                </a:gridCol>
                <a:gridCol w="1278565">
                  <a:extLst>
                    <a:ext uri="{9D8B030D-6E8A-4147-A177-3AD203B41FA5}">
                      <a16:colId xmlns:a16="http://schemas.microsoft.com/office/drawing/2014/main" val="1731074295"/>
                    </a:ext>
                  </a:extLst>
                </a:gridCol>
                <a:gridCol w="1278565">
                  <a:extLst>
                    <a:ext uri="{9D8B030D-6E8A-4147-A177-3AD203B41FA5}">
                      <a16:colId xmlns:a16="http://schemas.microsoft.com/office/drawing/2014/main" val="516369120"/>
                    </a:ext>
                  </a:extLst>
                </a:gridCol>
                <a:gridCol w="1278565">
                  <a:extLst>
                    <a:ext uri="{9D8B030D-6E8A-4147-A177-3AD203B41FA5}">
                      <a16:colId xmlns:a16="http://schemas.microsoft.com/office/drawing/2014/main" val="4205316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OrderID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CustomerID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OrderDate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ShipperID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8904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10308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1996-09-18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3343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223518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10309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1996-09-19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134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8216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10310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1996-09-20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2234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40748022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0C8749D-B2A3-4E34-8BA6-A9CBA56DFA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3648088"/>
              </p:ext>
            </p:extLst>
          </p:nvPr>
        </p:nvGraphicFramePr>
        <p:xfrm>
          <a:off x="5312737" y="3181898"/>
          <a:ext cx="665243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487">
                  <a:extLst>
                    <a:ext uri="{9D8B030D-6E8A-4147-A177-3AD203B41FA5}">
                      <a16:colId xmlns:a16="http://schemas.microsoft.com/office/drawing/2014/main" val="886405761"/>
                    </a:ext>
                  </a:extLst>
                </a:gridCol>
                <a:gridCol w="1330487">
                  <a:extLst>
                    <a:ext uri="{9D8B030D-6E8A-4147-A177-3AD203B41FA5}">
                      <a16:colId xmlns:a16="http://schemas.microsoft.com/office/drawing/2014/main" val="422890764"/>
                    </a:ext>
                  </a:extLst>
                </a:gridCol>
                <a:gridCol w="1330487">
                  <a:extLst>
                    <a:ext uri="{9D8B030D-6E8A-4147-A177-3AD203B41FA5}">
                      <a16:colId xmlns:a16="http://schemas.microsoft.com/office/drawing/2014/main" val="3493444492"/>
                    </a:ext>
                  </a:extLst>
                </a:gridCol>
                <a:gridCol w="1330487">
                  <a:extLst>
                    <a:ext uri="{9D8B030D-6E8A-4147-A177-3AD203B41FA5}">
                      <a16:colId xmlns:a16="http://schemas.microsoft.com/office/drawing/2014/main" val="1634757791"/>
                    </a:ext>
                  </a:extLst>
                </a:gridCol>
                <a:gridCol w="1330487">
                  <a:extLst>
                    <a:ext uri="{9D8B030D-6E8A-4147-A177-3AD203B41FA5}">
                      <a16:colId xmlns:a16="http://schemas.microsoft.com/office/drawing/2014/main" val="703780862"/>
                    </a:ext>
                  </a:extLst>
                </a:gridCol>
              </a:tblGrid>
              <a:tr h="651719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CustomerID</a:t>
                      </a:r>
                      <a:endParaRPr lang="en-US" dirty="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CustomerName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Address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City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Country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940963816"/>
                  </a:ext>
                </a:extLst>
              </a:tr>
              <a:tr h="74158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endParaRPr lang="en-US" dirty="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Alfreds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Futterkiste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Obere</a:t>
                      </a:r>
                      <a:r>
                        <a:rPr lang="en-US" dirty="0">
                          <a:effectLst/>
                        </a:rPr>
                        <a:t> Str. 57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Berlin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Germany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728738064"/>
                  </a:ext>
                </a:extLst>
              </a:tr>
              <a:tr h="9067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>
                          <a:effectLst/>
                        </a:rPr>
                        <a:t>Ana Trujillo Emparedados y helados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dirty="0">
                          <a:effectLst/>
                        </a:rPr>
                        <a:t>Avda. de la Constitución 2222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México D.F.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Mexico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478204079"/>
                  </a:ext>
                </a:extLst>
              </a:tr>
              <a:tr h="9067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Antonio Moreno Taquería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Mataderos</a:t>
                      </a:r>
                      <a:r>
                        <a:rPr lang="en-US" dirty="0">
                          <a:effectLst/>
                        </a:rPr>
                        <a:t> 2312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México D.F.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Mexico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245654282"/>
                  </a:ext>
                </a:extLst>
              </a:tr>
            </a:tbl>
          </a:graphicData>
        </a:graphic>
      </p:graphicFrame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1D83C19F-4AF9-445A-BB2A-757B49E52857}"/>
              </a:ext>
            </a:extLst>
          </p:cNvPr>
          <p:cNvSpPr/>
          <p:nvPr/>
        </p:nvSpPr>
        <p:spPr>
          <a:xfrm>
            <a:off x="6241312" y="2308661"/>
            <a:ext cx="1127052" cy="518586"/>
          </a:xfrm>
          <a:prstGeom prst="wedgeRoundRectCallout">
            <a:avLst>
              <a:gd name="adj1" fmla="val -40644"/>
              <a:gd name="adj2" fmla="val 1014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Primary Key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0AD25681-5DFA-4073-9122-1388193F6285}"/>
              </a:ext>
            </a:extLst>
          </p:cNvPr>
          <p:cNvSpPr/>
          <p:nvPr/>
        </p:nvSpPr>
        <p:spPr>
          <a:xfrm>
            <a:off x="2121196" y="2387842"/>
            <a:ext cx="1127052" cy="518586"/>
          </a:xfrm>
          <a:prstGeom prst="wedgeRoundRectCallout">
            <a:avLst>
              <a:gd name="adj1" fmla="val -40644"/>
              <a:gd name="adj2" fmla="val 1014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Foreign Key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83DAF-8C1D-4059-A8C4-DADC5300EA5F}"/>
              </a:ext>
            </a:extLst>
          </p:cNvPr>
          <p:cNvSpPr txBox="1"/>
          <p:nvPr/>
        </p:nvSpPr>
        <p:spPr>
          <a:xfrm>
            <a:off x="4287829" y="1842075"/>
            <a:ext cx="24384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INNER JOIN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5FA8F-AE20-47DC-AFF6-35A4ECFF7845}"/>
              </a:ext>
            </a:extLst>
          </p:cNvPr>
          <p:cNvSpPr txBox="1"/>
          <p:nvPr/>
        </p:nvSpPr>
        <p:spPr>
          <a:xfrm>
            <a:off x="188296" y="2721762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Table2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02033-EE12-476D-A4CE-4EA0171F96E6}"/>
              </a:ext>
            </a:extLst>
          </p:cNvPr>
          <p:cNvSpPr txBox="1"/>
          <p:nvPr/>
        </p:nvSpPr>
        <p:spPr>
          <a:xfrm>
            <a:off x="8943754" y="2657768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Table 1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9348352A-EEA9-4339-A7B1-98A5BC308ED7}"/>
              </a:ext>
            </a:extLst>
          </p:cNvPr>
          <p:cNvSpPr/>
          <p:nvPr/>
        </p:nvSpPr>
        <p:spPr>
          <a:xfrm>
            <a:off x="226828" y="5654054"/>
            <a:ext cx="1127052" cy="518586"/>
          </a:xfrm>
          <a:prstGeom prst="wedgeRoundRectCallout">
            <a:avLst>
              <a:gd name="adj1" fmla="val -6682"/>
              <a:gd name="adj2" fmla="val -1117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Primary Key</a:t>
            </a:r>
          </a:p>
        </p:txBody>
      </p:sp>
    </p:spTree>
    <p:extLst>
      <p:ext uri="{BB962C8B-B14F-4D97-AF65-F5344CB8AC3E}">
        <p14:creationId xmlns:p14="http://schemas.microsoft.com/office/powerpoint/2010/main" val="3381251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834048"/>
              </p:ext>
            </p:extLst>
          </p:nvPr>
        </p:nvGraphicFramePr>
        <p:xfrm>
          <a:off x="724591" y="3329469"/>
          <a:ext cx="1088621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3586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2392325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870306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64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INNER JOIN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table2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table1.column_name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table2.column_name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following SQL statement selects all orders with customer information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Orders.OrderID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Customers.CustomerName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Orders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INNER JOIN Customers ON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Customers.CustomerID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404785" y="1939519"/>
            <a:ext cx="243848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INNER JOIN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E6535-AAA1-430B-9806-74DED730B8CC}"/>
              </a:ext>
            </a:extLst>
          </p:cNvPr>
          <p:cNvSpPr txBox="1"/>
          <p:nvPr/>
        </p:nvSpPr>
        <p:spPr>
          <a:xfrm>
            <a:off x="724591" y="2360425"/>
            <a:ext cx="10910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Inner joins combine records from two tables whenever there are matching values in a field common to both tables.</a:t>
            </a:r>
          </a:p>
          <a:p>
            <a:endParaRPr lang="en-US" dirty="0"/>
          </a:p>
          <a:p>
            <a:r>
              <a:rPr lang="en-US" dirty="0"/>
              <a:t>The following SQL statement selects all orders with customer information: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8877F17-43C4-4772-89E1-D1CE184A4E38}"/>
              </a:ext>
            </a:extLst>
          </p:cNvPr>
          <p:cNvSpPr/>
          <p:nvPr/>
        </p:nvSpPr>
        <p:spPr>
          <a:xfrm>
            <a:off x="3636336" y="5070770"/>
            <a:ext cx="1127052" cy="259293"/>
          </a:xfrm>
          <a:prstGeom prst="wedgeRoundRectCallout">
            <a:avLst>
              <a:gd name="adj1" fmla="val -1021"/>
              <a:gd name="adj2" fmla="val -1404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Foreign Key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2834BC95-EBF2-4B06-966A-5F89D7BC1BA7}"/>
              </a:ext>
            </a:extLst>
          </p:cNvPr>
          <p:cNvSpPr/>
          <p:nvPr/>
        </p:nvSpPr>
        <p:spPr>
          <a:xfrm>
            <a:off x="1448934" y="5070770"/>
            <a:ext cx="1127052" cy="259293"/>
          </a:xfrm>
          <a:prstGeom prst="wedgeRoundRectCallout">
            <a:avLst>
              <a:gd name="adj1" fmla="val 1809"/>
              <a:gd name="adj2" fmla="val -1527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Primary Key</a:t>
            </a:r>
          </a:p>
        </p:txBody>
      </p:sp>
    </p:spTree>
    <p:extLst>
      <p:ext uri="{BB962C8B-B14F-4D97-AF65-F5344CB8AC3E}">
        <p14:creationId xmlns:p14="http://schemas.microsoft.com/office/powerpoint/2010/main" val="1778149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2904843"/>
              </p:ext>
            </p:extLst>
          </p:nvPr>
        </p:nvGraphicFramePr>
        <p:xfrm>
          <a:off x="724591" y="3282764"/>
          <a:ext cx="1105628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79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2828261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189226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 JOIN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table2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table1.column_name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table2.column_name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LEFT JOIN keyword returns all records from the left table (Customers), even if there are no matches in the right table (Orders).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Customers.CustomerName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Orders.OrderID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 JOIN Orders ON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Customers.CustomerID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Orders.CustomerID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 BY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Customers.CustomerName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492149" y="1939519"/>
            <a:ext cx="226376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LEFT JOIN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E6535-AAA1-430B-9806-74DED730B8CC}"/>
              </a:ext>
            </a:extLst>
          </p:cNvPr>
          <p:cNvSpPr txBox="1"/>
          <p:nvPr/>
        </p:nvSpPr>
        <p:spPr>
          <a:xfrm>
            <a:off x="724591" y="2360425"/>
            <a:ext cx="1091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join keyword returns all records from the left table (table1), and the matching records (if any) from the right table (table2).</a:t>
            </a:r>
          </a:p>
        </p:txBody>
      </p:sp>
    </p:spTree>
    <p:extLst>
      <p:ext uri="{BB962C8B-B14F-4D97-AF65-F5344CB8AC3E}">
        <p14:creationId xmlns:p14="http://schemas.microsoft.com/office/powerpoint/2010/main" val="27805239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270456"/>
              </p:ext>
            </p:extLst>
          </p:nvPr>
        </p:nvGraphicFramePr>
        <p:xfrm>
          <a:off x="724591" y="3282764"/>
          <a:ext cx="1105628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79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2828261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189226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 JOIN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table2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table1.column_name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table2.column_name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RIGHT JOIN  keyword returns all records from the right table (table2), and the matching records (if any) from the left table (table1).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Orders.OrderID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Employees.LastName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Employees.FirstName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Orders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 JOIN Employees ON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Orders.EmployeeID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Employees.EmployeeID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 BY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Orders.OrderID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399977" y="1939519"/>
            <a:ext cx="244810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RIGHT JOIN</a:t>
            </a:r>
          </a:p>
        </p:txBody>
      </p:sp>
    </p:spTree>
    <p:extLst>
      <p:ext uri="{BB962C8B-B14F-4D97-AF65-F5344CB8AC3E}">
        <p14:creationId xmlns:p14="http://schemas.microsoft.com/office/powerpoint/2010/main" val="2593555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932730"/>
              </p:ext>
            </p:extLst>
          </p:nvPr>
        </p:nvGraphicFramePr>
        <p:xfrm>
          <a:off x="724591" y="3282764"/>
          <a:ext cx="11056282" cy="1640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79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2828261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189226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 JOIN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CROSS JOIN keyword returns all records from both tables (table1 and table2)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Customers.CustomerName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Orders.OrderID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 JOIN Orders;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384075" y="1939519"/>
            <a:ext cx="247991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CROSS JOIN</a:t>
            </a:r>
          </a:p>
        </p:txBody>
      </p:sp>
    </p:spTree>
    <p:extLst>
      <p:ext uri="{BB962C8B-B14F-4D97-AF65-F5344CB8AC3E}">
        <p14:creationId xmlns:p14="http://schemas.microsoft.com/office/powerpoint/2010/main" val="3473509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458168"/>
              </p:ext>
            </p:extLst>
          </p:nvPr>
        </p:nvGraphicFramePr>
        <p:xfrm>
          <a:off x="724591" y="3282764"/>
          <a:ext cx="1105628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79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207334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944138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INNER JOIN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table2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table1.column_name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table2.column_name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INNER JOIN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table3</a:t>
                      </a:r>
                      <a:b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table1.column_name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table3.column_name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 join is used to join more than 2 tables.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Note: Any join method can be used.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* FROM Orders</a:t>
                      </a:r>
                    </a:p>
                    <a:p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INNER JOIN Customers ON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Customers.CustomerID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INNER JOIN Agent ON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Orders.CustomerID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Agent.AgendID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124260" y="1939519"/>
            <a:ext cx="299954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MULTIPLE JOINS</a:t>
            </a:r>
          </a:p>
        </p:txBody>
      </p:sp>
    </p:spTree>
    <p:extLst>
      <p:ext uri="{BB962C8B-B14F-4D97-AF65-F5344CB8AC3E}">
        <p14:creationId xmlns:p14="http://schemas.microsoft.com/office/powerpoint/2010/main" val="3076380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85612"/>
              </p:ext>
            </p:extLst>
          </p:nvPr>
        </p:nvGraphicFramePr>
        <p:xfrm>
          <a:off x="724591" y="3282764"/>
          <a:ext cx="1105628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79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207334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944138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</a:t>
                      </a:r>
                      <a:br>
                        <a:rPr lang="en-US" dirty="0"/>
                      </a:br>
                      <a:r>
                        <a:rPr lang="en-US" dirty="0"/>
                        <a:t>WHERE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Column = (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table2 </a:t>
                      </a:r>
                      <a:r>
                        <a:rPr lang="en-US" dirty="0"/>
                        <a:t>WHERE condition)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subquery is a SELECT statement within another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customerNumber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checkNumber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amount FROM payments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 = (SELECT MAX(amount) FROM payments);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515170" y="1939519"/>
            <a:ext cx="221772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</a:t>
            </a:r>
            <a:r>
              <a:rPr lang="en-US" b="1" u="sng" dirty="0" err="1"/>
              <a:t>SubQuery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005578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06583"/>
              </p:ext>
            </p:extLst>
          </p:nvPr>
        </p:nvGraphicFramePr>
        <p:xfrm>
          <a:off x="724591" y="3282764"/>
          <a:ext cx="11056282" cy="1640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79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2073349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4944138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(s),</a:t>
                      </a:r>
                      <a:br>
                        <a:rPr lang="en-US" dirty="0"/>
                      </a:br>
                      <a:r>
                        <a:rPr lang="en-US" dirty="0"/>
                        <a:t>IF (Condition, TRUE, FALSE) AS </a:t>
                      </a:r>
                      <a:r>
                        <a:rPr lang="en-US" dirty="0" err="1"/>
                        <a:t>Alias_Name</a:t>
                      </a:r>
                      <a:r>
                        <a:rPr lang="en-US" dirty="0"/>
                        <a:t> FROM table1;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</a:t>
                      </a:r>
                      <a:r>
                        <a:rPr lang="en-US" dirty="0" err="1"/>
                        <a:t>Clasue</a:t>
                      </a:r>
                      <a:r>
                        <a:rPr lang="en-US" dirty="0"/>
                        <a:t> is used for condition and create custom column.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name, age </a:t>
                      </a:r>
                    </a:p>
                    <a:p>
                      <a:r>
                        <a:rPr lang="en-US" dirty="0"/>
                        <a:t>IF (age &gt;= 18, ”Eligible” , ”Not Eligible”) AS </a:t>
                      </a:r>
                      <a:r>
                        <a:rPr lang="en-US" dirty="0" err="1"/>
                        <a:t>Eligiblity</a:t>
                      </a:r>
                      <a:r>
                        <a:rPr lang="en-US" dirty="0"/>
                        <a:t> FROM </a:t>
                      </a:r>
                      <a:r>
                        <a:rPr lang="en-US" dirty="0" err="1"/>
                        <a:t>Nadra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4471219" y="1939519"/>
            <a:ext cx="230563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IF CLAUSE</a:t>
            </a:r>
          </a:p>
        </p:txBody>
      </p:sp>
    </p:spTree>
    <p:extLst>
      <p:ext uri="{BB962C8B-B14F-4D97-AF65-F5344CB8AC3E}">
        <p14:creationId xmlns:p14="http://schemas.microsoft.com/office/powerpoint/2010/main" val="19408973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776096"/>
              </p:ext>
            </p:extLst>
          </p:nvPr>
        </p:nvGraphicFramePr>
        <p:xfrm>
          <a:off x="724591" y="3282764"/>
          <a:ext cx="1105628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6105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2186608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5353569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br>
                        <a:rPr lang="en-US" dirty="0"/>
                      </a:br>
                      <a:r>
                        <a:rPr lang="en-US" dirty="0"/>
                        <a:t>CASE </a:t>
                      </a:r>
                    </a:p>
                    <a:p>
                      <a:r>
                        <a:rPr lang="en-US" dirty="0"/>
                        <a:t>WHEN Condition1 THEN Result1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WHEN Condition2 THEN Result2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WHEN Condition3 THEN Result3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ELSE Result </a:t>
                      </a:r>
                      <a:r>
                        <a:rPr lang="en-US" dirty="0" err="1"/>
                        <a:t>Alias_Name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END AS </a:t>
                      </a:r>
                      <a:r>
                        <a:rPr lang="en-US" dirty="0" err="1"/>
                        <a:t>Alias_Name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FROM table1;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CASE END </a:t>
                      </a:r>
                      <a:r>
                        <a:rPr lang="en-US" dirty="0" err="1"/>
                        <a:t>Clasue</a:t>
                      </a:r>
                      <a:r>
                        <a:rPr lang="en-US" dirty="0"/>
                        <a:t> is used to check multiple condition.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</a:t>
                      </a:r>
                      <a:r>
                        <a:rPr lang="en-US" dirty="0" err="1"/>
                        <a:t>cust_name</a:t>
                      </a:r>
                      <a:r>
                        <a:rPr lang="en-US" dirty="0"/>
                        <a:t>, </a:t>
                      </a:r>
                    </a:p>
                    <a:p>
                      <a:r>
                        <a:rPr lang="en-US" dirty="0"/>
                        <a:t>CASE</a:t>
                      </a:r>
                    </a:p>
                    <a:p>
                      <a:r>
                        <a:rPr lang="en-US" dirty="0"/>
                        <a:t>WHEN </a:t>
                      </a:r>
                      <a:r>
                        <a:rPr lang="en-US" dirty="0" err="1"/>
                        <a:t>paid_amount</a:t>
                      </a:r>
                      <a:r>
                        <a:rPr lang="en-US" dirty="0"/>
                        <a:t> &gt;= 100 THEN "Heavy Discount“</a:t>
                      </a:r>
                    </a:p>
                    <a:p>
                      <a:r>
                        <a:rPr lang="en-US" dirty="0"/>
                        <a:t>WHEN </a:t>
                      </a:r>
                      <a:r>
                        <a:rPr lang="en-US" dirty="0" err="1"/>
                        <a:t>paid_amount</a:t>
                      </a:r>
                      <a:r>
                        <a:rPr lang="en-US" dirty="0"/>
                        <a:t> &gt;= 50 THEN "Average Discount“</a:t>
                      </a:r>
                    </a:p>
                    <a:p>
                      <a:r>
                        <a:rPr lang="en-US" dirty="0"/>
                        <a:t>WHEN </a:t>
                      </a:r>
                      <a:r>
                        <a:rPr lang="en-US" dirty="0" err="1"/>
                        <a:t>paid_amount</a:t>
                      </a:r>
                      <a:r>
                        <a:rPr lang="en-US" dirty="0"/>
                        <a:t> &lt; 50 THEN "Low Discount“</a:t>
                      </a:r>
                    </a:p>
                    <a:p>
                      <a:r>
                        <a:rPr lang="en-US" dirty="0"/>
                        <a:t>ELSE "No Discount“</a:t>
                      </a:r>
                    </a:p>
                    <a:p>
                      <a:r>
                        <a:rPr lang="en-US" dirty="0"/>
                        <a:t>END as </a:t>
                      </a:r>
                      <a:r>
                        <a:rPr lang="en-US" dirty="0" err="1"/>
                        <a:t>conditional_discount</a:t>
                      </a:r>
                      <a:r>
                        <a:rPr lang="en-US" dirty="0"/>
                        <a:t> </a:t>
                      </a:r>
                    </a:p>
                    <a:p>
                      <a:r>
                        <a:rPr lang="en-US" dirty="0"/>
                        <a:t>from customer;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963070" y="1939519"/>
            <a:ext cx="332193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CASE END CLAUSE</a:t>
            </a:r>
          </a:p>
        </p:txBody>
      </p:sp>
    </p:spTree>
    <p:extLst>
      <p:ext uri="{BB962C8B-B14F-4D97-AF65-F5344CB8AC3E}">
        <p14:creationId xmlns:p14="http://schemas.microsoft.com/office/powerpoint/2010/main" val="22728578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EFD4-BBB8-487B-A341-F8188C7D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MySQL Database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4DC7F16-B24C-4A38-BCD1-954770AC3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064779"/>
              </p:ext>
            </p:extLst>
          </p:nvPr>
        </p:nvGraphicFramePr>
        <p:xfrm>
          <a:off x="578819" y="3741510"/>
          <a:ext cx="11056282" cy="291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3183">
                  <a:extLst>
                    <a:ext uri="{9D8B030D-6E8A-4147-A177-3AD203B41FA5}">
                      <a16:colId xmlns:a16="http://schemas.microsoft.com/office/drawing/2014/main" val="769039760"/>
                    </a:ext>
                  </a:extLst>
                </a:gridCol>
                <a:gridCol w="3140765">
                  <a:extLst>
                    <a:ext uri="{9D8B030D-6E8A-4147-A177-3AD203B41FA5}">
                      <a16:colId xmlns:a16="http://schemas.microsoft.com/office/drawing/2014/main" val="3890712993"/>
                    </a:ext>
                  </a:extLst>
                </a:gridCol>
                <a:gridCol w="3922334">
                  <a:extLst>
                    <a:ext uri="{9D8B030D-6E8A-4147-A177-3AD203B41FA5}">
                      <a16:colId xmlns:a16="http://schemas.microsoft.com/office/drawing/2014/main" val="1202249126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267894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UNION operator selects only distinct values by default.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City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City FROM Suppliers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 BY City;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56508"/>
                  </a:ext>
                </a:extLst>
              </a:tr>
              <a:tr h="1274663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table1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 ALL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</a:t>
                      </a:r>
                      <a:r>
                        <a:rPr lang="en-US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FROM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allow duplicate values, use UNION 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City FROM Customers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 ALL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 City FROM Suppliers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 BY City;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2666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D8F764-7BB4-4B25-8B9D-2C7FEAB303F5}"/>
              </a:ext>
            </a:extLst>
          </p:cNvPr>
          <p:cNvSpPr txBox="1"/>
          <p:nvPr/>
        </p:nvSpPr>
        <p:spPr>
          <a:xfrm>
            <a:off x="3651226" y="1939519"/>
            <a:ext cx="394563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u="sng" dirty="0"/>
              <a:t>MySQL UNION AND UNION 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533A6-44FE-45AE-A247-8B512BE8DB05}"/>
              </a:ext>
            </a:extLst>
          </p:cNvPr>
          <p:cNvSpPr txBox="1"/>
          <p:nvPr/>
        </p:nvSpPr>
        <p:spPr>
          <a:xfrm>
            <a:off x="724591" y="2416249"/>
            <a:ext cx="10886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UNION </a:t>
            </a:r>
            <a:r>
              <a:rPr lang="en-US" dirty="0">
                <a:solidFill>
                  <a:schemeClr val="dk1"/>
                </a:solidFill>
              </a:rPr>
              <a:t>operator is used to combine the result-set of two or more SELECT statements.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SELECT statement within UNION must have the same number of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columns must also have similar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columns in every SELECT  statement must also be in the same order</a:t>
            </a:r>
          </a:p>
        </p:txBody>
      </p:sp>
    </p:spTree>
    <p:extLst>
      <p:ext uri="{BB962C8B-B14F-4D97-AF65-F5344CB8AC3E}">
        <p14:creationId xmlns:p14="http://schemas.microsoft.com/office/powerpoint/2010/main" val="415672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1654</TotalTime>
  <Words>2294</Words>
  <Application>Microsoft Office PowerPoint</Application>
  <PresentationFormat>Widescreen</PresentationFormat>
  <Paragraphs>552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Verdana</vt:lpstr>
      <vt:lpstr>Office Theme</vt:lpstr>
      <vt:lpstr>Introduction to mySQL </vt:lpstr>
      <vt:lpstr>MySQL String Data Types </vt:lpstr>
      <vt:lpstr>MySQL String Data Types </vt:lpstr>
      <vt:lpstr>MySQL numeric Data Types </vt:lpstr>
      <vt:lpstr>MySQL numeric Data Types </vt:lpstr>
      <vt:lpstr>MySQL numeric Data Types </vt:lpstr>
      <vt:lpstr>MySQL numeric Data Types 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  <vt:lpstr>MySQL Database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mySQL </dc:title>
  <dc:creator>Muhammad Shahryar</dc:creator>
  <cp:lastModifiedBy>Fariha Shafiq</cp:lastModifiedBy>
  <cp:revision>177</cp:revision>
  <dcterms:created xsi:type="dcterms:W3CDTF">2023-02-08T09:22:24Z</dcterms:created>
  <dcterms:modified xsi:type="dcterms:W3CDTF">2024-07-18T10:35:32Z</dcterms:modified>
</cp:coreProperties>
</file>