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82" r:id="rId12"/>
    <p:sldId id="280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  <p:sldId id="275" r:id="rId24"/>
    <p:sldId id="276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rdah Malik" initials="WM" lastIdx="1" clrIdx="0">
    <p:extLst>
      <p:ext uri="{19B8F6BF-5375-455C-9EA6-DF929625EA0E}">
        <p15:presenceInfo xmlns:p15="http://schemas.microsoft.com/office/powerpoint/2012/main" userId="S-1-5-21-3985379720-896011338-3875669009-39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0BF8C9-8D8F-4C63-9861-C0D9CCD658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MYSQ;L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F1C05-6A46-4500-95B5-E7D0C08FC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E3360-C16F-40A6-99DC-0346EE5DB9BC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4163B-8972-45E8-8325-2335907A98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9E4F8-9FAF-4AAA-A34D-314278762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A6461-074B-40BF-B137-178365BF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2785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MYSQ;L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666B1-5135-43FA-8522-E703B3BCF712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F8A69-94FD-4C31-A607-8E646C197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643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MYSQ;L</a:t>
            </a:r>
          </a:p>
        </p:txBody>
      </p:sp>
    </p:spTree>
    <p:extLst>
      <p:ext uri="{BB962C8B-B14F-4D97-AF65-F5344CB8AC3E}">
        <p14:creationId xmlns:p14="http://schemas.microsoft.com/office/powerpoint/2010/main" val="2079897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1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6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9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6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9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6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1778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2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33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4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97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3EB89-4769-4ADB-A2E2-9BB7BBB4BBC6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B547-DA5F-48AF-AFBE-52C9BF6B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81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tutorial.org/sql-selec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8BCB-D8EF-4E00-B114-F9471551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0251" y="2394572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en-US" sz="19900" dirty="0">
                <a:latin typeface="Adobe Garamond Pro Bold" panose="02020702060506020403" pitchFamily="18" charset="0"/>
              </a:rPr>
              <a:t>MySQL </a:t>
            </a:r>
          </a:p>
        </p:txBody>
      </p:sp>
    </p:spTree>
    <p:extLst>
      <p:ext uri="{BB962C8B-B14F-4D97-AF65-F5344CB8AC3E}">
        <p14:creationId xmlns:p14="http://schemas.microsoft.com/office/powerpoint/2010/main" val="245928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0280-38D7-431C-809A-54792E96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aramond Pro Bold" panose="02020702060506020403" pitchFamily="18" charset="0"/>
              </a:rPr>
              <a:t>What is MySQL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3208-8D99-455C-A9FB-3FCC990E6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a relational database management system</a:t>
            </a:r>
          </a:p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open-source</a:t>
            </a:r>
          </a:p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free</a:t>
            </a:r>
          </a:p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ideal for both small and large applications</a:t>
            </a:r>
          </a:p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very fast, reliable, scalable, and easy to use</a:t>
            </a:r>
          </a:p>
          <a:p>
            <a:pPr marL="285750" indent="111125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MySQL is cross-platform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5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1E6B-38E1-439E-BECB-4583BFF9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What is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F929-E9D2-4F6F-91F4-A9F54C85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dobe Caslon Pro Bold" panose="0205070206050A020403" pitchFamily="18" charset="0"/>
              </a:rPr>
              <a:t>SQL is the standard language for dealing with Relational Databases.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dobe Caslon Pro Bold" panose="0205070206050A020403" pitchFamily="18" charset="0"/>
              </a:rPr>
              <a:t>SQL is used to insert, search, update, and delete database records.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dobe Caslon Pro Bold" panose="0205070206050A020403" pitchFamily="18" charset="0"/>
              </a:rPr>
              <a:t>SQL works by understanding and analyzing data of virtually any size, from small datasets to large stacks.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dobe Caslon Pro Bold" panose="0205070206050A020403" pitchFamily="18" charset="0"/>
              </a:rPr>
              <a:t>It's a very powerful tool that enables you to perform many functions at high efficiency and speed</a:t>
            </a:r>
          </a:p>
        </p:txBody>
      </p:sp>
    </p:spTree>
    <p:extLst>
      <p:ext uri="{BB962C8B-B14F-4D97-AF65-F5344CB8AC3E}">
        <p14:creationId xmlns:p14="http://schemas.microsoft.com/office/powerpoint/2010/main" val="197251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5C2E-C99D-4EFA-A3B2-EBF69E41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Caslon Pro Bold" panose="0205070206050A020403" pitchFamily="18" charset="0"/>
              </a:rPr>
              <a:t>Features of SQL</a:t>
            </a:r>
            <a:endParaRPr lang="en-US" dirty="0">
              <a:latin typeface="Adobe Caslon Pro Bold" panose="0205070206050A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6AC8-5D92-40DC-8073-E390FFE15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SQL will help you to communicate with the database by commands. Here are some of the top features of SQL Database: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It enables users to extract data from the relationship database. 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It enables users to set up databases and tables.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It can be used to update, insert, delete and edit databases and tables.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It provides security and allows you to specify permissions.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Adobe Caslon Pro Bold" panose="0205070206050A020403" pitchFamily="18" charset="0"/>
              </a:rPr>
              <a:t>Allows people to process information in new ways.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0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1A9C-53B7-4546-9F15-F83CB596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12" y="0"/>
            <a:ext cx="9507556" cy="1070105"/>
          </a:xfrm>
        </p:spPr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err="1"/>
              <a:t>sql</a:t>
            </a:r>
            <a:r>
              <a:rPr lang="en-US" dirty="0"/>
              <a:t> commands</a:t>
            </a:r>
            <a:endParaRPr lang="en-US" dirty="0">
              <a:latin typeface="Adobe Garamond Pro Bold" panose="020207020605060204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9027D-3ABF-4BEE-9C69-29EF9BD927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61"/>
          <a:stretch/>
        </p:blipFill>
        <p:spPr>
          <a:xfrm>
            <a:off x="2490277" y="1905245"/>
            <a:ext cx="7370969" cy="36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8CE1-D563-4A5C-8EA1-5C32FB2E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Data Definition Language (DDL)</a:t>
            </a:r>
            <a:endParaRPr lang="en-US" dirty="0">
              <a:latin typeface="Adobe Garamond Pro Bold" panose="0202070206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51B9-6794-489E-82AA-ADF07C04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dobe Garamond Pro Bold" panose="02020702060506020403" pitchFamily="18" charset="0"/>
              </a:rPr>
              <a:t>CREATE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Adobe Garamond Pro Bold" panose="02020702060506020403" pitchFamily="18" charset="0"/>
              </a:rPr>
              <a:t> Create the database or its objects using the CREATE command (like table, index, function, views, store procedure, and triggers).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Adobe Garamond Pro Bold" panose="02020702060506020403" pitchFamily="18" charset="0"/>
              </a:rPr>
              <a:t>DROP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Adobe Garamond Pro Bold" panose="02020702060506020403" pitchFamily="18" charset="0"/>
              </a:rPr>
              <a:t> </a:t>
            </a:r>
            <a:r>
              <a:rPr lang="en-US" dirty="0">
                <a:latin typeface="Adobe Garamond Pro Bold" panose="02020702060506020403" pitchFamily="18" charset="0"/>
              </a:rPr>
              <a:t>Use the DROP command to remove objects from the database.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Adobe Garamond Pro Bold" panose="02020702060506020403" pitchFamily="18" charset="0"/>
              </a:rPr>
              <a:t>ALTER</a:t>
            </a:r>
            <a:r>
              <a:rPr lang="en-US" dirty="0">
                <a:latin typeface="Adobe Garamond Pro Bold" panose="02020702060506020403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Adobe Garamond Pro Bold" panose="02020702060506020403" pitchFamily="18" charset="0"/>
              </a:rPr>
              <a:t> This is used to change the database's structure.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Adobe Garamond Pro Bold" panose="02020702060506020403" pitchFamily="18" charset="0"/>
              </a:rPr>
              <a:t>TRUNCATE: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Adobe Garamond Pro Bold" panose="02020702060506020403" pitchFamily="18" charset="0"/>
              </a:rPr>
              <a:t> is one of the most important DDL commands in SQL, TRUNCATE eliminates all records from a table, as well as any spaces set aside for the records.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Adobe Garamond Pro Bold" panose="02020702060506020403" pitchFamily="18" charset="0"/>
              </a:rPr>
              <a:t>COMMENT</a:t>
            </a:r>
            <a:r>
              <a:rPr lang="en-US" dirty="0">
                <a:latin typeface="Adobe Garamond Pro Bold" panose="02020702060506020403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Adobe Garamond Pro Bold" panose="02020702060506020403" pitchFamily="18" charset="0"/>
              </a:rPr>
              <a:t> This is employed to include comments in the data dictionary.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4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65B4-A929-45C0-9400-7603AC37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aramond Pro Bold" panose="02020702060506020403" pitchFamily="18" charset="0"/>
              </a:rPr>
              <a:t>ALTER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CC01-EA00-4A6C-9017-1A3A9BCF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Add column in a table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Changing data type of a column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Change column Name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Adding constraints to a column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Changing column position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Delete column</a:t>
            </a:r>
          </a:p>
          <a:p>
            <a:pPr marL="804863" indent="-573088">
              <a:buFont typeface="Wingdings" panose="05000000000000000000" pitchFamily="2" charset="2"/>
              <a:buChar char="v"/>
              <a:tabLst>
                <a:tab pos="682625" algn="l"/>
              </a:tabLst>
            </a:pPr>
            <a:r>
              <a:rPr lang="en-US" sz="2400" dirty="0">
                <a:latin typeface="Adobe Caslon Pro Bold" panose="0205070206050A020403" pitchFamily="18" charset="0"/>
              </a:rPr>
              <a:t>Renaming Tables</a:t>
            </a:r>
          </a:p>
        </p:txBody>
      </p:sp>
    </p:spTree>
    <p:extLst>
      <p:ext uri="{BB962C8B-B14F-4D97-AF65-F5344CB8AC3E}">
        <p14:creationId xmlns:p14="http://schemas.microsoft.com/office/powerpoint/2010/main" val="134104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567324-8342-436E-964D-050FB5625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192" y="0"/>
            <a:ext cx="8897369" cy="4022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E61AC-457A-42D6-BCA1-37E341E14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315" y="3771209"/>
            <a:ext cx="9060493" cy="23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0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E1D6-575C-4193-9DA5-E5A87B7C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Caslon Pro Bold" panose="0205070206050A020403" pitchFamily="18" charset="0"/>
              </a:rPr>
              <a:t>SQL CONSTRAINTS</a:t>
            </a:r>
            <a:endParaRPr lang="en-US" dirty="0"/>
          </a:p>
        </p:txBody>
      </p:sp>
      <p:pic>
        <p:nvPicPr>
          <p:cNvPr id="1026" name="Picture 2" descr="SQL Constraints | 6 Commonly Used Different kinds of SQL Constraints">
            <a:extLst>
              <a:ext uri="{FF2B5EF4-FFF2-40B4-BE49-F238E27FC236}">
                <a16:creationId xmlns:a16="http://schemas.microsoft.com/office/drawing/2014/main" id="{809195F1-4CBD-47CD-9AEB-19EC6FC85F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2140" y="1658144"/>
            <a:ext cx="6593033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C8B71-3D3B-487E-8A65-C7A97A88CC49}"/>
              </a:ext>
            </a:extLst>
          </p:cNvPr>
          <p:cNvSpPr txBox="1"/>
          <p:nvPr/>
        </p:nvSpPr>
        <p:spPr>
          <a:xfrm>
            <a:off x="1016200" y="1793256"/>
            <a:ext cx="37407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100" dirty="0">
                <a:latin typeface="Adobe Caslon Pro Bold" panose="0205070206050A020403" pitchFamily="18" charset="0"/>
              </a:rPr>
              <a:t>SQL constraints are used to specify rules for the data in a table.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100" dirty="0">
              <a:latin typeface="Adobe Caslon Pro Bold" panose="0205070206050A020403" pitchFamily="18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100" dirty="0">
                <a:latin typeface="Adobe Caslon Pro Bold" panose="0205070206050A020403" pitchFamily="18" charset="0"/>
              </a:rPr>
              <a:t>Constraints are used to limit the type of data that can go into a table. This ensures the accuracy and reliability of the data in the table. If there is any violation between the constraint and the data action, the action is aborted.</a:t>
            </a:r>
          </a:p>
        </p:txBody>
      </p:sp>
    </p:spTree>
    <p:extLst>
      <p:ext uri="{BB962C8B-B14F-4D97-AF65-F5344CB8AC3E}">
        <p14:creationId xmlns:p14="http://schemas.microsoft.com/office/powerpoint/2010/main" val="356972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CC9803-F180-4587-AAB8-9E5A56EE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>
                <a:latin typeface="Adobe Caslon Pro Bold" panose="0205070206050A020403" pitchFamily="18" charset="0"/>
              </a:rPr>
              <a:t>List Of Constraints in </a:t>
            </a:r>
            <a:r>
              <a:rPr lang="en-US" b="1" dirty="0" err="1">
                <a:latin typeface="Adobe Caslon Pro Bold" panose="0205070206050A020403" pitchFamily="18" charset="0"/>
              </a:rPr>
              <a:t>Mysql</a:t>
            </a:r>
            <a:endParaRPr lang="en-US" dirty="0">
              <a:latin typeface="Adobe Caslon Pro Bold" panose="0205070206050A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ABF95-B7FC-4F3D-ACF0-7E83BE187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246" y="1953719"/>
            <a:ext cx="1781424" cy="2276793"/>
          </a:xfrm>
          <a:prstGeom prst="rect">
            <a:avLst/>
          </a:prstGeom>
        </p:spPr>
      </p:pic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746F3AE-7614-44DD-89ED-A2924BDD46D7}"/>
              </a:ext>
            </a:extLst>
          </p:cNvPr>
          <p:cNvGraphicFramePr>
            <a:graphicFrameLocks noGrp="1"/>
          </p:cNvGraphicFramePr>
          <p:nvPr/>
        </p:nvGraphicFramePr>
        <p:xfrm>
          <a:off x="3427664" y="200365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886162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507614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172267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624133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81503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61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karachi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0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Nimra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Karachi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925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sameer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karachi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02728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BEB0A0-31BC-4E1A-B66E-B306C8160B10}"/>
              </a:ext>
            </a:extLst>
          </p:cNvPr>
          <p:cNvCxnSpPr>
            <a:cxnSpLocks/>
          </p:cNvCxnSpPr>
          <p:nvPr/>
        </p:nvCxnSpPr>
        <p:spPr>
          <a:xfrm>
            <a:off x="4090737" y="3628933"/>
            <a:ext cx="0" cy="36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A1311B2-0776-4E68-A481-423F6F2F9EFD}"/>
              </a:ext>
            </a:extLst>
          </p:cNvPr>
          <p:cNvSpPr txBox="1"/>
          <p:nvPr/>
        </p:nvSpPr>
        <p:spPr>
          <a:xfrm>
            <a:off x="3657600" y="4136399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Null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CF0088-82DF-4E27-BBD0-EBB7E64D8268}"/>
              </a:ext>
            </a:extLst>
          </p:cNvPr>
          <p:cNvCxnSpPr>
            <a:cxnSpLocks/>
          </p:cNvCxnSpPr>
          <p:nvPr/>
        </p:nvCxnSpPr>
        <p:spPr>
          <a:xfrm>
            <a:off x="4090737" y="4647646"/>
            <a:ext cx="0" cy="36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ABCDDA-533D-44C0-9917-2279A6612FA4}"/>
              </a:ext>
            </a:extLst>
          </p:cNvPr>
          <p:cNvSpPr txBox="1"/>
          <p:nvPr/>
        </p:nvSpPr>
        <p:spPr>
          <a:xfrm>
            <a:off x="3657600" y="5155112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Unique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2A22E8-180A-4C03-A8BC-898F1775BEEA}"/>
              </a:ext>
            </a:extLst>
          </p:cNvPr>
          <p:cNvCxnSpPr>
            <a:cxnSpLocks/>
          </p:cNvCxnSpPr>
          <p:nvPr/>
        </p:nvCxnSpPr>
        <p:spPr>
          <a:xfrm>
            <a:off x="7106653" y="3628933"/>
            <a:ext cx="0" cy="36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B7DB3F-36F7-4298-88F8-06AB11B45464}"/>
              </a:ext>
            </a:extLst>
          </p:cNvPr>
          <p:cNvSpPr txBox="1"/>
          <p:nvPr/>
        </p:nvSpPr>
        <p:spPr>
          <a:xfrm>
            <a:off x="6328612" y="4228048"/>
            <a:ext cx="232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Check(age&gt;=18)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65B4BD-CEED-4F72-A464-E8ACDAB4D7D1}"/>
              </a:ext>
            </a:extLst>
          </p:cNvPr>
          <p:cNvCxnSpPr>
            <a:cxnSpLocks/>
          </p:cNvCxnSpPr>
          <p:nvPr/>
        </p:nvCxnSpPr>
        <p:spPr>
          <a:xfrm>
            <a:off x="8967537" y="3302352"/>
            <a:ext cx="0" cy="36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5FAE9B-F1EE-4891-9500-6F11D856EE2D}"/>
              </a:ext>
            </a:extLst>
          </p:cNvPr>
          <p:cNvSpPr txBox="1"/>
          <p:nvPr/>
        </p:nvSpPr>
        <p:spPr>
          <a:xfrm>
            <a:off x="8534400" y="3809818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Null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23F128-1585-4195-820F-FBE01F9DB8E8}"/>
              </a:ext>
            </a:extLst>
          </p:cNvPr>
          <p:cNvCxnSpPr>
            <a:cxnSpLocks/>
          </p:cNvCxnSpPr>
          <p:nvPr/>
        </p:nvCxnSpPr>
        <p:spPr>
          <a:xfrm>
            <a:off x="10794732" y="3487018"/>
            <a:ext cx="0" cy="36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397281-B1F7-400E-BD38-FC4054AC66DB}"/>
              </a:ext>
            </a:extLst>
          </p:cNvPr>
          <p:cNvSpPr txBox="1"/>
          <p:nvPr/>
        </p:nvSpPr>
        <p:spPr>
          <a:xfrm>
            <a:off x="10361595" y="3994484"/>
            <a:ext cx="1588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Default ‘Karachi’</a:t>
            </a:r>
          </a:p>
        </p:txBody>
      </p:sp>
    </p:spTree>
    <p:extLst>
      <p:ext uri="{BB962C8B-B14F-4D97-AF65-F5344CB8AC3E}">
        <p14:creationId xmlns:p14="http://schemas.microsoft.com/office/powerpoint/2010/main" val="1200154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CC9803-F180-4587-AAB8-9E5A56EE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>
                <a:latin typeface="Adobe Caslon Pro Bold" panose="0205070206050A020403" pitchFamily="18" charset="0"/>
              </a:rPr>
              <a:t>Create Table with constraints 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987C8-8B04-409F-BDBB-61952FD0805B}"/>
              </a:ext>
            </a:extLst>
          </p:cNvPr>
          <p:cNvSpPr txBox="1"/>
          <p:nvPr/>
        </p:nvSpPr>
        <p:spPr>
          <a:xfrm>
            <a:off x="1804736" y="1737360"/>
            <a:ext cx="89514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Create Table </a:t>
            </a:r>
            <a:r>
              <a:rPr lang="en-US" sz="2800" b="1" dirty="0" err="1"/>
              <a:t>TableName</a:t>
            </a:r>
            <a:r>
              <a:rPr lang="en-US" sz="2800" b="1" dirty="0"/>
              <a:t>(</a:t>
            </a:r>
          </a:p>
          <a:p>
            <a:r>
              <a:rPr lang="en-US" sz="2800" b="1" dirty="0"/>
              <a:t>	</a:t>
            </a:r>
          </a:p>
          <a:p>
            <a:r>
              <a:rPr lang="en-US" sz="2800" b="1" dirty="0"/>
              <a:t>	id int NOT NULL UNIQUE,</a:t>
            </a:r>
          </a:p>
          <a:p>
            <a:r>
              <a:rPr lang="en-US" sz="2800" b="1" dirty="0"/>
              <a:t>	Name varchar(50) NOT NULL,</a:t>
            </a:r>
          </a:p>
          <a:p>
            <a:r>
              <a:rPr lang="en-US" sz="2800" b="1" dirty="0"/>
              <a:t>	age INT NOT NULL CHECK(age&gt;=18),</a:t>
            </a:r>
          </a:p>
          <a:p>
            <a:r>
              <a:rPr lang="en-US" sz="2800" b="1" dirty="0"/>
              <a:t>	gender VARCHAR(10) NOT NULL,</a:t>
            </a:r>
          </a:p>
          <a:p>
            <a:r>
              <a:rPr lang="en-US" sz="2800" b="1" dirty="0"/>
              <a:t>	phone VARCHAR(10) NOT NULL UNIQUE,</a:t>
            </a:r>
          </a:p>
          <a:p>
            <a:r>
              <a:rPr lang="en-US" sz="2800" b="1" dirty="0"/>
              <a:t>	city VARCHAR(10) NOT NULL DEFAULT ‘Karachi’</a:t>
            </a:r>
          </a:p>
          <a:p>
            <a:r>
              <a:rPr lang="en-US" sz="28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5437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B981-5C37-4256-A182-EBFFB118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F561-0B7F-41F3-9782-624B6BF5A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5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8CE1-D563-4A5C-8EA1-5C32FB2E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Data Manipulation Language (DML)</a:t>
            </a:r>
            <a:endParaRPr lang="en-US" dirty="0">
              <a:latin typeface="Adobe Garamond Pro Bold" panose="0202070206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51B9-6794-489E-82AA-ADF07C04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dobe Garamond Pro Bold" panose="02020702060506020403" pitchFamily="18" charset="0"/>
              </a:rPr>
              <a:t>SELECT: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dobe Garamond Pro Bold" panose="02020702060506020403" pitchFamily="18" charset="0"/>
              </a:rPr>
              <a:t>This command is used to retrieve rows from a table. SELECT is the most widely used DML command in SQL.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dobe Garamond Pro Bold" panose="02020702060506020403" pitchFamily="18" charset="0"/>
              </a:rPr>
              <a:t>UPDATE: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dobe Garamond Pro Bold" panose="02020702060506020403" pitchFamily="18" charset="0"/>
              </a:rPr>
              <a:t>This command modifies data of one or more records.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dobe Garamond Pro Bold" panose="02020702060506020403" pitchFamily="18" charset="0"/>
              </a:rPr>
              <a:t>INSERT: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dobe Garamond Pro Bold" panose="02020702060506020403" pitchFamily="18" charset="0"/>
              </a:rPr>
              <a:t>This command adds one or more records to a database table. 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Garamond Pro Bold" panose="02020702060506020403" pitchFamily="18" charset="0"/>
              </a:rPr>
              <a:t>DELETE: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dobe Garamond Pro Bold" panose="02020702060506020403" pitchFamily="18" charset="0"/>
              </a:rPr>
              <a:t>This command removes one or more records from a table according to specified conditions</a:t>
            </a:r>
          </a:p>
        </p:txBody>
      </p:sp>
    </p:spTree>
    <p:extLst>
      <p:ext uri="{BB962C8B-B14F-4D97-AF65-F5344CB8AC3E}">
        <p14:creationId xmlns:p14="http://schemas.microsoft.com/office/powerpoint/2010/main" val="1898623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A09A-530C-49F0-BCF8-F38AFBCF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19" y="297254"/>
            <a:ext cx="10058400" cy="1450757"/>
          </a:xfrm>
        </p:spPr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AND, OR, NOT Commands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537036-A26D-4F2F-BC5F-FCB53D69F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159" y="1836511"/>
            <a:ext cx="8763484" cy="44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15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A09A-530C-49F0-BCF8-F38AFBCF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18" y="171498"/>
            <a:ext cx="8198386" cy="958669"/>
          </a:xfrm>
        </p:spPr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IN &amp; NOT IN Commands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F12B51-05B3-4A29-8D80-AEC918B54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119150"/>
            <a:ext cx="10289755" cy="516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D8F4-F34C-46E9-9EB1-36A03A48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PRIMARY KEY Constraint</a:t>
            </a:r>
            <a:endParaRPr lang="en-US" dirty="0"/>
          </a:p>
        </p:txBody>
      </p:sp>
      <p:pic>
        <p:nvPicPr>
          <p:cNvPr id="1027" name="Picture 3" descr="Primary Key">
            <a:extLst>
              <a:ext uri="{FF2B5EF4-FFF2-40B4-BE49-F238E27FC236}">
                <a16:creationId xmlns:a16="http://schemas.microsoft.com/office/drawing/2014/main" id="{8E79F763-402A-49D6-97E3-FBAE00A8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938" y="2097088"/>
            <a:ext cx="6706919" cy="250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19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D8F4-F34C-46E9-9EB1-36A03A48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50" y="727278"/>
            <a:ext cx="7991636" cy="1024404"/>
          </a:xfrm>
        </p:spPr>
        <p:txBody>
          <a:bodyPr>
            <a:normAutofit/>
          </a:bodyPr>
          <a:lstStyle/>
          <a:p>
            <a:r>
              <a:rPr lang="en-US" b="1" dirty="0">
                <a:latin typeface="Adobe Garamond Pro Bold" panose="02020702060506020403" pitchFamily="18" charset="0"/>
              </a:rPr>
              <a:t>FOREIGN KEY Constraint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0781D-6A15-4A7A-8F75-8530192FD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238" y="2320889"/>
            <a:ext cx="5975022" cy="289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39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6826-0DED-43F8-82F3-8ED80845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Joins in MySQL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27C85-1CEC-4ED3-B84E-582F117A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sz="3600" b="1" dirty="0">
                <a:latin typeface="Adobe Caslon Pro" panose="0205050205050A020403" pitchFamily="18" charset="0"/>
              </a:rPr>
              <a:t>Inner Join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sz="3600" b="1" dirty="0">
                <a:latin typeface="Adobe Caslon Pro" panose="0205050205050A020403" pitchFamily="18" charset="0"/>
              </a:rPr>
              <a:t>Left Join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sz="3600" b="1" dirty="0">
                <a:latin typeface="Adobe Caslon Pro" panose="0205050205050A020403" pitchFamily="18" charset="0"/>
              </a:rPr>
              <a:t>Right Join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sz="3600" b="1" dirty="0">
                <a:latin typeface="Adobe Caslon Pro" panose="0205050205050A020403" pitchFamily="18" charset="0"/>
              </a:rPr>
              <a:t>Cross Join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12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F47-D16B-42D7-9AC2-DEFDA8F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SQL INNER JOIN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72879-F9DE-43B3-8CF9-A3317AB60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824" y="2206489"/>
            <a:ext cx="865285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 INNER JOIN keyword selects records that have matching values in both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SQL INNER JOIN">
            <a:extLst>
              <a:ext uri="{FF2B5EF4-FFF2-40B4-BE49-F238E27FC236}">
                <a16:creationId xmlns:a16="http://schemas.microsoft.com/office/drawing/2014/main" id="{60E3A888-F3FF-4B5C-AA12-993D9C3EA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335" y="2907738"/>
            <a:ext cx="3766981" cy="273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1CBA70-47BD-4F4E-B0E0-06A359381A78}"/>
              </a:ext>
            </a:extLst>
          </p:cNvPr>
          <p:cNvSpPr txBox="1"/>
          <p:nvPr/>
        </p:nvSpPr>
        <p:spPr>
          <a:xfrm>
            <a:off x="5562252" y="3226827"/>
            <a:ext cx="529243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aramond Pro Bold" panose="02020702060506020403" pitchFamily="18" charset="0"/>
                <a:ea typeface="+mj-ea"/>
                <a:cs typeface="+mj-cs"/>
              </a:rPr>
              <a:t>INNER JOIN Syntax</a:t>
            </a:r>
          </a:p>
          <a:p>
            <a:endParaRPr lang="en-US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SELECT </a:t>
            </a:r>
            <a:r>
              <a:rPr 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column_name</a:t>
            </a: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(s)</a:t>
            </a:r>
            <a:b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</a:b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FROM table1</a:t>
            </a:r>
            <a:b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</a:b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INNER JOIN table2</a:t>
            </a:r>
            <a:b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</a:b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ON table1.column_name = table2.column_name;</a:t>
            </a:r>
          </a:p>
        </p:txBody>
      </p:sp>
    </p:spTree>
    <p:extLst>
      <p:ext uri="{BB962C8B-B14F-4D97-AF65-F5344CB8AC3E}">
        <p14:creationId xmlns:p14="http://schemas.microsoft.com/office/powerpoint/2010/main" val="215330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F47-D16B-42D7-9AC2-DEFDA8F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SQL LEFT JOIN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72879-F9DE-43B3-8CF9-A3317AB60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824" y="2352683"/>
            <a:ext cx="865285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CBA70-47BD-4F4E-B0E0-06A359381A78}"/>
              </a:ext>
            </a:extLst>
          </p:cNvPr>
          <p:cNvSpPr txBox="1"/>
          <p:nvPr/>
        </p:nvSpPr>
        <p:spPr>
          <a:xfrm>
            <a:off x="5611091" y="3269464"/>
            <a:ext cx="529243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aramond Pro Bold" panose="02020702060506020403" pitchFamily="18" charset="0"/>
                <a:ea typeface="+mj-ea"/>
                <a:cs typeface="+mj-cs"/>
              </a:rPr>
              <a:t>LEFT  JOIN Syntax</a:t>
            </a:r>
          </a:p>
          <a:p>
            <a:endParaRPr lang="en-US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SELECT </a:t>
            </a:r>
            <a:r>
              <a:rPr 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column_name</a:t>
            </a: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(s)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FROM table1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LEFT JOIN table2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ON table1.column_name = table2.column_name;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57E52E-1D64-408B-BBA1-39FD0EB6FA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6800" y="1968111"/>
            <a:ext cx="100584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 LEFT JOIN keyword returns all records from the left table (table1), and the matching records from the right table (table2). The result is 0 records from the right side, if there is no match. </a:t>
            </a:r>
          </a:p>
        </p:txBody>
      </p:sp>
      <p:pic>
        <p:nvPicPr>
          <p:cNvPr id="2056" name="Picture 8" descr="SQL LEFT JOIN">
            <a:extLst>
              <a:ext uri="{FF2B5EF4-FFF2-40B4-BE49-F238E27FC236}">
                <a16:creationId xmlns:a16="http://schemas.microsoft.com/office/drawing/2014/main" id="{DE24755E-0564-4D58-961B-2150DD28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875970"/>
            <a:ext cx="3834938" cy="278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243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F47-D16B-42D7-9AC2-DEFDA8F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SQL RIGHT JOIN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72879-F9DE-43B3-8CF9-A3317AB60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824" y="2352683"/>
            <a:ext cx="865285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CBA70-47BD-4F4E-B0E0-06A359381A78}"/>
              </a:ext>
            </a:extLst>
          </p:cNvPr>
          <p:cNvSpPr txBox="1"/>
          <p:nvPr/>
        </p:nvSpPr>
        <p:spPr>
          <a:xfrm>
            <a:off x="5562252" y="3124676"/>
            <a:ext cx="529243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aramond Pro Bold" panose="02020702060506020403" pitchFamily="18" charset="0"/>
                <a:ea typeface="+mj-ea"/>
                <a:cs typeface="+mj-cs"/>
              </a:rPr>
              <a:t>RIGHT  JOIN Syntax</a:t>
            </a:r>
          </a:p>
          <a:p>
            <a:endParaRPr lang="en-US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SELECT </a:t>
            </a:r>
            <a:r>
              <a:rPr 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column_name</a:t>
            </a: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(s)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FROM table1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RIGHT JOIN table2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ON table1.column_name = table2.column_name;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2328EF-4B55-460D-A130-D1596CD2A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1" y="1871277"/>
            <a:ext cx="1087581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defTabSz="91440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 RIGHT JOIN keyword returns all records from the right table (table2), and the matching records from the left table (table1). The result is 0 records from the left side, if there is no match. </a:t>
            </a:r>
          </a:p>
        </p:txBody>
      </p:sp>
      <p:pic>
        <p:nvPicPr>
          <p:cNvPr id="3075" name="Picture 3" descr="SQL RIGHT JOIN">
            <a:extLst>
              <a:ext uri="{FF2B5EF4-FFF2-40B4-BE49-F238E27FC236}">
                <a16:creationId xmlns:a16="http://schemas.microsoft.com/office/drawing/2014/main" id="{A43682AE-4E0E-4797-B257-DAEFEE4D3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24" y="3005644"/>
            <a:ext cx="3268800" cy="236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425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5F47-D16B-42D7-9AC2-DEFDA8F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aramond Pro Bold" panose="02020702060506020403" pitchFamily="18" charset="0"/>
              </a:rPr>
              <a:t>Multiple Tables JOIN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72879-F9DE-43B3-8CF9-A3317AB60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824" y="2352683"/>
            <a:ext cx="865285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CBA70-47BD-4F4E-B0E0-06A359381A78}"/>
              </a:ext>
            </a:extLst>
          </p:cNvPr>
          <p:cNvSpPr txBox="1"/>
          <p:nvPr/>
        </p:nvSpPr>
        <p:spPr>
          <a:xfrm>
            <a:off x="5562252" y="2795492"/>
            <a:ext cx="6300564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aramond Pro Bold" panose="02020702060506020403" pitchFamily="18" charset="0"/>
                <a:ea typeface="+mj-ea"/>
                <a:cs typeface="+mj-cs"/>
              </a:rPr>
              <a:t>Multiple Tables Join Syntax</a:t>
            </a:r>
          </a:p>
          <a:p>
            <a:endParaRPr lang="en-US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SELECT column-names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FROM table-name1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JOIN table-name2 ON column-name1 = column-name2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JOIN table-name3 ON column-name3 = column-name4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JOIN table-name4 ON column-name5 = column-name6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...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WHERE condition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2328EF-4B55-460D-A130-D1596CD2A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91" y="2017470"/>
            <a:ext cx="10875818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defTabSz="91440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For each new table an extra JOIN condition is added.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4311F9-F470-4E5B-9CA5-E7D1BBC4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18" y="2965487"/>
            <a:ext cx="4767760" cy="26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23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0710E1-6CF6-4EB7-956D-99375A31F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2" y="767550"/>
            <a:ext cx="11244549" cy="5281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28D34D-8419-4982-B14F-71699A7635F2}"/>
              </a:ext>
            </a:extLst>
          </p:cNvPr>
          <p:cNvSpPr txBox="1"/>
          <p:nvPr/>
        </p:nvSpPr>
        <p:spPr>
          <a:xfrm>
            <a:off x="892367" y="126824"/>
            <a:ext cx="925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dobe Garamond Pro Bold" panose="02020702060506020403" pitchFamily="18" charset="0"/>
              </a:rPr>
              <a:t>LIKE COMMAND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11378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73F1B8-A2A5-4C9E-956E-0490EF0DC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" y="599680"/>
            <a:ext cx="11860280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91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C859-8BDE-4AED-A2C7-DF1932BD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457200"/>
            <a:r>
              <a:rPr lang="en-US" sz="4400" b="1" dirty="0">
                <a:solidFill>
                  <a:schemeClr val="tx1"/>
                </a:solidFill>
                <a:latin typeface="Adobe Garamond Pro Bold" panose="02020702060506020403" pitchFamily="18" charset="0"/>
                <a:ea typeface="+mn-ea"/>
                <a:cs typeface="+mn-cs"/>
              </a:rPr>
              <a:t>SQL LIMIT and OFFSET clause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A2297B-E309-4B24-BE9F-EC49AEFA5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831" y="2013664"/>
            <a:ext cx="5182335" cy="40857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00000"/>
              </a:lnSpc>
              <a:buClrTx/>
              <a:buSzTx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To limit the number of rows returned by a 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 statement, you use the LIMIT and OFFSET clauses.</a:t>
            </a:r>
          </a:p>
          <a:p>
            <a:pPr marL="0" marR="0" lvl="0" inden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 following shows the syntax of LIMIT &amp; OFFSET clauses:</a:t>
            </a:r>
          </a:p>
          <a:p>
            <a:pPr lvl="0" indent="0">
              <a:buNone/>
            </a:pPr>
            <a:endParaRPr lang="en-US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Adobe Caslon Pro" panose="0205050205050A020403" pitchFamily="18" charset="0"/>
            </a:endParaRPr>
          </a:p>
          <a:p>
            <a:pPr lvl="0" indent="0">
              <a:buFontTx/>
              <a:buChar char="•"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 LIMIT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row_count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 determines the number of rows (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row_count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) returned by the query.</a:t>
            </a:r>
          </a:p>
          <a:p>
            <a:pPr lvl="0" indent="0">
              <a:buFontTx/>
              <a:buChar char="•"/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The OFFSET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offset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 clause skips the offset rows before beginning to return the rows.</a:t>
            </a:r>
          </a:p>
          <a:p>
            <a:pPr marL="0" marR="0" lvl="0" indent="0">
              <a:lnSpc>
                <a:spcPct val="100000"/>
              </a:lnSpc>
              <a:buClrTx/>
              <a:buSzTx/>
              <a:buFontTx/>
              <a:buNone/>
              <a:tabLst/>
            </a:pPr>
            <a:endParaRPr lang="en-US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Adobe Caslon Pro" panose="0205050205050A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-apple-system"/>
            </a:endParaRPr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endParaRPr lang="en-US" altLang="en-US" sz="1800" dirty="0"/>
          </a:p>
          <a:p>
            <a:pPr marL="0" lvl="0" indent="0">
              <a:lnSpc>
                <a:spcPct val="100000"/>
              </a:lnSpc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4818F-FE47-45F6-AD34-7622850FE29E}"/>
              </a:ext>
            </a:extLst>
          </p:cNvPr>
          <p:cNvSpPr txBox="1"/>
          <p:nvPr/>
        </p:nvSpPr>
        <p:spPr>
          <a:xfrm>
            <a:off x="6224530" y="2013663"/>
            <a:ext cx="493115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aramond Pro Bold" panose="02020702060506020403" pitchFamily="18" charset="0"/>
                <a:ea typeface="+mj-ea"/>
                <a:cs typeface="+mj-cs"/>
              </a:rPr>
              <a:t>Limit &amp; Offset  Syntax</a:t>
            </a:r>
          </a:p>
          <a:p>
            <a:pPr lvl="0"/>
            <a:endParaRPr lang="en-US" altLang="en-US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SELECT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   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column_list</a:t>
            </a:r>
            <a:endParaRPr lang="en-US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Adobe Caslon Pro" panose="0205050205050A020403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FROM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    table1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ORDER BY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column_list</a:t>
            </a:r>
            <a:endParaRPr lang="en-US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Adobe Caslon Pro" panose="0205050205050A020403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LIMIT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row_count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 OFFSET </a:t>
            </a:r>
            <a:r>
              <a:rPr lang="en-US" altLang="en-US" sz="1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offset</a:t>
            </a:r>
            <a:r>
              <a:rPr lang="en-US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dobe Caslon Pro" panose="0205050205050A020403" pitchFamily="18" charset="0"/>
              </a:rPr>
              <a:t>;</a:t>
            </a:r>
          </a:p>
          <a:p>
            <a:pPr lvl="0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64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1207</TotalTime>
  <Words>657</Words>
  <Application>Microsoft Office PowerPoint</Application>
  <PresentationFormat>Widescreen</PresentationFormat>
  <Paragraphs>151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Adobe Caslon Pro</vt:lpstr>
      <vt:lpstr>Adobe Caslon Pro Bold</vt:lpstr>
      <vt:lpstr>Adobe Garamond Pro Bold</vt:lpstr>
      <vt:lpstr>-apple-system</vt:lpstr>
      <vt:lpstr>Arial</vt:lpstr>
      <vt:lpstr>Calibri</vt:lpstr>
      <vt:lpstr>Courier New</vt:lpstr>
      <vt:lpstr>Tw Cen MT</vt:lpstr>
      <vt:lpstr>Wingdings</vt:lpstr>
      <vt:lpstr>Circuit</vt:lpstr>
      <vt:lpstr>MySQL </vt:lpstr>
      <vt:lpstr>What is MySQL ?</vt:lpstr>
      <vt:lpstr>What is SQL?</vt:lpstr>
      <vt:lpstr>Features of SQL</vt:lpstr>
      <vt:lpstr>Types of sql commands</vt:lpstr>
      <vt:lpstr>Data Definition Language (DDL)</vt:lpstr>
      <vt:lpstr>ALTER COMMAND</vt:lpstr>
      <vt:lpstr>PowerPoint Presentation</vt:lpstr>
      <vt:lpstr>SQL CONSTRAINTS</vt:lpstr>
      <vt:lpstr>List Of Constraints in Mysql</vt:lpstr>
      <vt:lpstr>Create Table with constraints Syntax</vt:lpstr>
      <vt:lpstr>PowerPoint Presentation</vt:lpstr>
      <vt:lpstr>Data Manipulation Language (DML)</vt:lpstr>
      <vt:lpstr>AND, OR, NOT Commands</vt:lpstr>
      <vt:lpstr>IN &amp; NOT IN Commands</vt:lpstr>
      <vt:lpstr>PRIMARY KEY Constraint</vt:lpstr>
      <vt:lpstr>FOREIGN KEY Constraint</vt:lpstr>
      <vt:lpstr>Joins in MySQL </vt:lpstr>
      <vt:lpstr>SQL INNER JOIN</vt:lpstr>
      <vt:lpstr>SQL LEFT JOIN</vt:lpstr>
      <vt:lpstr>SQL RIGHT JOIN</vt:lpstr>
      <vt:lpstr>Multiple Tables JOIN</vt:lpstr>
      <vt:lpstr>PowerPoint Presentation</vt:lpstr>
      <vt:lpstr>PowerPoint Presentation</vt:lpstr>
      <vt:lpstr>SQL LIMIT and OFFSET clause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Wardah Malik</dc:creator>
  <cp:lastModifiedBy>Fariha Shafiq</cp:lastModifiedBy>
  <cp:revision>31</cp:revision>
  <dcterms:created xsi:type="dcterms:W3CDTF">2023-06-26T07:07:29Z</dcterms:created>
  <dcterms:modified xsi:type="dcterms:W3CDTF">2024-07-18T11:02:55Z</dcterms:modified>
</cp:coreProperties>
</file>