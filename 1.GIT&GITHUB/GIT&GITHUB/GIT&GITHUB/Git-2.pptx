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60"/>
  </p:normalViewPr>
  <p:slideViewPr>
    <p:cSldViewPr snapToGrid="0">
      <p:cViewPr varScale="1">
        <p:scale>
          <a:sx n="85" d="100"/>
          <a:sy n="85" d="100"/>
        </p:scale>
        <p:origin x="28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94EAAD-0BB7-42BD-96CA-F1340CCC11B9}" type="datetimeFigureOut">
              <a:rPr lang="en-PK" smtClean="0"/>
              <a:t>03/10/2025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4F6B4F-7221-48F6-BD2B-7E53B9BA1401}" type="slidenum">
              <a:rPr lang="en-PK" smtClean="0"/>
              <a:t>‹#›</a:t>
            </a:fld>
            <a:endParaRPr lang="en-PK"/>
          </a:p>
        </p:txBody>
      </p:sp>
    </p:spTree>
    <p:extLst>
      <p:ext uri="{BB962C8B-B14F-4D97-AF65-F5344CB8AC3E}">
        <p14:creationId xmlns:p14="http://schemas.microsoft.com/office/powerpoint/2010/main" val="619518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EB4F6B4F-7221-48F6-BD2B-7E53B9BA1401}" type="slidenum">
              <a:rPr lang="en-PK" smtClean="0"/>
              <a:t>2</a:t>
            </a:fld>
            <a:endParaRPr lang="en-PK"/>
          </a:p>
        </p:txBody>
      </p:sp>
    </p:spTree>
    <p:extLst>
      <p:ext uri="{BB962C8B-B14F-4D97-AF65-F5344CB8AC3E}">
        <p14:creationId xmlns:p14="http://schemas.microsoft.com/office/powerpoint/2010/main" val="2808555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6885173-06EA-42E9-9560-F5222FE3C1D4}" type="datetimeFigureOut">
              <a:rPr lang="en-PK" smtClean="0"/>
              <a:t>03/10/2025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F7CA2D1B-6725-4B41-B1DB-FAAACB5807F9}" type="slidenum">
              <a:rPr lang="en-PK" smtClean="0"/>
              <a:t>‹#›</a:t>
            </a:fld>
            <a:endParaRPr lang="en-PK"/>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3618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885173-06EA-42E9-9560-F5222FE3C1D4}" type="datetimeFigureOut">
              <a:rPr lang="en-PK" smtClean="0"/>
              <a:t>03/10/2025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F7CA2D1B-6725-4B41-B1DB-FAAACB5807F9}" type="slidenum">
              <a:rPr lang="en-PK" smtClean="0"/>
              <a:t>‹#›</a:t>
            </a:fld>
            <a:endParaRPr lang="en-PK"/>
          </a:p>
        </p:txBody>
      </p:sp>
    </p:spTree>
    <p:extLst>
      <p:ext uri="{BB962C8B-B14F-4D97-AF65-F5344CB8AC3E}">
        <p14:creationId xmlns:p14="http://schemas.microsoft.com/office/powerpoint/2010/main" val="2072716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885173-06EA-42E9-9560-F5222FE3C1D4}" type="datetimeFigureOut">
              <a:rPr lang="en-PK" smtClean="0"/>
              <a:t>03/10/2025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F7CA2D1B-6725-4B41-B1DB-FAAACB5807F9}" type="slidenum">
              <a:rPr lang="en-PK" smtClean="0"/>
              <a:t>‹#›</a:t>
            </a:fld>
            <a:endParaRPr lang="en-PK"/>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4057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885173-06EA-42E9-9560-F5222FE3C1D4}" type="datetimeFigureOut">
              <a:rPr lang="en-PK" smtClean="0"/>
              <a:t>03/10/2025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F7CA2D1B-6725-4B41-B1DB-FAAACB5807F9}" type="slidenum">
              <a:rPr lang="en-PK" smtClean="0"/>
              <a:t>‹#›</a:t>
            </a:fld>
            <a:endParaRPr lang="en-PK"/>
          </a:p>
        </p:txBody>
      </p:sp>
    </p:spTree>
    <p:extLst>
      <p:ext uri="{BB962C8B-B14F-4D97-AF65-F5344CB8AC3E}">
        <p14:creationId xmlns:p14="http://schemas.microsoft.com/office/powerpoint/2010/main" val="3289018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885173-06EA-42E9-9560-F5222FE3C1D4}" type="datetimeFigureOut">
              <a:rPr lang="en-PK" smtClean="0"/>
              <a:t>03/10/2025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F7CA2D1B-6725-4B41-B1DB-FAAACB5807F9}" type="slidenum">
              <a:rPr lang="en-PK" smtClean="0"/>
              <a:t>‹#›</a:t>
            </a:fld>
            <a:endParaRPr lang="en-PK"/>
          </a:p>
        </p:txBody>
      </p:sp>
    </p:spTree>
    <p:extLst>
      <p:ext uri="{BB962C8B-B14F-4D97-AF65-F5344CB8AC3E}">
        <p14:creationId xmlns:p14="http://schemas.microsoft.com/office/powerpoint/2010/main" val="474698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885173-06EA-42E9-9560-F5222FE3C1D4}" type="datetimeFigureOut">
              <a:rPr lang="en-PK" smtClean="0"/>
              <a:t>03/10/2025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F7CA2D1B-6725-4B41-B1DB-FAAACB5807F9}" type="slidenum">
              <a:rPr lang="en-PK" smtClean="0"/>
              <a:t>‹#›</a:t>
            </a:fld>
            <a:endParaRPr lang="en-PK"/>
          </a:p>
        </p:txBody>
      </p:sp>
    </p:spTree>
    <p:extLst>
      <p:ext uri="{BB962C8B-B14F-4D97-AF65-F5344CB8AC3E}">
        <p14:creationId xmlns:p14="http://schemas.microsoft.com/office/powerpoint/2010/main" val="1898803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5173-06EA-42E9-9560-F5222FE3C1D4}" type="datetimeFigureOut">
              <a:rPr lang="en-PK" smtClean="0"/>
              <a:t>03/10/2025</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F7CA2D1B-6725-4B41-B1DB-FAAACB5807F9}" type="slidenum">
              <a:rPr lang="en-PK" smtClean="0"/>
              <a:t>‹#›</a:t>
            </a:fld>
            <a:endParaRPr lang="en-PK"/>
          </a:p>
        </p:txBody>
      </p:sp>
    </p:spTree>
    <p:extLst>
      <p:ext uri="{BB962C8B-B14F-4D97-AF65-F5344CB8AC3E}">
        <p14:creationId xmlns:p14="http://schemas.microsoft.com/office/powerpoint/2010/main" val="3721110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885173-06EA-42E9-9560-F5222FE3C1D4}" type="datetimeFigureOut">
              <a:rPr lang="en-PK" smtClean="0"/>
              <a:t>03/10/2025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F7CA2D1B-6725-4B41-B1DB-FAAACB5807F9}" type="slidenum">
              <a:rPr lang="en-PK" smtClean="0"/>
              <a:t>‹#›</a:t>
            </a:fld>
            <a:endParaRPr lang="en-PK"/>
          </a:p>
        </p:txBody>
      </p:sp>
    </p:spTree>
    <p:extLst>
      <p:ext uri="{BB962C8B-B14F-4D97-AF65-F5344CB8AC3E}">
        <p14:creationId xmlns:p14="http://schemas.microsoft.com/office/powerpoint/2010/main" val="3299485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885173-06EA-42E9-9560-F5222FE3C1D4}" type="datetimeFigureOut">
              <a:rPr lang="en-PK" smtClean="0"/>
              <a:t>03/10/2025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F7CA2D1B-6725-4B41-B1DB-FAAACB5807F9}" type="slidenum">
              <a:rPr lang="en-PK" smtClean="0"/>
              <a:t>‹#›</a:t>
            </a:fld>
            <a:endParaRPr lang="en-PK"/>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3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885173-06EA-42E9-9560-F5222FE3C1D4}" type="datetimeFigureOut">
              <a:rPr lang="en-PK" smtClean="0"/>
              <a:t>03/10/2025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F7CA2D1B-6725-4B41-B1DB-FAAACB5807F9}" type="slidenum">
              <a:rPr lang="en-PK" smtClean="0"/>
              <a:t>‹#›</a:t>
            </a:fld>
            <a:endParaRPr lang="en-PK"/>
          </a:p>
        </p:txBody>
      </p:sp>
    </p:spTree>
    <p:extLst>
      <p:ext uri="{BB962C8B-B14F-4D97-AF65-F5344CB8AC3E}">
        <p14:creationId xmlns:p14="http://schemas.microsoft.com/office/powerpoint/2010/main" val="523731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885173-06EA-42E9-9560-F5222FE3C1D4}" type="datetimeFigureOut">
              <a:rPr lang="en-PK" smtClean="0"/>
              <a:t>03/10/2025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F7CA2D1B-6725-4B41-B1DB-FAAACB5807F9}" type="slidenum">
              <a:rPr lang="en-PK" smtClean="0"/>
              <a:t>‹#›</a:t>
            </a:fld>
            <a:endParaRPr lang="en-PK"/>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3322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6885173-06EA-42E9-9560-F5222FE3C1D4}" type="datetimeFigureOut">
              <a:rPr lang="en-PK" smtClean="0"/>
              <a:t>03/10/2025</a:t>
            </a:fld>
            <a:endParaRPr lang="en-PK"/>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PK"/>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7CA2D1B-6725-4B41-B1DB-FAAACB5807F9}" type="slidenum">
              <a:rPr lang="en-PK" smtClean="0"/>
              <a:t>‹#›</a:t>
            </a:fld>
            <a:endParaRPr lang="en-PK"/>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8614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83E97-60C7-2803-1A4A-08F031980463}"/>
              </a:ext>
            </a:extLst>
          </p:cNvPr>
          <p:cNvSpPr>
            <a:spLocks noGrp="1"/>
          </p:cNvSpPr>
          <p:nvPr>
            <p:ph type="ctrTitle"/>
          </p:nvPr>
        </p:nvSpPr>
        <p:spPr/>
        <p:txBody>
          <a:bodyPr>
            <a:normAutofit/>
          </a:bodyPr>
          <a:lstStyle/>
          <a:p>
            <a:r>
              <a:rPr lang="en-US" dirty="0"/>
              <a:t>Git Essentials and Commit Management</a:t>
            </a:r>
            <a:endParaRPr lang="en-PK" dirty="0"/>
          </a:p>
        </p:txBody>
      </p:sp>
      <p:sp>
        <p:nvSpPr>
          <p:cNvPr id="3" name="Subtitle 2">
            <a:extLst>
              <a:ext uri="{FF2B5EF4-FFF2-40B4-BE49-F238E27FC236}">
                <a16:creationId xmlns:a16="http://schemas.microsoft.com/office/drawing/2014/main" id="{6661F48A-EEA7-9D06-93D5-37B04370BE3F}"/>
              </a:ext>
            </a:extLst>
          </p:cNvPr>
          <p:cNvSpPr>
            <a:spLocks noGrp="1"/>
          </p:cNvSpPr>
          <p:nvPr>
            <p:ph type="subTitle" idx="1"/>
          </p:nvPr>
        </p:nvSpPr>
        <p:spPr/>
        <p:txBody>
          <a:bodyPr/>
          <a:lstStyle/>
          <a:p>
            <a:r>
              <a:rPr lang="en-US" dirty="0"/>
              <a:t>Version Control Git</a:t>
            </a:r>
            <a:endParaRPr lang="en-PK" dirty="0"/>
          </a:p>
        </p:txBody>
      </p:sp>
    </p:spTree>
    <p:extLst>
      <p:ext uri="{BB962C8B-B14F-4D97-AF65-F5344CB8AC3E}">
        <p14:creationId xmlns:p14="http://schemas.microsoft.com/office/powerpoint/2010/main" val="3717155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CD0C2-B3AD-3B4E-E17C-341CA8B1BB38}"/>
              </a:ext>
            </a:extLst>
          </p:cNvPr>
          <p:cNvSpPr>
            <a:spLocks noGrp="1"/>
          </p:cNvSpPr>
          <p:nvPr>
            <p:ph type="title"/>
          </p:nvPr>
        </p:nvSpPr>
        <p:spPr/>
        <p:txBody>
          <a:bodyPr/>
          <a:lstStyle/>
          <a:p>
            <a:r>
              <a:rPr lang="en-US" dirty="0"/>
              <a:t>Git File Lifecycle</a:t>
            </a:r>
            <a:endParaRPr lang="en-PK" dirty="0"/>
          </a:p>
        </p:txBody>
      </p:sp>
      <p:sp>
        <p:nvSpPr>
          <p:cNvPr id="3" name="Content Placeholder 2">
            <a:extLst>
              <a:ext uri="{FF2B5EF4-FFF2-40B4-BE49-F238E27FC236}">
                <a16:creationId xmlns:a16="http://schemas.microsoft.com/office/drawing/2014/main" id="{FEFFD833-0478-5430-3C0D-C1C7D0FD3172}"/>
              </a:ext>
            </a:extLst>
          </p:cNvPr>
          <p:cNvSpPr>
            <a:spLocks noGrp="1"/>
          </p:cNvSpPr>
          <p:nvPr>
            <p:ph idx="1"/>
          </p:nvPr>
        </p:nvSpPr>
        <p:spPr>
          <a:xfrm>
            <a:off x="801511" y="1794933"/>
            <a:ext cx="10453511" cy="4514427"/>
          </a:xfrm>
        </p:spPr>
        <p:txBody>
          <a:bodyPr>
            <a:normAutofit lnSpcReduction="10000"/>
          </a:bodyPr>
          <a:lstStyle/>
          <a:p>
            <a:r>
              <a:rPr lang="en-US" sz="1600" dirty="0"/>
              <a:t>When you add or modify files in Git, they pass through different </a:t>
            </a:r>
            <a:r>
              <a:rPr lang="en-US" sz="1600" b="1" dirty="0"/>
              <a:t>stages</a:t>
            </a:r>
            <a:r>
              <a:rPr lang="en-US" sz="1600" dirty="0"/>
              <a:t>:</a:t>
            </a:r>
          </a:p>
          <a:p>
            <a:r>
              <a:rPr lang="en-US" sz="1600" b="1" dirty="0"/>
              <a:t>Untracked</a:t>
            </a:r>
            <a:endParaRPr lang="en-US" sz="1600" dirty="0"/>
          </a:p>
          <a:p>
            <a:pPr lvl="1"/>
            <a:r>
              <a:rPr lang="en-US" sz="1000" dirty="0"/>
              <a:t>New file created but not added to Git</a:t>
            </a:r>
          </a:p>
          <a:p>
            <a:pPr lvl="1"/>
            <a:r>
              <a:rPr lang="en-US" sz="1000" dirty="0"/>
              <a:t>Git does not track it yet</a:t>
            </a:r>
          </a:p>
          <a:p>
            <a:pPr lvl="1"/>
            <a:r>
              <a:rPr lang="en-US" sz="1000" dirty="0"/>
              <a:t>Example: touch notes.txt → initially untracked</a:t>
            </a:r>
          </a:p>
          <a:p>
            <a:r>
              <a:rPr lang="en-US" sz="1600" b="1" dirty="0"/>
              <a:t>Unmodified (Clean)</a:t>
            </a:r>
            <a:endParaRPr lang="en-US" sz="1600" dirty="0"/>
          </a:p>
          <a:p>
            <a:pPr lvl="1"/>
            <a:r>
              <a:rPr lang="en-US" sz="1000" dirty="0"/>
              <a:t>File is already in Git and unchanged</a:t>
            </a:r>
          </a:p>
          <a:p>
            <a:pPr lvl="1"/>
            <a:r>
              <a:rPr lang="en-US" sz="1000" dirty="0"/>
              <a:t>No action needed</a:t>
            </a:r>
          </a:p>
          <a:p>
            <a:r>
              <a:rPr lang="en-US" sz="1600" b="1" dirty="0"/>
              <a:t>Modified</a:t>
            </a:r>
            <a:endParaRPr lang="en-US" sz="1600" dirty="0"/>
          </a:p>
          <a:p>
            <a:pPr lvl="1"/>
            <a:r>
              <a:rPr lang="en-US" sz="1000" dirty="0"/>
              <a:t>File content changed but not yet staged</a:t>
            </a:r>
          </a:p>
          <a:p>
            <a:pPr lvl="1"/>
            <a:r>
              <a:rPr lang="en-US" sz="1000" dirty="0"/>
              <a:t>Example: Editing a file after last commit</a:t>
            </a:r>
          </a:p>
          <a:p>
            <a:r>
              <a:rPr lang="en-US" sz="1600" b="1" dirty="0"/>
              <a:t>Staged (Index)</a:t>
            </a:r>
            <a:endParaRPr lang="en-US" sz="1600" dirty="0"/>
          </a:p>
          <a:p>
            <a:pPr lvl="1"/>
            <a:r>
              <a:rPr lang="en-US" sz="1000" dirty="0"/>
              <a:t>File changes marked for next commit</a:t>
            </a:r>
          </a:p>
          <a:p>
            <a:pPr lvl="1"/>
            <a:r>
              <a:rPr lang="en-US" sz="1000" dirty="0"/>
              <a:t>Done with git add filename</a:t>
            </a:r>
          </a:p>
          <a:p>
            <a:r>
              <a:rPr lang="en-US" sz="1600" b="1" dirty="0"/>
              <a:t>Committed</a:t>
            </a:r>
            <a:endParaRPr lang="en-US" sz="1600" dirty="0"/>
          </a:p>
          <a:p>
            <a:pPr lvl="1"/>
            <a:r>
              <a:rPr lang="en-US" sz="1000" dirty="0"/>
              <a:t>File changes saved in Git history permanently</a:t>
            </a:r>
          </a:p>
          <a:p>
            <a:pPr lvl="1"/>
            <a:r>
              <a:rPr lang="en-US" sz="1000" dirty="0"/>
              <a:t>Done with git commit -m "message"</a:t>
            </a:r>
          </a:p>
          <a:p>
            <a:endParaRPr lang="en-PK" sz="1600" dirty="0"/>
          </a:p>
        </p:txBody>
      </p:sp>
    </p:spTree>
    <p:extLst>
      <p:ext uri="{BB962C8B-B14F-4D97-AF65-F5344CB8AC3E}">
        <p14:creationId xmlns:p14="http://schemas.microsoft.com/office/powerpoint/2010/main" val="2238846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89C8-4EA5-8134-227C-98DC822E5FE4}"/>
              </a:ext>
            </a:extLst>
          </p:cNvPr>
          <p:cNvSpPr>
            <a:spLocks noGrp="1"/>
          </p:cNvSpPr>
          <p:nvPr>
            <p:ph type="title"/>
          </p:nvPr>
        </p:nvSpPr>
        <p:spPr/>
        <p:txBody>
          <a:bodyPr/>
          <a:lstStyle/>
          <a:p>
            <a:r>
              <a:rPr lang="en-US" dirty="0"/>
              <a:t>Working Directory</a:t>
            </a:r>
            <a:br>
              <a:rPr lang="en-US" dirty="0"/>
            </a:br>
            <a:endParaRPr lang="en-PK" dirty="0"/>
          </a:p>
        </p:txBody>
      </p:sp>
      <p:sp>
        <p:nvSpPr>
          <p:cNvPr id="3" name="Content Placeholder 2">
            <a:extLst>
              <a:ext uri="{FF2B5EF4-FFF2-40B4-BE49-F238E27FC236}">
                <a16:creationId xmlns:a16="http://schemas.microsoft.com/office/drawing/2014/main" id="{0D64050E-595C-3974-934C-83798FC8DD98}"/>
              </a:ext>
            </a:extLst>
          </p:cNvPr>
          <p:cNvSpPr>
            <a:spLocks noGrp="1"/>
          </p:cNvSpPr>
          <p:nvPr>
            <p:ph idx="1"/>
          </p:nvPr>
        </p:nvSpPr>
        <p:spPr/>
        <p:txBody>
          <a:bodyPr/>
          <a:lstStyle/>
          <a:p>
            <a:r>
              <a:rPr lang="en-US" dirty="0"/>
              <a:t>The </a:t>
            </a:r>
            <a:r>
              <a:rPr lang="en-US" b="1" dirty="0"/>
              <a:t>Working Directory</a:t>
            </a:r>
            <a:r>
              <a:rPr lang="en-US" dirty="0"/>
              <a:t> is where project's files are kept at the beginning of the Git lifecycle. It symbolizes the local setting in which we actively write, edit, and refine our code.</a:t>
            </a:r>
          </a:p>
          <a:p>
            <a:endParaRPr lang="en-PK" dirty="0"/>
          </a:p>
        </p:txBody>
      </p:sp>
      <p:pic>
        <p:nvPicPr>
          <p:cNvPr id="5" name="Picture 4">
            <a:extLst>
              <a:ext uri="{FF2B5EF4-FFF2-40B4-BE49-F238E27FC236}">
                <a16:creationId xmlns:a16="http://schemas.microsoft.com/office/drawing/2014/main" id="{C64DFFF8-DBD3-C305-9A64-A3C6597DF8D4}"/>
              </a:ext>
            </a:extLst>
          </p:cNvPr>
          <p:cNvPicPr>
            <a:picLocks noChangeAspect="1"/>
          </p:cNvPicPr>
          <p:nvPr/>
        </p:nvPicPr>
        <p:blipFill>
          <a:blip r:embed="rId2"/>
          <a:stretch>
            <a:fillRect/>
          </a:stretch>
        </p:blipFill>
        <p:spPr>
          <a:xfrm>
            <a:off x="1024128" y="3429000"/>
            <a:ext cx="7815072" cy="2350144"/>
          </a:xfrm>
          <a:prstGeom prst="rect">
            <a:avLst/>
          </a:prstGeom>
        </p:spPr>
      </p:pic>
    </p:spTree>
    <p:extLst>
      <p:ext uri="{BB962C8B-B14F-4D97-AF65-F5344CB8AC3E}">
        <p14:creationId xmlns:p14="http://schemas.microsoft.com/office/powerpoint/2010/main" val="2780653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BA6AE-79A5-EAE4-80A3-CCA828D81D2B}"/>
              </a:ext>
            </a:extLst>
          </p:cNvPr>
          <p:cNvSpPr>
            <a:spLocks noGrp="1"/>
          </p:cNvSpPr>
          <p:nvPr>
            <p:ph type="title"/>
          </p:nvPr>
        </p:nvSpPr>
        <p:spPr/>
        <p:txBody>
          <a:bodyPr/>
          <a:lstStyle/>
          <a:p>
            <a:r>
              <a:rPr lang="en-US" dirty="0"/>
              <a:t>Tracked vs. Untracked Files</a:t>
            </a:r>
            <a:br>
              <a:rPr lang="en-US" dirty="0"/>
            </a:br>
            <a:endParaRPr lang="en-PK" dirty="0"/>
          </a:p>
        </p:txBody>
      </p:sp>
      <p:sp>
        <p:nvSpPr>
          <p:cNvPr id="3" name="Content Placeholder 2">
            <a:extLst>
              <a:ext uri="{FF2B5EF4-FFF2-40B4-BE49-F238E27FC236}">
                <a16:creationId xmlns:a16="http://schemas.microsoft.com/office/drawing/2014/main" id="{0B9D1E44-2B21-1C18-A715-DC9A7D464FFE}"/>
              </a:ext>
            </a:extLst>
          </p:cNvPr>
          <p:cNvSpPr>
            <a:spLocks noGrp="1"/>
          </p:cNvSpPr>
          <p:nvPr>
            <p:ph idx="1"/>
          </p:nvPr>
        </p:nvSpPr>
        <p:spPr/>
        <p:txBody>
          <a:bodyPr/>
          <a:lstStyle/>
          <a:p>
            <a:r>
              <a:rPr lang="en-US" dirty="0"/>
              <a:t>The Working Directory contains files that can be staged, edited, and untracked.</a:t>
            </a:r>
          </a:p>
          <a:p>
            <a:r>
              <a:rPr lang="en-US" dirty="0"/>
              <a:t>Files are initially untracked unless we decide to add them.</a:t>
            </a:r>
          </a:p>
          <a:p>
            <a:r>
              <a:rPr lang="en-US" dirty="0"/>
              <a:t>We can specify which files to track and which to ignore; for example, we might exclude generated or temporary files.</a:t>
            </a:r>
          </a:p>
          <a:p>
            <a:endParaRPr lang="en-PK" dirty="0"/>
          </a:p>
        </p:txBody>
      </p:sp>
      <p:pic>
        <p:nvPicPr>
          <p:cNvPr id="7" name="Picture 6">
            <a:extLst>
              <a:ext uri="{FF2B5EF4-FFF2-40B4-BE49-F238E27FC236}">
                <a16:creationId xmlns:a16="http://schemas.microsoft.com/office/drawing/2014/main" id="{4CE2FE57-781C-0CE5-47D9-809DFDEA42FE}"/>
              </a:ext>
            </a:extLst>
          </p:cNvPr>
          <p:cNvPicPr>
            <a:picLocks noChangeAspect="1"/>
          </p:cNvPicPr>
          <p:nvPr/>
        </p:nvPicPr>
        <p:blipFill>
          <a:blip r:embed="rId2"/>
          <a:stretch>
            <a:fillRect/>
          </a:stretch>
        </p:blipFill>
        <p:spPr>
          <a:xfrm>
            <a:off x="3232209" y="3981817"/>
            <a:ext cx="4520259" cy="2327543"/>
          </a:xfrm>
          <a:prstGeom prst="rect">
            <a:avLst/>
          </a:prstGeom>
        </p:spPr>
      </p:pic>
    </p:spTree>
    <p:extLst>
      <p:ext uri="{BB962C8B-B14F-4D97-AF65-F5344CB8AC3E}">
        <p14:creationId xmlns:p14="http://schemas.microsoft.com/office/powerpoint/2010/main" val="4184818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5B90D-B763-835D-D5C2-1D6B01CDB691}"/>
              </a:ext>
            </a:extLst>
          </p:cNvPr>
          <p:cNvSpPr>
            <a:spLocks noGrp="1"/>
          </p:cNvSpPr>
          <p:nvPr>
            <p:ph type="title"/>
          </p:nvPr>
        </p:nvSpPr>
        <p:spPr/>
        <p:txBody>
          <a:bodyPr/>
          <a:lstStyle/>
          <a:p>
            <a:r>
              <a:rPr lang="en-US" dirty="0"/>
              <a:t>Management</a:t>
            </a:r>
            <a:br>
              <a:rPr lang="en-US" dirty="0"/>
            </a:br>
            <a:endParaRPr lang="en-PK" dirty="0"/>
          </a:p>
        </p:txBody>
      </p:sp>
      <p:sp>
        <p:nvSpPr>
          <p:cNvPr id="3" name="Content Placeholder 2">
            <a:extLst>
              <a:ext uri="{FF2B5EF4-FFF2-40B4-BE49-F238E27FC236}">
                <a16:creationId xmlns:a16="http://schemas.microsoft.com/office/drawing/2014/main" id="{79A5D7E0-A230-1679-1024-320136B94060}"/>
              </a:ext>
            </a:extLst>
          </p:cNvPr>
          <p:cNvSpPr>
            <a:spLocks noGrp="1"/>
          </p:cNvSpPr>
          <p:nvPr>
            <p:ph idx="1"/>
          </p:nvPr>
        </p:nvSpPr>
        <p:spPr>
          <a:xfrm>
            <a:off x="1024127" y="1566150"/>
            <a:ext cx="9720073" cy="4023360"/>
          </a:xfrm>
        </p:spPr>
        <p:txBody>
          <a:bodyPr>
            <a:normAutofit lnSpcReduction="10000"/>
          </a:bodyPr>
          <a:lstStyle/>
          <a:p>
            <a:r>
              <a:rPr lang="en-US" dirty="0"/>
              <a:t>This directory serves as a work space for editing and adding files.</a:t>
            </a:r>
          </a:p>
          <a:p>
            <a:r>
              <a:rPr lang="en-US" dirty="0"/>
              <a:t>Until they are specifically added to the staging area, changes made here have no effect on the version history.</a:t>
            </a:r>
          </a:p>
          <a:p>
            <a:r>
              <a:rPr lang="en-US" dirty="0"/>
              <a:t>We can control which changes are tracked by doing this.</a:t>
            </a:r>
          </a:p>
          <a:p>
            <a:endParaRPr lang="en-US" dirty="0"/>
          </a:p>
          <a:p>
            <a:pPr marL="0" indent="0">
              <a:lnSpc>
                <a:spcPct val="80000"/>
              </a:lnSpc>
              <a:spcBef>
                <a:spcPct val="0"/>
              </a:spcBef>
              <a:buNone/>
            </a:pPr>
            <a:r>
              <a:rPr lang="en-US" sz="5000" cap="all" spc="100" dirty="0">
                <a:solidFill>
                  <a:schemeClr val="tx1">
                    <a:lumMod val="95000"/>
                    <a:lumOff val="5000"/>
                  </a:schemeClr>
                </a:solidFill>
                <a:latin typeface="+mj-lt"/>
                <a:ea typeface="+mj-ea"/>
                <a:cs typeface="+mj-cs"/>
              </a:rPr>
              <a:t>Transition to Staging Area</a:t>
            </a:r>
          </a:p>
          <a:p>
            <a:r>
              <a:rPr lang="en-US" dirty="0"/>
              <a:t>Changes need to be staged using `git add` in order to be included in version history.</a:t>
            </a:r>
          </a:p>
          <a:p>
            <a:r>
              <a:rPr lang="en-US" dirty="0"/>
              <a:t>Files are not included in the commit history and are kept in the working directory until they are staged.</a:t>
            </a:r>
          </a:p>
          <a:p>
            <a:endParaRPr lang="en-PK" dirty="0"/>
          </a:p>
        </p:txBody>
      </p:sp>
      <p:pic>
        <p:nvPicPr>
          <p:cNvPr id="5" name="Picture 4">
            <a:extLst>
              <a:ext uri="{FF2B5EF4-FFF2-40B4-BE49-F238E27FC236}">
                <a16:creationId xmlns:a16="http://schemas.microsoft.com/office/drawing/2014/main" id="{1C1D4196-4412-0AF3-59E4-1B648A274865}"/>
              </a:ext>
            </a:extLst>
          </p:cNvPr>
          <p:cNvPicPr>
            <a:picLocks noChangeAspect="1"/>
          </p:cNvPicPr>
          <p:nvPr/>
        </p:nvPicPr>
        <p:blipFill>
          <a:blip r:embed="rId2"/>
          <a:stretch>
            <a:fillRect/>
          </a:stretch>
        </p:blipFill>
        <p:spPr>
          <a:xfrm>
            <a:off x="2117725" y="5219700"/>
            <a:ext cx="6534150" cy="1638300"/>
          </a:xfrm>
          <a:prstGeom prst="rect">
            <a:avLst/>
          </a:prstGeom>
        </p:spPr>
      </p:pic>
    </p:spTree>
    <p:extLst>
      <p:ext uri="{BB962C8B-B14F-4D97-AF65-F5344CB8AC3E}">
        <p14:creationId xmlns:p14="http://schemas.microsoft.com/office/powerpoint/2010/main" val="3492309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58384-7458-48AF-F0EA-FE3AE32939F3}"/>
              </a:ext>
            </a:extLst>
          </p:cNvPr>
          <p:cNvSpPr>
            <a:spLocks noGrp="1"/>
          </p:cNvSpPr>
          <p:nvPr>
            <p:ph type="title"/>
          </p:nvPr>
        </p:nvSpPr>
        <p:spPr/>
        <p:txBody>
          <a:bodyPr/>
          <a:lstStyle/>
          <a:p>
            <a:r>
              <a:rPr lang="en-US" dirty="0"/>
              <a:t>Staging Area</a:t>
            </a:r>
            <a:br>
              <a:rPr lang="en-US" dirty="0"/>
            </a:br>
            <a:endParaRPr lang="en-PK" dirty="0"/>
          </a:p>
        </p:txBody>
      </p:sp>
      <p:sp>
        <p:nvSpPr>
          <p:cNvPr id="3" name="Content Placeholder 2">
            <a:extLst>
              <a:ext uri="{FF2B5EF4-FFF2-40B4-BE49-F238E27FC236}">
                <a16:creationId xmlns:a16="http://schemas.microsoft.com/office/drawing/2014/main" id="{BA0115F6-176E-6FB0-BDF2-D5D32820A81C}"/>
              </a:ext>
            </a:extLst>
          </p:cNvPr>
          <p:cNvSpPr>
            <a:spLocks noGrp="1"/>
          </p:cNvSpPr>
          <p:nvPr>
            <p:ph idx="1"/>
          </p:nvPr>
        </p:nvSpPr>
        <p:spPr/>
        <p:txBody>
          <a:bodyPr/>
          <a:lstStyle/>
          <a:p>
            <a:r>
              <a:rPr lang="en-US" dirty="0"/>
              <a:t>The staging area serves as a sandbox for grouping, adding, and arranging the files that need to be committed to Git in order to track their versions.</a:t>
            </a:r>
          </a:p>
          <a:p>
            <a:r>
              <a:rPr lang="en-US" b="1" dirty="0"/>
              <a:t>Definition</a:t>
            </a:r>
          </a:p>
          <a:p>
            <a:r>
              <a:rPr lang="en-US" dirty="0"/>
              <a:t>A crucial stage in the Git lifecycle is the Staging Area, where we get files ready for commits.</a:t>
            </a:r>
          </a:p>
          <a:p>
            <a:r>
              <a:rPr lang="en-US" dirty="0"/>
              <a:t>Between the Working Directory and the Git Directory, it serves as a buffer.</a:t>
            </a:r>
          </a:p>
          <a:p>
            <a:r>
              <a:rPr lang="en-US" dirty="0"/>
              <a:t>The files we want to include in the next commit are selected and organized here.</a:t>
            </a:r>
          </a:p>
          <a:p>
            <a:endParaRPr lang="en-PK" dirty="0"/>
          </a:p>
        </p:txBody>
      </p:sp>
    </p:spTree>
    <p:extLst>
      <p:ext uri="{BB962C8B-B14F-4D97-AF65-F5344CB8AC3E}">
        <p14:creationId xmlns:p14="http://schemas.microsoft.com/office/powerpoint/2010/main" val="1366969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68F66-4D7C-B66E-80AC-C7CF237D1376}"/>
              </a:ext>
            </a:extLst>
          </p:cNvPr>
          <p:cNvSpPr>
            <a:spLocks noGrp="1"/>
          </p:cNvSpPr>
          <p:nvPr>
            <p:ph type="title"/>
          </p:nvPr>
        </p:nvSpPr>
        <p:spPr/>
        <p:txBody>
          <a:bodyPr/>
          <a:lstStyle/>
          <a:p>
            <a:r>
              <a:rPr lang="en-US" dirty="0"/>
              <a:t>Adding Files</a:t>
            </a:r>
            <a:br>
              <a:rPr lang="en-US" dirty="0"/>
            </a:br>
            <a:endParaRPr lang="en-PK" dirty="0"/>
          </a:p>
        </p:txBody>
      </p:sp>
      <p:sp>
        <p:nvSpPr>
          <p:cNvPr id="3" name="Content Placeholder 2">
            <a:extLst>
              <a:ext uri="{FF2B5EF4-FFF2-40B4-BE49-F238E27FC236}">
                <a16:creationId xmlns:a16="http://schemas.microsoft.com/office/drawing/2014/main" id="{8A6E8C31-9F83-45B2-E996-FBF891A74F32}"/>
              </a:ext>
            </a:extLst>
          </p:cNvPr>
          <p:cNvSpPr>
            <a:spLocks noGrp="1"/>
          </p:cNvSpPr>
          <p:nvPr>
            <p:ph idx="1"/>
          </p:nvPr>
        </p:nvSpPr>
        <p:spPr/>
        <p:txBody>
          <a:bodyPr/>
          <a:lstStyle/>
          <a:p>
            <a:r>
              <a:rPr lang="en-US" dirty="0"/>
              <a:t>The </a:t>
            </a:r>
            <a:r>
              <a:rPr lang="en-US" b="1" dirty="0"/>
              <a:t>git add</a:t>
            </a:r>
            <a:r>
              <a:rPr lang="en-US" dirty="0"/>
              <a:t> command is used to move files from the Working Directory to the Staging Area.</a:t>
            </a:r>
          </a:p>
          <a:p>
            <a:r>
              <a:rPr lang="en-US" dirty="0"/>
              <a:t>The files' current state is copied to the staging area using this command.</a:t>
            </a:r>
          </a:p>
          <a:p>
            <a:r>
              <a:rPr lang="en-US" dirty="0"/>
              <a:t>We can exclude some files like temporary or dynamically generated files, by selecting which files to add.</a:t>
            </a:r>
          </a:p>
          <a:p>
            <a:br>
              <a:rPr lang="en-US" dirty="0"/>
            </a:br>
            <a:endParaRPr lang="en-PK" dirty="0"/>
          </a:p>
        </p:txBody>
      </p:sp>
      <p:pic>
        <p:nvPicPr>
          <p:cNvPr id="5" name="Picture 4">
            <a:extLst>
              <a:ext uri="{FF2B5EF4-FFF2-40B4-BE49-F238E27FC236}">
                <a16:creationId xmlns:a16="http://schemas.microsoft.com/office/drawing/2014/main" id="{86F11B18-5C5F-CA0A-E6AD-C432818B98F9}"/>
              </a:ext>
            </a:extLst>
          </p:cNvPr>
          <p:cNvPicPr>
            <a:picLocks noChangeAspect="1"/>
          </p:cNvPicPr>
          <p:nvPr/>
        </p:nvPicPr>
        <p:blipFill>
          <a:blip r:embed="rId2"/>
          <a:stretch>
            <a:fillRect/>
          </a:stretch>
        </p:blipFill>
        <p:spPr>
          <a:xfrm>
            <a:off x="4165600" y="4395632"/>
            <a:ext cx="3790562" cy="2207309"/>
          </a:xfrm>
          <a:prstGeom prst="rect">
            <a:avLst/>
          </a:prstGeom>
        </p:spPr>
      </p:pic>
    </p:spTree>
    <p:extLst>
      <p:ext uri="{BB962C8B-B14F-4D97-AF65-F5344CB8AC3E}">
        <p14:creationId xmlns:p14="http://schemas.microsoft.com/office/powerpoint/2010/main" val="1768390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9A41B-F7FF-1016-2B33-BBD0E289E462}"/>
              </a:ext>
            </a:extLst>
          </p:cNvPr>
          <p:cNvSpPr>
            <a:spLocks noGrp="1"/>
          </p:cNvSpPr>
          <p:nvPr>
            <p:ph type="title"/>
          </p:nvPr>
        </p:nvSpPr>
        <p:spPr>
          <a:xfrm>
            <a:off x="1174044" y="548640"/>
            <a:ext cx="9570156" cy="1536192"/>
          </a:xfrm>
        </p:spPr>
        <p:txBody>
          <a:bodyPr/>
          <a:lstStyle/>
          <a:p>
            <a:r>
              <a:rPr lang="en-US" dirty="0"/>
              <a:t>Indexing</a:t>
            </a:r>
            <a:br>
              <a:rPr lang="en-US" dirty="0"/>
            </a:br>
            <a:endParaRPr lang="en-PK" dirty="0"/>
          </a:p>
        </p:txBody>
      </p:sp>
      <p:sp>
        <p:nvSpPr>
          <p:cNvPr id="3" name="Content Placeholder 2">
            <a:extLst>
              <a:ext uri="{FF2B5EF4-FFF2-40B4-BE49-F238E27FC236}">
                <a16:creationId xmlns:a16="http://schemas.microsoft.com/office/drawing/2014/main" id="{A6265E8A-357F-DDA5-0E96-985992216B13}"/>
              </a:ext>
            </a:extLst>
          </p:cNvPr>
          <p:cNvSpPr>
            <a:spLocks noGrp="1"/>
          </p:cNvSpPr>
          <p:nvPr>
            <p:ph idx="1"/>
          </p:nvPr>
        </p:nvSpPr>
        <p:spPr/>
        <p:txBody>
          <a:bodyPr/>
          <a:lstStyle/>
          <a:p>
            <a:r>
              <a:rPr lang="en-US" b="1" dirty="0"/>
              <a:t>Indexing</a:t>
            </a:r>
            <a:r>
              <a:rPr lang="en-US" dirty="0"/>
              <a:t> is the process of adding files to the staging area.</a:t>
            </a:r>
          </a:p>
          <a:p>
            <a:r>
              <a:rPr lang="en-US" dirty="0"/>
              <a:t>The snapshots of the files we plan to commit are kept in the staging area, commonly referred to as the </a:t>
            </a:r>
            <a:r>
              <a:rPr lang="en-US" b="1" dirty="0"/>
              <a:t>index</a:t>
            </a:r>
            <a:r>
              <a:rPr lang="en-US" dirty="0"/>
              <a:t>.</a:t>
            </a:r>
          </a:p>
          <a:p>
            <a:r>
              <a:rPr lang="en-US" b="1" dirty="0"/>
              <a:t>Management</a:t>
            </a:r>
          </a:p>
          <a:p>
            <a:r>
              <a:rPr lang="en-US" dirty="0"/>
              <a:t>Staging area manages changes included in the commit.</a:t>
            </a:r>
          </a:p>
          <a:p>
            <a:r>
              <a:rPr lang="en-US" dirty="0"/>
              <a:t>It ensures that only specific files that are relevant to previous versions of the project are tracked.</a:t>
            </a:r>
          </a:p>
          <a:p>
            <a:endParaRPr lang="en-PK" dirty="0"/>
          </a:p>
        </p:txBody>
      </p:sp>
    </p:spTree>
    <p:extLst>
      <p:ext uri="{BB962C8B-B14F-4D97-AF65-F5344CB8AC3E}">
        <p14:creationId xmlns:p14="http://schemas.microsoft.com/office/powerpoint/2010/main" val="1275616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F800-DC4C-46E6-F15B-63F8C3AEC2CE}"/>
              </a:ext>
            </a:extLst>
          </p:cNvPr>
          <p:cNvSpPr>
            <a:spLocks noGrp="1"/>
          </p:cNvSpPr>
          <p:nvPr>
            <p:ph type="title"/>
          </p:nvPr>
        </p:nvSpPr>
        <p:spPr/>
        <p:txBody>
          <a:bodyPr/>
          <a:lstStyle/>
          <a:p>
            <a:r>
              <a:rPr lang="en-US" dirty="0"/>
              <a:t>Git Directory</a:t>
            </a:r>
            <a:br>
              <a:rPr lang="en-US" dirty="0"/>
            </a:br>
            <a:endParaRPr lang="en-PK" dirty="0"/>
          </a:p>
        </p:txBody>
      </p:sp>
      <p:sp>
        <p:nvSpPr>
          <p:cNvPr id="3" name="Content Placeholder 2">
            <a:extLst>
              <a:ext uri="{FF2B5EF4-FFF2-40B4-BE49-F238E27FC236}">
                <a16:creationId xmlns:a16="http://schemas.microsoft.com/office/drawing/2014/main" id="{D1122127-9622-175E-3509-9AC6D2E84FAF}"/>
              </a:ext>
            </a:extLst>
          </p:cNvPr>
          <p:cNvSpPr>
            <a:spLocks noGrp="1"/>
          </p:cNvSpPr>
          <p:nvPr>
            <p:ph idx="1"/>
          </p:nvPr>
        </p:nvSpPr>
        <p:spPr/>
        <p:txBody>
          <a:bodyPr/>
          <a:lstStyle/>
          <a:p>
            <a:r>
              <a:rPr lang="en-US" dirty="0"/>
              <a:t>Git stores all version history, metadata, and configuration data internally in the Git Directory.</a:t>
            </a:r>
          </a:p>
          <a:p>
            <a:r>
              <a:rPr lang="en-US" dirty="0"/>
              <a:t>It includes configuration files, the index (staging area), the complete history of commits, and more.</a:t>
            </a:r>
          </a:p>
          <a:p>
            <a:r>
              <a:rPr lang="en-US" b="1" dirty="0"/>
              <a:t>Definition</a:t>
            </a:r>
          </a:p>
          <a:p>
            <a:r>
              <a:rPr lang="en-US" dirty="0"/>
              <a:t>Git keeps all of a repository's object database and metadata in the Git Directory.</a:t>
            </a:r>
          </a:p>
          <a:p>
            <a:r>
              <a:rPr lang="en-US" dirty="0"/>
              <a:t>It includes configuration files, the index (staging area), and the whole commit history.</a:t>
            </a:r>
          </a:p>
          <a:p>
            <a:r>
              <a:rPr lang="en-US" dirty="0"/>
              <a:t>Git needs this directory in order to oversee and monitor every aspect of version control.</a:t>
            </a:r>
          </a:p>
          <a:p>
            <a:endParaRPr lang="en-PK" dirty="0"/>
          </a:p>
        </p:txBody>
      </p:sp>
    </p:spTree>
    <p:extLst>
      <p:ext uri="{BB962C8B-B14F-4D97-AF65-F5344CB8AC3E}">
        <p14:creationId xmlns:p14="http://schemas.microsoft.com/office/powerpoint/2010/main" val="11039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618A1-3A80-6222-5C2B-7C45E19F9850}"/>
              </a:ext>
            </a:extLst>
          </p:cNvPr>
          <p:cNvSpPr>
            <a:spLocks noGrp="1"/>
          </p:cNvSpPr>
          <p:nvPr>
            <p:ph type="title"/>
          </p:nvPr>
        </p:nvSpPr>
        <p:spPr/>
        <p:txBody>
          <a:bodyPr/>
          <a:lstStyle/>
          <a:p>
            <a:r>
              <a:rPr lang="en-US" dirty="0"/>
              <a:t>Storing Commit Data</a:t>
            </a:r>
            <a:br>
              <a:rPr lang="en-US" dirty="0"/>
            </a:br>
            <a:endParaRPr lang="en-PK" dirty="0"/>
          </a:p>
        </p:txBody>
      </p:sp>
      <p:sp>
        <p:nvSpPr>
          <p:cNvPr id="3" name="Content Placeholder 2">
            <a:extLst>
              <a:ext uri="{FF2B5EF4-FFF2-40B4-BE49-F238E27FC236}">
                <a16:creationId xmlns:a16="http://schemas.microsoft.com/office/drawing/2014/main" id="{C2DB8115-A8EF-717E-4724-F4257B016543}"/>
              </a:ext>
            </a:extLst>
          </p:cNvPr>
          <p:cNvSpPr>
            <a:spLocks noGrp="1"/>
          </p:cNvSpPr>
          <p:nvPr>
            <p:ph idx="1"/>
          </p:nvPr>
        </p:nvSpPr>
        <p:spPr/>
        <p:txBody>
          <a:bodyPr/>
          <a:lstStyle/>
          <a:p>
            <a:pPr>
              <a:buFont typeface="Wingdings" panose="05000000000000000000" pitchFamily="2" charset="2"/>
              <a:buChar char="§"/>
            </a:pPr>
            <a:r>
              <a:rPr lang="en-US" dirty="0"/>
              <a:t>The Git Directory stores the commit data, which includes snapshots of the staged files, commit messages, author information, and timestamps, when we use the git commit command.</a:t>
            </a:r>
          </a:p>
          <a:p>
            <a:pPr>
              <a:buFont typeface="Wingdings" panose="05000000000000000000" pitchFamily="2" charset="2"/>
              <a:buChar char="§"/>
            </a:pPr>
            <a:r>
              <a:rPr lang="en-US" dirty="0"/>
              <a:t>All of the commit objects, which are essential for monitoring the project's version history, are stored in this directory.</a:t>
            </a:r>
          </a:p>
          <a:p>
            <a:pPr>
              <a:buFont typeface="Wingdings" panose="05000000000000000000" pitchFamily="2" charset="2"/>
              <a:buChar char="§"/>
            </a:pPr>
            <a:endParaRPr lang="en-PK" dirty="0"/>
          </a:p>
        </p:txBody>
      </p:sp>
      <p:pic>
        <p:nvPicPr>
          <p:cNvPr id="5" name="Picture 4">
            <a:extLst>
              <a:ext uri="{FF2B5EF4-FFF2-40B4-BE49-F238E27FC236}">
                <a16:creationId xmlns:a16="http://schemas.microsoft.com/office/drawing/2014/main" id="{1662C91B-FCC7-3540-9D11-CD0718F85382}"/>
              </a:ext>
            </a:extLst>
          </p:cNvPr>
          <p:cNvPicPr>
            <a:picLocks noChangeAspect="1"/>
          </p:cNvPicPr>
          <p:nvPr/>
        </p:nvPicPr>
        <p:blipFill>
          <a:blip r:embed="rId2"/>
          <a:stretch>
            <a:fillRect/>
          </a:stretch>
        </p:blipFill>
        <p:spPr>
          <a:xfrm>
            <a:off x="5260622" y="3735658"/>
            <a:ext cx="4629679" cy="3122341"/>
          </a:xfrm>
          <a:prstGeom prst="rect">
            <a:avLst/>
          </a:prstGeom>
        </p:spPr>
      </p:pic>
    </p:spTree>
    <p:extLst>
      <p:ext uri="{BB962C8B-B14F-4D97-AF65-F5344CB8AC3E}">
        <p14:creationId xmlns:p14="http://schemas.microsoft.com/office/powerpoint/2010/main" val="4118333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32C0B-0F5A-EF65-983C-95880CC62CF8}"/>
              </a:ext>
            </a:extLst>
          </p:cNvPr>
          <p:cNvSpPr>
            <a:spLocks noGrp="1"/>
          </p:cNvSpPr>
          <p:nvPr>
            <p:ph type="title"/>
          </p:nvPr>
        </p:nvSpPr>
        <p:spPr/>
        <p:txBody>
          <a:bodyPr/>
          <a:lstStyle/>
          <a:p>
            <a:r>
              <a:rPr lang="en-US" sz="4000" dirty="0"/>
              <a:t>Metadata</a:t>
            </a:r>
            <a:br>
              <a:rPr lang="en-US" dirty="0"/>
            </a:br>
            <a:endParaRPr lang="en-PK" dirty="0"/>
          </a:p>
        </p:txBody>
      </p:sp>
      <p:sp>
        <p:nvSpPr>
          <p:cNvPr id="3" name="Content Placeholder 2">
            <a:extLst>
              <a:ext uri="{FF2B5EF4-FFF2-40B4-BE49-F238E27FC236}">
                <a16:creationId xmlns:a16="http://schemas.microsoft.com/office/drawing/2014/main" id="{5A478FE6-AEC9-9DF1-58FB-71B738DAF5AA}"/>
              </a:ext>
            </a:extLst>
          </p:cNvPr>
          <p:cNvSpPr>
            <a:spLocks noGrp="1"/>
          </p:cNvSpPr>
          <p:nvPr>
            <p:ph idx="1"/>
          </p:nvPr>
        </p:nvSpPr>
        <p:spPr/>
        <p:txBody>
          <a:bodyPr/>
          <a:lstStyle/>
          <a:p>
            <a:r>
              <a:rPr lang="en-US" dirty="0"/>
              <a:t>Along with the contents from each commit, the Git Directory also contains other crucial metadata, such as branch details, configuration settings, and change history.</a:t>
            </a:r>
          </a:p>
          <a:p>
            <a:r>
              <a:rPr lang="en-US" dirty="0"/>
              <a:t>This ensures that all project versions can be efficiently retrieved and managed by Git.</a:t>
            </a:r>
          </a:p>
          <a:p>
            <a:r>
              <a:rPr lang="en-US" sz="4000" cap="all" spc="100" dirty="0">
                <a:solidFill>
                  <a:schemeClr val="tx1">
                    <a:lumMod val="95000"/>
                    <a:lumOff val="5000"/>
                  </a:schemeClr>
                </a:solidFill>
                <a:latin typeface="+mj-lt"/>
                <a:ea typeface="+mj-ea"/>
                <a:cs typeface="+mj-cs"/>
              </a:rPr>
              <a:t>Role</a:t>
            </a:r>
          </a:p>
          <a:p>
            <a:r>
              <a:rPr lang="en-US" dirty="0"/>
              <a:t>Git's ability to manage versions, keep track of changes, and offer the features needed for version control all depend on the Git Directory.</a:t>
            </a:r>
          </a:p>
          <a:p>
            <a:r>
              <a:rPr lang="en-US" dirty="0"/>
              <a:t>It acts as the database for the repository, holding all the data required for history management and version tracking.</a:t>
            </a:r>
          </a:p>
          <a:p>
            <a:endParaRPr lang="en-PK" dirty="0"/>
          </a:p>
        </p:txBody>
      </p:sp>
    </p:spTree>
    <p:extLst>
      <p:ext uri="{BB962C8B-B14F-4D97-AF65-F5344CB8AC3E}">
        <p14:creationId xmlns:p14="http://schemas.microsoft.com/office/powerpoint/2010/main" val="3772178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FBBDF-BFD6-BBB5-86AA-D789C2CB1BD5}"/>
              </a:ext>
            </a:extLst>
          </p:cNvPr>
          <p:cNvSpPr>
            <a:spLocks noGrp="1"/>
          </p:cNvSpPr>
          <p:nvPr>
            <p:ph type="title"/>
          </p:nvPr>
        </p:nvSpPr>
        <p:spPr/>
        <p:txBody>
          <a:bodyPr/>
          <a:lstStyle/>
          <a:p>
            <a:r>
              <a:rPr lang="en-US" dirty="0"/>
              <a:t>GitHub Integration in the Git Lifecycle</a:t>
            </a:r>
            <a:br>
              <a:rPr lang="en-US" dirty="0"/>
            </a:br>
            <a:endParaRPr lang="en-PK" dirty="0"/>
          </a:p>
        </p:txBody>
      </p:sp>
      <p:sp>
        <p:nvSpPr>
          <p:cNvPr id="3" name="Content Placeholder 2">
            <a:extLst>
              <a:ext uri="{FF2B5EF4-FFF2-40B4-BE49-F238E27FC236}">
                <a16:creationId xmlns:a16="http://schemas.microsoft.com/office/drawing/2014/main" id="{032035EB-838D-3F00-7F59-B46107BB2881}"/>
              </a:ext>
            </a:extLst>
          </p:cNvPr>
          <p:cNvSpPr>
            <a:spLocks noGrp="1"/>
          </p:cNvSpPr>
          <p:nvPr>
            <p:ph idx="1"/>
          </p:nvPr>
        </p:nvSpPr>
        <p:spPr/>
        <p:txBody>
          <a:bodyPr/>
          <a:lstStyle/>
          <a:p>
            <a:r>
              <a:rPr lang="en-US" dirty="0"/>
              <a:t>Git manages version control locally, but GitHub adds more stages for remote storage and collaboration.</a:t>
            </a:r>
          </a:p>
          <a:p>
            <a:r>
              <a:rPr lang="en-US" dirty="0"/>
              <a:t>GitHub fits into the Git lifecycle in the following ways:</a:t>
            </a:r>
          </a:p>
          <a:p>
            <a:r>
              <a:rPr lang="en-US" b="1" dirty="0"/>
              <a:t>Remote Repository</a:t>
            </a:r>
          </a:p>
          <a:p>
            <a:r>
              <a:rPr lang="en-US" dirty="0"/>
              <a:t>A remote repository is a version of your project hosted on a server or a cloud service like GitHub, GitLab, or </a:t>
            </a:r>
            <a:r>
              <a:rPr lang="en-US" dirty="0" err="1"/>
              <a:t>BitBucket</a:t>
            </a:r>
            <a:r>
              <a:rPr lang="en-US" dirty="0"/>
              <a:t>. It allows you to share your changes with others and collaborate on the project. It serves as a central repository for a web project.</a:t>
            </a:r>
          </a:p>
          <a:p>
            <a:r>
              <a:rPr lang="en-US" dirty="0"/>
              <a:t>It is possible for numerous users to view, access, and work on the project using the remote repository.</a:t>
            </a:r>
          </a:p>
          <a:p>
            <a:endParaRPr lang="en-PK" dirty="0"/>
          </a:p>
        </p:txBody>
      </p:sp>
    </p:spTree>
    <p:extLst>
      <p:ext uri="{BB962C8B-B14F-4D97-AF65-F5344CB8AC3E}">
        <p14:creationId xmlns:p14="http://schemas.microsoft.com/office/powerpoint/2010/main" val="4118901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6B0B1EF-4524-08DD-7494-4EC193FB54DA}"/>
              </a:ext>
            </a:extLst>
          </p:cNvPr>
          <p:cNvPicPr>
            <a:picLocks noGrp="1" noChangeAspect="1"/>
          </p:cNvPicPr>
          <p:nvPr>
            <p:ph idx="1"/>
          </p:nvPr>
        </p:nvPicPr>
        <p:blipFill>
          <a:blip r:embed="rId2"/>
          <a:stretch>
            <a:fillRect/>
          </a:stretch>
        </p:blipFill>
        <p:spPr>
          <a:xfrm>
            <a:off x="2394217" y="1417637"/>
            <a:ext cx="7810939" cy="4932614"/>
          </a:xfrm>
          <a:prstGeom prst="rect">
            <a:avLst/>
          </a:prstGeom>
        </p:spPr>
      </p:pic>
    </p:spTree>
    <p:extLst>
      <p:ext uri="{BB962C8B-B14F-4D97-AF65-F5344CB8AC3E}">
        <p14:creationId xmlns:p14="http://schemas.microsoft.com/office/powerpoint/2010/main" val="66428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CCAA9-4536-BFBC-534F-D24A1DEB97C8}"/>
              </a:ext>
            </a:extLst>
          </p:cNvPr>
          <p:cNvSpPr>
            <a:spLocks noGrp="1"/>
          </p:cNvSpPr>
          <p:nvPr>
            <p:ph idx="1"/>
          </p:nvPr>
        </p:nvSpPr>
        <p:spPr>
          <a:xfrm>
            <a:off x="1103150" y="1642534"/>
            <a:ext cx="9720073" cy="4023360"/>
          </a:xfrm>
        </p:spPr>
        <p:txBody>
          <a:bodyPr>
            <a:normAutofit lnSpcReduction="10000"/>
          </a:bodyPr>
          <a:lstStyle/>
          <a:p>
            <a:r>
              <a:rPr lang="en-US" b="1" dirty="0"/>
              <a:t>Pushing Changes</a:t>
            </a:r>
          </a:p>
          <a:p>
            <a:r>
              <a:rPr lang="en-US" dirty="0"/>
              <a:t>To upload your commits from your local repository to a remote repository, use the `git push` command:</a:t>
            </a:r>
          </a:p>
          <a:p>
            <a:r>
              <a:rPr lang="en-US" dirty="0">
                <a:highlight>
                  <a:srgbClr val="C0C0C0"/>
                </a:highlight>
              </a:rPr>
              <a:t>$ git push</a:t>
            </a:r>
          </a:p>
          <a:p>
            <a:r>
              <a:rPr lang="en-US" b="1" dirty="0"/>
              <a:t>Pulling Changes</a:t>
            </a:r>
          </a:p>
          <a:p>
            <a:r>
              <a:rPr lang="en-US" dirty="0"/>
              <a:t>To update your local repository with changes from the remote repository, use the git pull command:</a:t>
            </a:r>
          </a:p>
          <a:p>
            <a:r>
              <a:rPr lang="en-US" dirty="0">
                <a:highlight>
                  <a:srgbClr val="C0C0C0"/>
                </a:highlight>
              </a:rPr>
              <a:t>$ git pull origin main</a:t>
            </a:r>
          </a:p>
          <a:p>
            <a:br>
              <a:rPr lang="en-US" dirty="0"/>
            </a:br>
            <a:endParaRPr lang="en-PK" dirty="0"/>
          </a:p>
        </p:txBody>
      </p:sp>
    </p:spTree>
    <p:extLst>
      <p:ext uri="{BB962C8B-B14F-4D97-AF65-F5344CB8AC3E}">
        <p14:creationId xmlns:p14="http://schemas.microsoft.com/office/powerpoint/2010/main" val="2181501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3527-1F9F-2C2F-1427-FF84846D94F4}"/>
              </a:ext>
            </a:extLst>
          </p:cNvPr>
          <p:cNvSpPr>
            <a:spLocks noGrp="1"/>
          </p:cNvSpPr>
          <p:nvPr>
            <p:ph type="title"/>
          </p:nvPr>
        </p:nvSpPr>
        <p:spPr/>
        <p:txBody>
          <a:bodyPr/>
          <a:lstStyle/>
          <a:p>
            <a:r>
              <a:rPr lang="en-US" dirty="0"/>
              <a:t>Working with Branches</a:t>
            </a:r>
            <a:br>
              <a:rPr lang="en-US" dirty="0"/>
            </a:br>
            <a:endParaRPr lang="en-PK" dirty="0"/>
          </a:p>
        </p:txBody>
      </p:sp>
      <p:sp>
        <p:nvSpPr>
          <p:cNvPr id="3" name="Content Placeholder 2">
            <a:extLst>
              <a:ext uri="{FF2B5EF4-FFF2-40B4-BE49-F238E27FC236}">
                <a16:creationId xmlns:a16="http://schemas.microsoft.com/office/drawing/2014/main" id="{896D2720-A9BB-E9B9-E62A-B81CD114E6AE}"/>
              </a:ext>
            </a:extLst>
          </p:cNvPr>
          <p:cNvSpPr>
            <a:spLocks noGrp="1"/>
          </p:cNvSpPr>
          <p:nvPr>
            <p:ph idx="1"/>
          </p:nvPr>
        </p:nvSpPr>
        <p:spPr>
          <a:xfrm>
            <a:off x="1140178" y="1715911"/>
            <a:ext cx="9604023" cy="4593449"/>
          </a:xfrm>
        </p:spPr>
        <p:txBody>
          <a:bodyPr>
            <a:normAutofit fontScale="85000" lnSpcReduction="20000"/>
          </a:bodyPr>
          <a:lstStyle/>
          <a:p>
            <a:r>
              <a:rPr lang="en-US" dirty="0"/>
              <a:t>Branches are an essential feature of Git, allowing you to work on different features, fixes, or experiments in isolation. This section explores how branches fit into the Git lifecycle.</a:t>
            </a:r>
          </a:p>
          <a:p>
            <a:r>
              <a:rPr lang="en-US" b="1" dirty="0"/>
              <a:t>Creating a Branch</a:t>
            </a:r>
          </a:p>
          <a:p>
            <a:r>
              <a:rPr lang="en-US" dirty="0"/>
              <a:t>To create a new branch, use the `git branch` command:</a:t>
            </a:r>
          </a:p>
          <a:p>
            <a:r>
              <a:rPr lang="en-US" dirty="0">
                <a:highlight>
                  <a:srgbClr val="C0C0C0"/>
                </a:highlight>
              </a:rPr>
              <a:t>$ git branch &lt;branch-name&gt;</a:t>
            </a:r>
          </a:p>
          <a:p>
            <a:r>
              <a:rPr lang="en-US" dirty="0"/>
              <a:t>This command creates a new branch but does not switch to it. To create and switch to a new branch simultaneously, use:</a:t>
            </a:r>
          </a:p>
          <a:p>
            <a:r>
              <a:rPr lang="en-US" dirty="0">
                <a:highlight>
                  <a:srgbClr val="C0C0C0"/>
                </a:highlight>
              </a:rPr>
              <a:t>$ git checkout -b &lt;branch-name&gt;</a:t>
            </a:r>
          </a:p>
          <a:p>
            <a:r>
              <a:rPr lang="en-US" b="1" dirty="0"/>
              <a:t>Switching Branches</a:t>
            </a:r>
          </a:p>
          <a:p>
            <a:r>
              <a:rPr lang="en-US" dirty="0"/>
              <a:t>To switch between branches, use the `git checkout` command:</a:t>
            </a:r>
          </a:p>
          <a:p>
            <a:r>
              <a:rPr lang="en-US" dirty="0">
                <a:highlight>
                  <a:srgbClr val="C0C0C0"/>
                </a:highlight>
              </a:rPr>
              <a:t>$ git checkout &lt;branch-name&gt;</a:t>
            </a:r>
          </a:p>
          <a:p>
            <a:r>
              <a:rPr lang="en-US" dirty="0"/>
              <a:t>Switching branches updates the files in your working directory to match the state of the branch you are switching to, allowing you to work on different tasks simultaneously.</a:t>
            </a:r>
          </a:p>
          <a:p>
            <a:endParaRPr lang="en-PK" dirty="0"/>
          </a:p>
        </p:txBody>
      </p:sp>
    </p:spTree>
    <p:extLst>
      <p:ext uri="{BB962C8B-B14F-4D97-AF65-F5344CB8AC3E}">
        <p14:creationId xmlns:p14="http://schemas.microsoft.com/office/powerpoint/2010/main" val="1925385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EA53FB-689D-F967-9E54-2F2CEDB2DDA9}"/>
              </a:ext>
            </a:extLst>
          </p:cNvPr>
          <p:cNvSpPr>
            <a:spLocks noGrp="1"/>
          </p:cNvSpPr>
          <p:nvPr>
            <p:ph idx="1"/>
          </p:nvPr>
        </p:nvSpPr>
        <p:spPr>
          <a:xfrm>
            <a:off x="1185333" y="835378"/>
            <a:ext cx="9558868" cy="5473982"/>
          </a:xfrm>
        </p:spPr>
        <p:txBody>
          <a:bodyPr>
            <a:normAutofit fontScale="92500"/>
          </a:bodyPr>
          <a:lstStyle/>
          <a:p>
            <a:r>
              <a:rPr lang="en-US" b="1" dirty="0"/>
              <a:t>Merging Branches</a:t>
            </a:r>
          </a:p>
          <a:p>
            <a:r>
              <a:rPr lang="en-US" dirty="0"/>
              <a:t>Merging is the process of combining changes from one branch into another. To merge changes, switch to the branch you want to merge into and use the `git merge` command:</a:t>
            </a:r>
          </a:p>
          <a:p>
            <a:r>
              <a:rPr lang="en-US" dirty="0">
                <a:highlight>
                  <a:srgbClr val="C0C0C0"/>
                </a:highlight>
              </a:rPr>
              <a:t>$ git checkout main</a:t>
            </a:r>
          </a:p>
          <a:p>
            <a:r>
              <a:rPr lang="en-US" dirty="0">
                <a:highlight>
                  <a:srgbClr val="C0C0C0"/>
                </a:highlight>
              </a:rPr>
              <a:t>$ git merge &lt;branch-name&gt;</a:t>
            </a:r>
          </a:p>
          <a:p>
            <a:r>
              <a:rPr lang="en-US" dirty="0"/>
              <a:t>This command incorporates changes from &lt;branch-name&gt; into the main branch. If there are conflicts, Git will notify you, and you'll need to resolve them manually.</a:t>
            </a:r>
          </a:p>
          <a:p>
            <a:r>
              <a:rPr lang="en-US" b="1" dirty="0"/>
              <a:t>Deleting Branches</a:t>
            </a:r>
          </a:p>
          <a:p>
            <a:r>
              <a:rPr lang="en-US" dirty="0"/>
              <a:t>Once a branch is no longer needed, you can delete it to keep your repository organized:</a:t>
            </a:r>
          </a:p>
          <a:p>
            <a:r>
              <a:rPr lang="en-US" dirty="0">
                <a:highlight>
                  <a:srgbClr val="C0C0C0"/>
                </a:highlight>
              </a:rPr>
              <a:t>$ git branch -d &lt;branch-name&gt;</a:t>
            </a:r>
          </a:p>
          <a:p>
            <a:r>
              <a:rPr lang="en-US" dirty="0"/>
              <a:t>This command deletes the branch locally. If you want to delete a branch from a remote repository, use:</a:t>
            </a:r>
          </a:p>
          <a:p>
            <a:r>
              <a:rPr lang="en-US" dirty="0">
                <a:highlight>
                  <a:srgbClr val="C0C0C0"/>
                </a:highlight>
              </a:rPr>
              <a:t>$ git push origin --delete &lt;branch-name&gt;</a:t>
            </a:r>
          </a:p>
          <a:p>
            <a:endParaRPr lang="en-PK" dirty="0"/>
          </a:p>
        </p:txBody>
      </p:sp>
    </p:spTree>
    <p:extLst>
      <p:ext uri="{BB962C8B-B14F-4D97-AF65-F5344CB8AC3E}">
        <p14:creationId xmlns:p14="http://schemas.microsoft.com/office/powerpoint/2010/main" val="2233943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71AA9-7F6D-D40B-D301-6E79044DF6F1}"/>
              </a:ext>
            </a:extLst>
          </p:cNvPr>
          <p:cNvSpPr>
            <a:spLocks noGrp="1"/>
          </p:cNvSpPr>
          <p:nvPr>
            <p:ph type="title"/>
          </p:nvPr>
        </p:nvSpPr>
        <p:spPr/>
        <p:txBody>
          <a:bodyPr>
            <a:normAutofit fontScale="90000"/>
          </a:bodyPr>
          <a:lstStyle/>
          <a:p>
            <a:r>
              <a:rPr lang="en-US" dirty="0"/>
              <a:t>Best Practices for Managing the Git Lifecycle</a:t>
            </a:r>
            <a:br>
              <a:rPr lang="en-US" dirty="0"/>
            </a:br>
            <a:endParaRPr lang="en-PK" dirty="0"/>
          </a:p>
        </p:txBody>
      </p:sp>
      <p:sp>
        <p:nvSpPr>
          <p:cNvPr id="3" name="Content Placeholder 2">
            <a:extLst>
              <a:ext uri="{FF2B5EF4-FFF2-40B4-BE49-F238E27FC236}">
                <a16:creationId xmlns:a16="http://schemas.microsoft.com/office/drawing/2014/main" id="{76446DB8-D7CF-AB6B-16B0-BDFD9E484A09}"/>
              </a:ext>
            </a:extLst>
          </p:cNvPr>
          <p:cNvSpPr>
            <a:spLocks noGrp="1"/>
          </p:cNvSpPr>
          <p:nvPr>
            <p:ph idx="1"/>
          </p:nvPr>
        </p:nvSpPr>
        <p:spPr/>
        <p:txBody>
          <a:bodyPr/>
          <a:lstStyle/>
          <a:p>
            <a:r>
              <a:rPr lang="en-US" b="1" dirty="0"/>
              <a:t>Commit Often with Clear Messages -</a:t>
            </a:r>
            <a:r>
              <a:rPr lang="en-US" dirty="0"/>
              <a:t> Make frequent, small commits with clear messages that describe the changes. This practice helps track progress, makes it easier to identify issues, and simplifies collaboration.</a:t>
            </a:r>
          </a:p>
          <a:p>
            <a:r>
              <a:rPr lang="en-US" b="1" dirty="0"/>
              <a:t>Use Branches Strategically - </a:t>
            </a:r>
            <a:r>
              <a:rPr lang="en-US" dirty="0"/>
              <a:t>Utilize branches to isolate work on different features, bug fixes, or experiments. This allows you to work in parallel without interfering with the main codebase.</a:t>
            </a:r>
          </a:p>
          <a:p>
            <a:r>
              <a:rPr lang="en-US" b="1" dirty="0"/>
              <a:t>Regularly Sync with Remote Repositories - </a:t>
            </a:r>
            <a:r>
              <a:rPr lang="en-US" dirty="0"/>
              <a:t>Keep your local repository in sync with the remote repository by regularly pulling changes and pushing your commits. This ensures everyone is working with the latest code and helps avoid conflicts.</a:t>
            </a:r>
          </a:p>
          <a:p>
            <a:r>
              <a:rPr lang="en-US" b="1" dirty="0"/>
              <a:t>Clean Up Unnecessary Branches - </a:t>
            </a:r>
            <a:r>
              <a:rPr lang="en-US" dirty="0"/>
              <a:t>Regularly delete branches that are no longer needed to keep your repository tidy and prevent confusion.</a:t>
            </a:r>
          </a:p>
          <a:p>
            <a:endParaRPr lang="en-PK" dirty="0"/>
          </a:p>
        </p:txBody>
      </p:sp>
    </p:spTree>
    <p:extLst>
      <p:ext uri="{BB962C8B-B14F-4D97-AF65-F5344CB8AC3E}">
        <p14:creationId xmlns:p14="http://schemas.microsoft.com/office/powerpoint/2010/main" val="2170100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23B43-7867-BE5E-A6B4-6BE5D190883C}"/>
              </a:ext>
            </a:extLst>
          </p:cNvPr>
          <p:cNvSpPr>
            <a:spLocks noGrp="1"/>
          </p:cNvSpPr>
          <p:nvPr>
            <p:ph type="title"/>
          </p:nvPr>
        </p:nvSpPr>
        <p:spPr/>
        <p:txBody>
          <a:bodyPr/>
          <a:lstStyle/>
          <a:p>
            <a:r>
              <a:rPr lang="en-US" dirty="0"/>
              <a:t>Writing Meaningful Commit Messages</a:t>
            </a:r>
            <a:endParaRPr lang="en-PK" dirty="0"/>
          </a:p>
        </p:txBody>
      </p:sp>
      <p:sp>
        <p:nvSpPr>
          <p:cNvPr id="3" name="Content Placeholder 2">
            <a:extLst>
              <a:ext uri="{FF2B5EF4-FFF2-40B4-BE49-F238E27FC236}">
                <a16:creationId xmlns:a16="http://schemas.microsoft.com/office/drawing/2014/main" id="{BDB2912F-35A9-1C30-74B8-3B77A58C93F4}"/>
              </a:ext>
            </a:extLst>
          </p:cNvPr>
          <p:cNvSpPr>
            <a:spLocks noGrp="1"/>
          </p:cNvSpPr>
          <p:nvPr>
            <p:ph idx="1"/>
          </p:nvPr>
        </p:nvSpPr>
        <p:spPr/>
        <p:txBody>
          <a:bodyPr>
            <a:normAutofit fontScale="55000" lnSpcReduction="20000"/>
          </a:bodyPr>
          <a:lstStyle/>
          <a:p>
            <a:r>
              <a:rPr lang="en-US" b="1" dirty="0"/>
              <a:t>Good Practices:</a:t>
            </a:r>
            <a:endParaRPr lang="en-US" dirty="0"/>
          </a:p>
          <a:p>
            <a:r>
              <a:rPr lang="en-US" dirty="0"/>
              <a:t>Use present tense → </a:t>
            </a:r>
            <a:r>
              <a:rPr lang="en-US" i="1" dirty="0"/>
              <a:t>“Add login validation”</a:t>
            </a:r>
            <a:r>
              <a:rPr lang="en-US" dirty="0"/>
              <a:t> (not </a:t>
            </a:r>
            <a:r>
              <a:rPr lang="en-US" i="1" dirty="0"/>
              <a:t>“Added”</a:t>
            </a:r>
            <a:r>
              <a:rPr lang="en-US" dirty="0"/>
              <a:t>)</a:t>
            </a:r>
          </a:p>
          <a:p>
            <a:r>
              <a:rPr lang="en-US" dirty="0"/>
              <a:t>Be specific → </a:t>
            </a:r>
            <a:r>
              <a:rPr lang="en-US" i="1" dirty="0"/>
              <a:t>“Fix null pointer error in login form”</a:t>
            </a:r>
            <a:endParaRPr lang="en-US" dirty="0"/>
          </a:p>
          <a:p>
            <a:r>
              <a:rPr lang="en-US" dirty="0"/>
              <a:t>Keep it concise (50 characters or less for title)</a:t>
            </a:r>
          </a:p>
          <a:p>
            <a:r>
              <a:rPr lang="en-US" dirty="0"/>
              <a:t>Add detailed description if needed (after a blank line)</a:t>
            </a:r>
          </a:p>
          <a:p>
            <a:r>
              <a:rPr lang="en-US" b="1" dirty="0"/>
              <a:t>Bad Commit Messages:</a:t>
            </a:r>
            <a:endParaRPr lang="en-US" dirty="0"/>
          </a:p>
          <a:p>
            <a:r>
              <a:rPr lang="en-US" dirty="0"/>
              <a:t>“fix”</a:t>
            </a:r>
          </a:p>
          <a:p>
            <a:r>
              <a:rPr lang="en-US" dirty="0"/>
              <a:t>“update”</a:t>
            </a:r>
          </a:p>
          <a:p>
            <a:r>
              <a:rPr lang="en-US" dirty="0"/>
              <a:t>“changes”</a:t>
            </a:r>
          </a:p>
          <a:p>
            <a:r>
              <a:rPr lang="en-US" b="1" dirty="0"/>
              <a:t>Good Commit Messages:</a:t>
            </a:r>
            <a:endParaRPr lang="en-US" dirty="0"/>
          </a:p>
          <a:p>
            <a:r>
              <a:rPr lang="en-US" dirty="0"/>
              <a:t>“Add password strength validation to signup form”</a:t>
            </a:r>
          </a:p>
          <a:p>
            <a:r>
              <a:rPr lang="en-US" dirty="0"/>
              <a:t>“Fix bug causing crash when uploading empty file”</a:t>
            </a:r>
          </a:p>
          <a:p>
            <a:r>
              <a:rPr lang="en-US" dirty="0"/>
              <a:t>“Update README with installation instructions”</a:t>
            </a:r>
          </a:p>
          <a:p>
            <a:endParaRPr lang="en-PK" dirty="0"/>
          </a:p>
        </p:txBody>
      </p:sp>
    </p:spTree>
    <p:extLst>
      <p:ext uri="{BB962C8B-B14F-4D97-AF65-F5344CB8AC3E}">
        <p14:creationId xmlns:p14="http://schemas.microsoft.com/office/powerpoint/2010/main" val="15657107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22</TotalTime>
  <Words>1422</Words>
  <Application>Microsoft Office PowerPoint</Application>
  <PresentationFormat>Widescreen</PresentationFormat>
  <Paragraphs>121</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Calibri</vt:lpstr>
      <vt:lpstr>Tw Cen MT</vt:lpstr>
      <vt:lpstr>Tw Cen MT Condensed</vt:lpstr>
      <vt:lpstr>Wingdings</vt:lpstr>
      <vt:lpstr>Wingdings 3</vt:lpstr>
      <vt:lpstr>Integral</vt:lpstr>
      <vt:lpstr>Git Essentials and Commit Management</vt:lpstr>
      <vt:lpstr>Git File Lifecycle</vt:lpstr>
      <vt:lpstr>Working Directory </vt:lpstr>
      <vt:lpstr>Tracked vs. Untracked Files </vt:lpstr>
      <vt:lpstr>Management </vt:lpstr>
      <vt:lpstr>Staging Area </vt:lpstr>
      <vt:lpstr>Adding Files </vt:lpstr>
      <vt:lpstr>Indexing </vt:lpstr>
      <vt:lpstr>Git Directory </vt:lpstr>
      <vt:lpstr>Storing Commit Data </vt:lpstr>
      <vt:lpstr>Metadata </vt:lpstr>
      <vt:lpstr>GitHub Integration in the Git Lifecycle </vt:lpstr>
      <vt:lpstr>PowerPoint Presentation</vt:lpstr>
      <vt:lpstr>PowerPoint Presentation</vt:lpstr>
      <vt:lpstr>Working with Branches </vt:lpstr>
      <vt:lpstr>PowerPoint Presentation</vt:lpstr>
      <vt:lpstr>Best Practices for Managing the Git Lifecycle </vt:lpstr>
      <vt:lpstr>Writing Meaningful Commit Messages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test</dc:creator>
  <cp:lastModifiedBy>test</cp:lastModifiedBy>
  <cp:revision>1</cp:revision>
  <dcterms:created xsi:type="dcterms:W3CDTF">2025-10-04T06:55:05Z</dcterms:created>
  <dcterms:modified xsi:type="dcterms:W3CDTF">2025-10-04T07:17:22Z</dcterms:modified>
</cp:coreProperties>
</file>