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7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6530D1E-55BC-47C0-BA63-6AB59EBD04C9}">
          <p14:sldIdLst>
            <p14:sldId id="256"/>
          </p14:sldIdLst>
        </p14:section>
        <p14:section name="Summary Section" id="{5791A86F-1EE9-4362-AE0B-7D50C33EADCB}">
          <p14:sldIdLst>
            <p14:sldId id="268"/>
          </p14:sldIdLst>
        </p14:section>
        <p14:section name="What is Version Control System?" id="{D4B1B67D-F0F0-4295-B5D7-260D9C0C5002}">
          <p14:sldIdLst>
            <p14:sldId id="257"/>
          </p14:sldIdLst>
        </p14:section>
        <p14:section name="Evolution of VCS" id="{6D108167-8807-45B5-A23D-075D29B066B0}">
          <p14:sldIdLst>
            <p14:sldId id="258"/>
          </p14:sldIdLst>
        </p14:section>
        <p14:section name="Evolution of VCS" id="{75FF6A2C-776F-46F6-A1EF-94EA901F47F0}">
          <p14:sldIdLst>
            <p14:sldId id="259"/>
          </p14:sldIdLst>
        </p14:section>
        <p14:section name="Evolution of VCS" id="{DD856ED8-3C14-418D-8D4F-887AF3629E64}">
          <p14:sldIdLst>
            <p14:sldId id="260"/>
          </p14:sldIdLst>
        </p14:section>
        <p14:section name="Section 5" id="{F13CD358-11C6-4319-A92A-5FFDC0556A89}">
          <p14:sldIdLst>
            <p14:sldId id="261"/>
          </p14:sldIdLst>
        </p14:section>
        <p14:section name=" Git " id="{74132FA0-4A0D-45B6-834A-98CD7AAEF294}">
          <p14:sldIdLst>
            <p14:sldId id="262"/>
          </p14:sldIdLst>
        </p14:section>
        <p14:section name="Introduction to Github " id="{E3379A4F-960C-45F7-9225-9F0AAC3196CE}">
          <p14:sldIdLst>
            <p14:sldId id="263"/>
          </p14:sldIdLst>
        </p14:section>
        <p14:section name="Git vs GitHub" id="{1E38382C-08C5-44EC-8C7A-FDFE37E57172}">
          <p14:sldIdLst>
            <p14:sldId id="264"/>
          </p14:sldIdLst>
        </p14:section>
        <p14:section name="Why Developers Rely on Git &amp; GitHub" id="{86EE22AD-71AE-4C66-B091-8471226A7792}">
          <p14:sldIdLst>
            <p14:sldId id="265"/>
          </p14:sldIdLst>
        </p14:section>
        <p14:section name="GitHub Key Features " id="{F9669021-C2FF-4BD1-B082-93DAFAB657B8}">
          <p14:sldIdLst>
            <p14:sldId id="266"/>
          </p14:sldIdLst>
        </p14:section>
        <p14:section name="Section 11" id="{74B3D903-F898-4D93-A5A1-86FBF849F03F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 varScale="1">
        <p:scale>
          <a:sx n="85" d="100"/>
          <a:sy n="85" d="100"/>
        </p:scale>
        <p:origin x="28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DD27EA0B-5364-41EB-BC96-93AC415A9AA2}" type="datetimeFigureOut">
              <a:rPr lang="en-PK" smtClean="0"/>
              <a:t>03/10/2025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ABD7A-628E-45B4-836A-5F3E2ADF3AB7}" type="slidenum">
              <a:rPr lang="en-PK" smtClean="0"/>
              <a:t>‹#›</a:t>
            </a:fld>
            <a:endParaRPr lang="en-PK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435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7EA0B-5364-41EB-BC96-93AC415A9AA2}" type="datetimeFigureOut">
              <a:rPr lang="en-PK" smtClean="0"/>
              <a:t>03/10/2025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ABD7A-628E-45B4-836A-5F3E2ADF3AB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34413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7EA0B-5364-41EB-BC96-93AC415A9AA2}" type="datetimeFigureOut">
              <a:rPr lang="en-PK" smtClean="0"/>
              <a:t>03/10/2025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ABD7A-628E-45B4-836A-5F3E2ADF3AB7}" type="slidenum">
              <a:rPr lang="en-PK" smtClean="0"/>
              <a:t>‹#›</a:t>
            </a:fld>
            <a:endParaRPr lang="en-PK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159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7EA0B-5364-41EB-BC96-93AC415A9AA2}" type="datetimeFigureOut">
              <a:rPr lang="en-PK" smtClean="0"/>
              <a:t>03/10/2025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ABD7A-628E-45B4-836A-5F3E2ADF3AB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90062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7EA0B-5364-41EB-BC96-93AC415A9AA2}" type="datetimeFigureOut">
              <a:rPr lang="en-PK" smtClean="0"/>
              <a:t>03/10/2025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ABD7A-628E-45B4-836A-5F3E2ADF3AB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40208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7EA0B-5364-41EB-BC96-93AC415A9AA2}" type="datetimeFigureOut">
              <a:rPr lang="en-PK" smtClean="0"/>
              <a:t>03/10/2025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ABD7A-628E-45B4-836A-5F3E2ADF3AB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17206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7EA0B-5364-41EB-BC96-93AC415A9AA2}" type="datetimeFigureOut">
              <a:rPr lang="en-PK" smtClean="0"/>
              <a:t>03/10/2025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ABD7A-628E-45B4-836A-5F3E2ADF3AB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39592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7EA0B-5364-41EB-BC96-93AC415A9AA2}" type="datetimeFigureOut">
              <a:rPr lang="en-PK" smtClean="0"/>
              <a:t>03/10/2025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ABD7A-628E-45B4-836A-5F3E2ADF3AB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89033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7EA0B-5364-41EB-BC96-93AC415A9AA2}" type="datetimeFigureOut">
              <a:rPr lang="en-PK" smtClean="0"/>
              <a:t>03/10/2025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ABD7A-628E-45B4-836A-5F3E2ADF3AB7}" type="slidenum">
              <a:rPr lang="en-PK" smtClean="0"/>
              <a:t>‹#›</a:t>
            </a:fld>
            <a:endParaRPr lang="en-PK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5074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7EA0B-5364-41EB-BC96-93AC415A9AA2}" type="datetimeFigureOut">
              <a:rPr lang="en-PK" smtClean="0"/>
              <a:t>03/10/2025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ABD7A-628E-45B4-836A-5F3E2ADF3AB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00202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7EA0B-5364-41EB-BC96-93AC415A9AA2}" type="datetimeFigureOut">
              <a:rPr lang="en-PK" smtClean="0"/>
              <a:t>03/10/2025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ABD7A-628E-45B4-836A-5F3E2ADF3AB7}" type="slidenum">
              <a:rPr lang="en-PK" smtClean="0"/>
              <a:t>‹#›</a:t>
            </a:fld>
            <a:endParaRPr lang="en-PK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978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D27EA0B-5364-41EB-BC96-93AC415A9AA2}" type="datetimeFigureOut">
              <a:rPr lang="en-PK" smtClean="0"/>
              <a:t>03/10/2025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322ABD7A-628E-45B4-836A-5F3E2ADF3AB7}" type="slidenum">
              <a:rPr lang="en-PK" smtClean="0"/>
              <a:t>‹#›</a:t>
            </a:fld>
            <a:endParaRPr lang="en-PK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845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slide" Target="slide4.xml"/><Relationship Id="rId18" Type="http://schemas.openxmlformats.org/officeDocument/2006/relationships/slide" Target="slide9.xml"/><Relationship Id="rId3" Type="http://schemas.openxmlformats.org/officeDocument/2006/relationships/image" Target="../media/image3.png"/><Relationship Id="rId21" Type="http://schemas.openxmlformats.org/officeDocument/2006/relationships/slide" Target="slide12.xml"/><Relationship Id="rId7" Type="http://schemas.openxmlformats.org/officeDocument/2006/relationships/image" Target="../media/image7.png"/><Relationship Id="rId12" Type="http://schemas.openxmlformats.org/officeDocument/2006/relationships/slide" Target="slide3.xml"/><Relationship Id="rId17" Type="http://schemas.openxmlformats.org/officeDocument/2006/relationships/slide" Target="slide8.xml"/><Relationship Id="rId2" Type="http://schemas.openxmlformats.org/officeDocument/2006/relationships/image" Target="../media/image2.png"/><Relationship Id="rId16" Type="http://schemas.openxmlformats.org/officeDocument/2006/relationships/slide" Target="slide7.xml"/><Relationship Id="rId20" Type="http://schemas.openxmlformats.org/officeDocument/2006/relationships/slide" Target="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slide" Target="slide6.xml"/><Relationship Id="rId10" Type="http://schemas.openxmlformats.org/officeDocument/2006/relationships/image" Target="../media/image10.png"/><Relationship Id="rId19" Type="http://schemas.openxmlformats.org/officeDocument/2006/relationships/slide" Target="slide10.xml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www.geeksforgeeks.org/git/what-is-git/" TargetMode="Externa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E7989-20AB-B9CF-3890-334E453F5E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Evolution of Version Control Systems (VCS)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63F486-4DA7-73E8-8E5E-DC539E5570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Version Control Git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610929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suz="http://schemas.microsoft.com/office/powerpoint/2016/summaryzoom" Requires="psuz">
          <p:graphicFrame>
            <p:nvGraphicFramePr>
              <p:cNvPr id="5" name="Summary Zoom 4">
                <a:extLst>
                  <a:ext uri="{FF2B5EF4-FFF2-40B4-BE49-F238E27FC236}">
                    <a16:creationId xmlns:a16="http://schemas.microsoft.com/office/drawing/2014/main" id="{07C0440B-54AD-ED92-D15C-80822F00129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14399775"/>
                  </p:ext>
                </p:extLst>
              </p:nvPr>
            </p:nvGraphicFramePr>
            <p:xfrm>
              <a:off x="1597306" y="949124"/>
              <a:ext cx="9686149" cy="5290154"/>
            </p:xfrm>
            <a:graphic>
              <a:graphicData uri="http://schemas.microsoft.com/office/powerpoint/2016/summaryzoom">
                <psuz:summaryZm>
                  <psuz:summaryZmObj sectionId="{D4B1B67D-F0F0-4295-B5D7-260D9C0C5002}">
                    <psuz:zmPr id="{A3B6359D-F513-4447-B133-34D12CACB723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61718" y="724495"/>
                          <a:ext cx="2179383" cy="122590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6D108167-8807-45B5-A23D-075D29B066B0}">
                    <psuz:zmPr id="{6D881C2B-1893-4E91-8760-62D66CCCA650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2622828" y="724495"/>
                          <a:ext cx="2179383" cy="122590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75FF6A2C-776F-46F6-A1EF-94EA901F47F0}">
                    <psuz:zmPr id="{4728D739-E819-4564-A9C2-7F8D6D32B0FF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883938" y="724495"/>
                          <a:ext cx="2179383" cy="122590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DD856ED8-3C14-418D-8D4F-887AF3629E64}">
                    <psuz:zmPr id="{01EB6D96-9F68-45B4-B334-050916FA7F78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7145048" y="724495"/>
                          <a:ext cx="2179383" cy="122590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F13CD358-11C6-4319-A92A-5FFDC0556A89}" offsetFactorX="1014" offsetFactorY="-630">
                    <psuz:zmPr id="{45728AE7-08CF-4903-899C-5C46305858B4}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83823" y="2024397"/>
                          <a:ext cx="2179383" cy="122590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74132FA0-4A0D-45B6-834A-98CD7AAEF294}">
                    <psuz:zmPr id="{809BDC05-206A-418B-A90C-9E095D9E5EDA}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2622828" y="2032125"/>
                          <a:ext cx="2179383" cy="122590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E3379A4F-960C-45F7-9225-9F0AAC3196CE}">
                    <psuz:zmPr id="{B84A7D6F-FDD0-4321-9E12-76A57D9B6796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883938" y="2032125"/>
                          <a:ext cx="2179383" cy="122590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1E38382C-08C5-44EC-8C7A-FDFE37E57172}">
                    <psuz:zmPr id="{2A31223A-DB96-45AB-83BA-E775D9A72937}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7145048" y="2032125"/>
                          <a:ext cx="2179383" cy="122590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86EE22AD-71AE-4C66-B091-8471226A7792}">
                    <psuz:zmPr id="{38367AAA-AEAA-41D2-9AD3-6300F4058B6E}" transitionDur="100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61718" y="3339755"/>
                          <a:ext cx="2179383" cy="122590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F9669021-C2FF-4BD1-B082-93DAFAB657B8}">
                    <psuz:zmPr id="{99F0D147-9975-4EF6-843D-15BDCE3CF0A6}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2622828" y="3339755"/>
                          <a:ext cx="2179383" cy="122590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gridLayout/>
                </psuz:summaryZm>
              </a:graphicData>
            </a:graphic>
          </p:graphicFrame>
        </mc:Choice>
        <mc:Fallback>
          <p:grpSp>
            <p:nvGrpSpPr>
              <p:cNvPr id="5" name="Summary Zoom 4">
                <a:extLst>
                  <a:ext uri="{FF2B5EF4-FFF2-40B4-BE49-F238E27FC236}">
                    <a16:creationId xmlns:a16="http://schemas.microsoft.com/office/drawing/2014/main" id="{07C0440B-54AD-ED92-D15C-80822F001294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>
                <a:off x="1597306" y="949124"/>
                <a:ext cx="9686149" cy="5290154"/>
                <a:chOff x="1597306" y="949124"/>
                <a:chExt cx="9686149" cy="5290154"/>
              </a:xfrm>
            </p:grpSpPr>
            <p:pic>
              <p:nvPicPr>
                <p:cNvPr id="6" name="Picture 6">
                  <a:hlinkClick r:id="rId12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959024" y="1673619"/>
                  <a:ext cx="2179383" cy="1225903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7" name="Picture 7">
                  <a:hlinkClick r:id="rId13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220134" y="1673619"/>
                  <a:ext cx="2179383" cy="1225903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8" name="Picture 8">
                  <a:hlinkClick r:id="rId14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481244" y="1673619"/>
                  <a:ext cx="2179383" cy="1225903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9" name="Picture 9">
                  <a:hlinkClick r:id="rId15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742354" y="1673619"/>
                  <a:ext cx="2179383" cy="1225903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0" name="Picture 10">
                  <a:hlinkClick r:id="rId16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981129" y="2973521"/>
                  <a:ext cx="2179383" cy="1225903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1" name="Picture 11">
                  <a:hlinkClick r:id="rId17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220134" y="2981249"/>
                  <a:ext cx="2179383" cy="1225903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2" name="Picture 12">
                  <a:hlinkClick r:id="rId18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481244" y="2981249"/>
                  <a:ext cx="2179383" cy="1225903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3" name="Picture 13">
                  <a:hlinkClick r:id="rId19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42354" y="2981249"/>
                  <a:ext cx="2179383" cy="1225903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4" name="Picture 14">
                  <a:hlinkClick r:id="rId20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959024" y="4288879"/>
                  <a:ext cx="2179383" cy="1225903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5" name="Picture 15">
                  <a:hlinkClick r:id="rId21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220134" y="4288879"/>
                  <a:ext cx="2179383" cy="1225903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p:grpSp>
        </mc:Fallback>
      </mc:AlternateContent>
    </p:spTree>
    <p:extLst>
      <p:ext uri="{BB962C8B-B14F-4D97-AF65-F5344CB8AC3E}">
        <p14:creationId xmlns:p14="http://schemas.microsoft.com/office/powerpoint/2010/main" val="344513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A2AFE-66FC-0458-5CDB-6ACFFA785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Version Control System?</a:t>
            </a:r>
            <a:endParaRPr lang="en-PK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8456671-FD5F-F58B-9BAE-08885E2AEE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27668" y="2240387"/>
            <a:ext cx="10253132" cy="2193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system that records changes to files over time</a:t>
            </a:r>
          </a:p>
          <a:p>
            <a:pPr lv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teams collaborate on code without overwriting each other’s work</a:t>
            </a:r>
          </a:p>
          <a:p>
            <a:pPr lv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Maintains full project history, rollback, and version tracking</a:t>
            </a:r>
          </a:p>
        </p:txBody>
      </p:sp>
    </p:spTree>
    <p:extLst>
      <p:ext uri="{BB962C8B-B14F-4D97-AF65-F5344CB8AC3E}">
        <p14:creationId xmlns:p14="http://schemas.microsoft.com/office/powerpoint/2010/main" val="1952904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9414E-F81F-63DE-D8DD-C61385E81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 of VCS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185E5-255F-3A9A-401C-5F65EE2D6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Local VCS</a:t>
            </a:r>
            <a:endParaRPr lang="en-US" dirty="0"/>
          </a:p>
          <a:p>
            <a:r>
              <a:rPr lang="en-US" dirty="0"/>
              <a:t>Earliest stage</a:t>
            </a:r>
          </a:p>
          <a:p>
            <a:r>
              <a:rPr lang="en-US" dirty="0"/>
              <a:t>Developers stored versions on their own system</a:t>
            </a:r>
          </a:p>
          <a:p>
            <a:r>
              <a:rPr lang="en-US" dirty="0"/>
              <a:t>Example: RCS (Revision Control System)</a:t>
            </a:r>
          </a:p>
          <a:p>
            <a:pPr fontAlgn="base"/>
            <a:r>
              <a:rPr lang="en-US" b="1" dirty="0"/>
              <a:t>Key Characteristics</a:t>
            </a:r>
          </a:p>
          <a:p>
            <a:pPr fontAlgn="base"/>
            <a:r>
              <a:rPr lang="en-US" dirty="0"/>
              <a:t>No internet or server dependency.</a:t>
            </a:r>
          </a:p>
          <a:p>
            <a:pPr fontAlgn="base"/>
            <a:r>
              <a:rPr lang="en-US" dirty="0"/>
              <a:t>Useful for individual projects.</a:t>
            </a:r>
          </a:p>
          <a:p>
            <a:pPr fontAlgn="base"/>
            <a:r>
              <a:rPr lang="en-US" dirty="0"/>
              <a:t>Limited to single-user environments.</a:t>
            </a:r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03181B-B379-B103-F0AE-B608272A3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723" y="3065385"/>
            <a:ext cx="5040611" cy="246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398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16991-C987-84B1-932B-6D4C66318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 of VCS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E0836-F548-4721-D2FF-393686C79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Centralized VCS (CVCS)</a:t>
            </a:r>
            <a:endParaRPr lang="en-US" dirty="0"/>
          </a:p>
          <a:p>
            <a:r>
              <a:rPr lang="en-US" dirty="0"/>
              <a:t>One central server stores all versions</a:t>
            </a:r>
          </a:p>
          <a:p>
            <a:r>
              <a:rPr lang="en-US" dirty="0"/>
              <a:t>Developers connect to this server to push/pull code</a:t>
            </a:r>
          </a:p>
          <a:p>
            <a:r>
              <a:rPr lang="en-US" dirty="0"/>
              <a:t>Examples: CVS, Subversion (SVN)</a:t>
            </a:r>
          </a:p>
          <a:p>
            <a:r>
              <a:rPr lang="en-US" b="1" dirty="0"/>
              <a:t>Pros of CVCS:</a:t>
            </a:r>
            <a:endParaRPr lang="en-US" dirty="0"/>
          </a:p>
          <a:p>
            <a:r>
              <a:rPr lang="en-US" dirty="0"/>
              <a:t>Easy collaboration and tracking of developer activities.</a:t>
            </a:r>
          </a:p>
          <a:p>
            <a:r>
              <a:rPr lang="en-US" dirty="0"/>
              <a:t>Fine-grained administrative control over user access.</a:t>
            </a:r>
          </a:p>
          <a:p>
            <a:r>
              <a:rPr lang="en-US" b="1" dirty="0"/>
              <a:t>Cons of CVCS:</a:t>
            </a:r>
            <a:endParaRPr lang="en-US" dirty="0"/>
          </a:p>
          <a:p>
            <a:r>
              <a:rPr lang="en-US" dirty="0"/>
              <a:t>Single point of failure – if the central server is down, work halts.</a:t>
            </a:r>
          </a:p>
          <a:p>
            <a:r>
              <a:rPr lang="en-US" dirty="0"/>
              <a:t>Dependency on network connection for most operations.</a:t>
            </a:r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21882A-979D-1E9F-A635-7930ACED8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7822" y="2084832"/>
            <a:ext cx="4938711" cy="247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288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34962-DFC3-5C15-7022-D81A075C5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FF05A-2C4E-D5C8-62DF-3BE3DC8C8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 of VCS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BD970-5AF2-ADD7-3CFD-4BDC656B5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Distributed VCS (DVCS)</a:t>
            </a:r>
            <a:endParaRPr lang="en-US" dirty="0"/>
          </a:p>
          <a:p>
            <a:r>
              <a:rPr lang="en-US" dirty="0"/>
              <a:t>Every developer has a complete copy of the repository</a:t>
            </a:r>
          </a:p>
          <a:p>
            <a:r>
              <a:rPr lang="en-US" dirty="0"/>
              <a:t>Can work offline, changes are merged later</a:t>
            </a:r>
          </a:p>
          <a:p>
            <a:r>
              <a:rPr lang="en-US" dirty="0"/>
              <a:t>Example: Git, Mercurial</a:t>
            </a:r>
          </a:p>
          <a:p>
            <a:r>
              <a:rPr lang="en-US" b="1" dirty="0"/>
              <a:t>Advantages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Work offline, commit locally</a:t>
            </a:r>
          </a:p>
          <a:p>
            <a:pPr lvl="1"/>
            <a:r>
              <a:rPr lang="en-US" dirty="0"/>
              <a:t>No single point of failure</a:t>
            </a:r>
          </a:p>
          <a:p>
            <a:pPr lvl="1"/>
            <a:r>
              <a:rPr lang="en-US" dirty="0"/>
              <a:t>Faster operations and better branching</a:t>
            </a:r>
          </a:p>
          <a:p>
            <a:r>
              <a:rPr lang="en-US" b="1" dirty="0"/>
              <a:t>Disadvantages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More complex to learn</a:t>
            </a:r>
          </a:p>
          <a:p>
            <a:pPr lvl="1"/>
            <a:r>
              <a:rPr lang="en-US" dirty="0"/>
              <a:t>Larger storage requirements (multiple copies)</a:t>
            </a:r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ECAFEB-4952-3A5B-18B7-CFFA0E4D0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439" y="3149599"/>
            <a:ext cx="5258814" cy="2582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511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385054C-BB00-BA96-8C49-304B9BF1AE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29464" y="1569156"/>
            <a:ext cx="10666947" cy="467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0558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80AE6-FA91-D2EF-B2E2-D4D612948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Git</a:t>
            </a:r>
            <a:br>
              <a:rPr lang="en-US" b="1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E2DE6-FFA5-448A-1FA8-FACB1FAFF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>
                <a:hlinkClick r:id="rId2"/>
              </a:rPr>
              <a:t>Git </a:t>
            </a:r>
            <a:r>
              <a:rPr lang="en-US" dirty="0"/>
              <a:t>is the most widely used Distributed Version Control System, developed by Linus Torvalds in 2005 for managing the Linux kernel. It is highly efficient, supports branching and merging, and has a fast, decentralized workflow. Git is the backbone of services like GitHub, GitLab and Bitbucket, making it a popular choice for developers worldwide.</a:t>
            </a:r>
          </a:p>
          <a:p>
            <a:pPr fontAlgn="base"/>
            <a:r>
              <a:rPr lang="en-US" b="1" dirty="0"/>
              <a:t>Key Features of Git</a:t>
            </a:r>
          </a:p>
          <a:p>
            <a:pPr fontAlgn="base"/>
            <a:r>
              <a:rPr lang="en-US" dirty="0"/>
              <a:t>Lightweight, fast and efficient.</a:t>
            </a:r>
          </a:p>
          <a:p>
            <a:pPr fontAlgn="base"/>
            <a:r>
              <a:rPr lang="en-US" dirty="0"/>
              <a:t>Branching and merging are simple and non-destructive.</a:t>
            </a:r>
          </a:p>
          <a:p>
            <a:pPr fontAlgn="base"/>
            <a:r>
              <a:rPr lang="en-US" dirty="0"/>
              <a:t>Provides powerful commands like git clone, git pull and git push.</a:t>
            </a:r>
          </a:p>
          <a:p>
            <a:endParaRPr lang="en-PK" dirty="0"/>
          </a:p>
        </p:txBody>
      </p:sp>
      <p:pic>
        <p:nvPicPr>
          <p:cNvPr id="3074" name="Picture 2" descr="Two critical flaws discovered in Git system">
            <a:extLst>
              <a:ext uri="{FF2B5EF4-FFF2-40B4-BE49-F238E27FC236}">
                <a16:creationId xmlns:a16="http://schemas.microsoft.com/office/drawing/2014/main" id="{3EB47B4D-94E3-02A3-1A9D-E5E37CE72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734" b="89941" l="9732" r="89933">
                        <a14:foregroundMark x1="43960" y1="7101" x2="47987" y2="10651"/>
                        <a14:foregroundMark x1="46980" y1="4734" x2="45302" y2="9467"/>
                        <a14:foregroundMark x1="46309" y1="5325" x2="47651" y2="5917"/>
                        <a14:foregroundMark x1="48322" y1="31953" x2="48322" y2="319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8696" y="585216"/>
            <a:ext cx="2111008" cy="1197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1730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97779-658B-FCAF-A475-9077642CD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</a:t>
            </a:r>
            <a:r>
              <a:rPr lang="en-US" b="1" dirty="0" err="1"/>
              <a:t>Github</a:t>
            </a:r>
            <a:br>
              <a:rPr lang="en-US" b="1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9DF31-11E4-0178-FB2E-B2BDB6C96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GitHub is a web-based platform that uses Git, a version control system, to help developers manage and track changes in their code.</a:t>
            </a:r>
          </a:p>
          <a:p>
            <a:pPr fontAlgn="base"/>
            <a:r>
              <a:rPr lang="en-US" dirty="0"/>
              <a:t>It allows multiple people to collaborate on a project, track revisions, and contribute to code from anywhere in the world.</a:t>
            </a:r>
          </a:p>
          <a:p>
            <a:pPr fontAlgn="base"/>
            <a:r>
              <a:rPr lang="en-US" dirty="0"/>
              <a:t>GitHub offers both free and paid plans, catering to individuals and large organizations alike.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752655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27D11-8B7D-37EA-63C6-E8C12682F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vs GitHub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81DA7-4C9A-D0C3-D6DD-3E823161E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Git</a:t>
            </a:r>
            <a:endParaRPr lang="en-US" dirty="0"/>
          </a:p>
          <a:p>
            <a:r>
              <a:rPr lang="en-US" dirty="0"/>
              <a:t>Open-source Distributed VCS</a:t>
            </a:r>
          </a:p>
          <a:p>
            <a:r>
              <a:rPr lang="en-US" dirty="0"/>
              <a:t>Manages project history locally</a:t>
            </a:r>
          </a:p>
          <a:p>
            <a:r>
              <a:rPr lang="en-US" dirty="0"/>
              <a:t>Commands for branching, merging, and version tracking</a:t>
            </a:r>
          </a:p>
          <a:p>
            <a:r>
              <a:rPr lang="en-US" dirty="0"/>
              <a:t>Works offline</a:t>
            </a:r>
          </a:p>
          <a:p>
            <a:r>
              <a:rPr lang="en-US" b="1" dirty="0"/>
              <a:t>GitHub</a:t>
            </a:r>
            <a:endParaRPr lang="en-US" dirty="0"/>
          </a:p>
          <a:p>
            <a:r>
              <a:rPr lang="en-US" dirty="0"/>
              <a:t>Cloud-based platform built on top of Git</a:t>
            </a:r>
          </a:p>
          <a:p>
            <a:r>
              <a:rPr lang="en-US" dirty="0"/>
              <a:t>Provides hosting for Git repositories</a:t>
            </a:r>
          </a:p>
          <a:p>
            <a:r>
              <a:rPr lang="en-US" dirty="0"/>
              <a:t>Adds collaboration features like Issues, Pull Requests, Wiki</a:t>
            </a:r>
          </a:p>
          <a:p>
            <a:r>
              <a:rPr lang="en-US" dirty="0"/>
              <a:t>Web-based with integrations (CI/CD, project boards)</a:t>
            </a:r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EB40E0-F719-7029-F144-241823CB9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043" y="548639"/>
            <a:ext cx="3380846" cy="1684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630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F7DA5-8323-12EA-636C-C7CBD84C0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Developers Rely on Git &amp; GitHub</a:t>
            </a:r>
            <a:endParaRPr lang="en-PK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1A56077-9260-FDCB-C337-72465F1590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38616" y="2584137"/>
            <a:ext cx="709258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Git</a:t>
            </a: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is industry standard for version control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GitHub</a:t>
            </a: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simplifies collaboration for teams working globally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Enables code review, bug tracking, and automated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Large open-source community → sharing and contribution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Git + GitHub together = speed + collaboration + reliability</a:t>
            </a:r>
            <a:endParaRPr kumimoji="0" lang="en-PK" altLang="en-PK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07748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60361-EDF7-3A46-2E23-FA371ED4F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GitHub Key Features</a:t>
            </a:r>
            <a:br>
              <a:rPr lang="en-US" b="1" dirty="0"/>
            </a:br>
            <a:endParaRPr lang="en-PK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742F28E-7D78-EAA1-5F97-2D2CEE9B21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Repositories</a:t>
            </a: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storage with code, documentation, and history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Issues</a:t>
            </a: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 bugs, tasks, improvements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Assign labels and milestones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Pull Requests (PRs)</a:t>
            </a: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 changes to repository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 members review and discuss before merging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Actions (CI/CD)</a:t>
            </a: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 builds, tests, and deployments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Collaboration Tools</a:t>
            </a: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Teams, contributors, access control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boards (like Trello style)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6309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17</TotalTime>
  <Words>562</Words>
  <Application>Microsoft Office PowerPoint</Application>
  <PresentationFormat>Widescreen</PresentationFormat>
  <Paragraphs>79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Tw Cen MT</vt:lpstr>
      <vt:lpstr>Tw Cen MT Condensed</vt:lpstr>
      <vt:lpstr>Wingdings 3</vt:lpstr>
      <vt:lpstr>Integral</vt:lpstr>
      <vt:lpstr>Evolution of Version Control Systems (VCS)</vt:lpstr>
      <vt:lpstr>PowerPoint Presentation</vt:lpstr>
      <vt:lpstr>What is Version Control System?</vt:lpstr>
      <vt:lpstr>Evolution of VCS</vt:lpstr>
      <vt:lpstr>Evolution of VCS</vt:lpstr>
      <vt:lpstr>Evolution of VCS</vt:lpstr>
      <vt:lpstr>PowerPoint Presentation</vt:lpstr>
      <vt:lpstr> Git </vt:lpstr>
      <vt:lpstr>Introduction to Github </vt:lpstr>
      <vt:lpstr>Git vs GitHub</vt:lpstr>
      <vt:lpstr>Why Developers Rely on Git &amp; GitHub</vt:lpstr>
      <vt:lpstr>GitHub Key Features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</dc:creator>
  <cp:lastModifiedBy>test</cp:lastModifiedBy>
  <cp:revision>1</cp:revision>
  <dcterms:created xsi:type="dcterms:W3CDTF">2025-10-04T06:35:52Z</dcterms:created>
  <dcterms:modified xsi:type="dcterms:W3CDTF">2025-10-04T06:53:05Z</dcterms:modified>
</cp:coreProperties>
</file>