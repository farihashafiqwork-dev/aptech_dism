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72" r:id="rId5"/>
    <p:sldId id="271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629398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2038223" y="0"/>
                </a:moveTo>
                <a:lnTo>
                  <a:pt x="0" y="228258"/>
                </a:lnTo>
                <a:lnTo>
                  <a:pt x="0" y="228599"/>
                </a:lnTo>
                <a:lnTo>
                  <a:pt x="9144000" y="228599"/>
                </a:lnTo>
                <a:lnTo>
                  <a:pt x="9144000" y="114"/>
                </a:lnTo>
                <a:lnTo>
                  <a:pt x="2038223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48711"/>
            <a:ext cx="3572510" cy="4209415"/>
          </a:xfrm>
          <a:custGeom>
            <a:avLst/>
            <a:gdLst/>
            <a:ahLst/>
            <a:cxnLst/>
            <a:rect l="l" t="t" r="r" b="b"/>
            <a:pathLst>
              <a:path w="3572510" h="4209415">
                <a:moveTo>
                  <a:pt x="0" y="-1"/>
                </a:moveTo>
                <a:lnTo>
                  <a:pt x="0" y="4209286"/>
                </a:lnTo>
                <a:lnTo>
                  <a:pt x="3572255" y="4209286"/>
                </a:lnTo>
                <a:lnTo>
                  <a:pt x="0" y="-1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19900"/>
          </a:xfrm>
          <a:custGeom>
            <a:avLst/>
            <a:gdLst/>
            <a:ahLst/>
            <a:cxnLst/>
            <a:rect l="l" t="t" r="r" b="b"/>
            <a:pathLst>
              <a:path w="9144000" h="6819900">
                <a:moveTo>
                  <a:pt x="9144000" y="0"/>
                </a:moveTo>
                <a:lnTo>
                  <a:pt x="7690992" y="0"/>
                </a:lnTo>
                <a:lnTo>
                  <a:pt x="0" y="6817197"/>
                </a:lnTo>
                <a:lnTo>
                  <a:pt x="0" y="6819898"/>
                </a:lnTo>
                <a:lnTo>
                  <a:pt x="9144000" y="6819898"/>
                </a:lnTo>
                <a:lnTo>
                  <a:pt x="9144000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492" y="1023111"/>
            <a:ext cx="5308346" cy="42890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629398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2038223" y="0"/>
                </a:moveTo>
                <a:lnTo>
                  <a:pt x="0" y="228258"/>
                </a:lnTo>
                <a:lnTo>
                  <a:pt x="0" y="228599"/>
                </a:lnTo>
                <a:lnTo>
                  <a:pt x="9144000" y="228599"/>
                </a:lnTo>
                <a:lnTo>
                  <a:pt x="9144000" y="114"/>
                </a:lnTo>
                <a:lnTo>
                  <a:pt x="2038223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4453" y="395986"/>
            <a:ext cx="1895093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9280" y="2491613"/>
            <a:ext cx="8114030" cy="2907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1729" y="6660180"/>
            <a:ext cx="1900554" cy="168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pc="-10" dirty="0"/>
              <a:t>V  </a:t>
            </a:r>
            <a:r>
              <a:rPr spc="-100" dirty="0"/>
              <a:t> </a:t>
            </a:r>
            <a:r>
              <a:rPr spc="-5" dirty="0"/>
              <a:t>1</a:t>
            </a:r>
            <a:r>
              <a:rPr spc="-45" dirty="0"/>
              <a:t> </a:t>
            </a:r>
            <a:r>
              <a:rPr spc="5" dirty="0"/>
              <a:t>.</a:t>
            </a:r>
            <a:r>
              <a:rPr spc="-45" dirty="0"/>
              <a:t> </a:t>
            </a:r>
            <a:r>
              <a:rPr spc="-5" dirty="0"/>
              <a:t>0</a:t>
            </a:r>
            <a:r>
              <a:rPr dirty="0"/>
              <a:t>  </a:t>
            </a:r>
            <a:r>
              <a:rPr spc="-114" dirty="0"/>
              <a:t> </a:t>
            </a:r>
            <a:r>
              <a:rPr spc="-5" dirty="0"/>
              <a:t>©</a:t>
            </a:r>
            <a:r>
              <a:rPr dirty="0"/>
              <a:t>  </a:t>
            </a:r>
            <a:r>
              <a:rPr spc="-95" dirty="0"/>
              <a:t> </a:t>
            </a:r>
            <a:r>
              <a:rPr spc="-70" dirty="0"/>
              <a:t>A</a:t>
            </a:r>
            <a:r>
              <a:rPr spc="-55" dirty="0"/>
              <a:t> </a:t>
            </a:r>
            <a:r>
              <a:rPr spc="-45" dirty="0"/>
              <a:t>P</a:t>
            </a:r>
            <a:r>
              <a:rPr spc="-5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5" dirty="0"/>
              <a:t>C</a:t>
            </a:r>
            <a:r>
              <a:rPr spc="-50" dirty="0"/>
              <a:t> </a:t>
            </a:r>
            <a:r>
              <a:rPr spc="-5" dirty="0"/>
              <a:t>H</a:t>
            </a:r>
            <a:r>
              <a:rPr dirty="0"/>
              <a:t>  </a:t>
            </a:r>
            <a:r>
              <a:rPr spc="-85" dirty="0"/>
              <a:t> </a:t>
            </a:r>
            <a:r>
              <a:rPr spc="-15" dirty="0"/>
              <a:t>L</a:t>
            </a:r>
            <a:r>
              <a:rPr spc="-45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spc="5" dirty="0"/>
              <a:t>M</a:t>
            </a:r>
            <a:r>
              <a:rPr spc="-50" dirty="0"/>
              <a:t> </a:t>
            </a:r>
            <a:r>
              <a:rPr spc="-20" dirty="0"/>
              <a:t>I</a:t>
            </a:r>
            <a:r>
              <a:rPr spc="-45" dirty="0"/>
              <a:t> </a:t>
            </a:r>
            <a:r>
              <a:rPr dirty="0"/>
              <a:t>T</a:t>
            </a:r>
            <a:r>
              <a:rPr spc="-55" dirty="0"/>
              <a:t> </a:t>
            </a:r>
            <a:r>
              <a:rPr spc="5" dirty="0"/>
              <a:t>E</a:t>
            </a:r>
            <a:r>
              <a:rPr spc="-55" dirty="0"/>
              <a:t> </a:t>
            </a:r>
            <a:r>
              <a:rPr spc="-1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31884" y="6601646"/>
            <a:ext cx="323215" cy="264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541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VERSION</a:t>
            </a:r>
            <a:r>
              <a:rPr spc="-25" dirty="0"/>
              <a:t> </a:t>
            </a:r>
            <a:r>
              <a:rPr spc="-10" dirty="0"/>
              <a:t>CONTROL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93008" y="3264408"/>
            <a:ext cx="2540635" cy="1245235"/>
            <a:chOff x="3493008" y="3264408"/>
            <a:chExt cx="2540635" cy="1245235"/>
          </a:xfrm>
        </p:grpSpPr>
        <p:sp>
          <p:nvSpPr>
            <p:cNvPr id="4" name="object 4"/>
            <p:cNvSpPr/>
            <p:nvPr/>
          </p:nvSpPr>
          <p:spPr>
            <a:xfrm>
              <a:off x="3505962" y="3277362"/>
              <a:ext cx="2514600" cy="1219200"/>
            </a:xfrm>
            <a:custGeom>
              <a:avLst/>
              <a:gdLst/>
              <a:ahLst/>
              <a:cxnLst/>
              <a:rect l="l" t="t" r="r" b="b"/>
              <a:pathLst>
                <a:path w="2514600" h="1219200">
                  <a:moveTo>
                    <a:pt x="2392680" y="0"/>
                  </a:moveTo>
                  <a:lnTo>
                    <a:pt x="121920" y="0"/>
                  </a:lnTo>
                  <a:lnTo>
                    <a:pt x="74473" y="9584"/>
                  </a:lnTo>
                  <a:lnTo>
                    <a:pt x="35718" y="35718"/>
                  </a:lnTo>
                  <a:lnTo>
                    <a:pt x="9584" y="74473"/>
                  </a:lnTo>
                  <a:lnTo>
                    <a:pt x="0" y="121920"/>
                  </a:lnTo>
                  <a:lnTo>
                    <a:pt x="0" y="1097280"/>
                  </a:lnTo>
                  <a:lnTo>
                    <a:pt x="9584" y="1144726"/>
                  </a:lnTo>
                  <a:lnTo>
                    <a:pt x="35718" y="1183481"/>
                  </a:lnTo>
                  <a:lnTo>
                    <a:pt x="74473" y="1209615"/>
                  </a:lnTo>
                  <a:lnTo>
                    <a:pt x="121920" y="1219200"/>
                  </a:lnTo>
                  <a:lnTo>
                    <a:pt x="2392680" y="1219200"/>
                  </a:lnTo>
                  <a:lnTo>
                    <a:pt x="2440126" y="1209615"/>
                  </a:lnTo>
                  <a:lnTo>
                    <a:pt x="2478881" y="1183481"/>
                  </a:lnTo>
                  <a:lnTo>
                    <a:pt x="2505015" y="1144726"/>
                  </a:lnTo>
                  <a:lnTo>
                    <a:pt x="2514600" y="1097280"/>
                  </a:lnTo>
                  <a:lnTo>
                    <a:pt x="2514600" y="121920"/>
                  </a:lnTo>
                  <a:lnTo>
                    <a:pt x="2505015" y="74473"/>
                  </a:lnTo>
                  <a:lnTo>
                    <a:pt x="2478881" y="35718"/>
                  </a:lnTo>
                  <a:lnTo>
                    <a:pt x="2440126" y="9584"/>
                  </a:lnTo>
                  <a:lnTo>
                    <a:pt x="239268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05962" y="3277362"/>
              <a:ext cx="2514600" cy="1219200"/>
            </a:xfrm>
            <a:custGeom>
              <a:avLst/>
              <a:gdLst/>
              <a:ahLst/>
              <a:cxnLst/>
              <a:rect l="l" t="t" r="r" b="b"/>
              <a:pathLst>
                <a:path w="2514600" h="1219200">
                  <a:moveTo>
                    <a:pt x="0" y="121920"/>
                  </a:moveTo>
                  <a:lnTo>
                    <a:pt x="9584" y="74473"/>
                  </a:lnTo>
                  <a:lnTo>
                    <a:pt x="35718" y="35718"/>
                  </a:lnTo>
                  <a:lnTo>
                    <a:pt x="74473" y="9584"/>
                  </a:lnTo>
                  <a:lnTo>
                    <a:pt x="121920" y="0"/>
                  </a:lnTo>
                  <a:lnTo>
                    <a:pt x="2392680" y="0"/>
                  </a:lnTo>
                  <a:lnTo>
                    <a:pt x="2440126" y="9584"/>
                  </a:lnTo>
                  <a:lnTo>
                    <a:pt x="2478881" y="35718"/>
                  </a:lnTo>
                  <a:lnTo>
                    <a:pt x="2505015" y="74473"/>
                  </a:lnTo>
                  <a:lnTo>
                    <a:pt x="2514600" y="121920"/>
                  </a:lnTo>
                  <a:lnTo>
                    <a:pt x="2514600" y="1097280"/>
                  </a:lnTo>
                  <a:lnTo>
                    <a:pt x="2505015" y="1144726"/>
                  </a:lnTo>
                  <a:lnTo>
                    <a:pt x="2478881" y="1183481"/>
                  </a:lnTo>
                  <a:lnTo>
                    <a:pt x="2440126" y="1209615"/>
                  </a:lnTo>
                  <a:lnTo>
                    <a:pt x="2392680" y="1219200"/>
                  </a:lnTo>
                  <a:lnTo>
                    <a:pt x="121920" y="1219200"/>
                  </a:lnTo>
                  <a:lnTo>
                    <a:pt x="74473" y="1209615"/>
                  </a:lnTo>
                  <a:lnTo>
                    <a:pt x="35718" y="1183481"/>
                  </a:lnTo>
                  <a:lnTo>
                    <a:pt x="9584" y="1144726"/>
                  </a:lnTo>
                  <a:lnTo>
                    <a:pt x="0" y="1097280"/>
                  </a:lnTo>
                  <a:lnTo>
                    <a:pt x="0" y="1219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93565" y="3621404"/>
            <a:ext cx="1739264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522605" marR="5080" indent="-510540">
              <a:lnSpc>
                <a:spcPts val="1730"/>
              </a:lnSpc>
              <a:spcBef>
                <a:spcPts val="310"/>
              </a:spcBef>
            </a:pPr>
            <a:r>
              <a:rPr sz="1600" b="1" spc="-10" dirty="0">
                <a:solidFill>
                  <a:srgbClr val="FFFFFF"/>
                </a:solidFill>
                <a:latin typeface="Comic Sans MS"/>
                <a:cs typeface="Comic Sans MS"/>
              </a:rPr>
              <a:t>Need </a:t>
            </a: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for Version </a:t>
            </a:r>
            <a:r>
              <a:rPr sz="1600" b="1" spc="-68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Control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93008" y="1435608"/>
            <a:ext cx="2540635" cy="1245235"/>
            <a:chOff x="3493008" y="1435608"/>
            <a:chExt cx="2540635" cy="1245235"/>
          </a:xfrm>
        </p:grpSpPr>
        <p:sp>
          <p:nvSpPr>
            <p:cNvPr id="8" name="object 8"/>
            <p:cNvSpPr/>
            <p:nvPr/>
          </p:nvSpPr>
          <p:spPr>
            <a:xfrm>
              <a:off x="3505962" y="1448562"/>
              <a:ext cx="2514600" cy="1219200"/>
            </a:xfrm>
            <a:custGeom>
              <a:avLst/>
              <a:gdLst/>
              <a:ahLst/>
              <a:cxnLst/>
              <a:rect l="l" t="t" r="r" b="b"/>
              <a:pathLst>
                <a:path w="2514600" h="1219200">
                  <a:moveTo>
                    <a:pt x="2392680" y="0"/>
                  </a:moveTo>
                  <a:lnTo>
                    <a:pt x="121920" y="0"/>
                  </a:lnTo>
                  <a:lnTo>
                    <a:pt x="74473" y="9584"/>
                  </a:lnTo>
                  <a:lnTo>
                    <a:pt x="35718" y="35718"/>
                  </a:lnTo>
                  <a:lnTo>
                    <a:pt x="9584" y="74473"/>
                  </a:lnTo>
                  <a:lnTo>
                    <a:pt x="0" y="121920"/>
                  </a:lnTo>
                  <a:lnTo>
                    <a:pt x="0" y="1097280"/>
                  </a:lnTo>
                  <a:lnTo>
                    <a:pt x="9584" y="1144726"/>
                  </a:lnTo>
                  <a:lnTo>
                    <a:pt x="35718" y="1183481"/>
                  </a:lnTo>
                  <a:lnTo>
                    <a:pt x="74473" y="1209615"/>
                  </a:lnTo>
                  <a:lnTo>
                    <a:pt x="121920" y="1219200"/>
                  </a:lnTo>
                  <a:lnTo>
                    <a:pt x="2392680" y="1219200"/>
                  </a:lnTo>
                  <a:lnTo>
                    <a:pt x="2440126" y="1209615"/>
                  </a:lnTo>
                  <a:lnTo>
                    <a:pt x="2478881" y="1183481"/>
                  </a:lnTo>
                  <a:lnTo>
                    <a:pt x="2505015" y="1144726"/>
                  </a:lnTo>
                  <a:lnTo>
                    <a:pt x="2514600" y="1097280"/>
                  </a:lnTo>
                  <a:lnTo>
                    <a:pt x="2514600" y="121920"/>
                  </a:lnTo>
                  <a:lnTo>
                    <a:pt x="2505015" y="74473"/>
                  </a:lnTo>
                  <a:lnTo>
                    <a:pt x="2478881" y="35718"/>
                  </a:lnTo>
                  <a:lnTo>
                    <a:pt x="2440126" y="9584"/>
                  </a:lnTo>
                  <a:lnTo>
                    <a:pt x="239268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05962" y="1448562"/>
              <a:ext cx="2514600" cy="1219200"/>
            </a:xfrm>
            <a:custGeom>
              <a:avLst/>
              <a:gdLst/>
              <a:ahLst/>
              <a:cxnLst/>
              <a:rect l="l" t="t" r="r" b="b"/>
              <a:pathLst>
                <a:path w="2514600" h="1219200">
                  <a:moveTo>
                    <a:pt x="0" y="121920"/>
                  </a:moveTo>
                  <a:lnTo>
                    <a:pt x="9584" y="74473"/>
                  </a:lnTo>
                  <a:lnTo>
                    <a:pt x="35718" y="35718"/>
                  </a:lnTo>
                  <a:lnTo>
                    <a:pt x="74473" y="9584"/>
                  </a:lnTo>
                  <a:lnTo>
                    <a:pt x="121920" y="0"/>
                  </a:lnTo>
                  <a:lnTo>
                    <a:pt x="2392680" y="0"/>
                  </a:lnTo>
                  <a:lnTo>
                    <a:pt x="2440126" y="9584"/>
                  </a:lnTo>
                  <a:lnTo>
                    <a:pt x="2478881" y="35718"/>
                  </a:lnTo>
                  <a:lnTo>
                    <a:pt x="2505015" y="74473"/>
                  </a:lnTo>
                  <a:lnTo>
                    <a:pt x="2514600" y="121920"/>
                  </a:lnTo>
                  <a:lnTo>
                    <a:pt x="2514600" y="1097280"/>
                  </a:lnTo>
                  <a:lnTo>
                    <a:pt x="2505015" y="1144726"/>
                  </a:lnTo>
                  <a:lnTo>
                    <a:pt x="2478881" y="1183481"/>
                  </a:lnTo>
                  <a:lnTo>
                    <a:pt x="2440126" y="1209615"/>
                  </a:lnTo>
                  <a:lnTo>
                    <a:pt x="2392680" y="1219200"/>
                  </a:lnTo>
                  <a:lnTo>
                    <a:pt x="121920" y="1219200"/>
                  </a:lnTo>
                  <a:lnTo>
                    <a:pt x="74473" y="1209615"/>
                  </a:lnTo>
                  <a:lnTo>
                    <a:pt x="35718" y="1183481"/>
                  </a:lnTo>
                  <a:lnTo>
                    <a:pt x="9584" y="1144726"/>
                  </a:lnTo>
                  <a:lnTo>
                    <a:pt x="0" y="1097280"/>
                  </a:lnTo>
                  <a:lnTo>
                    <a:pt x="0" y="12192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23461" y="1682623"/>
            <a:ext cx="1877695" cy="708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065" marR="5080" indent="1905" algn="ctr">
              <a:lnSpc>
                <a:spcPts val="1730"/>
              </a:lnSpc>
              <a:spcBef>
                <a:spcPts val="310"/>
              </a:spcBef>
            </a:pP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What is Version </a:t>
            </a:r>
            <a:r>
              <a:rPr sz="1600" b="1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Control and </a:t>
            </a:r>
            <a:r>
              <a:rPr sz="1600" b="1" spc="-10" dirty="0">
                <a:solidFill>
                  <a:srgbClr val="FFFFFF"/>
                </a:solidFill>
                <a:latin typeface="Comic Sans MS"/>
                <a:cs typeface="Comic Sans MS"/>
              </a:rPr>
              <a:t>How it </a:t>
            </a:r>
            <a:r>
              <a:rPr sz="1600" b="1" spc="-68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omic Sans MS"/>
                <a:cs typeface="Comic Sans MS"/>
              </a:rPr>
              <a:t>works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93008" y="5017008"/>
            <a:ext cx="2540635" cy="1245235"/>
            <a:chOff x="3493008" y="5017008"/>
            <a:chExt cx="2540635" cy="1245235"/>
          </a:xfrm>
        </p:grpSpPr>
        <p:sp>
          <p:nvSpPr>
            <p:cNvPr id="12" name="object 12"/>
            <p:cNvSpPr/>
            <p:nvPr/>
          </p:nvSpPr>
          <p:spPr>
            <a:xfrm>
              <a:off x="3505962" y="5029962"/>
              <a:ext cx="2514600" cy="1219200"/>
            </a:xfrm>
            <a:custGeom>
              <a:avLst/>
              <a:gdLst/>
              <a:ahLst/>
              <a:cxnLst/>
              <a:rect l="l" t="t" r="r" b="b"/>
              <a:pathLst>
                <a:path w="2514600" h="1219200">
                  <a:moveTo>
                    <a:pt x="2392680" y="0"/>
                  </a:moveTo>
                  <a:lnTo>
                    <a:pt x="121920" y="0"/>
                  </a:lnTo>
                  <a:lnTo>
                    <a:pt x="74473" y="9584"/>
                  </a:lnTo>
                  <a:lnTo>
                    <a:pt x="35718" y="35718"/>
                  </a:lnTo>
                  <a:lnTo>
                    <a:pt x="9584" y="74473"/>
                  </a:lnTo>
                  <a:lnTo>
                    <a:pt x="0" y="121919"/>
                  </a:lnTo>
                  <a:lnTo>
                    <a:pt x="0" y="1097280"/>
                  </a:lnTo>
                  <a:lnTo>
                    <a:pt x="9584" y="1144737"/>
                  </a:lnTo>
                  <a:lnTo>
                    <a:pt x="35718" y="1183490"/>
                  </a:lnTo>
                  <a:lnTo>
                    <a:pt x="74473" y="1209619"/>
                  </a:lnTo>
                  <a:lnTo>
                    <a:pt x="121920" y="1219200"/>
                  </a:lnTo>
                  <a:lnTo>
                    <a:pt x="2392680" y="1219200"/>
                  </a:lnTo>
                  <a:lnTo>
                    <a:pt x="2440126" y="1209619"/>
                  </a:lnTo>
                  <a:lnTo>
                    <a:pt x="2478881" y="1183490"/>
                  </a:lnTo>
                  <a:lnTo>
                    <a:pt x="2505015" y="1144737"/>
                  </a:lnTo>
                  <a:lnTo>
                    <a:pt x="2514600" y="1097280"/>
                  </a:lnTo>
                  <a:lnTo>
                    <a:pt x="2514600" y="121919"/>
                  </a:lnTo>
                  <a:lnTo>
                    <a:pt x="2505015" y="74473"/>
                  </a:lnTo>
                  <a:lnTo>
                    <a:pt x="2478881" y="35718"/>
                  </a:lnTo>
                  <a:lnTo>
                    <a:pt x="2440126" y="9584"/>
                  </a:lnTo>
                  <a:lnTo>
                    <a:pt x="2392680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05962" y="5029962"/>
              <a:ext cx="2514600" cy="1219200"/>
            </a:xfrm>
            <a:custGeom>
              <a:avLst/>
              <a:gdLst/>
              <a:ahLst/>
              <a:cxnLst/>
              <a:rect l="l" t="t" r="r" b="b"/>
              <a:pathLst>
                <a:path w="2514600" h="1219200">
                  <a:moveTo>
                    <a:pt x="0" y="121919"/>
                  </a:moveTo>
                  <a:lnTo>
                    <a:pt x="9584" y="74473"/>
                  </a:lnTo>
                  <a:lnTo>
                    <a:pt x="35718" y="35718"/>
                  </a:lnTo>
                  <a:lnTo>
                    <a:pt x="74473" y="9584"/>
                  </a:lnTo>
                  <a:lnTo>
                    <a:pt x="121920" y="0"/>
                  </a:lnTo>
                  <a:lnTo>
                    <a:pt x="2392680" y="0"/>
                  </a:lnTo>
                  <a:lnTo>
                    <a:pt x="2440126" y="9584"/>
                  </a:lnTo>
                  <a:lnTo>
                    <a:pt x="2478881" y="35718"/>
                  </a:lnTo>
                  <a:lnTo>
                    <a:pt x="2505015" y="74473"/>
                  </a:lnTo>
                  <a:lnTo>
                    <a:pt x="2514600" y="121919"/>
                  </a:lnTo>
                  <a:lnTo>
                    <a:pt x="2514600" y="1097280"/>
                  </a:lnTo>
                  <a:lnTo>
                    <a:pt x="2505015" y="1144737"/>
                  </a:lnTo>
                  <a:lnTo>
                    <a:pt x="2478881" y="1183490"/>
                  </a:lnTo>
                  <a:lnTo>
                    <a:pt x="2440126" y="1209619"/>
                  </a:lnTo>
                  <a:lnTo>
                    <a:pt x="2392680" y="1219200"/>
                  </a:lnTo>
                  <a:lnTo>
                    <a:pt x="121920" y="1219200"/>
                  </a:lnTo>
                  <a:lnTo>
                    <a:pt x="74473" y="1209619"/>
                  </a:lnTo>
                  <a:lnTo>
                    <a:pt x="35718" y="1183490"/>
                  </a:lnTo>
                  <a:lnTo>
                    <a:pt x="9584" y="1144737"/>
                  </a:lnTo>
                  <a:lnTo>
                    <a:pt x="0" y="1097280"/>
                  </a:lnTo>
                  <a:lnTo>
                    <a:pt x="0" y="121919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576573" y="5483758"/>
            <a:ext cx="23736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Uses</a:t>
            </a:r>
            <a:r>
              <a:rPr sz="1600" b="1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r>
              <a:rPr sz="1600" b="1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Version</a:t>
            </a:r>
            <a:r>
              <a:rPr sz="1600" b="1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600" b="1" spc="-5" dirty="0">
                <a:solidFill>
                  <a:srgbClr val="FFFFFF"/>
                </a:solidFill>
                <a:latin typeface="Comic Sans MS"/>
                <a:cs typeface="Comic Sans MS"/>
              </a:rPr>
              <a:t>Control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055" y="1098245"/>
            <a:ext cx="692086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dirty="0">
                <a:latin typeface="Comic Sans MS"/>
                <a:cs typeface="Comic Sans MS"/>
              </a:rPr>
              <a:t>GIT </a:t>
            </a:r>
            <a:r>
              <a:rPr sz="2400" spc="-5" dirty="0">
                <a:latin typeface="Comic Sans MS"/>
                <a:cs typeface="Comic Sans MS"/>
              </a:rPr>
              <a:t>is </a:t>
            </a:r>
            <a:r>
              <a:rPr sz="2400" dirty="0">
                <a:latin typeface="Comic Sans MS"/>
                <a:cs typeface="Comic Sans MS"/>
              </a:rPr>
              <a:t>globally a </a:t>
            </a:r>
            <a:r>
              <a:rPr sz="2400" spc="-5" dirty="0">
                <a:latin typeface="Comic Sans MS"/>
                <a:cs typeface="Comic Sans MS"/>
              </a:rPr>
              <a:t>standard for version </a:t>
            </a:r>
            <a:r>
              <a:rPr sz="2400" dirty="0">
                <a:latin typeface="Comic Sans MS"/>
                <a:cs typeface="Comic Sans MS"/>
              </a:rPr>
              <a:t>control </a:t>
            </a:r>
            <a:r>
              <a:rPr sz="2400" spc="-70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and </a:t>
            </a:r>
            <a:r>
              <a:rPr sz="2400" spc="-5" dirty="0">
                <a:latin typeface="Comic Sans MS"/>
                <a:cs typeface="Comic Sans MS"/>
              </a:rPr>
              <a:t>is the </a:t>
            </a:r>
            <a:r>
              <a:rPr sz="2400" dirty="0">
                <a:latin typeface="Comic Sans MS"/>
                <a:cs typeface="Comic Sans MS"/>
              </a:rPr>
              <a:t>most </a:t>
            </a:r>
            <a:r>
              <a:rPr sz="2400" spc="-5" dirty="0">
                <a:latin typeface="Comic Sans MS"/>
                <a:cs typeface="Comic Sans MS"/>
              </a:rPr>
              <a:t>widely used modern version </a:t>
            </a:r>
            <a:r>
              <a:rPr sz="2400" dirty="0">
                <a:latin typeface="Comic Sans MS"/>
                <a:cs typeface="Comic Sans MS"/>
              </a:rPr>
              <a:t> control</a:t>
            </a:r>
            <a:r>
              <a:rPr sz="2400" spc="-5" dirty="0">
                <a:latin typeface="Comic Sans MS"/>
                <a:cs typeface="Comic Sans MS"/>
              </a:rPr>
              <a:t> system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66459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DEFINITION</a:t>
            </a:r>
            <a:r>
              <a:rPr spc="30" dirty="0"/>
              <a:t> </a:t>
            </a:r>
            <a:r>
              <a:rPr spc="-10" dirty="0"/>
              <a:t>AND</a:t>
            </a:r>
            <a:r>
              <a:rPr spc="15" dirty="0"/>
              <a:t> </a:t>
            </a:r>
            <a:r>
              <a:rPr spc="-5" dirty="0"/>
              <a:t>A </a:t>
            </a:r>
            <a:r>
              <a:rPr spc="-10" dirty="0"/>
              <a:t>BRIEF</a:t>
            </a:r>
            <a:r>
              <a:rPr spc="15" dirty="0"/>
              <a:t> </a:t>
            </a:r>
            <a:r>
              <a:rPr spc="-10" dirty="0"/>
              <a:t>HISTORY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5091" y="3942588"/>
            <a:ext cx="8458200" cy="1402080"/>
            <a:chOff x="355091" y="3942588"/>
            <a:chExt cx="8458200" cy="1402080"/>
          </a:xfrm>
        </p:grpSpPr>
        <p:sp>
          <p:nvSpPr>
            <p:cNvPr id="5" name="object 5"/>
            <p:cNvSpPr/>
            <p:nvPr/>
          </p:nvSpPr>
          <p:spPr>
            <a:xfrm>
              <a:off x="355091" y="4094988"/>
              <a:ext cx="8458200" cy="1249680"/>
            </a:xfrm>
            <a:custGeom>
              <a:avLst/>
              <a:gdLst/>
              <a:ahLst/>
              <a:cxnLst/>
              <a:rect l="l" t="t" r="r" b="b"/>
              <a:pathLst>
                <a:path w="8458200" h="1249679">
                  <a:moveTo>
                    <a:pt x="7833359" y="0"/>
                  </a:moveTo>
                  <a:lnTo>
                    <a:pt x="7833359" y="312419"/>
                  </a:lnTo>
                  <a:lnTo>
                    <a:pt x="0" y="312419"/>
                  </a:lnTo>
                  <a:lnTo>
                    <a:pt x="312420" y="624840"/>
                  </a:lnTo>
                  <a:lnTo>
                    <a:pt x="0" y="937260"/>
                  </a:lnTo>
                  <a:lnTo>
                    <a:pt x="7833359" y="937260"/>
                  </a:lnTo>
                  <a:lnTo>
                    <a:pt x="7833359" y="1249680"/>
                  </a:lnTo>
                  <a:lnTo>
                    <a:pt x="8458200" y="624840"/>
                  </a:lnTo>
                  <a:lnTo>
                    <a:pt x="7833359" y="0"/>
                  </a:lnTo>
                  <a:close/>
                </a:path>
              </a:pathLst>
            </a:custGeom>
            <a:solidFill>
              <a:srgbClr val="E8B8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18309" y="3955542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5" h="264160">
                  <a:moveTo>
                    <a:pt x="131064" y="0"/>
                  </a:moveTo>
                  <a:lnTo>
                    <a:pt x="80045" y="10364"/>
                  </a:lnTo>
                  <a:lnTo>
                    <a:pt x="38385" y="38623"/>
                  </a:lnTo>
                  <a:lnTo>
                    <a:pt x="10298" y="80527"/>
                  </a:lnTo>
                  <a:lnTo>
                    <a:pt x="0" y="131825"/>
                  </a:lnTo>
                  <a:lnTo>
                    <a:pt x="10298" y="183124"/>
                  </a:lnTo>
                  <a:lnTo>
                    <a:pt x="38385" y="225028"/>
                  </a:lnTo>
                  <a:lnTo>
                    <a:pt x="80045" y="253287"/>
                  </a:lnTo>
                  <a:lnTo>
                    <a:pt x="131064" y="263651"/>
                  </a:lnTo>
                  <a:lnTo>
                    <a:pt x="182082" y="253287"/>
                  </a:lnTo>
                  <a:lnTo>
                    <a:pt x="223742" y="225028"/>
                  </a:lnTo>
                  <a:lnTo>
                    <a:pt x="251829" y="183124"/>
                  </a:lnTo>
                  <a:lnTo>
                    <a:pt x="262128" y="131825"/>
                  </a:lnTo>
                  <a:lnTo>
                    <a:pt x="251829" y="80527"/>
                  </a:lnTo>
                  <a:lnTo>
                    <a:pt x="223742" y="38623"/>
                  </a:lnTo>
                  <a:lnTo>
                    <a:pt x="182082" y="10364"/>
                  </a:lnTo>
                  <a:lnTo>
                    <a:pt x="131064" y="0"/>
                  </a:lnTo>
                  <a:close/>
                </a:path>
              </a:pathLst>
            </a:custGeom>
            <a:solidFill>
              <a:srgbClr val="9B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8309" y="3955542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5" h="264160">
                  <a:moveTo>
                    <a:pt x="0" y="131825"/>
                  </a:moveTo>
                  <a:lnTo>
                    <a:pt x="10298" y="80527"/>
                  </a:lnTo>
                  <a:lnTo>
                    <a:pt x="38385" y="38623"/>
                  </a:lnTo>
                  <a:lnTo>
                    <a:pt x="80045" y="10364"/>
                  </a:lnTo>
                  <a:lnTo>
                    <a:pt x="131064" y="0"/>
                  </a:lnTo>
                  <a:lnTo>
                    <a:pt x="182082" y="10364"/>
                  </a:lnTo>
                  <a:lnTo>
                    <a:pt x="223742" y="38623"/>
                  </a:lnTo>
                  <a:lnTo>
                    <a:pt x="251829" y="80527"/>
                  </a:lnTo>
                  <a:lnTo>
                    <a:pt x="262128" y="131825"/>
                  </a:lnTo>
                  <a:lnTo>
                    <a:pt x="251829" y="183124"/>
                  </a:lnTo>
                  <a:lnTo>
                    <a:pt x="223742" y="225028"/>
                  </a:lnTo>
                  <a:lnTo>
                    <a:pt x="182082" y="253287"/>
                  </a:lnTo>
                  <a:lnTo>
                    <a:pt x="131064" y="263651"/>
                  </a:lnTo>
                  <a:lnTo>
                    <a:pt x="80045" y="253287"/>
                  </a:lnTo>
                  <a:lnTo>
                    <a:pt x="38385" y="225028"/>
                  </a:lnTo>
                  <a:lnTo>
                    <a:pt x="10298" y="183124"/>
                  </a:lnTo>
                  <a:lnTo>
                    <a:pt x="0" y="1318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90849" y="395554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131826" y="0"/>
                  </a:moveTo>
                  <a:lnTo>
                    <a:pt x="90172" y="6723"/>
                  </a:lnTo>
                  <a:lnTo>
                    <a:pt x="53986" y="25444"/>
                  </a:lnTo>
                  <a:lnTo>
                    <a:pt x="25444" y="53986"/>
                  </a:lnTo>
                  <a:lnTo>
                    <a:pt x="6723" y="90172"/>
                  </a:lnTo>
                  <a:lnTo>
                    <a:pt x="0" y="131825"/>
                  </a:lnTo>
                  <a:lnTo>
                    <a:pt x="6723" y="173479"/>
                  </a:lnTo>
                  <a:lnTo>
                    <a:pt x="25444" y="209665"/>
                  </a:lnTo>
                  <a:lnTo>
                    <a:pt x="53986" y="238207"/>
                  </a:lnTo>
                  <a:lnTo>
                    <a:pt x="90172" y="256928"/>
                  </a:lnTo>
                  <a:lnTo>
                    <a:pt x="131826" y="263651"/>
                  </a:lnTo>
                  <a:lnTo>
                    <a:pt x="173479" y="256928"/>
                  </a:lnTo>
                  <a:lnTo>
                    <a:pt x="209665" y="238207"/>
                  </a:lnTo>
                  <a:lnTo>
                    <a:pt x="238207" y="209665"/>
                  </a:lnTo>
                  <a:lnTo>
                    <a:pt x="256928" y="173479"/>
                  </a:lnTo>
                  <a:lnTo>
                    <a:pt x="263652" y="131825"/>
                  </a:lnTo>
                  <a:lnTo>
                    <a:pt x="256928" y="90172"/>
                  </a:lnTo>
                  <a:lnTo>
                    <a:pt x="238207" y="53986"/>
                  </a:lnTo>
                  <a:lnTo>
                    <a:pt x="209665" y="25444"/>
                  </a:lnTo>
                  <a:lnTo>
                    <a:pt x="173479" y="6723"/>
                  </a:lnTo>
                  <a:lnTo>
                    <a:pt x="131826" y="0"/>
                  </a:lnTo>
                  <a:close/>
                </a:path>
              </a:pathLst>
            </a:custGeom>
            <a:solidFill>
              <a:srgbClr val="DC50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90849" y="395554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0" y="131825"/>
                  </a:moveTo>
                  <a:lnTo>
                    <a:pt x="6723" y="90172"/>
                  </a:lnTo>
                  <a:lnTo>
                    <a:pt x="25444" y="53986"/>
                  </a:lnTo>
                  <a:lnTo>
                    <a:pt x="53986" y="25444"/>
                  </a:lnTo>
                  <a:lnTo>
                    <a:pt x="90172" y="6723"/>
                  </a:lnTo>
                  <a:lnTo>
                    <a:pt x="131826" y="0"/>
                  </a:lnTo>
                  <a:lnTo>
                    <a:pt x="173479" y="6723"/>
                  </a:lnTo>
                  <a:lnTo>
                    <a:pt x="209665" y="25444"/>
                  </a:lnTo>
                  <a:lnTo>
                    <a:pt x="238207" y="53986"/>
                  </a:lnTo>
                  <a:lnTo>
                    <a:pt x="256928" y="90172"/>
                  </a:lnTo>
                  <a:lnTo>
                    <a:pt x="263652" y="131825"/>
                  </a:lnTo>
                  <a:lnTo>
                    <a:pt x="256928" y="173479"/>
                  </a:lnTo>
                  <a:lnTo>
                    <a:pt x="238207" y="209665"/>
                  </a:lnTo>
                  <a:lnTo>
                    <a:pt x="209665" y="238207"/>
                  </a:lnTo>
                  <a:lnTo>
                    <a:pt x="173479" y="256928"/>
                  </a:lnTo>
                  <a:lnTo>
                    <a:pt x="131826" y="263651"/>
                  </a:lnTo>
                  <a:lnTo>
                    <a:pt x="90172" y="256928"/>
                  </a:lnTo>
                  <a:lnTo>
                    <a:pt x="53986" y="238207"/>
                  </a:lnTo>
                  <a:lnTo>
                    <a:pt x="25444" y="209665"/>
                  </a:lnTo>
                  <a:lnTo>
                    <a:pt x="6723" y="173479"/>
                  </a:lnTo>
                  <a:lnTo>
                    <a:pt x="0" y="1318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29050" y="3955542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60">
                  <a:moveTo>
                    <a:pt x="131064" y="0"/>
                  </a:moveTo>
                  <a:lnTo>
                    <a:pt x="80045" y="10364"/>
                  </a:lnTo>
                  <a:lnTo>
                    <a:pt x="38385" y="38623"/>
                  </a:lnTo>
                  <a:lnTo>
                    <a:pt x="10298" y="80527"/>
                  </a:lnTo>
                  <a:lnTo>
                    <a:pt x="0" y="131825"/>
                  </a:lnTo>
                  <a:lnTo>
                    <a:pt x="10298" y="183124"/>
                  </a:lnTo>
                  <a:lnTo>
                    <a:pt x="38385" y="225028"/>
                  </a:lnTo>
                  <a:lnTo>
                    <a:pt x="80045" y="253287"/>
                  </a:lnTo>
                  <a:lnTo>
                    <a:pt x="131064" y="263651"/>
                  </a:lnTo>
                  <a:lnTo>
                    <a:pt x="182082" y="253287"/>
                  </a:lnTo>
                  <a:lnTo>
                    <a:pt x="223742" y="225028"/>
                  </a:lnTo>
                  <a:lnTo>
                    <a:pt x="251829" y="183124"/>
                  </a:lnTo>
                  <a:lnTo>
                    <a:pt x="262128" y="131825"/>
                  </a:lnTo>
                  <a:lnTo>
                    <a:pt x="251829" y="80527"/>
                  </a:lnTo>
                  <a:lnTo>
                    <a:pt x="223742" y="38623"/>
                  </a:lnTo>
                  <a:lnTo>
                    <a:pt x="182082" y="10364"/>
                  </a:lnTo>
                  <a:lnTo>
                    <a:pt x="131064" y="0"/>
                  </a:lnTo>
                  <a:close/>
                </a:path>
              </a:pathLst>
            </a:custGeom>
            <a:solidFill>
              <a:srgbClr val="E095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29050" y="3955542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4" h="264160">
                  <a:moveTo>
                    <a:pt x="0" y="131825"/>
                  </a:moveTo>
                  <a:lnTo>
                    <a:pt x="10298" y="80527"/>
                  </a:lnTo>
                  <a:lnTo>
                    <a:pt x="38385" y="38623"/>
                  </a:lnTo>
                  <a:lnTo>
                    <a:pt x="80045" y="10364"/>
                  </a:lnTo>
                  <a:lnTo>
                    <a:pt x="131064" y="0"/>
                  </a:lnTo>
                  <a:lnTo>
                    <a:pt x="182082" y="10364"/>
                  </a:lnTo>
                  <a:lnTo>
                    <a:pt x="223742" y="38623"/>
                  </a:lnTo>
                  <a:lnTo>
                    <a:pt x="251829" y="80527"/>
                  </a:lnTo>
                  <a:lnTo>
                    <a:pt x="262128" y="131825"/>
                  </a:lnTo>
                  <a:lnTo>
                    <a:pt x="251829" y="183124"/>
                  </a:lnTo>
                  <a:lnTo>
                    <a:pt x="223742" y="225028"/>
                  </a:lnTo>
                  <a:lnTo>
                    <a:pt x="182082" y="253287"/>
                  </a:lnTo>
                  <a:lnTo>
                    <a:pt x="131064" y="263651"/>
                  </a:lnTo>
                  <a:lnTo>
                    <a:pt x="80045" y="253287"/>
                  </a:lnTo>
                  <a:lnTo>
                    <a:pt x="38385" y="225028"/>
                  </a:lnTo>
                  <a:lnTo>
                    <a:pt x="10298" y="183124"/>
                  </a:lnTo>
                  <a:lnTo>
                    <a:pt x="0" y="1318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9482" y="395554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131826" y="0"/>
                  </a:moveTo>
                  <a:lnTo>
                    <a:pt x="90172" y="6723"/>
                  </a:lnTo>
                  <a:lnTo>
                    <a:pt x="53986" y="25444"/>
                  </a:lnTo>
                  <a:lnTo>
                    <a:pt x="25444" y="53986"/>
                  </a:lnTo>
                  <a:lnTo>
                    <a:pt x="6723" y="90172"/>
                  </a:lnTo>
                  <a:lnTo>
                    <a:pt x="0" y="131825"/>
                  </a:lnTo>
                  <a:lnTo>
                    <a:pt x="6723" y="173479"/>
                  </a:lnTo>
                  <a:lnTo>
                    <a:pt x="25444" y="209665"/>
                  </a:lnTo>
                  <a:lnTo>
                    <a:pt x="53986" y="238207"/>
                  </a:lnTo>
                  <a:lnTo>
                    <a:pt x="90172" y="256928"/>
                  </a:lnTo>
                  <a:lnTo>
                    <a:pt x="131826" y="263651"/>
                  </a:lnTo>
                  <a:lnTo>
                    <a:pt x="173479" y="256928"/>
                  </a:lnTo>
                  <a:lnTo>
                    <a:pt x="209665" y="238207"/>
                  </a:lnTo>
                  <a:lnTo>
                    <a:pt x="238207" y="209665"/>
                  </a:lnTo>
                  <a:lnTo>
                    <a:pt x="256928" y="173479"/>
                  </a:lnTo>
                  <a:lnTo>
                    <a:pt x="263652" y="131825"/>
                  </a:lnTo>
                  <a:lnTo>
                    <a:pt x="256928" y="90172"/>
                  </a:lnTo>
                  <a:lnTo>
                    <a:pt x="238207" y="53986"/>
                  </a:lnTo>
                  <a:lnTo>
                    <a:pt x="209665" y="25444"/>
                  </a:lnTo>
                  <a:lnTo>
                    <a:pt x="173479" y="6723"/>
                  </a:lnTo>
                  <a:lnTo>
                    <a:pt x="131826" y="0"/>
                  </a:lnTo>
                  <a:close/>
                </a:path>
              </a:pathLst>
            </a:custGeom>
            <a:solidFill>
              <a:srgbClr val="E095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99482" y="395554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60" h="264160">
                  <a:moveTo>
                    <a:pt x="0" y="131825"/>
                  </a:moveTo>
                  <a:lnTo>
                    <a:pt x="6723" y="90172"/>
                  </a:lnTo>
                  <a:lnTo>
                    <a:pt x="25444" y="53986"/>
                  </a:lnTo>
                  <a:lnTo>
                    <a:pt x="53986" y="25444"/>
                  </a:lnTo>
                  <a:lnTo>
                    <a:pt x="90172" y="6723"/>
                  </a:lnTo>
                  <a:lnTo>
                    <a:pt x="131826" y="0"/>
                  </a:lnTo>
                  <a:lnTo>
                    <a:pt x="173479" y="6723"/>
                  </a:lnTo>
                  <a:lnTo>
                    <a:pt x="209665" y="25444"/>
                  </a:lnTo>
                  <a:lnTo>
                    <a:pt x="238207" y="53986"/>
                  </a:lnTo>
                  <a:lnTo>
                    <a:pt x="256928" y="90172"/>
                  </a:lnTo>
                  <a:lnTo>
                    <a:pt x="263652" y="131825"/>
                  </a:lnTo>
                  <a:lnTo>
                    <a:pt x="256928" y="173479"/>
                  </a:lnTo>
                  <a:lnTo>
                    <a:pt x="238207" y="209665"/>
                  </a:lnTo>
                  <a:lnTo>
                    <a:pt x="209665" y="238207"/>
                  </a:lnTo>
                  <a:lnTo>
                    <a:pt x="173479" y="256928"/>
                  </a:lnTo>
                  <a:lnTo>
                    <a:pt x="131826" y="263651"/>
                  </a:lnTo>
                  <a:lnTo>
                    <a:pt x="90172" y="256928"/>
                  </a:lnTo>
                  <a:lnTo>
                    <a:pt x="53986" y="238207"/>
                  </a:lnTo>
                  <a:lnTo>
                    <a:pt x="25444" y="209665"/>
                  </a:lnTo>
                  <a:lnTo>
                    <a:pt x="6723" y="173479"/>
                  </a:lnTo>
                  <a:lnTo>
                    <a:pt x="0" y="1318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3189" y="395554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59" h="264160">
                  <a:moveTo>
                    <a:pt x="131826" y="0"/>
                  </a:moveTo>
                  <a:lnTo>
                    <a:pt x="90172" y="6723"/>
                  </a:lnTo>
                  <a:lnTo>
                    <a:pt x="53986" y="25444"/>
                  </a:lnTo>
                  <a:lnTo>
                    <a:pt x="25444" y="53986"/>
                  </a:lnTo>
                  <a:lnTo>
                    <a:pt x="6723" y="90172"/>
                  </a:lnTo>
                  <a:lnTo>
                    <a:pt x="0" y="131825"/>
                  </a:lnTo>
                  <a:lnTo>
                    <a:pt x="6723" y="173479"/>
                  </a:lnTo>
                  <a:lnTo>
                    <a:pt x="25444" y="209665"/>
                  </a:lnTo>
                  <a:lnTo>
                    <a:pt x="53986" y="238207"/>
                  </a:lnTo>
                  <a:lnTo>
                    <a:pt x="90172" y="256928"/>
                  </a:lnTo>
                  <a:lnTo>
                    <a:pt x="131826" y="263651"/>
                  </a:lnTo>
                  <a:lnTo>
                    <a:pt x="173479" y="256928"/>
                  </a:lnTo>
                  <a:lnTo>
                    <a:pt x="209665" y="238207"/>
                  </a:lnTo>
                  <a:lnTo>
                    <a:pt x="238207" y="209665"/>
                  </a:lnTo>
                  <a:lnTo>
                    <a:pt x="256928" y="173479"/>
                  </a:lnTo>
                  <a:lnTo>
                    <a:pt x="263652" y="131825"/>
                  </a:lnTo>
                  <a:lnTo>
                    <a:pt x="256928" y="90172"/>
                  </a:lnTo>
                  <a:lnTo>
                    <a:pt x="238207" y="53986"/>
                  </a:lnTo>
                  <a:lnTo>
                    <a:pt x="209665" y="25444"/>
                  </a:lnTo>
                  <a:lnTo>
                    <a:pt x="173479" y="6723"/>
                  </a:lnTo>
                  <a:lnTo>
                    <a:pt x="131826" y="0"/>
                  </a:lnTo>
                  <a:close/>
                </a:path>
              </a:pathLst>
            </a:custGeom>
            <a:solidFill>
              <a:srgbClr val="DC50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73189" y="3955542"/>
              <a:ext cx="264160" cy="264160"/>
            </a:xfrm>
            <a:custGeom>
              <a:avLst/>
              <a:gdLst/>
              <a:ahLst/>
              <a:cxnLst/>
              <a:rect l="l" t="t" r="r" b="b"/>
              <a:pathLst>
                <a:path w="264159" h="264160">
                  <a:moveTo>
                    <a:pt x="0" y="131825"/>
                  </a:moveTo>
                  <a:lnTo>
                    <a:pt x="6723" y="90172"/>
                  </a:lnTo>
                  <a:lnTo>
                    <a:pt x="25444" y="53986"/>
                  </a:lnTo>
                  <a:lnTo>
                    <a:pt x="53986" y="25444"/>
                  </a:lnTo>
                  <a:lnTo>
                    <a:pt x="90172" y="6723"/>
                  </a:lnTo>
                  <a:lnTo>
                    <a:pt x="131826" y="0"/>
                  </a:lnTo>
                  <a:lnTo>
                    <a:pt x="173479" y="6723"/>
                  </a:lnTo>
                  <a:lnTo>
                    <a:pt x="209665" y="25444"/>
                  </a:lnTo>
                  <a:lnTo>
                    <a:pt x="238207" y="53986"/>
                  </a:lnTo>
                  <a:lnTo>
                    <a:pt x="256928" y="90172"/>
                  </a:lnTo>
                  <a:lnTo>
                    <a:pt x="263652" y="131825"/>
                  </a:lnTo>
                  <a:lnTo>
                    <a:pt x="256928" y="173479"/>
                  </a:lnTo>
                  <a:lnTo>
                    <a:pt x="238207" y="209665"/>
                  </a:lnTo>
                  <a:lnTo>
                    <a:pt x="209665" y="238207"/>
                  </a:lnTo>
                  <a:lnTo>
                    <a:pt x="173479" y="256928"/>
                  </a:lnTo>
                  <a:lnTo>
                    <a:pt x="131826" y="263651"/>
                  </a:lnTo>
                  <a:lnTo>
                    <a:pt x="90172" y="256928"/>
                  </a:lnTo>
                  <a:lnTo>
                    <a:pt x="53986" y="238207"/>
                  </a:lnTo>
                  <a:lnTo>
                    <a:pt x="25444" y="209665"/>
                  </a:lnTo>
                  <a:lnTo>
                    <a:pt x="6723" y="173479"/>
                  </a:lnTo>
                  <a:lnTo>
                    <a:pt x="0" y="131825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7680" y="2875026"/>
            <a:ext cx="1181735" cy="908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omic Sans MS"/>
                <a:cs typeface="Comic Sans MS"/>
              </a:rPr>
              <a:t>1991:</a:t>
            </a:r>
            <a:endParaRPr sz="1400">
              <a:latin typeface="Comic Sans MS"/>
              <a:cs typeface="Comic Sans MS"/>
            </a:endParaRPr>
          </a:p>
          <a:p>
            <a:pPr marL="12700" marR="5080" indent="43815" algn="just">
              <a:lnSpc>
                <a:spcPct val="104299"/>
              </a:lnSpc>
              <a:spcBef>
                <a:spcPts val="10"/>
              </a:spcBef>
            </a:pPr>
            <a:r>
              <a:rPr sz="1400" b="1" spc="-5" dirty="0">
                <a:latin typeface="Comic Sans MS"/>
                <a:cs typeface="Comic Sans MS"/>
              </a:rPr>
              <a:t>Development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begins</a:t>
            </a:r>
            <a:r>
              <a:rPr sz="1400" b="1" spc="-4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on</a:t>
            </a:r>
            <a:r>
              <a:rPr sz="1400" b="1" spc="-40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the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Linux</a:t>
            </a:r>
            <a:r>
              <a:rPr sz="1400" b="1" spc="-4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Kernel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6394" y="5256403"/>
            <a:ext cx="176403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omic Sans MS"/>
                <a:cs typeface="Comic Sans MS"/>
              </a:rPr>
              <a:t>1998: The need for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version control </a:t>
            </a:r>
            <a:r>
              <a:rPr sz="1400" b="1" dirty="0">
                <a:latin typeface="Comic Sans MS"/>
                <a:cs typeface="Comic Sans MS"/>
              </a:rPr>
              <a:t>is </a:t>
            </a:r>
            <a:r>
              <a:rPr sz="1400" b="1" spc="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felt</a:t>
            </a:r>
            <a:r>
              <a:rPr sz="1400" b="1" spc="1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as</a:t>
            </a:r>
            <a:r>
              <a:rPr sz="1400" b="1" spc="-20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the</a:t>
            </a:r>
            <a:r>
              <a:rPr sz="1400" b="1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project </a:t>
            </a:r>
            <a:r>
              <a:rPr sz="1400" b="1" dirty="0">
                <a:latin typeface="Comic Sans MS"/>
                <a:cs typeface="Comic Sans MS"/>
              </a:rPr>
              <a:t> expands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9775" y="2956687"/>
            <a:ext cx="143446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omic Sans MS"/>
                <a:cs typeface="Comic Sans MS"/>
              </a:rPr>
              <a:t>2002:</a:t>
            </a:r>
            <a:r>
              <a:rPr sz="1400" b="1" spc="-50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The</a:t>
            </a:r>
            <a:endParaRPr sz="1400">
              <a:latin typeface="Comic Sans MS"/>
              <a:cs typeface="Comic Sans MS"/>
            </a:endParaRPr>
          </a:p>
          <a:p>
            <a:pPr marL="12700" marR="5080">
              <a:lnSpc>
                <a:spcPct val="100000"/>
              </a:lnSpc>
            </a:pPr>
            <a:r>
              <a:rPr sz="1400" b="1" dirty="0">
                <a:latin typeface="Comic Sans MS"/>
                <a:cs typeface="Comic Sans MS"/>
              </a:rPr>
              <a:t>founder, </a:t>
            </a:r>
            <a:r>
              <a:rPr sz="1400" b="1" spc="-5" dirty="0">
                <a:latin typeface="Comic Sans MS"/>
                <a:cs typeface="Comic Sans MS"/>
              </a:rPr>
              <a:t>Linus </a:t>
            </a:r>
            <a:r>
              <a:rPr sz="1400" b="1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Torvalds,</a:t>
            </a:r>
            <a:r>
              <a:rPr sz="1400" b="1" spc="-7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starts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using</a:t>
            </a:r>
            <a:r>
              <a:rPr sz="1400" b="1" spc="-4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BitKeeper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99228" y="5332603"/>
            <a:ext cx="2034539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Comic Sans MS"/>
                <a:cs typeface="Comic Sans MS"/>
              </a:rPr>
              <a:t>2005: Linus Torvalds </a:t>
            </a:r>
            <a:r>
              <a:rPr sz="1400" b="1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developed </a:t>
            </a:r>
            <a:r>
              <a:rPr sz="1400" b="1" dirty="0">
                <a:latin typeface="Comic Sans MS"/>
                <a:cs typeface="Comic Sans MS"/>
              </a:rPr>
              <a:t>and </a:t>
            </a:r>
            <a:r>
              <a:rPr sz="1400" b="1" spc="-5" dirty="0">
                <a:latin typeface="Comic Sans MS"/>
                <a:cs typeface="Comic Sans MS"/>
              </a:rPr>
              <a:t>released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Git </a:t>
            </a:r>
            <a:r>
              <a:rPr sz="1400" b="1" spc="-5" dirty="0">
                <a:latin typeface="Comic Sans MS"/>
                <a:cs typeface="Comic Sans MS"/>
              </a:rPr>
              <a:t>after BitKeeper </a:t>
            </a:r>
            <a:r>
              <a:rPr sz="1400" b="1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revokes</a:t>
            </a:r>
            <a:r>
              <a:rPr sz="1400" b="1" spc="-1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the </a:t>
            </a:r>
            <a:r>
              <a:rPr sz="1400" b="1" spc="-5" dirty="0">
                <a:latin typeface="Comic Sans MS"/>
                <a:cs typeface="Comic Sans MS"/>
              </a:rPr>
              <a:t>license</a:t>
            </a:r>
            <a:r>
              <a:rPr sz="1400" b="1" spc="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for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free</a:t>
            </a:r>
            <a:r>
              <a:rPr sz="1400" b="1" spc="1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use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75782" y="3019806"/>
            <a:ext cx="2025014" cy="879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latin typeface="Comic Sans MS"/>
                <a:cs typeface="Comic Sans MS"/>
              </a:rPr>
              <a:t>2016:</a:t>
            </a:r>
            <a:r>
              <a:rPr sz="1400" b="1" spc="-30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Git</a:t>
            </a:r>
            <a:r>
              <a:rPr sz="1400" b="1" spc="-3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becomes</a:t>
            </a:r>
            <a:r>
              <a:rPr sz="1400" b="1" spc="-10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the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dirty="0">
                <a:latin typeface="Comic Sans MS"/>
                <a:cs typeface="Comic Sans MS"/>
              </a:rPr>
              <a:t>most widely </a:t>
            </a:r>
            <a:r>
              <a:rPr sz="1400" b="1" spc="-5" dirty="0">
                <a:latin typeface="Comic Sans MS"/>
                <a:cs typeface="Comic Sans MS"/>
              </a:rPr>
              <a:t>used </a:t>
            </a:r>
            <a:r>
              <a:rPr sz="1400" b="1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version control </a:t>
            </a:r>
            <a:r>
              <a:rPr sz="1400" b="1" dirty="0">
                <a:latin typeface="Comic Sans MS"/>
                <a:cs typeface="Comic Sans MS"/>
              </a:rPr>
              <a:t>system </a:t>
            </a:r>
            <a:r>
              <a:rPr sz="1400" b="1" spc="-59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by</a:t>
            </a:r>
            <a:r>
              <a:rPr sz="1400" b="1" spc="-15" dirty="0">
                <a:latin typeface="Comic Sans MS"/>
                <a:cs typeface="Comic Sans MS"/>
              </a:rPr>
              <a:t> </a:t>
            </a:r>
            <a:r>
              <a:rPr sz="1400" b="1" spc="-5" dirty="0">
                <a:latin typeface="Comic Sans MS"/>
                <a:cs typeface="Comic Sans MS"/>
              </a:rPr>
              <a:t>developers</a:t>
            </a:r>
            <a:endParaRPr sz="1400">
              <a:latin typeface="Comic Sans MS"/>
              <a:cs typeface="Comic Sans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7913" y="999947"/>
            <a:ext cx="1222248" cy="1222248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083967-3389-4A1E-8E08-82C4E4A96F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82" r="16109" b="8148"/>
          <a:stretch/>
        </p:blipFill>
        <p:spPr>
          <a:xfrm>
            <a:off x="609600" y="762000"/>
            <a:ext cx="7696200" cy="4800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738764-7305-435E-A866-F5F267C4893A}"/>
              </a:ext>
            </a:extLst>
          </p:cNvPr>
          <p:cNvSpPr/>
          <p:nvPr/>
        </p:nvSpPr>
        <p:spPr>
          <a:xfrm>
            <a:off x="8153400" y="1066800"/>
            <a:ext cx="381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0903B-CAC1-4107-B54D-56B1595A8085}"/>
              </a:ext>
            </a:extLst>
          </p:cNvPr>
          <p:cNvSpPr/>
          <p:nvPr/>
        </p:nvSpPr>
        <p:spPr>
          <a:xfrm>
            <a:off x="7772400" y="4953000"/>
            <a:ext cx="685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9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738764-7305-435E-A866-F5F267C4893A}"/>
              </a:ext>
            </a:extLst>
          </p:cNvPr>
          <p:cNvSpPr/>
          <p:nvPr/>
        </p:nvSpPr>
        <p:spPr>
          <a:xfrm>
            <a:off x="8153400" y="1066800"/>
            <a:ext cx="381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0903B-CAC1-4107-B54D-56B1595A8085}"/>
              </a:ext>
            </a:extLst>
          </p:cNvPr>
          <p:cNvSpPr/>
          <p:nvPr/>
        </p:nvSpPr>
        <p:spPr>
          <a:xfrm>
            <a:off x="7772400" y="4953000"/>
            <a:ext cx="685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30642-1428-4566-8856-39D3EF6033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34" b="7037"/>
          <a:stretch/>
        </p:blipFill>
        <p:spPr>
          <a:xfrm>
            <a:off x="304800" y="1219200"/>
            <a:ext cx="8153400" cy="4781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5FA6D6-B5FA-4DFA-AB71-1D12C5791EC8}"/>
              </a:ext>
            </a:extLst>
          </p:cNvPr>
          <p:cNvSpPr/>
          <p:nvPr/>
        </p:nvSpPr>
        <p:spPr>
          <a:xfrm>
            <a:off x="7792156" y="1137003"/>
            <a:ext cx="787399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66A003-CA31-4CDB-A770-BAD89062AC95}"/>
              </a:ext>
            </a:extLst>
          </p:cNvPr>
          <p:cNvSpPr/>
          <p:nvPr/>
        </p:nvSpPr>
        <p:spPr>
          <a:xfrm>
            <a:off x="7442200" y="4214989"/>
            <a:ext cx="1181099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8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738764-7305-435E-A866-F5F267C4893A}"/>
              </a:ext>
            </a:extLst>
          </p:cNvPr>
          <p:cNvSpPr/>
          <p:nvPr/>
        </p:nvSpPr>
        <p:spPr>
          <a:xfrm>
            <a:off x="8153400" y="1066800"/>
            <a:ext cx="3810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0903B-CAC1-4107-B54D-56B1595A8085}"/>
              </a:ext>
            </a:extLst>
          </p:cNvPr>
          <p:cNvSpPr/>
          <p:nvPr/>
        </p:nvSpPr>
        <p:spPr>
          <a:xfrm>
            <a:off x="7772400" y="4953000"/>
            <a:ext cx="685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30642-1428-4566-8856-39D3EF6033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34" b="7037"/>
          <a:stretch/>
        </p:blipFill>
        <p:spPr>
          <a:xfrm>
            <a:off x="304800" y="1219200"/>
            <a:ext cx="8153400" cy="47815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65FA6D6-B5FA-4DFA-AB71-1D12C5791EC8}"/>
              </a:ext>
            </a:extLst>
          </p:cNvPr>
          <p:cNvSpPr/>
          <p:nvPr/>
        </p:nvSpPr>
        <p:spPr>
          <a:xfrm>
            <a:off x="7792156" y="1137003"/>
            <a:ext cx="787399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66A003-CA31-4CDB-A770-BAD89062AC95}"/>
              </a:ext>
            </a:extLst>
          </p:cNvPr>
          <p:cNvSpPr/>
          <p:nvPr/>
        </p:nvSpPr>
        <p:spPr>
          <a:xfrm>
            <a:off x="7442200" y="4214989"/>
            <a:ext cx="1181099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19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868" y="1124648"/>
            <a:ext cx="2147570" cy="876935"/>
            <a:chOff x="217868" y="1124648"/>
            <a:chExt cx="2147570" cy="876935"/>
          </a:xfrm>
        </p:grpSpPr>
        <p:sp>
          <p:nvSpPr>
            <p:cNvPr id="3" name="object 3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620" y="1422653"/>
            <a:ext cx="1440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Branching</a:t>
            </a:r>
            <a:r>
              <a:rPr sz="15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in</a:t>
            </a:r>
            <a:r>
              <a:rPr sz="15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15604" y="1124648"/>
            <a:ext cx="2147570" cy="876935"/>
            <a:chOff x="1915604" y="1124648"/>
            <a:chExt cx="2147570" cy="876935"/>
          </a:xfrm>
        </p:grpSpPr>
        <p:sp>
          <p:nvSpPr>
            <p:cNvPr id="7" name="object 7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77516" y="1303146"/>
            <a:ext cx="1061720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Approaches</a:t>
            </a:r>
            <a:endParaRPr sz="1500">
              <a:latin typeface="Comic Sans MS"/>
              <a:cs typeface="Comic Sans MS"/>
            </a:endParaRPr>
          </a:p>
          <a:p>
            <a:pPr marL="29209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to</a:t>
            </a:r>
            <a:r>
              <a:rPr sz="1500" spc="-5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Versions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3340" y="1124648"/>
            <a:ext cx="2147570" cy="876935"/>
            <a:chOff x="3613340" y="1124648"/>
            <a:chExt cx="2147570" cy="876935"/>
          </a:xfrm>
        </p:grpSpPr>
        <p:sp>
          <p:nvSpPr>
            <p:cNvPr id="11" name="object 11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4838" y="1183640"/>
            <a:ext cx="1085850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-2540" algn="ctr">
              <a:lnSpc>
                <a:spcPct val="104700"/>
              </a:lnSpc>
              <a:spcBef>
                <a:spcPts val="15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Focus on </a:t>
            </a:r>
            <a:r>
              <a:rPr sz="1500" spc="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Locality</a:t>
            </a:r>
            <a:r>
              <a:rPr sz="1500" spc="-1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Integrity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11076" y="1124648"/>
            <a:ext cx="2147570" cy="876935"/>
            <a:chOff x="5311076" y="1124648"/>
            <a:chExt cx="2147570" cy="876935"/>
          </a:xfrm>
        </p:grpSpPr>
        <p:sp>
          <p:nvSpPr>
            <p:cNvPr id="15" name="object 15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02578" y="1183640"/>
            <a:ext cx="1005205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1270" algn="ctr">
              <a:lnSpc>
                <a:spcPct val="104700"/>
              </a:lnSpc>
              <a:spcBef>
                <a:spcPts val="1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States</a:t>
            </a:r>
            <a:r>
              <a:rPr sz="1500" spc="-6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Sections</a:t>
            </a:r>
            <a:r>
              <a:rPr sz="1500" spc="-8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08876" y="1124711"/>
            <a:ext cx="2147570" cy="876300"/>
            <a:chOff x="7008876" y="1124711"/>
            <a:chExt cx="2147570" cy="876300"/>
          </a:xfrm>
        </p:grpSpPr>
        <p:sp>
          <p:nvSpPr>
            <p:cNvPr id="19" name="object 19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8084" y="1303146"/>
            <a:ext cx="1129665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Repositories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431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BASICS</a:t>
            </a:r>
            <a:r>
              <a:rPr spc="-25" dirty="0"/>
              <a:t> </a:t>
            </a:r>
            <a:r>
              <a:rPr spc="-10" dirty="0"/>
              <a:t>OF</a:t>
            </a:r>
            <a:r>
              <a:rPr spc="-5" dirty="0"/>
              <a:t> GIT</a:t>
            </a:r>
            <a:r>
              <a:rPr spc="-20" dirty="0"/>
              <a:t> </a:t>
            </a:r>
            <a:r>
              <a:rPr dirty="0"/>
              <a:t>1-5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59740" y="1971268"/>
            <a:ext cx="4293235" cy="19462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b="1" spc="-5" dirty="0">
                <a:latin typeface="Comic Sans MS"/>
                <a:cs typeface="Comic Sans MS"/>
              </a:rPr>
              <a:t>Overview</a:t>
            </a:r>
            <a:endParaRPr sz="1400">
              <a:latin typeface="Comic Sans MS"/>
              <a:cs typeface="Comic Sans MS"/>
            </a:endParaRPr>
          </a:p>
          <a:p>
            <a:pPr marL="299085" marR="123825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400" dirty="0">
                <a:latin typeface="Comic Sans MS"/>
                <a:cs typeface="Comic Sans MS"/>
              </a:rPr>
              <a:t>Most</a:t>
            </a:r>
            <a:r>
              <a:rPr sz="1400" spc="-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unique</a:t>
            </a:r>
            <a:r>
              <a:rPr sz="1400" spc="-3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feature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of GIT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is </a:t>
            </a:r>
            <a:r>
              <a:rPr sz="1400" dirty="0">
                <a:latin typeface="Comic Sans MS"/>
                <a:cs typeface="Comic Sans MS"/>
              </a:rPr>
              <a:t>the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provision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of </a:t>
            </a:r>
            <a:r>
              <a:rPr sz="1400" spc="-40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Branching</a:t>
            </a:r>
            <a:endParaRPr sz="1400">
              <a:latin typeface="Comic Sans MS"/>
              <a:cs typeface="Comic Sans MS"/>
            </a:endParaRPr>
          </a:p>
          <a:p>
            <a:pPr marL="299085" marR="508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sz="1400" dirty="0">
                <a:latin typeface="Comic Sans MS"/>
                <a:cs typeface="Comic Sans MS"/>
              </a:rPr>
              <a:t>Git </a:t>
            </a:r>
            <a:r>
              <a:rPr sz="1400" spc="-5" dirty="0">
                <a:latin typeface="Comic Sans MS"/>
                <a:cs typeface="Comic Sans MS"/>
              </a:rPr>
              <a:t>branches </a:t>
            </a:r>
            <a:r>
              <a:rPr sz="1400" dirty="0">
                <a:latin typeface="Comic Sans MS"/>
                <a:cs typeface="Comic Sans MS"/>
              </a:rPr>
              <a:t>are cheap and easy </a:t>
            </a:r>
            <a:r>
              <a:rPr sz="1400" spc="-5" dirty="0">
                <a:latin typeface="Comic Sans MS"/>
                <a:cs typeface="Comic Sans MS"/>
              </a:rPr>
              <a:t>to merge. </a:t>
            </a:r>
            <a:r>
              <a:rPr sz="1400" dirty="0">
                <a:latin typeface="Comic Sans MS"/>
                <a:cs typeface="Comic Sans MS"/>
              </a:rPr>
              <a:t>This </a:t>
            </a:r>
            <a:r>
              <a:rPr sz="1400" spc="-40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facilitates </a:t>
            </a:r>
            <a:r>
              <a:rPr sz="1400" dirty="0">
                <a:latin typeface="Comic Sans MS"/>
                <a:cs typeface="Comic Sans MS"/>
              </a:rPr>
              <a:t>the </a:t>
            </a:r>
            <a:r>
              <a:rPr sz="1400" spc="-5" dirty="0">
                <a:latin typeface="Comic Sans MS"/>
                <a:cs typeface="Comic Sans MS"/>
              </a:rPr>
              <a:t>feature branch workflow </a:t>
            </a:r>
            <a:r>
              <a:rPr sz="1400" dirty="0">
                <a:latin typeface="Comic Sans MS"/>
                <a:cs typeface="Comic Sans MS"/>
              </a:rPr>
              <a:t>popular </a:t>
            </a:r>
            <a:r>
              <a:rPr sz="1400" spc="-40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with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many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Git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users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540" y="4486503"/>
            <a:ext cx="3897629" cy="13061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-5" dirty="0">
                <a:latin typeface="Comic Sans MS"/>
                <a:cs typeface="Comic Sans MS"/>
              </a:rPr>
              <a:t>Advantages</a:t>
            </a:r>
            <a:endParaRPr sz="14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5" dirty="0">
                <a:latin typeface="Comic Sans MS"/>
                <a:cs typeface="Comic Sans MS"/>
              </a:rPr>
              <a:t>Context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Switching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is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Easy</a:t>
            </a:r>
            <a:endParaRPr sz="14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dirty="0">
                <a:latin typeface="Comic Sans MS"/>
                <a:cs typeface="Comic Sans MS"/>
              </a:rPr>
              <a:t>Role-based</a:t>
            </a:r>
            <a:r>
              <a:rPr sz="1400" spc="-4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code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lines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are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possible</a:t>
            </a:r>
            <a:endParaRPr sz="1400">
              <a:latin typeface="Comic Sans MS"/>
              <a:cs typeface="Comic Sans MS"/>
            </a:endParaRPr>
          </a:p>
          <a:p>
            <a:pPr marL="756285" lvl="1" indent="-28702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dirty="0">
                <a:latin typeface="Comic Sans MS"/>
                <a:cs typeface="Comic Sans MS"/>
              </a:rPr>
              <a:t>Feature</a:t>
            </a:r>
            <a:r>
              <a:rPr sz="1400" spc="-4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based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workflows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are</a:t>
            </a:r>
            <a:r>
              <a:rPr sz="1400" spc="-2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possible</a:t>
            </a:r>
            <a:endParaRPr sz="1400">
              <a:latin typeface="Comic Sans MS"/>
              <a:cs typeface="Comic Sans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2819400"/>
            <a:ext cx="3499104" cy="3058668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868" y="1124648"/>
            <a:ext cx="2147570" cy="876935"/>
            <a:chOff x="217868" y="1124648"/>
            <a:chExt cx="2147570" cy="876935"/>
          </a:xfrm>
        </p:grpSpPr>
        <p:sp>
          <p:nvSpPr>
            <p:cNvPr id="3" name="object 3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620" y="1422653"/>
            <a:ext cx="1440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Branching</a:t>
            </a:r>
            <a:r>
              <a:rPr sz="1500" spc="-2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</a:t>
            </a:r>
            <a:r>
              <a:rPr sz="1500" spc="-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15604" y="1124648"/>
            <a:ext cx="2147570" cy="876935"/>
            <a:chOff x="1915604" y="1124648"/>
            <a:chExt cx="2147570" cy="876935"/>
          </a:xfrm>
        </p:grpSpPr>
        <p:sp>
          <p:nvSpPr>
            <p:cNvPr id="7" name="object 7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77516" y="1303146"/>
            <a:ext cx="1061720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Approaches</a:t>
            </a:r>
            <a:endParaRPr sz="1500">
              <a:latin typeface="Comic Sans MS"/>
              <a:cs typeface="Comic Sans MS"/>
            </a:endParaRPr>
          </a:p>
          <a:p>
            <a:pPr marL="29209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500" spc="-5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omic Sans MS"/>
                <a:cs typeface="Comic Sans MS"/>
              </a:rPr>
              <a:t>Versions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3340" y="1124648"/>
            <a:ext cx="2147570" cy="876935"/>
            <a:chOff x="3613340" y="1124648"/>
            <a:chExt cx="2147570" cy="876935"/>
          </a:xfrm>
        </p:grpSpPr>
        <p:sp>
          <p:nvSpPr>
            <p:cNvPr id="11" name="object 11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AD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4838" y="1183640"/>
            <a:ext cx="1085850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-2540" algn="ctr">
              <a:lnSpc>
                <a:spcPct val="104700"/>
              </a:lnSpc>
              <a:spcBef>
                <a:spcPts val="15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Focus on </a:t>
            </a:r>
            <a:r>
              <a:rPr sz="1500" spc="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Locality</a:t>
            </a:r>
            <a:r>
              <a:rPr sz="1500" spc="-1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Integrity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11076" y="1124648"/>
            <a:ext cx="2147570" cy="876935"/>
            <a:chOff x="5311076" y="1124648"/>
            <a:chExt cx="2147570" cy="876935"/>
          </a:xfrm>
        </p:grpSpPr>
        <p:sp>
          <p:nvSpPr>
            <p:cNvPr id="15" name="object 15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02578" y="1183640"/>
            <a:ext cx="1005205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1270" algn="ctr">
              <a:lnSpc>
                <a:spcPct val="104700"/>
              </a:lnSpc>
              <a:spcBef>
                <a:spcPts val="1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States</a:t>
            </a:r>
            <a:r>
              <a:rPr sz="1500" spc="-6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Sections</a:t>
            </a:r>
            <a:r>
              <a:rPr sz="1500" spc="-8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08876" y="1124711"/>
            <a:ext cx="2147570" cy="876300"/>
            <a:chOff x="7008876" y="1124711"/>
            <a:chExt cx="2147570" cy="876300"/>
          </a:xfrm>
        </p:grpSpPr>
        <p:sp>
          <p:nvSpPr>
            <p:cNvPr id="19" name="object 19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8084" y="1303146"/>
            <a:ext cx="1129665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Repositories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487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BASICS</a:t>
            </a:r>
            <a:r>
              <a:rPr spc="-25" dirty="0"/>
              <a:t> </a:t>
            </a:r>
            <a:r>
              <a:rPr spc="-10" dirty="0"/>
              <a:t>OF </a:t>
            </a:r>
            <a:r>
              <a:rPr spc="-5" dirty="0"/>
              <a:t>GIT</a:t>
            </a:r>
            <a:r>
              <a:rPr spc="-20" dirty="0"/>
              <a:t> </a:t>
            </a:r>
            <a:r>
              <a:rPr dirty="0"/>
              <a:t>2-5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90219" y="2948386"/>
            <a:ext cx="7903845" cy="1672589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800" b="1" spc="-5" dirty="0">
                <a:latin typeface="Comic Sans MS"/>
                <a:cs typeface="Comic Sans MS"/>
              </a:rPr>
              <a:t>Overview</a:t>
            </a:r>
            <a:endParaRPr sz="1800">
              <a:latin typeface="Comic Sans MS"/>
              <a:cs typeface="Comic Sans MS"/>
            </a:endParaRPr>
          </a:p>
          <a:p>
            <a:pPr marL="299085" marR="5080" indent="-287020">
              <a:lnSpc>
                <a:spcPct val="15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omic Sans MS"/>
                <a:cs typeface="Comic Sans MS"/>
              </a:rPr>
              <a:t>Git’s approach to </a:t>
            </a:r>
            <a:r>
              <a:rPr sz="1800" spc="-5" dirty="0">
                <a:latin typeface="Comic Sans MS"/>
                <a:cs typeface="Comic Sans MS"/>
              </a:rPr>
              <a:t>versions is fundamentally different. It </a:t>
            </a:r>
            <a:r>
              <a:rPr sz="1800" dirty="0">
                <a:latin typeface="Comic Sans MS"/>
                <a:cs typeface="Comic Sans MS"/>
              </a:rPr>
              <a:t>stores </a:t>
            </a:r>
            <a:r>
              <a:rPr sz="1800" spc="-5" dirty="0">
                <a:latin typeface="Comic Sans MS"/>
                <a:cs typeface="Comic Sans MS"/>
              </a:rPr>
              <a:t>data </a:t>
            </a:r>
            <a:r>
              <a:rPr sz="1800" dirty="0">
                <a:latin typeface="Comic Sans MS"/>
                <a:cs typeface="Comic Sans MS"/>
              </a:rPr>
              <a:t>as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sequence of snapshots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 a set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files.</a:t>
            </a:r>
            <a:endParaRPr sz="1800">
              <a:latin typeface="Comic Sans MS"/>
              <a:cs typeface="Comic Sans MS"/>
            </a:endParaRPr>
          </a:p>
          <a:p>
            <a:pPr marL="299085" indent="-287020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latin typeface="Comic Sans MS"/>
                <a:cs typeface="Comic Sans MS"/>
              </a:rPr>
              <a:t>If there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is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file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that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has no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changes,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the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file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is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not</a:t>
            </a:r>
            <a:r>
              <a:rPr sz="1800" dirty="0">
                <a:latin typeface="Comic Sans MS"/>
                <a:cs typeface="Comic Sans MS"/>
              </a:rPr>
              <a:t> stored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again.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868" y="1124648"/>
            <a:ext cx="2147570" cy="876935"/>
            <a:chOff x="217868" y="1124648"/>
            <a:chExt cx="2147570" cy="876935"/>
          </a:xfrm>
        </p:grpSpPr>
        <p:sp>
          <p:nvSpPr>
            <p:cNvPr id="3" name="object 3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AD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620" y="1422653"/>
            <a:ext cx="1440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Branching</a:t>
            </a:r>
            <a:r>
              <a:rPr sz="1500" spc="-2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</a:t>
            </a:r>
            <a:r>
              <a:rPr sz="1500" spc="-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15604" y="1124648"/>
            <a:ext cx="2147570" cy="876935"/>
            <a:chOff x="1915604" y="1124648"/>
            <a:chExt cx="2147570" cy="876935"/>
          </a:xfrm>
        </p:grpSpPr>
        <p:sp>
          <p:nvSpPr>
            <p:cNvPr id="7" name="object 7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77516" y="1303146"/>
            <a:ext cx="1061720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Approaches</a:t>
            </a:r>
            <a:endParaRPr sz="1500">
              <a:latin typeface="Comic Sans MS"/>
              <a:cs typeface="Comic Sans MS"/>
            </a:endParaRPr>
          </a:p>
          <a:p>
            <a:pPr marL="29209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to</a:t>
            </a:r>
            <a:r>
              <a:rPr sz="1500" spc="-5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Versions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3340" y="1124648"/>
            <a:ext cx="2147570" cy="876935"/>
            <a:chOff x="3613340" y="1124648"/>
            <a:chExt cx="2147570" cy="876935"/>
          </a:xfrm>
        </p:grpSpPr>
        <p:sp>
          <p:nvSpPr>
            <p:cNvPr id="11" name="object 11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4838" y="1183640"/>
            <a:ext cx="1085850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-2540" algn="ctr">
              <a:lnSpc>
                <a:spcPct val="104700"/>
              </a:lnSpc>
              <a:spcBef>
                <a:spcPts val="15"/>
              </a:spcBef>
            </a:pP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Focus on </a:t>
            </a:r>
            <a:r>
              <a:rPr sz="1500" spc="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Locality</a:t>
            </a:r>
            <a:r>
              <a:rPr sz="1500" spc="-10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and </a:t>
            </a:r>
            <a:r>
              <a:rPr sz="1500" spc="-4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omic Sans MS"/>
                <a:cs typeface="Comic Sans MS"/>
              </a:rPr>
              <a:t>Integrity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11076" y="1124648"/>
            <a:ext cx="2147570" cy="876935"/>
            <a:chOff x="5311076" y="1124648"/>
            <a:chExt cx="2147570" cy="876935"/>
          </a:xfrm>
        </p:grpSpPr>
        <p:sp>
          <p:nvSpPr>
            <p:cNvPr id="15" name="object 15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02578" y="1183640"/>
            <a:ext cx="1005205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1270" algn="ctr">
              <a:lnSpc>
                <a:spcPct val="104700"/>
              </a:lnSpc>
              <a:spcBef>
                <a:spcPts val="1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States</a:t>
            </a:r>
            <a:r>
              <a:rPr sz="1500" spc="-6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Sections</a:t>
            </a:r>
            <a:r>
              <a:rPr sz="1500" spc="-8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08876" y="1124711"/>
            <a:ext cx="2147570" cy="876300"/>
            <a:chOff x="7008876" y="1124711"/>
            <a:chExt cx="2147570" cy="876300"/>
          </a:xfrm>
        </p:grpSpPr>
        <p:sp>
          <p:nvSpPr>
            <p:cNvPr id="19" name="object 19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8084" y="1303146"/>
            <a:ext cx="1129665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Repositories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487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BASICS</a:t>
            </a:r>
            <a:r>
              <a:rPr spc="-25" dirty="0"/>
              <a:t> </a:t>
            </a:r>
            <a:r>
              <a:rPr spc="-10" dirty="0"/>
              <a:t>OF </a:t>
            </a:r>
            <a:r>
              <a:rPr spc="-5" dirty="0"/>
              <a:t>GIT</a:t>
            </a:r>
            <a:r>
              <a:rPr spc="-20" dirty="0"/>
              <a:t> </a:t>
            </a:r>
            <a:r>
              <a:rPr dirty="0"/>
              <a:t>3-5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pc="-5" dirty="0"/>
              <a:t>Overview</a:t>
            </a:r>
          </a:p>
          <a:p>
            <a:pPr marL="299085" marR="5080" indent="-287020" algn="just">
              <a:lnSpc>
                <a:spcPct val="150000"/>
              </a:lnSpc>
              <a:buFont typeface="Arial MT"/>
              <a:buChar char="•"/>
              <a:tabLst>
                <a:tab pos="299720" algn="l"/>
              </a:tabLst>
            </a:pPr>
            <a:r>
              <a:rPr b="0" dirty="0">
                <a:latin typeface="Comic Sans MS"/>
                <a:cs typeface="Comic Sans MS"/>
              </a:rPr>
              <a:t>Git </a:t>
            </a:r>
            <a:r>
              <a:rPr b="0" spc="-5" dirty="0">
                <a:latin typeface="Comic Sans MS"/>
                <a:cs typeface="Comic Sans MS"/>
              </a:rPr>
              <a:t>is much faster </a:t>
            </a:r>
            <a:r>
              <a:rPr b="0" dirty="0">
                <a:latin typeface="Comic Sans MS"/>
                <a:cs typeface="Comic Sans MS"/>
              </a:rPr>
              <a:t>than other </a:t>
            </a:r>
            <a:r>
              <a:rPr b="0" spc="-5" dirty="0">
                <a:latin typeface="Comic Sans MS"/>
                <a:cs typeface="Comic Sans MS"/>
              </a:rPr>
              <a:t>version control </a:t>
            </a:r>
            <a:r>
              <a:rPr b="0" dirty="0">
                <a:latin typeface="Comic Sans MS"/>
                <a:cs typeface="Comic Sans MS"/>
              </a:rPr>
              <a:t>systems as most operations </a:t>
            </a:r>
            <a:r>
              <a:rPr b="0" spc="-525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require </a:t>
            </a:r>
            <a:r>
              <a:rPr b="0" dirty="0">
                <a:latin typeface="Comic Sans MS"/>
                <a:cs typeface="Comic Sans MS"/>
              </a:rPr>
              <a:t>only the </a:t>
            </a:r>
            <a:r>
              <a:rPr b="0" spc="-5" dirty="0">
                <a:latin typeface="Comic Sans MS"/>
                <a:cs typeface="Comic Sans MS"/>
              </a:rPr>
              <a:t>user’s </a:t>
            </a:r>
            <a:r>
              <a:rPr b="0" dirty="0">
                <a:latin typeface="Comic Sans MS"/>
                <a:cs typeface="Comic Sans MS"/>
              </a:rPr>
              <a:t>local </a:t>
            </a:r>
            <a:r>
              <a:rPr b="0" spc="-5" dirty="0">
                <a:latin typeface="Comic Sans MS"/>
                <a:cs typeface="Comic Sans MS"/>
              </a:rPr>
              <a:t>files </a:t>
            </a:r>
            <a:r>
              <a:rPr b="0" dirty="0">
                <a:latin typeface="Comic Sans MS"/>
                <a:cs typeface="Comic Sans MS"/>
              </a:rPr>
              <a:t>and </a:t>
            </a:r>
            <a:r>
              <a:rPr b="0" spc="-5" dirty="0">
                <a:latin typeface="Comic Sans MS"/>
                <a:cs typeface="Comic Sans MS"/>
              </a:rPr>
              <a:t>resources to </a:t>
            </a:r>
            <a:r>
              <a:rPr b="0" dirty="0">
                <a:latin typeface="Comic Sans MS"/>
                <a:cs typeface="Comic Sans MS"/>
              </a:rPr>
              <a:t>work. The </a:t>
            </a:r>
            <a:r>
              <a:rPr b="0" spc="-5" dirty="0">
                <a:latin typeface="Comic Sans MS"/>
                <a:cs typeface="Comic Sans MS"/>
              </a:rPr>
              <a:t>dependence </a:t>
            </a:r>
            <a:r>
              <a:rPr b="0" spc="-525" dirty="0">
                <a:latin typeface="Comic Sans MS"/>
                <a:cs typeface="Comic Sans MS"/>
              </a:rPr>
              <a:t> </a:t>
            </a:r>
            <a:r>
              <a:rPr b="0" dirty="0">
                <a:latin typeface="Comic Sans MS"/>
                <a:cs typeface="Comic Sans MS"/>
              </a:rPr>
              <a:t>on</a:t>
            </a:r>
            <a:r>
              <a:rPr b="0" spc="-10" dirty="0">
                <a:latin typeface="Comic Sans MS"/>
                <a:cs typeface="Comic Sans MS"/>
              </a:rPr>
              <a:t> </a:t>
            </a:r>
            <a:r>
              <a:rPr b="0" dirty="0">
                <a:latin typeface="Comic Sans MS"/>
                <a:cs typeface="Comic Sans MS"/>
              </a:rPr>
              <a:t>a network</a:t>
            </a:r>
            <a:r>
              <a:rPr b="0" spc="-10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is</a:t>
            </a:r>
            <a:r>
              <a:rPr b="0" spc="5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minimized.</a:t>
            </a:r>
          </a:p>
          <a:p>
            <a:pPr marL="299085" marR="419100" indent="-28702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b="0" dirty="0">
                <a:latin typeface="Comic Sans MS"/>
                <a:cs typeface="Comic Sans MS"/>
              </a:rPr>
              <a:t>Git </a:t>
            </a:r>
            <a:r>
              <a:rPr b="0" spc="-5" dirty="0">
                <a:latin typeface="Comic Sans MS"/>
                <a:cs typeface="Comic Sans MS"/>
              </a:rPr>
              <a:t>maintains integrity by </a:t>
            </a:r>
            <a:r>
              <a:rPr b="0" dirty="0">
                <a:latin typeface="Comic Sans MS"/>
                <a:cs typeface="Comic Sans MS"/>
              </a:rPr>
              <a:t>using a checksum. Each </a:t>
            </a:r>
            <a:r>
              <a:rPr b="0" spc="-5" dirty="0">
                <a:latin typeface="Comic Sans MS"/>
                <a:cs typeface="Comic Sans MS"/>
              </a:rPr>
              <a:t>entity </a:t>
            </a:r>
            <a:r>
              <a:rPr b="0" dirty="0">
                <a:latin typeface="Comic Sans MS"/>
                <a:cs typeface="Comic Sans MS"/>
              </a:rPr>
              <a:t>stored </a:t>
            </a:r>
            <a:r>
              <a:rPr b="0" spc="-5" dirty="0">
                <a:latin typeface="Comic Sans MS"/>
                <a:cs typeface="Comic Sans MS"/>
              </a:rPr>
              <a:t>is </a:t>
            </a:r>
            <a:r>
              <a:rPr b="0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referred to by its </a:t>
            </a:r>
            <a:r>
              <a:rPr b="0" dirty="0">
                <a:latin typeface="Comic Sans MS"/>
                <a:cs typeface="Comic Sans MS"/>
              </a:rPr>
              <a:t>checksum. </a:t>
            </a:r>
            <a:r>
              <a:rPr b="0" spc="-5" dirty="0">
                <a:latin typeface="Comic Sans MS"/>
                <a:cs typeface="Comic Sans MS"/>
              </a:rPr>
              <a:t>Thus, there remains </a:t>
            </a:r>
            <a:r>
              <a:rPr b="0" dirty="0">
                <a:latin typeface="Comic Sans MS"/>
                <a:cs typeface="Comic Sans MS"/>
              </a:rPr>
              <a:t>no way </a:t>
            </a:r>
            <a:r>
              <a:rPr b="0" spc="-5" dirty="0">
                <a:latin typeface="Comic Sans MS"/>
                <a:cs typeface="Comic Sans MS"/>
              </a:rPr>
              <a:t>for </a:t>
            </a:r>
            <a:r>
              <a:rPr b="0" dirty="0">
                <a:latin typeface="Comic Sans MS"/>
                <a:cs typeface="Comic Sans MS"/>
              </a:rPr>
              <a:t>a </a:t>
            </a:r>
            <a:r>
              <a:rPr b="0" spc="-5" dirty="0">
                <a:latin typeface="Comic Sans MS"/>
                <a:cs typeface="Comic Sans MS"/>
              </a:rPr>
              <a:t>file </a:t>
            </a:r>
            <a:r>
              <a:rPr b="0" dirty="0">
                <a:latin typeface="Comic Sans MS"/>
                <a:cs typeface="Comic Sans MS"/>
              </a:rPr>
              <a:t>or </a:t>
            </a:r>
            <a:r>
              <a:rPr b="0" spc="-525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directory</a:t>
            </a:r>
            <a:r>
              <a:rPr b="0" spc="-10" dirty="0">
                <a:latin typeface="Comic Sans MS"/>
                <a:cs typeface="Comic Sans MS"/>
              </a:rPr>
              <a:t> </a:t>
            </a:r>
            <a:r>
              <a:rPr b="0" dirty="0">
                <a:latin typeface="Comic Sans MS"/>
                <a:cs typeface="Comic Sans MS"/>
              </a:rPr>
              <a:t>to</a:t>
            </a:r>
            <a:r>
              <a:rPr b="0" spc="15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be </a:t>
            </a:r>
            <a:r>
              <a:rPr b="0" dirty="0">
                <a:latin typeface="Comic Sans MS"/>
                <a:cs typeface="Comic Sans MS"/>
              </a:rPr>
              <a:t>changed,</a:t>
            </a:r>
            <a:r>
              <a:rPr b="0" spc="-20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without</a:t>
            </a:r>
            <a:r>
              <a:rPr b="0" spc="-10" dirty="0">
                <a:latin typeface="Comic Sans MS"/>
                <a:cs typeface="Comic Sans MS"/>
              </a:rPr>
              <a:t> </a:t>
            </a:r>
            <a:r>
              <a:rPr b="0" dirty="0">
                <a:latin typeface="Comic Sans MS"/>
                <a:cs typeface="Comic Sans MS"/>
              </a:rPr>
              <a:t>Git</a:t>
            </a:r>
            <a:r>
              <a:rPr b="0" spc="-10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being</a:t>
            </a:r>
            <a:r>
              <a:rPr b="0" spc="-15" dirty="0">
                <a:latin typeface="Comic Sans MS"/>
                <a:cs typeface="Comic Sans MS"/>
              </a:rPr>
              <a:t> </a:t>
            </a:r>
            <a:r>
              <a:rPr b="0" spc="-5" dirty="0">
                <a:latin typeface="Comic Sans MS"/>
                <a:cs typeface="Comic Sans MS"/>
              </a:rPr>
              <a:t>notified</a:t>
            </a:r>
            <a:r>
              <a:rPr b="0" spc="-20" dirty="0">
                <a:latin typeface="Comic Sans MS"/>
                <a:cs typeface="Comic Sans MS"/>
              </a:rPr>
              <a:t> </a:t>
            </a:r>
            <a:r>
              <a:rPr b="0" dirty="0">
                <a:latin typeface="Comic Sans MS"/>
                <a:cs typeface="Comic Sans MS"/>
              </a:rPr>
              <a:t>of </a:t>
            </a:r>
            <a:r>
              <a:rPr b="0" spc="-5" dirty="0">
                <a:latin typeface="Comic Sans MS"/>
                <a:cs typeface="Comic Sans MS"/>
              </a:rPr>
              <a:t>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868" y="1124648"/>
            <a:ext cx="2147570" cy="876935"/>
            <a:chOff x="217868" y="1124648"/>
            <a:chExt cx="2147570" cy="876935"/>
          </a:xfrm>
        </p:grpSpPr>
        <p:sp>
          <p:nvSpPr>
            <p:cNvPr id="3" name="object 3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AD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620" y="1422653"/>
            <a:ext cx="1440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Branching</a:t>
            </a:r>
            <a:r>
              <a:rPr sz="1500" spc="-2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</a:t>
            </a:r>
            <a:r>
              <a:rPr sz="1500" spc="-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15604" y="1124648"/>
            <a:ext cx="2147570" cy="876935"/>
            <a:chOff x="1915604" y="1124648"/>
            <a:chExt cx="2147570" cy="876935"/>
          </a:xfrm>
        </p:grpSpPr>
        <p:sp>
          <p:nvSpPr>
            <p:cNvPr id="7" name="object 7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77516" y="1303146"/>
            <a:ext cx="1061720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Approaches</a:t>
            </a:r>
            <a:endParaRPr sz="1500">
              <a:latin typeface="Comic Sans MS"/>
              <a:cs typeface="Comic Sans MS"/>
            </a:endParaRPr>
          </a:p>
          <a:p>
            <a:pPr marL="29209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to</a:t>
            </a:r>
            <a:r>
              <a:rPr sz="1500" spc="-5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Versions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3340" y="1124648"/>
            <a:ext cx="2147570" cy="876935"/>
            <a:chOff x="3613340" y="1124648"/>
            <a:chExt cx="2147570" cy="876935"/>
          </a:xfrm>
        </p:grpSpPr>
        <p:sp>
          <p:nvSpPr>
            <p:cNvPr id="11" name="object 11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4838" y="1183640"/>
            <a:ext cx="1085850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-2540" algn="ctr">
              <a:lnSpc>
                <a:spcPct val="104700"/>
              </a:lnSpc>
              <a:spcBef>
                <a:spcPts val="15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Focus on </a:t>
            </a:r>
            <a:r>
              <a:rPr sz="1500" spc="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Locality</a:t>
            </a:r>
            <a:r>
              <a:rPr sz="1500" spc="-1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Integrity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11076" y="1124648"/>
            <a:ext cx="2147570" cy="876935"/>
            <a:chOff x="5311076" y="1124648"/>
            <a:chExt cx="2147570" cy="876935"/>
          </a:xfrm>
        </p:grpSpPr>
        <p:sp>
          <p:nvSpPr>
            <p:cNvPr id="15" name="object 15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02578" y="1183640"/>
            <a:ext cx="1005205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1270" algn="ctr">
              <a:lnSpc>
                <a:spcPct val="104700"/>
              </a:lnSpc>
              <a:spcBef>
                <a:spcPts val="15"/>
              </a:spcBef>
            </a:pP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States</a:t>
            </a:r>
            <a:r>
              <a:rPr sz="1500" spc="-6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and </a:t>
            </a:r>
            <a:r>
              <a:rPr sz="1500" spc="-434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Sections</a:t>
            </a:r>
            <a:r>
              <a:rPr sz="1500" spc="-8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08876" y="1124711"/>
            <a:ext cx="2147570" cy="876300"/>
            <a:chOff x="7008876" y="1124711"/>
            <a:chExt cx="2147570" cy="876300"/>
          </a:xfrm>
        </p:grpSpPr>
        <p:sp>
          <p:nvSpPr>
            <p:cNvPr id="19" name="object 19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8084" y="1303146"/>
            <a:ext cx="1129665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Repositories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487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BASICS</a:t>
            </a:r>
            <a:r>
              <a:rPr spc="-25" dirty="0"/>
              <a:t> </a:t>
            </a:r>
            <a:r>
              <a:rPr spc="-10" dirty="0"/>
              <a:t>OF </a:t>
            </a:r>
            <a:r>
              <a:rPr spc="-5" dirty="0"/>
              <a:t>GIT</a:t>
            </a:r>
            <a:r>
              <a:rPr spc="-20" dirty="0"/>
              <a:t> </a:t>
            </a:r>
            <a:r>
              <a:rPr dirty="0"/>
              <a:t>4-5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59740" y="1971268"/>
            <a:ext cx="41414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spc="-5" dirty="0">
                <a:latin typeface="Comic Sans MS"/>
                <a:cs typeface="Comic Sans MS"/>
              </a:rPr>
              <a:t>States </a:t>
            </a:r>
            <a:r>
              <a:rPr sz="1400" b="1" dirty="0">
                <a:latin typeface="Comic Sans MS"/>
                <a:cs typeface="Comic Sans MS"/>
              </a:rPr>
              <a:t>- </a:t>
            </a:r>
            <a:r>
              <a:rPr sz="1400" dirty="0">
                <a:latin typeface="Comic Sans MS"/>
                <a:cs typeface="Comic Sans MS"/>
              </a:rPr>
              <a:t>A </a:t>
            </a:r>
            <a:r>
              <a:rPr sz="1400" spc="-5" dirty="0">
                <a:latin typeface="Comic Sans MS"/>
                <a:cs typeface="Comic Sans MS"/>
              </a:rPr>
              <a:t>user’s work in </a:t>
            </a:r>
            <a:r>
              <a:rPr sz="1400" dirty="0">
                <a:latin typeface="Comic Sans MS"/>
                <a:cs typeface="Comic Sans MS"/>
              </a:rPr>
              <a:t>Git </a:t>
            </a:r>
            <a:r>
              <a:rPr sz="1400" spc="-5" dirty="0">
                <a:latin typeface="Comic Sans MS"/>
                <a:cs typeface="Comic Sans MS"/>
              </a:rPr>
              <a:t>iterates over three </a:t>
            </a:r>
            <a:r>
              <a:rPr sz="1400" spc="-40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states</a:t>
            </a:r>
            <a:endParaRPr sz="14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56428" y="1971268"/>
            <a:ext cx="40824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-5" dirty="0">
                <a:latin typeface="Comic Sans MS"/>
                <a:cs typeface="Comic Sans MS"/>
              </a:rPr>
              <a:t>Sections </a:t>
            </a:r>
            <a:r>
              <a:rPr sz="1400" b="1" dirty="0">
                <a:latin typeface="Comic Sans MS"/>
                <a:cs typeface="Comic Sans MS"/>
              </a:rPr>
              <a:t>- </a:t>
            </a:r>
            <a:r>
              <a:rPr sz="1400" dirty="0">
                <a:latin typeface="Comic Sans MS"/>
                <a:cs typeface="Comic Sans MS"/>
              </a:rPr>
              <a:t>A Git </a:t>
            </a:r>
            <a:r>
              <a:rPr sz="1400" spc="-5" dirty="0">
                <a:latin typeface="Comic Sans MS"/>
                <a:cs typeface="Comic Sans MS"/>
              </a:rPr>
              <a:t>project works in three </a:t>
            </a:r>
            <a:r>
              <a:rPr sz="1400" dirty="0">
                <a:latin typeface="Comic Sans MS"/>
                <a:cs typeface="Comic Sans MS"/>
              </a:rPr>
              <a:t>main </a:t>
            </a:r>
            <a:r>
              <a:rPr sz="1400" spc="-405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sections</a:t>
            </a:r>
            <a:endParaRPr sz="1400">
              <a:latin typeface="Comic Sans MS"/>
              <a:cs typeface="Comic Sans MS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2895600"/>
            <a:ext cx="3313176" cy="30480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895600"/>
            <a:ext cx="4808220" cy="3048000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7868" y="1124648"/>
            <a:ext cx="2147570" cy="876935"/>
            <a:chOff x="217868" y="1124648"/>
            <a:chExt cx="2147570" cy="876935"/>
          </a:xfrm>
        </p:grpSpPr>
        <p:sp>
          <p:nvSpPr>
            <p:cNvPr id="3" name="object 3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AD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886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96620" y="1422653"/>
            <a:ext cx="14401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Branching</a:t>
            </a:r>
            <a:r>
              <a:rPr sz="1500" spc="-2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</a:t>
            </a:r>
            <a:r>
              <a:rPr sz="1500" spc="-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15604" y="1124648"/>
            <a:ext cx="2147570" cy="876935"/>
            <a:chOff x="1915604" y="1124648"/>
            <a:chExt cx="2147570" cy="876935"/>
          </a:xfrm>
        </p:grpSpPr>
        <p:sp>
          <p:nvSpPr>
            <p:cNvPr id="7" name="object 7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28622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477516" y="1303146"/>
            <a:ext cx="1061720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Approaches</a:t>
            </a:r>
            <a:endParaRPr sz="1500">
              <a:latin typeface="Comic Sans MS"/>
              <a:cs typeface="Comic Sans MS"/>
            </a:endParaRPr>
          </a:p>
          <a:p>
            <a:pPr marL="29209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to</a:t>
            </a:r>
            <a:r>
              <a:rPr sz="1500" spc="-5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Versions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3340" y="1124648"/>
            <a:ext cx="2147570" cy="876935"/>
            <a:chOff x="3613340" y="1124648"/>
            <a:chExt cx="2147570" cy="876935"/>
          </a:xfrm>
        </p:grpSpPr>
        <p:sp>
          <p:nvSpPr>
            <p:cNvPr id="11" name="object 11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26358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5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4838" y="1183640"/>
            <a:ext cx="1085850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-2540" algn="ctr">
              <a:lnSpc>
                <a:spcPct val="104700"/>
              </a:lnSpc>
              <a:spcBef>
                <a:spcPts val="15"/>
              </a:spcBef>
            </a:pP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Focus on </a:t>
            </a:r>
            <a:r>
              <a:rPr sz="1500" spc="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Locality</a:t>
            </a:r>
            <a:r>
              <a:rPr sz="1500" spc="-10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0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10" dirty="0">
                <a:solidFill>
                  <a:srgbClr val="BEBEBE"/>
                </a:solidFill>
                <a:latin typeface="Comic Sans MS"/>
                <a:cs typeface="Comic Sans MS"/>
              </a:rPr>
              <a:t>Integrity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11076" y="1124648"/>
            <a:ext cx="2147570" cy="876935"/>
            <a:chOff x="5311076" y="1124648"/>
            <a:chExt cx="2147570" cy="876935"/>
          </a:xfrm>
        </p:grpSpPr>
        <p:sp>
          <p:nvSpPr>
            <p:cNvPr id="15" name="object 15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D7D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24094" y="1137666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902578" y="1183640"/>
            <a:ext cx="1005205" cy="7327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 indent="1270" algn="ctr">
              <a:lnSpc>
                <a:spcPct val="104700"/>
              </a:lnSpc>
              <a:spcBef>
                <a:spcPts val="15"/>
              </a:spcBef>
            </a:pP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States</a:t>
            </a:r>
            <a:r>
              <a:rPr sz="1500" spc="-6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and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Sections</a:t>
            </a:r>
            <a:r>
              <a:rPr sz="1500" spc="-85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spc="-5" dirty="0">
                <a:solidFill>
                  <a:srgbClr val="BEBEBE"/>
                </a:solidFill>
                <a:latin typeface="Comic Sans MS"/>
                <a:cs typeface="Comic Sans MS"/>
              </a:rPr>
              <a:t>in </a:t>
            </a:r>
            <a:r>
              <a:rPr sz="1500" spc="-434" dirty="0">
                <a:solidFill>
                  <a:srgbClr val="BEBEBE"/>
                </a:solidFill>
                <a:latin typeface="Comic Sans MS"/>
                <a:cs typeface="Comic Sans MS"/>
              </a:rPr>
              <a:t> </a:t>
            </a:r>
            <a:r>
              <a:rPr sz="1500" dirty="0">
                <a:solidFill>
                  <a:srgbClr val="BEBEBE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08876" y="1124711"/>
            <a:ext cx="2147570" cy="876300"/>
            <a:chOff x="7008876" y="1124711"/>
            <a:chExt cx="2147570" cy="876300"/>
          </a:xfrm>
        </p:grpSpPr>
        <p:sp>
          <p:nvSpPr>
            <p:cNvPr id="19" name="object 19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1696212" y="0"/>
                  </a:moveTo>
                  <a:lnTo>
                    <a:pt x="0" y="0"/>
                  </a:lnTo>
                  <a:lnTo>
                    <a:pt x="425195" y="425195"/>
                  </a:lnTo>
                  <a:lnTo>
                    <a:pt x="0" y="850391"/>
                  </a:lnTo>
                  <a:lnTo>
                    <a:pt x="1696212" y="850391"/>
                  </a:lnTo>
                  <a:lnTo>
                    <a:pt x="2121408" y="425195"/>
                  </a:lnTo>
                  <a:lnTo>
                    <a:pt x="1696212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1830" y="1137665"/>
              <a:ext cx="2121535" cy="850900"/>
            </a:xfrm>
            <a:custGeom>
              <a:avLst/>
              <a:gdLst/>
              <a:ahLst/>
              <a:cxnLst/>
              <a:rect l="l" t="t" r="r" b="b"/>
              <a:pathLst>
                <a:path w="2121534" h="850900">
                  <a:moveTo>
                    <a:pt x="0" y="0"/>
                  </a:moveTo>
                  <a:lnTo>
                    <a:pt x="1696212" y="0"/>
                  </a:lnTo>
                  <a:lnTo>
                    <a:pt x="2121408" y="425195"/>
                  </a:lnTo>
                  <a:lnTo>
                    <a:pt x="1696212" y="850391"/>
                  </a:lnTo>
                  <a:lnTo>
                    <a:pt x="0" y="850391"/>
                  </a:lnTo>
                  <a:lnTo>
                    <a:pt x="425195" y="4251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538084" y="1303146"/>
            <a:ext cx="1129665" cy="49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5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15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Repositories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34874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BASICS</a:t>
            </a:r>
            <a:r>
              <a:rPr spc="-25" dirty="0"/>
              <a:t> </a:t>
            </a:r>
            <a:r>
              <a:rPr spc="-10" dirty="0"/>
              <a:t>OF </a:t>
            </a:r>
            <a:r>
              <a:rPr spc="-5" dirty="0"/>
              <a:t>GIT</a:t>
            </a:r>
            <a:r>
              <a:rPr spc="-20" dirty="0"/>
              <a:t> </a:t>
            </a:r>
            <a:r>
              <a:rPr dirty="0"/>
              <a:t>5-5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59740" y="1958467"/>
            <a:ext cx="819912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latin typeface="Comic Sans MS"/>
                <a:cs typeface="Comic Sans MS"/>
              </a:rPr>
              <a:t>Git </a:t>
            </a:r>
            <a:r>
              <a:rPr sz="1800" spc="-5" dirty="0">
                <a:latin typeface="Comic Sans MS"/>
                <a:cs typeface="Comic Sans MS"/>
              </a:rPr>
              <a:t>repositories </a:t>
            </a:r>
            <a:r>
              <a:rPr sz="1800" dirty="0">
                <a:latin typeface="Comic Sans MS"/>
                <a:cs typeface="Comic Sans MS"/>
              </a:rPr>
              <a:t>are not </a:t>
            </a:r>
            <a:r>
              <a:rPr sz="1800" spc="-5" dirty="0">
                <a:latin typeface="Comic Sans MS"/>
                <a:cs typeface="Comic Sans MS"/>
              </a:rPr>
              <a:t>binary files, </a:t>
            </a:r>
            <a:r>
              <a:rPr sz="1800" dirty="0">
                <a:latin typeface="Comic Sans MS"/>
                <a:cs typeface="Comic Sans MS"/>
              </a:rPr>
              <a:t>unlike most </a:t>
            </a:r>
            <a:r>
              <a:rPr sz="1800" spc="-5" dirty="0">
                <a:latin typeface="Comic Sans MS"/>
                <a:cs typeface="Comic Sans MS"/>
              </a:rPr>
              <a:t>databases. Instead, </a:t>
            </a:r>
            <a:r>
              <a:rPr sz="1800" dirty="0">
                <a:latin typeface="Comic Sans MS"/>
                <a:cs typeface="Comic Sans MS"/>
              </a:rPr>
              <a:t>a Git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repository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is a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directory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that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contains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set</a:t>
            </a:r>
            <a:r>
              <a:rPr sz="1800" spc="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 </a:t>
            </a:r>
            <a:r>
              <a:rPr sz="1800" spc="-5" dirty="0">
                <a:latin typeface="Comic Sans MS"/>
                <a:cs typeface="Comic Sans MS"/>
              </a:rPr>
              <a:t>files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and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subdirectories </a:t>
            </a:r>
            <a:r>
              <a:rPr sz="1800" dirty="0">
                <a:latin typeface="Comic Sans MS"/>
                <a:cs typeface="Comic Sans MS"/>
              </a:rPr>
              <a:t> within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it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4162" y="3658361"/>
            <a:ext cx="1447800" cy="1066800"/>
          </a:xfrm>
          <a:prstGeom prst="rect">
            <a:avLst/>
          </a:prstGeom>
          <a:solidFill>
            <a:srgbClr val="4E1510"/>
          </a:solidFill>
          <a:ln w="25908">
            <a:solidFill>
              <a:srgbClr val="9B310E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Standard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4162" y="4877561"/>
            <a:ext cx="1447800" cy="762000"/>
          </a:xfrm>
          <a:prstGeom prst="rect">
            <a:avLst/>
          </a:prstGeom>
          <a:solidFill>
            <a:srgbClr val="D24716"/>
          </a:solidFill>
          <a:ln w="25908">
            <a:solidFill>
              <a:srgbClr val="9B310E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Bare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Repository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3975" y="3679317"/>
            <a:ext cx="5493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standard </a:t>
            </a:r>
            <a:r>
              <a:rPr sz="1800" dirty="0">
                <a:latin typeface="Comic Sans MS"/>
                <a:cs typeface="Comic Sans MS"/>
              </a:rPr>
              <a:t>Git </a:t>
            </a:r>
            <a:r>
              <a:rPr sz="1800" spc="-5" dirty="0">
                <a:latin typeface="Comic Sans MS"/>
                <a:cs typeface="Comic Sans MS"/>
              </a:rPr>
              <a:t>repository is linked to </a:t>
            </a:r>
            <a:r>
              <a:rPr sz="1800" dirty="0">
                <a:latin typeface="Comic Sans MS"/>
                <a:cs typeface="Comic Sans MS"/>
              </a:rPr>
              <a:t>a copy of the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working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tree.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93975" y="4822697"/>
            <a:ext cx="53124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mic Sans MS"/>
                <a:cs typeface="Comic Sans MS"/>
              </a:rPr>
              <a:t>A </a:t>
            </a:r>
            <a:r>
              <a:rPr sz="1800" spc="-5" dirty="0">
                <a:latin typeface="Comic Sans MS"/>
                <a:cs typeface="Comic Sans MS"/>
              </a:rPr>
              <a:t>bare repository is just </a:t>
            </a:r>
            <a:r>
              <a:rPr sz="1800" dirty="0">
                <a:latin typeface="Comic Sans MS"/>
                <a:cs typeface="Comic Sans MS"/>
              </a:rPr>
              <a:t>a copy of the </a:t>
            </a:r>
            <a:r>
              <a:rPr sz="1800" spc="-5" dirty="0">
                <a:latin typeface="Comic Sans MS"/>
                <a:cs typeface="Comic Sans MS"/>
              </a:rPr>
              <a:t>repository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itself </a:t>
            </a:r>
            <a:r>
              <a:rPr sz="1800" dirty="0">
                <a:latin typeface="Comic Sans MS"/>
                <a:cs typeface="Comic Sans MS"/>
              </a:rPr>
              <a:t>and </a:t>
            </a:r>
            <a:r>
              <a:rPr sz="1800" spc="-5" dirty="0">
                <a:latin typeface="Comic Sans MS"/>
                <a:cs typeface="Comic Sans MS"/>
              </a:rPr>
              <a:t>is </a:t>
            </a:r>
            <a:r>
              <a:rPr sz="1800" dirty="0">
                <a:latin typeface="Comic Sans MS"/>
                <a:cs typeface="Comic Sans MS"/>
              </a:rPr>
              <a:t>not </a:t>
            </a:r>
            <a:r>
              <a:rPr sz="1800" spc="-5" dirty="0">
                <a:latin typeface="Comic Sans MS"/>
                <a:cs typeface="Comic Sans MS"/>
              </a:rPr>
              <a:t>linked to </a:t>
            </a:r>
            <a:r>
              <a:rPr sz="1800" dirty="0">
                <a:latin typeface="Comic Sans MS"/>
                <a:cs typeface="Comic Sans MS"/>
              </a:rPr>
              <a:t>a copy of the working 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tree.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6943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BENEFITS</a:t>
            </a:r>
            <a:r>
              <a:rPr spc="-10" dirty="0"/>
              <a:t> OF</a:t>
            </a:r>
            <a:r>
              <a:rPr spc="-5" dirty="0"/>
              <a:t> GIT</a:t>
            </a:r>
            <a:r>
              <a:rPr spc="-10" dirty="0"/>
              <a:t> BRANCHING</a:t>
            </a:r>
            <a:r>
              <a:rPr spc="25" dirty="0"/>
              <a:t> </a:t>
            </a:r>
            <a:r>
              <a:rPr spc="-5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13916" y="3451859"/>
            <a:ext cx="5440680" cy="1964689"/>
            <a:chOff x="1613916" y="3451859"/>
            <a:chExt cx="5440680" cy="19646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3916" y="3451859"/>
              <a:ext cx="5440680" cy="19644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456" y="3581399"/>
              <a:ext cx="5181600" cy="170535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59740" y="1015765"/>
            <a:ext cx="4321175" cy="1651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omic Sans MS"/>
                <a:cs typeface="Comic Sans MS"/>
              </a:rPr>
              <a:t>Easy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Experimentations</a:t>
            </a:r>
            <a:endParaRPr sz="2000">
              <a:latin typeface="Comic Sans MS"/>
              <a:cs typeface="Comic Sans MS"/>
            </a:endParaRPr>
          </a:p>
          <a:p>
            <a:pPr marL="355600" indent="-34353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omic Sans MS"/>
                <a:cs typeface="Comic Sans MS"/>
              </a:rPr>
              <a:t>Independent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exploration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ideas</a:t>
            </a:r>
            <a:endParaRPr sz="2000">
              <a:latin typeface="Comic Sans MS"/>
              <a:cs typeface="Comic Sans MS"/>
            </a:endParaRPr>
          </a:p>
          <a:p>
            <a:pPr marL="355600" indent="-343535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Comic Sans MS"/>
                <a:cs typeface="Comic Sans MS"/>
              </a:rPr>
              <a:t>Trying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out</a:t>
            </a:r>
            <a:r>
              <a:rPr sz="2000" spc="-3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other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approaches</a:t>
            </a:r>
            <a:endParaRPr sz="2000">
              <a:latin typeface="Comic Sans MS"/>
              <a:cs typeface="Comic Sans MS"/>
            </a:endParaRPr>
          </a:p>
          <a:p>
            <a:pPr marL="355600" indent="-34353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omic Sans MS"/>
                <a:cs typeface="Comic Sans MS"/>
              </a:rPr>
              <a:t>Preservation</a:t>
            </a:r>
            <a:r>
              <a:rPr sz="2000" dirty="0">
                <a:latin typeface="Comic Sans MS"/>
                <a:cs typeface="Comic Sans MS"/>
              </a:rPr>
              <a:t> of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the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main</a:t>
            </a:r>
            <a:r>
              <a:rPr sz="2000" spc="-5" dirty="0">
                <a:latin typeface="Comic Sans MS"/>
                <a:cs typeface="Comic Sans MS"/>
              </a:rPr>
              <a:t> file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736" y="1104900"/>
            <a:ext cx="2595372" cy="16078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6458" y="1146810"/>
            <a:ext cx="2472055" cy="1484630"/>
          </a:xfrm>
          <a:prstGeom prst="rect">
            <a:avLst/>
          </a:prstGeom>
          <a:solidFill>
            <a:srgbClr val="9B2C1F"/>
          </a:solidFill>
          <a:ln w="381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320040">
              <a:lnSpc>
                <a:spcPct val="100000"/>
              </a:lnSpc>
              <a:spcBef>
                <a:spcPts val="1764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Free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download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5076" y="1104900"/>
            <a:ext cx="2595372" cy="16078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36797" y="1146810"/>
            <a:ext cx="2472055" cy="1484630"/>
          </a:xfrm>
          <a:prstGeom prst="rect">
            <a:avLst/>
          </a:prstGeom>
          <a:solidFill>
            <a:srgbClr val="A18E6A"/>
          </a:solidFill>
          <a:ln w="381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1764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Faster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operations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5415" y="1104900"/>
            <a:ext cx="2595372" cy="16078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57138" y="1146810"/>
            <a:ext cx="2472055" cy="1484630"/>
          </a:xfrm>
          <a:prstGeom prst="rect">
            <a:avLst/>
          </a:prstGeom>
          <a:solidFill>
            <a:srgbClr val="946151"/>
          </a:solidFill>
          <a:ln w="381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Requires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less</a:t>
            </a:r>
            <a:endParaRPr sz="1800">
              <a:latin typeface="Comic Sans MS"/>
              <a:cs typeface="Comic Sans MS"/>
            </a:endParaRPr>
          </a:p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run-time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54736" y="2836164"/>
            <a:ext cx="2649220" cy="1607820"/>
            <a:chOff x="554736" y="2836164"/>
            <a:chExt cx="2649220" cy="16078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736" y="2836164"/>
              <a:ext cx="2595372" cy="1607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452" y="3198876"/>
              <a:ext cx="2634996" cy="92964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6458" y="2878073"/>
            <a:ext cx="2472055" cy="1484630"/>
          </a:xfrm>
          <a:prstGeom prst="rect">
            <a:avLst/>
          </a:prstGeom>
          <a:solidFill>
            <a:srgbClr val="918485"/>
          </a:solidFill>
          <a:ln w="38100">
            <a:solidFill>
              <a:srgbClr val="FFFFFF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Easy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compression</a:t>
            </a:r>
            <a:r>
              <a:rPr sz="1800" spc="-1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of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data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5076" y="2836164"/>
            <a:ext cx="2595372" cy="160782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336797" y="2878073"/>
            <a:ext cx="2472055" cy="1484630"/>
          </a:xfrm>
          <a:prstGeom prst="rect">
            <a:avLst/>
          </a:prstGeom>
          <a:solidFill>
            <a:srgbClr val="855D5D"/>
          </a:solidFill>
          <a:ln w="38100">
            <a:solidFill>
              <a:srgbClr val="FFFFFF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Times New Roman"/>
              <a:cs typeface="Times New Roman"/>
            </a:endParaRPr>
          </a:p>
          <a:p>
            <a:pPr marL="38608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Committed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data</a:t>
            </a:r>
            <a:endParaRPr sz="1800">
              <a:latin typeface="Comic Sans MS"/>
              <a:cs typeface="Comic Sans MS"/>
            </a:endParaRPr>
          </a:p>
          <a:p>
            <a:pPr marL="4349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remains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secure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5415" y="2836164"/>
            <a:ext cx="2595372" cy="160782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057138" y="2878073"/>
            <a:ext cx="2472055" cy="1484630"/>
          </a:xfrm>
          <a:prstGeom prst="rect">
            <a:avLst/>
          </a:prstGeom>
          <a:solidFill>
            <a:srgbClr val="9B2C1F"/>
          </a:solidFill>
          <a:ln w="381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519430">
              <a:lnSpc>
                <a:spcPct val="100000"/>
              </a:lnSpc>
              <a:spcBef>
                <a:spcPts val="177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High</a:t>
            </a:r>
            <a:r>
              <a:rPr sz="1800" spc="-5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security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75076" y="4567428"/>
            <a:ext cx="2595880" cy="1607820"/>
            <a:chOff x="3275076" y="4567428"/>
            <a:chExt cx="2595880" cy="160782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5076" y="4567428"/>
              <a:ext cx="2595372" cy="16078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8040" y="4930140"/>
              <a:ext cx="2455164" cy="92811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336797" y="4609338"/>
            <a:ext cx="2472055" cy="1484630"/>
          </a:xfrm>
          <a:prstGeom prst="rect">
            <a:avLst/>
          </a:prstGeom>
          <a:solidFill>
            <a:srgbClr val="A18E6A"/>
          </a:solidFill>
          <a:ln w="38100">
            <a:solidFill>
              <a:srgbClr val="FFFFFF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Times New Roman"/>
              <a:cs typeface="Times New Roman"/>
            </a:endParaRPr>
          </a:p>
          <a:p>
            <a:pPr marL="25336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Does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not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require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endParaRPr sz="1800">
              <a:latin typeface="Comic Sans MS"/>
              <a:cs typeface="Comic Sans MS"/>
            </a:endParaRPr>
          </a:p>
          <a:p>
            <a:pPr marL="233679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powerful</a:t>
            </a:r>
            <a:r>
              <a:rPr sz="1800" spc="-9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hardware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624708" y="395986"/>
            <a:ext cx="3919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ADVANTAGES</a:t>
            </a:r>
            <a:r>
              <a:rPr spc="35" dirty="0"/>
              <a:t> </a:t>
            </a:r>
            <a:r>
              <a:rPr spc="-10" dirty="0"/>
              <a:t>OF</a:t>
            </a:r>
            <a:r>
              <a:rPr spc="-35" dirty="0"/>
              <a:t> </a:t>
            </a:r>
            <a:r>
              <a:rPr spc="-5" dirty="0"/>
              <a:t>GIT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8281"/>
            <a:ext cx="8117205" cy="18129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omic Sans MS"/>
                <a:cs typeface="Comic Sans MS"/>
              </a:rPr>
              <a:t>A</a:t>
            </a:r>
            <a:r>
              <a:rPr sz="2400" spc="-2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file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in</a:t>
            </a:r>
            <a:r>
              <a:rPr sz="2400" dirty="0">
                <a:latin typeface="Comic Sans MS"/>
                <a:cs typeface="Comic Sans MS"/>
              </a:rPr>
              <a:t> Git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can</a:t>
            </a:r>
            <a:r>
              <a:rPr sz="2400" spc="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also</a:t>
            </a:r>
            <a:r>
              <a:rPr sz="2400" spc="-5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go</a:t>
            </a:r>
            <a:r>
              <a:rPr sz="2400" spc="-5" dirty="0">
                <a:latin typeface="Comic Sans MS"/>
                <a:cs typeface="Comic Sans MS"/>
              </a:rPr>
              <a:t> through</a:t>
            </a:r>
            <a:r>
              <a:rPr sz="2400" spc="-10" dirty="0">
                <a:latin typeface="Comic Sans MS"/>
                <a:cs typeface="Comic Sans MS"/>
              </a:rPr>
              <a:t> </a:t>
            </a:r>
            <a:r>
              <a:rPr sz="2400" dirty="0">
                <a:latin typeface="Comic Sans MS"/>
                <a:cs typeface="Comic Sans MS"/>
              </a:rPr>
              <a:t>four</a:t>
            </a:r>
            <a:r>
              <a:rPr sz="2400" spc="-5" dirty="0">
                <a:latin typeface="Comic Sans MS"/>
                <a:cs typeface="Comic Sans MS"/>
              </a:rPr>
              <a:t> different</a:t>
            </a:r>
            <a:r>
              <a:rPr sz="2400" spc="-15" dirty="0">
                <a:latin typeface="Comic Sans MS"/>
                <a:cs typeface="Comic Sans MS"/>
              </a:rPr>
              <a:t> </a:t>
            </a:r>
            <a:r>
              <a:rPr sz="2400" spc="-5" dirty="0">
                <a:latin typeface="Comic Sans MS"/>
                <a:cs typeface="Comic Sans MS"/>
              </a:rPr>
              <a:t>states:</a:t>
            </a:r>
            <a:endParaRPr sz="2400">
              <a:latin typeface="Comic Sans MS"/>
              <a:cs typeface="Comic Sans MS"/>
            </a:endParaRPr>
          </a:p>
          <a:p>
            <a:pPr marL="250190" marR="5862955">
              <a:lnSpc>
                <a:spcPct val="112500"/>
              </a:lnSpc>
              <a:spcBef>
                <a:spcPts val="15"/>
              </a:spcBef>
            </a:pPr>
            <a:r>
              <a:rPr sz="2000" spc="10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2000" spc="10" dirty="0">
                <a:latin typeface="Comic Sans MS"/>
                <a:cs typeface="Comic Sans MS"/>
              </a:rPr>
              <a:t>Untracked 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10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2000" spc="10" dirty="0">
                <a:latin typeface="Comic Sans MS"/>
                <a:cs typeface="Comic Sans MS"/>
              </a:rPr>
              <a:t>Tracked 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15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2000" spc="15" dirty="0">
                <a:latin typeface="Comic Sans MS"/>
                <a:cs typeface="Comic Sans MS"/>
              </a:rPr>
              <a:t>Staged </a:t>
            </a:r>
            <a:r>
              <a:rPr sz="2000" spc="20" dirty="0">
                <a:latin typeface="Comic Sans MS"/>
                <a:cs typeface="Comic Sans MS"/>
              </a:rPr>
              <a:t> </a:t>
            </a:r>
            <a:r>
              <a:rPr sz="2000" spc="90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2000" spc="5" dirty="0">
                <a:latin typeface="Comic Sans MS"/>
                <a:cs typeface="Comic Sans MS"/>
              </a:rPr>
              <a:t>D</a:t>
            </a:r>
            <a:r>
              <a:rPr sz="2000" spc="-5" dirty="0">
                <a:latin typeface="Comic Sans MS"/>
                <a:cs typeface="Comic Sans MS"/>
              </a:rPr>
              <a:t>ir</a:t>
            </a:r>
            <a:r>
              <a:rPr sz="2000" spc="5" dirty="0">
                <a:latin typeface="Comic Sans MS"/>
                <a:cs typeface="Comic Sans MS"/>
              </a:rPr>
              <a:t>t</a:t>
            </a:r>
            <a:r>
              <a:rPr sz="2000" dirty="0">
                <a:latin typeface="Comic Sans MS"/>
                <a:cs typeface="Comic Sans MS"/>
              </a:rPr>
              <a:t>y/Mod</a:t>
            </a:r>
            <a:r>
              <a:rPr sz="2000" spc="5" dirty="0">
                <a:latin typeface="Comic Sans MS"/>
                <a:cs typeface="Comic Sans MS"/>
              </a:rPr>
              <a:t>i</a:t>
            </a:r>
            <a:r>
              <a:rPr sz="2000" spc="-10" dirty="0">
                <a:latin typeface="Comic Sans MS"/>
                <a:cs typeface="Comic Sans MS"/>
              </a:rPr>
              <a:t>f</a:t>
            </a:r>
            <a:r>
              <a:rPr sz="2000" spc="-5" dirty="0">
                <a:latin typeface="Comic Sans MS"/>
                <a:cs typeface="Comic Sans MS"/>
              </a:rPr>
              <a:t>ied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48964" y="395986"/>
            <a:ext cx="28708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STATES</a:t>
            </a:r>
            <a:r>
              <a:rPr spc="-35" dirty="0"/>
              <a:t> </a:t>
            </a:r>
            <a:r>
              <a:rPr spc="-10" dirty="0"/>
              <a:t>OF</a:t>
            </a:r>
            <a:r>
              <a:rPr spc="-20" dirty="0"/>
              <a:t> </a:t>
            </a:r>
            <a:r>
              <a:rPr spc="-5" dirty="0"/>
              <a:t>GIT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944" y="4158932"/>
            <a:ext cx="2220595" cy="1006475"/>
            <a:chOff x="63944" y="4158932"/>
            <a:chExt cx="2220595" cy="1006475"/>
          </a:xfrm>
        </p:grpSpPr>
        <p:sp>
          <p:nvSpPr>
            <p:cNvPr id="5" name="object 5"/>
            <p:cNvSpPr/>
            <p:nvPr/>
          </p:nvSpPr>
          <p:spPr>
            <a:xfrm>
              <a:off x="76961" y="4171950"/>
              <a:ext cx="2194560" cy="980440"/>
            </a:xfrm>
            <a:custGeom>
              <a:avLst/>
              <a:gdLst/>
              <a:ahLst/>
              <a:cxnLst/>
              <a:rect l="l" t="t" r="r" b="b"/>
              <a:pathLst>
                <a:path w="2194560" h="980439">
                  <a:moveTo>
                    <a:pt x="1755648" y="0"/>
                  </a:moveTo>
                  <a:lnTo>
                    <a:pt x="0" y="0"/>
                  </a:lnTo>
                  <a:lnTo>
                    <a:pt x="438912" y="489966"/>
                  </a:lnTo>
                  <a:lnTo>
                    <a:pt x="0" y="979932"/>
                  </a:lnTo>
                  <a:lnTo>
                    <a:pt x="1755648" y="979932"/>
                  </a:lnTo>
                  <a:lnTo>
                    <a:pt x="2194560" y="489966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961" y="4171950"/>
              <a:ext cx="2194560" cy="980440"/>
            </a:xfrm>
            <a:custGeom>
              <a:avLst/>
              <a:gdLst/>
              <a:ahLst/>
              <a:cxnLst/>
              <a:rect l="l" t="t" r="r" b="b"/>
              <a:pathLst>
                <a:path w="2194560" h="980439">
                  <a:moveTo>
                    <a:pt x="0" y="0"/>
                  </a:moveTo>
                  <a:lnTo>
                    <a:pt x="1755648" y="0"/>
                  </a:lnTo>
                  <a:lnTo>
                    <a:pt x="2194560" y="489966"/>
                  </a:lnTo>
                  <a:lnTo>
                    <a:pt x="1755648" y="979932"/>
                  </a:lnTo>
                  <a:lnTo>
                    <a:pt x="0" y="979932"/>
                  </a:lnTo>
                  <a:lnTo>
                    <a:pt x="438912" y="489966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6206" y="4505655"/>
            <a:ext cx="1022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FFFFFF"/>
                </a:solidFill>
                <a:latin typeface="Comic Sans MS"/>
                <a:cs typeface="Comic Sans MS"/>
              </a:rPr>
              <a:t>Unt</a:t>
            </a: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ra</a:t>
            </a:r>
            <a:r>
              <a:rPr sz="1600" spc="-15" dirty="0">
                <a:solidFill>
                  <a:srgbClr val="FFFFFF"/>
                </a:solidFill>
                <a:latin typeface="Comic Sans MS"/>
                <a:cs typeface="Comic Sans MS"/>
              </a:rPr>
              <a:t>c</a:t>
            </a: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ked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7648" y="4158932"/>
            <a:ext cx="2220595" cy="1006475"/>
            <a:chOff x="2267648" y="4158932"/>
            <a:chExt cx="2220595" cy="1006475"/>
          </a:xfrm>
        </p:grpSpPr>
        <p:sp>
          <p:nvSpPr>
            <p:cNvPr id="9" name="object 9"/>
            <p:cNvSpPr/>
            <p:nvPr/>
          </p:nvSpPr>
          <p:spPr>
            <a:xfrm>
              <a:off x="2280665" y="4171950"/>
              <a:ext cx="2194560" cy="980440"/>
            </a:xfrm>
            <a:custGeom>
              <a:avLst/>
              <a:gdLst/>
              <a:ahLst/>
              <a:cxnLst/>
              <a:rect l="l" t="t" r="r" b="b"/>
              <a:pathLst>
                <a:path w="2194560" h="980439">
                  <a:moveTo>
                    <a:pt x="1755648" y="0"/>
                  </a:moveTo>
                  <a:lnTo>
                    <a:pt x="0" y="0"/>
                  </a:lnTo>
                  <a:lnTo>
                    <a:pt x="438912" y="489966"/>
                  </a:lnTo>
                  <a:lnTo>
                    <a:pt x="0" y="979932"/>
                  </a:lnTo>
                  <a:lnTo>
                    <a:pt x="1755648" y="979932"/>
                  </a:lnTo>
                  <a:lnTo>
                    <a:pt x="2194560" y="489966"/>
                  </a:lnTo>
                  <a:lnTo>
                    <a:pt x="1755648" y="0"/>
                  </a:lnTo>
                  <a:close/>
                </a:path>
              </a:pathLst>
            </a:custGeom>
            <a:solidFill>
              <a:srgbClr val="A18E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0665" y="4171950"/>
              <a:ext cx="2194560" cy="980440"/>
            </a:xfrm>
            <a:custGeom>
              <a:avLst/>
              <a:gdLst/>
              <a:ahLst/>
              <a:cxnLst/>
              <a:rect l="l" t="t" r="r" b="b"/>
              <a:pathLst>
                <a:path w="2194560" h="980439">
                  <a:moveTo>
                    <a:pt x="0" y="0"/>
                  </a:moveTo>
                  <a:lnTo>
                    <a:pt x="1755648" y="0"/>
                  </a:lnTo>
                  <a:lnTo>
                    <a:pt x="2194560" y="489966"/>
                  </a:lnTo>
                  <a:lnTo>
                    <a:pt x="1755648" y="979932"/>
                  </a:lnTo>
                  <a:lnTo>
                    <a:pt x="0" y="979932"/>
                  </a:lnTo>
                  <a:lnTo>
                    <a:pt x="438912" y="489966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96945" y="4505655"/>
            <a:ext cx="8077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Tracked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71352" y="4158932"/>
            <a:ext cx="2230120" cy="1006475"/>
            <a:chOff x="4471352" y="4158932"/>
            <a:chExt cx="2230120" cy="1006475"/>
          </a:xfrm>
        </p:grpSpPr>
        <p:sp>
          <p:nvSpPr>
            <p:cNvPr id="13" name="object 13"/>
            <p:cNvSpPr/>
            <p:nvPr/>
          </p:nvSpPr>
          <p:spPr>
            <a:xfrm>
              <a:off x="4484370" y="4171950"/>
              <a:ext cx="2204085" cy="980440"/>
            </a:xfrm>
            <a:custGeom>
              <a:avLst/>
              <a:gdLst/>
              <a:ahLst/>
              <a:cxnLst/>
              <a:rect l="l" t="t" r="r" b="b"/>
              <a:pathLst>
                <a:path w="2204084" h="980439">
                  <a:moveTo>
                    <a:pt x="1763014" y="0"/>
                  </a:moveTo>
                  <a:lnTo>
                    <a:pt x="0" y="0"/>
                  </a:lnTo>
                  <a:lnTo>
                    <a:pt x="440690" y="489966"/>
                  </a:lnTo>
                  <a:lnTo>
                    <a:pt x="0" y="979932"/>
                  </a:lnTo>
                  <a:lnTo>
                    <a:pt x="1763014" y="979932"/>
                  </a:lnTo>
                  <a:lnTo>
                    <a:pt x="2203704" y="489966"/>
                  </a:lnTo>
                  <a:lnTo>
                    <a:pt x="1763014" y="0"/>
                  </a:lnTo>
                  <a:close/>
                </a:path>
              </a:pathLst>
            </a:custGeom>
            <a:solidFill>
              <a:srgbClr val="946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4370" y="4171950"/>
              <a:ext cx="2204085" cy="980440"/>
            </a:xfrm>
            <a:custGeom>
              <a:avLst/>
              <a:gdLst/>
              <a:ahLst/>
              <a:cxnLst/>
              <a:rect l="l" t="t" r="r" b="b"/>
              <a:pathLst>
                <a:path w="2204084" h="980439">
                  <a:moveTo>
                    <a:pt x="0" y="0"/>
                  </a:moveTo>
                  <a:lnTo>
                    <a:pt x="1763014" y="0"/>
                  </a:lnTo>
                  <a:lnTo>
                    <a:pt x="2203704" y="489966"/>
                  </a:lnTo>
                  <a:lnTo>
                    <a:pt x="1763014" y="979932"/>
                  </a:lnTo>
                  <a:lnTo>
                    <a:pt x="0" y="979932"/>
                  </a:lnTo>
                  <a:lnTo>
                    <a:pt x="440690" y="489966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57927" y="4505655"/>
            <a:ext cx="703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Staged</a:t>
            </a:r>
            <a:endParaRPr sz="160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541007" y="4158996"/>
            <a:ext cx="2607945" cy="1005840"/>
            <a:chOff x="6541007" y="4158996"/>
            <a:chExt cx="2607945" cy="1005840"/>
          </a:xfrm>
        </p:grpSpPr>
        <p:sp>
          <p:nvSpPr>
            <p:cNvPr id="17" name="object 17"/>
            <p:cNvSpPr/>
            <p:nvPr/>
          </p:nvSpPr>
          <p:spPr>
            <a:xfrm>
              <a:off x="6553961" y="4171950"/>
              <a:ext cx="2581910" cy="980440"/>
            </a:xfrm>
            <a:custGeom>
              <a:avLst/>
              <a:gdLst/>
              <a:ahLst/>
              <a:cxnLst/>
              <a:rect l="l" t="t" r="r" b="b"/>
              <a:pathLst>
                <a:path w="2581909" h="980439">
                  <a:moveTo>
                    <a:pt x="2065274" y="0"/>
                  </a:moveTo>
                  <a:lnTo>
                    <a:pt x="0" y="0"/>
                  </a:lnTo>
                  <a:lnTo>
                    <a:pt x="516381" y="489966"/>
                  </a:lnTo>
                  <a:lnTo>
                    <a:pt x="0" y="979932"/>
                  </a:lnTo>
                  <a:lnTo>
                    <a:pt x="2065274" y="979932"/>
                  </a:lnTo>
                  <a:lnTo>
                    <a:pt x="2581656" y="489966"/>
                  </a:lnTo>
                  <a:lnTo>
                    <a:pt x="2065274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53961" y="4171950"/>
              <a:ext cx="2581910" cy="980440"/>
            </a:xfrm>
            <a:custGeom>
              <a:avLst/>
              <a:gdLst/>
              <a:ahLst/>
              <a:cxnLst/>
              <a:rect l="l" t="t" r="r" b="b"/>
              <a:pathLst>
                <a:path w="2581909" h="980439">
                  <a:moveTo>
                    <a:pt x="0" y="0"/>
                  </a:moveTo>
                  <a:lnTo>
                    <a:pt x="2065274" y="0"/>
                  </a:lnTo>
                  <a:lnTo>
                    <a:pt x="2581656" y="489966"/>
                  </a:lnTo>
                  <a:lnTo>
                    <a:pt x="2065274" y="979932"/>
                  </a:lnTo>
                  <a:lnTo>
                    <a:pt x="0" y="979932"/>
                  </a:lnTo>
                  <a:lnTo>
                    <a:pt x="516381" y="489966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29653" y="4505655"/>
            <a:ext cx="1480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mic Sans MS"/>
                <a:cs typeface="Comic Sans MS"/>
              </a:rPr>
              <a:t>Dirty/Modified</a:t>
            </a:r>
            <a:endParaRPr sz="16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044" y="1043233"/>
            <a:ext cx="3224530" cy="115252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omic Sans MS"/>
                <a:cs typeface="Comic Sans MS"/>
              </a:rPr>
              <a:t>Two</a:t>
            </a:r>
            <a:r>
              <a:rPr sz="2800" spc="-15" dirty="0">
                <a:latin typeface="Comic Sans MS"/>
                <a:cs typeface="Comic Sans MS"/>
              </a:rPr>
              <a:t> </a:t>
            </a:r>
            <a:r>
              <a:rPr sz="2800" spc="-10" dirty="0">
                <a:latin typeface="Comic Sans MS"/>
                <a:cs typeface="Comic Sans MS"/>
              </a:rPr>
              <a:t>forms</a:t>
            </a:r>
            <a:r>
              <a:rPr sz="2800" spc="5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of</a:t>
            </a:r>
            <a:r>
              <a:rPr sz="2800" spc="-10" dirty="0">
                <a:latin typeface="Comic Sans MS"/>
                <a:cs typeface="Comic Sans MS"/>
              </a:rPr>
              <a:t> </a:t>
            </a:r>
            <a:r>
              <a:rPr sz="2800" spc="-5" dirty="0">
                <a:latin typeface="Comic Sans MS"/>
                <a:cs typeface="Comic Sans MS"/>
              </a:rPr>
              <a:t>Git</a:t>
            </a:r>
            <a:endParaRPr sz="2800">
              <a:latin typeface="Comic Sans MS"/>
              <a:cs typeface="Comic Sans MS"/>
            </a:endParaRPr>
          </a:p>
          <a:p>
            <a:pPr marL="250190">
              <a:lnSpc>
                <a:spcPct val="100000"/>
              </a:lnSpc>
              <a:spcBef>
                <a:spcPts val="350"/>
              </a:spcBef>
            </a:pPr>
            <a:r>
              <a:rPr sz="1800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1800" spc="-869" dirty="0">
                <a:solidFill>
                  <a:srgbClr val="9B2C1F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Comic Sans MS"/>
                <a:cs typeface="Comic Sans MS"/>
              </a:rPr>
              <a:t>C</a:t>
            </a:r>
            <a:r>
              <a:rPr sz="1800" dirty="0">
                <a:latin typeface="Comic Sans MS"/>
                <a:cs typeface="Comic Sans MS"/>
              </a:rPr>
              <a:t>om</a:t>
            </a:r>
            <a:r>
              <a:rPr sz="1800" spc="5" dirty="0">
                <a:latin typeface="Comic Sans MS"/>
                <a:cs typeface="Comic Sans MS"/>
              </a:rPr>
              <a:t>m</a:t>
            </a:r>
            <a:r>
              <a:rPr sz="1800" dirty="0">
                <a:latin typeface="Comic Sans MS"/>
                <a:cs typeface="Comic Sans MS"/>
              </a:rPr>
              <a:t>a</a:t>
            </a:r>
            <a:r>
              <a:rPr sz="1800" spc="5" dirty="0">
                <a:latin typeface="Comic Sans MS"/>
                <a:cs typeface="Comic Sans MS"/>
              </a:rPr>
              <a:t>n</a:t>
            </a:r>
            <a:r>
              <a:rPr sz="1800" spc="-5" dirty="0">
                <a:latin typeface="Comic Sans MS"/>
                <a:cs typeface="Comic Sans MS"/>
              </a:rPr>
              <a:t>d</a:t>
            </a:r>
            <a:r>
              <a:rPr sz="1800" spc="-10" dirty="0">
                <a:latin typeface="Comic Sans MS"/>
                <a:cs typeface="Comic Sans MS"/>
              </a:rPr>
              <a:t>-</a:t>
            </a:r>
            <a:r>
              <a:rPr sz="1800" dirty="0">
                <a:latin typeface="Comic Sans MS"/>
                <a:cs typeface="Comic Sans MS"/>
              </a:rPr>
              <a:t>li</a:t>
            </a:r>
            <a:r>
              <a:rPr sz="1800" spc="5" dirty="0">
                <a:latin typeface="Comic Sans MS"/>
                <a:cs typeface="Comic Sans MS"/>
              </a:rPr>
              <a:t>n</a:t>
            </a:r>
            <a:r>
              <a:rPr sz="1800" dirty="0">
                <a:latin typeface="Comic Sans MS"/>
                <a:cs typeface="Comic Sans MS"/>
              </a:rPr>
              <a:t>e</a:t>
            </a:r>
            <a:endParaRPr sz="1800">
              <a:latin typeface="Comic Sans MS"/>
              <a:cs typeface="Comic Sans MS"/>
            </a:endParaRPr>
          </a:p>
          <a:p>
            <a:pPr marL="250190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1800" spc="-865" dirty="0">
                <a:solidFill>
                  <a:srgbClr val="9B2C1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Comic Sans MS"/>
                <a:cs typeface="Comic Sans MS"/>
              </a:rPr>
              <a:t>Graphical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use</a:t>
            </a:r>
            <a:r>
              <a:rPr sz="1800" dirty="0">
                <a:latin typeface="Comic Sans MS"/>
                <a:cs typeface="Comic Sans MS"/>
              </a:rPr>
              <a:t>r </a:t>
            </a:r>
            <a:r>
              <a:rPr sz="1800" spc="-5" dirty="0">
                <a:latin typeface="Comic Sans MS"/>
                <a:cs typeface="Comic Sans MS"/>
              </a:rPr>
              <a:t>i</a:t>
            </a:r>
            <a:r>
              <a:rPr sz="1800" dirty="0">
                <a:latin typeface="Comic Sans MS"/>
                <a:cs typeface="Comic Sans MS"/>
              </a:rPr>
              <a:t>n</a:t>
            </a:r>
            <a:r>
              <a:rPr sz="1800" spc="-5" dirty="0">
                <a:latin typeface="Comic Sans MS"/>
                <a:cs typeface="Comic Sans MS"/>
              </a:rPr>
              <a:t>terface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07829" y="2801111"/>
            <a:ext cx="2653030" cy="1574800"/>
            <a:chOff x="3207829" y="2801111"/>
            <a:chExt cx="2653030" cy="1574800"/>
          </a:xfrm>
        </p:grpSpPr>
        <p:sp>
          <p:nvSpPr>
            <p:cNvPr id="4" name="object 4"/>
            <p:cNvSpPr/>
            <p:nvPr/>
          </p:nvSpPr>
          <p:spPr>
            <a:xfrm>
              <a:off x="4533900" y="3912108"/>
              <a:ext cx="1322070" cy="459105"/>
            </a:xfrm>
            <a:custGeom>
              <a:avLst/>
              <a:gdLst/>
              <a:ahLst/>
              <a:cxnLst/>
              <a:rect l="l" t="t" r="r" b="b"/>
              <a:pathLst>
                <a:path w="1322070" h="459104">
                  <a:moveTo>
                    <a:pt x="0" y="0"/>
                  </a:moveTo>
                  <a:lnTo>
                    <a:pt x="0" y="229362"/>
                  </a:lnTo>
                  <a:lnTo>
                    <a:pt x="1321816" y="229362"/>
                  </a:lnTo>
                  <a:lnTo>
                    <a:pt x="1321816" y="458851"/>
                  </a:lnTo>
                </a:path>
              </a:pathLst>
            </a:custGeom>
            <a:ln w="9144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12592" y="3912108"/>
              <a:ext cx="1322070" cy="459105"/>
            </a:xfrm>
            <a:custGeom>
              <a:avLst/>
              <a:gdLst/>
              <a:ahLst/>
              <a:cxnLst/>
              <a:rect l="l" t="t" r="r" b="b"/>
              <a:pathLst>
                <a:path w="1322070" h="459104">
                  <a:moveTo>
                    <a:pt x="1321815" y="0"/>
                  </a:moveTo>
                  <a:lnTo>
                    <a:pt x="1321815" y="229362"/>
                  </a:lnTo>
                  <a:lnTo>
                    <a:pt x="0" y="229362"/>
                  </a:lnTo>
                  <a:lnTo>
                    <a:pt x="0" y="458851"/>
                  </a:lnTo>
                </a:path>
              </a:pathLst>
            </a:custGeom>
            <a:ln w="9144">
              <a:solidFill>
                <a:srgbClr val="9B2C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8520" y="2801111"/>
              <a:ext cx="2270760" cy="11765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8140" y="3092195"/>
              <a:ext cx="731520" cy="6431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1192" y="2820923"/>
              <a:ext cx="2185416" cy="109118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441191" y="2820923"/>
            <a:ext cx="2185670" cy="1091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43100" y="4352544"/>
            <a:ext cx="2539365" cy="1176655"/>
            <a:chOff x="1943100" y="4352544"/>
            <a:chExt cx="2539365" cy="11766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7212" y="4352544"/>
              <a:ext cx="2269236" cy="11765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43100" y="4643628"/>
              <a:ext cx="2538983" cy="6416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9884" y="4372356"/>
              <a:ext cx="2183892" cy="109118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19883" y="4372355"/>
            <a:ext cx="2184400" cy="1091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Comic Sans MS"/>
                <a:cs typeface="Comic Sans MS"/>
              </a:rPr>
              <a:t>Command-line</a:t>
            </a:r>
            <a:r>
              <a:rPr sz="1800" b="1" spc="-9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omic Sans MS"/>
                <a:cs typeface="Comic Sans MS"/>
              </a:rPr>
              <a:t>form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21352" y="4352544"/>
            <a:ext cx="2269490" cy="1176655"/>
            <a:chOff x="4721352" y="4352544"/>
            <a:chExt cx="2269490" cy="117665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21352" y="4352544"/>
              <a:ext cx="2269236" cy="11765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34128" y="4500372"/>
              <a:ext cx="2115312" cy="9281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4024" y="4372356"/>
              <a:ext cx="2183892" cy="109118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764023" y="4372355"/>
            <a:ext cx="2184400" cy="109156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975"/>
              </a:spcBef>
            </a:pPr>
            <a:r>
              <a:rPr sz="1800" b="1" spc="-5" dirty="0">
                <a:solidFill>
                  <a:srgbClr val="FFFFFF"/>
                </a:solidFill>
                <a:latin typeface="Comic Sans MS"/>
                <a:cs typeface="Comic Sans MS"/>
              </a:rPr>
              <a:t>Graphical</a:t>
            </a:r>
            <a:r>
              <a:rPr sz="1800" b="1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omic Sans MS"/>
                <a:cs typeface="Comic Sans MS"/>
              </a:rPr>
              <a:t>user</a:t>
            </a:r>
            <a:endParaRPr sz="1800">
              <a:latin typeface="Comic Sans MS"/>
              <a:cs typeface="Comic Sans MS"/>
            </a:endParaRPr>
          </a:p>
          <a:p>
            <a:pPr marL="271780">
              <a:lnSpc>
                <a:spcPct val="100000"/>
              </a:lnSpc>
              <a:spcBef>
                <a:spcPts val="95"/>
              </a:spcBef>
            </a:pPr>
            <a:r>
              <a:rPr sz="1800" b="1" spc="-5" dirty="0">
                <a:solidFill>
                  <a:srgbClr val="FFFFFF"/>
                </a:solidFill>
                <a:latin typeface="Comic Sans MS"/>
                <a:cs typeface="Comic Sans MS"/>
              </a:rPr>
              <a:t>interface</a:t>
            </a:r>
            <a:r>
              <a:rPr sz="1800" b="1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Comic Sans MS"/>
                <a:cs typeface="Comic Sans MS"/>
              </a:rPr>
              <a:t>form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2169032" y="395986"/>
            <a:ext cx="4831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COMMAND-LINE</a:t>
            </a:r>
            <a:r>
              <a:rPr spc="-20" dirty="0"/>
              <a:t> </a:t>
            </a:r>
            <a:r>
              <a:rPr spc="-10" dirty="0"/>
              <a:t>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116838"/>
            <a:ext cx="5999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omic Sans MS"/>
                <a:cs typeface="Comic Sans MS"/>
              </a:rPr>
              <a:t>Git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can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be set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up in</a:t>
            </a:r>
            <a:r>
              <a:rPr sz="2000" dirty="0">
                <a:latin typeface="Comic Sans MS"/>
                <a:cs typeface="Comic Sans MS"/>
              </a:rPr>
              <a:t> a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few</a:t>
            </a:r>
            <a:r>
              <a:rPr sz="2000" dirty="0">
                <a:latin typeface="Comic Sans MS"/>
                <a:cs typeface="Comic Sans MS"/>
              </a:rPr>
              <a:t> simple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and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easy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steps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8192" y="395986"/>
            <a:ext cx="3030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SETTING</a:t>
            </a:r>
            <a:r>
              <a:rPr spc="-25" dirty="0"/>
              <a:t> </a:t>
            </a:r>
            <a:r>
              <a:rPr spc="-5" dirty="0"/>
              <a:t>UP</a:t>
            </a:r>
            <a:r>
              <a:rPr spc="-30" dirty="0"/>
              <a:t> </a:t>
            </a:r>
            <a:r>
              <a:rPr spc="-5" dirty="0"/>
              <a:t>GIT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828800"/>
            <a:ext cx="7478268" cy="420624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15765"/>
            <a:ext cx="8343265" cy="327850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omic Sans MS"/>
                <a:cs typeface="Comic Sans MS"/>
              </a:rPr>
              <a:t>Version</a:t>
            </a:r>
            <a:r>
              <a:rPr sz="2000" dirty="0">
                <a:latin typeface="Comic Sans MS"/>
                <a:cs typeface="Comic Sans MS"/>
              </a:rPr>
              <a:t> control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is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 </a:t>
            </a:r>
            <a:r>
              <a:rPr sz="2000" spc="-5" dirty="0">
                <a:latin typeface="Comic Sans MS"/>
                <a:cs typeface="Comic Sans MS"/>
              </a:rPr>
              <a:t>necessity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for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large-scale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and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complex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projects.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omic Sans MS"/>
                <a:cs typeface="Comic Sans MS"/>
              </a:rPr>
              <a:t>Git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is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the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most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popular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method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5" dirty="0">
                <a:latin typeface="Comic Sans MS"/>
                <a:cs typeface="Comic Sans MS"/>
              </a:rPr>
              <a:t> version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control,</a:t>
            </a:r>
            <a:r>
              <a:rPr sz="2000" spc="-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because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its</a:t>
            </a:r>
            <a:endParaRPr sz="2000">
              <a:latin typeface="Comic Sans MS"/>
              <a:cs typeface="Comic Sans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omic Sans MS"/>
                <a:cs typeface="Comic Sans MS"/>
              </a:rPr>
              <a:t>distributed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nature,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speed,</a:t>
            </a:r>
            <a:r>
              <a:rPr sz="2000" spc="2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safety,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and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integrity.</a:t>
            </a:r>
            <a:endParaRPr sz="2000">
              <a:latin typeface="Comic Sans MS"/>
              <a:cs typeface="Comic Sans MS"/>
            </a:endParaRPr>
          </a:p>
          <a:p>
            <a:pPr marL="355600" marR="1061085" indent="-3429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omic Sans MS"/>
                <a:cs typeface="Comic Sans MS"/>
              </a:rPr>
              <a:t>Git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has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10" dirty="0">
                <a:latin typeface="Comic Sans MS"/>
                <a:cs typeface="Comic Sans MS"/>
              </a:rPr>
              <a:t>several</a:t>
            </a:r>
            <a:r>
              <a:rPr sz="2000" spc="3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advantages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over</a:t>
            </a:r>
            <a:r>
              <a:rPr sz="200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traditional version</a:t>
            </a:r>
            <a:r>
              <a:rPr sz="2000" spc="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control </a:t>
            </a:r>
            <a:r>
              <a:rPr sz="2000" spc="-58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systems,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due to</a:t>
            </a:r>
            <a:r>
              <a:rPr sz="2000" spc="-10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its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localized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approach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to</a:t>
            </a:r>
            <a:r>
              <a:rPr sz="2000" dirty="0">
                <a:latin typeface="Comic Sans MS"/>
                <a:cs typeface="Comic Sans MS"/>
              </a:rPr>
              <a:t> control.</a:t>
            </a:r>
            <a:endParaRPr sz="2000">
              <a:latin typeface="Comic Sans MS"/>
              <a:cs typeface="Comic Sans MS"/>
            </a:endParaRPr>
          </a:p>
          <a:p>
            <a:pPr marL="355600" marR="1123950" indent="-342900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omic Sans MS"/>
                <a:cs typeface="Comic Sans MS"/>
              </a:rPr>
              <a:t>Git can </a:t>
            </a:r>
            <a:r>
              <a:rPr sz="2000" spc="-5" dirty="0">
                <a:latin typeface="Comic Sans MS"/>
                <a:cs typeface="Comic Sans MS"/>
              </a:rPr>
              <a:t>be used both from the </a:t>
            </a:r>
            <a:r>
              <a:rPr sz="2000" dirty="0">
                <a:latin typeface="Comic Sans MS"/>
                <a:cs typeface="Comic Sans MS"/>
              </a:rPr>
              <a:t>command line </a:t>
            </a:r>
            <a:r>
              <a:rPr sz="2000" spc="-5" dirty="0">
                <a:latin typeface="Comic Sans MS"/>
                <a:cs typeface="Comic Sans MS"/>
              </a:rPr>
              <a:t>and graphical </a:t>
            </a:r>
            <a:r>
              <a:rPr sz="2000" spc="-58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interfaces.</a:t>
            </a:r>
            <a:endParaRPr sz="2000">
              <a:latin typeface="Comic Sans MS"/>
              <a:cs typeface="Comic Sans MS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Comic Sans MS"/>
                <a:cs typeface="Comic Sans MS"/>
              </a:rPr>
              <a:t>Installation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and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setup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Git</a:t>
            </a:r>
            <a:r>
              <a:rPr sz="2000" spc="-1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on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Windows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machine can</a:t>
            </a:r>
            <a:r>
              <a:rPr sz="2000" spc="-5" dirty="0">
                <a:latin typeface="Comic Sans MS"/>
                <a:cs typeface="Comic Sans MS"/>
              </a:rPr>
              <a:t> be</a:t>
            </a:r>
            <a:r>
              <a:rPr sz="2000" spc="10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done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via</a:t>
            </a:r>
            <a:endParaRPr sz="2000">
              <a:latin typeface="Comic Sans MS"/>
              <a:cs typeface="Comic Sans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omic Sans MS"/>
                <a:cs typeface="Comic Sans MS"/>
              </a:rPr>
              <a:t>a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series</a:t>
            </a:r>
            <a:r>
              <a:rPr sz="2000" spc="5" dirty="0">
                <a:latin typeface="Comic Sans MS"/>
                <a:cs typeface="Comic Sans MS"/>
              </a:rPr>
              <a:t> </a:t>
            </a:r>
            <a:r>
              <a:rPr sz="2000" dirty="0">
                <a:latin typeface="Comic Sans MS"/>
                <a:cs typeface="Comic Sans MS"/>
              </a:rPr>
              <a:t>of</a:t>
            </a:r>
            <a:r>
              <a:rPr sz="2000" spc="-25" dirty="0">
                <a:latin typeface="Comic Sans MS"/>
                <a:cs typeface="Comic Sans MS"/>
              </a:rPr>
              <a:t> </a:t>
            </a:r>
            <a:r>
              <a:rPr sz="2000" spc="-5" dirty="0">
                <a:latin typeface="Comic Sans MS"/>
                <a:cs typeface="Comic Sans MS"/>
              </a:rPr>
              <a:t>steps.</a:t>
            </a:r>
            <a:endParaRPr sz="200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95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</a:t>
            </a:r>
            <a:r>
              <a:rPr dirty="0"/>
              <a:t>M</a:t>
            </a:r>
            <a:r>
              <a:rPr spc="-5" dirty="0"/>
              <a:t>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668</Words>
  <Application>Microsoft Office PowerPoint</Application>
  <PresentationFormat>On-screen Show (4:3)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 MT</vt:lpstr>
      <vt:lpstr>Calibri</vt:lpstr>
      <vt:lpstr>Comic Sans MS</vt:lpstr>
      <vt:lpstr>Courier New</vt:lpstr>
      <vt:lpstr>Franklin Gothic Medium</vt:lpstr>
      <vt:lpstr>Times New Roman</vt:lpstr>
      <vt:lpstr>Office Theme</vt:lpstr>
      <vt:lpstr>PowerPoint Presentation</vt:lpstr>
      <vt:lpstr>VERSION CONTROL</vt:lpstr>
      <vt:lpstr>DEFINITION AND A BRIEF HISTORY</vt:lpstr>
      <vt:lpstr>PowerPoint Presentation</vt:lpstr>
      <vt:lpstr>PowerPoint Presentation</vt:lpstr>
      <vt:lpstr>PowerPoint Presentation</vt:lpstr>
      <vt:lpstr>BASICS OF GIT 1-5</vt:lpstr>
      <vt:lpstr>BASICS OF GIT 2-5</vt:lpstr>
      <vt:lpstr>BASICS OF GIT 3-5</vt:lpstr>
      <vt:lpstr>BASICS OF GIT 4-5</vt:lpstr>
      <vt:lpstr>BASICS OF GIT 5-5</vt:lpstr>
      <vt:lpstr>BENEFITS OF GIT BRANCHING MODEL</vt:lpstr>
      <vt:lpstr>ADVANTAGES OF GIT</vt:lpstr>
      <vt:lpstr>STATES OF GIT</vt:lpstr>
      <vt:lpstr>COMMAND-LINE PROGRAM</vt:lpstr>
      <vt:lpstr>SETTING UP GIT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Qurat Ul Ain. Haider</cp:lastModifiedBy>
  <cp:revision>8</cp:revision>
  <dcterms:created xsi:type="dcterms:W3CDTF">2023-08-18T03:58:38Z</dcterms:created>
  <dcterms:modified xsi:type="dcterms:W3CDTF">2025-09-24T12:10:38Z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2023-08-18T00:00:00Z</vt:filetime>
  </property>
</Properties>
</file>