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6" r:id="rId1"/>
  </p:sldMasterIdLst>
  <p:sldIdLst>
    <p:sldId id="256" r:id="rId2"/>
    <p:sldId id="258" r:id="rId3"/>
    <p:sldId id="259" r:id="rId4"/>
    <p:sldId id="264" r:id="rId5"/>
    <p:sldId id="269" r:id="rId6"/>
    <p:sldId id="270" r:id="rId7"/>
    <p:sldId id="271" r:id="rId8"/>
    <p:sldId id="273" r:id="rId9"/>
    <p:sldId id="265" r:id="rId10"/>
    <p:sldId id="262" r:id="rId11"/>
    <p:sldId id="260" r:id="rId12"/>
    <p:sldId id="263" r:id="rId13"/>
    <p:sldId id="261" r:id="rId14"/>
    <p:sldId id="272" r:id="rId15"/>
    <p:sldId id="266" r:id="rId16"/>
    <p:sldId id="267" r:id="rId17"/>
    <p:sldId id="268" r:id="rId18"/>
    <p:sldId id="276" r:id="rId19"/>
    <p:sldId id="25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69" d="100"/>
          <a:sy n="6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735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011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3789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286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481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519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54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702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702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968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3/15/2025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123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581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6341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B8C0A-C5BC-4A91-A5FF-83A1E612DD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xml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F806A7-5306-46EF-9410-9E0133F21D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Session 01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669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72564-08C9-4E67-9B8D-EEADEE7A3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XML?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190FD5F-4627-4F87-8F60-A5C09AD65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631" y="2286000"/>
            <a:ext cx="5474328" cy="3884361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XML stands for eXtensible Markup Language</a:t>
            </a:r>
          </a:p>
          <a:p>
            <a:pPr algn="just"/>
            <a:r>
              <a:rPr lang="en-US" dirty="0"/>
              <a:t>XML is a markup language much like HTML</a:t>
            </a:r>
          </a:p>
          <a:p>
            <a:pPr algn="just"/>
            <a:r>
              <a:rPr lang="en-US" dirty="0"/>
              <a:t>XML was designed to store and transport data</a:t>
            </a:r>
          </a:p>
          <a:p>
            <a:pPr algn="just"/>
            <a:r>
              <a:rPr lang="en-US" dirty="0"/>
              <a:t>XML was designed to be self-descriptive</a:t>
            </a:r>
          </a:p>
          <a:p>
            <a:pPr algn="just"/>
            <a:r>
              <a:rPr lang="en-US" dirty="0"/>
              <a:t>XML is a W3C Recommendation</a:t>
            </a:r>
          </a:p>
          <a:p>
            <a:pPr algn="just"/>
            <a:r>
              <a:rPr lang="en-US" dirty="0"/>
              <a:t>XML uses a Document Type Definition (DTD) or an XML Schema to describe data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6E20BF-35E5-4C54-A578-A5E3559B8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310" y="2286000"/>
            <a:ext cx="5224153" cy="33474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84207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72564-08C9-4E67-9B8D-EEADEE7A3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</a:t>
            </a:r>
            <a:r>
              <a:rPr lang="en-US" spc="-55" dirty="0"/>
              <a:t> </a:t>
            </a:r>
            <a:r>
              <a:rPr lang="en-US" dirty="0"/>
              <a:t>Markup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190FD5F-4627-4F87-8F60-A5C09AD65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532" y="2463276"/>
            <a:ext cx="10344040" cy="3884361"/>
          </a:xfrm>
        </p:spPr>
        <p:txBody>
          <a:bodyPr>
            <a:normAutofit/>
          </a:bodyPr>
          <a:lstStyle/>
          <a:p>
            <a:pPr marL="354965" indent="-342900" algn="just">
              <a:lnSpc>
                <a:spcPct val="100000"/>
              </a:lnSpc>
              <a:spcBef>
                <a:spcPts val="100"/>
              </a:spcBef>
              <a:buSzPct val="60416"/>
              <a:buFont typeface="Wingdings" panose="05000000000000000000" pitchFamily="2" charset="2"/>
              <a:buChar char="§"/>
              <a:tabLst>
                <a:tab pos="354965" algn="l"/>
                <a:tab pos="355600" algn="l"/>
              </a:tabLst>
            </a:pPr>
            <a:r>
              <a:rPr lang="en-US" sz="2000" spc="-5" dirty="0">
                <a:latin typeface="Tahoma"/>
                <a:cs typeface="Tahoma"/>
              </a:rPr>
              <a:t>XML markup</a:t>
            </a:r>
            <a:r>
              <a:rPr lang="en-US" sz="2000" spc="-20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defines</a:t>
            </a:r>
            <a:r>
              <a:rPr lang="en-US" sz="2000" spc="-15" dirty="0">
                <a:latin typeface="Tahoma"/>
                <a:cs typeface="Tahoma"/>
              </a:rPr>
              <a:t> </a:t>
            </a:r>
            <a:r>
              <a:rPr lang="en-US" sz="2000" spc="-5" dirty="0">
                <a:latin typeface="Tahoma"/>
                <a:cs typeface="Tahoma"/>
              </a:rPr>
              <a:t>the</a:t>
            </a:r>
            <a:r>
              <a:rPr lang="en-US" sz="2000" spc="-10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physical and</a:t>
            </a:r>
            <a:r>
              <a:rPr lang="en-US" sz="2000" spc="-15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logical</a:t>
            </a:r>
            <a:r>
              <a:rPr lang="en-US" sz="2000" spc="-15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layout</a:t>
            </a:r>
            <a:r>
              <a:rPr lang="en-US" sz="2000" spc="-15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of </a:t>
            </a:r>
            <a:r>
              <a:rPr lang="en-US" sz="2000" spc="-5" dirty="0">
                <a:latin typeface="Tahoma"/>
                <a:cs typeface="Tahoma"/>
              </a:rPr>
              <a:t>the</a:t>
            </a:r>
            <a:r>
              <a:rPr lang="en-US" sz="2000" spc="-45" dirty="0">
                <a:latin typeface="Tahoma"/>
                <a:cs typeface="Tahoma"/>
              </a:rPr>
              <a:t> </a:t>
            </a:r>
            <a:r>
              <a:rPr lang="en-US" sz="2000" spc="-5" dirty="0">
                <a:latin typeface="Tahoma"/>
                <a:cs typeface="Tahoma"/>
              </a:rPr>
              <a:t>document.</a:t>
            </a:r>
          </a:p>
          <a:p>
            <a:pPr marL="12065" indent="0" algn="just">
              <a:lnSpc>
                <a:spcPct val="100000"/>
              </a:lnSpc>
              <a:spcBef>
                <a:spcPts val="100"/>
              </a:spcBef>
              <a:buSzPct val="60416"/>
              <a:buNone/>
              <a:tabLst>
                <a:tab pos="354965" algn="l"/>
                <a:tab pos="355600" algn="l"/>
              </a:tabLst>
            </a:pPr>
            <a:endParaRPr lang="en-US" sz="2000" spc="-5" dirty="0">
              <a:latin typeface="Tahoma"/>
              <a:cs typeface="Tahoma"/>
            </a:endParaRPr>
          </a:p>
          <a:p>
            <a:pPr marL="354965" indent="-342900" algn="just">
              <a:lnSpc>
                <a:spcPct val="100000"/>
              </a:lnSpc>
              <a:spcBef>
                <a:spcPts val="100"/>
              </a:spcBef>
              <a:buSzPct val="60416"/>
              <a:buFont typeface="Wingdings" panose="05000000000000000000" pitchFamily="2" charset="2"/>
              <a:buChar char="§"/>
              <a:tabLst>
                <a:tab pos="354965" algn="l"/>
                <a:tab pos="355600" algn="l"/>
              </a:tabLst>
            </a:pPr>
            <a:r>
              <a:rPr lang="en-US" sz="2000" dirty="0">
                <a:latin typeface="Tahoma"/>
                <a:cs typeface="Tahoma"/>
              </a:rPr>
              <a:t> XML</a:t>
            </a:r>
            <a:r>
              <a:rPr lang="en-US" sz="2000" spc="-20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markup</a:t>
            </a:r>
            <a:r>
              <a:rPr lang="en-US" sz="2000" spc="-30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divides</a:t>
            </a:r>
            <a:r>
              <a:rPr lang="en-US" sz="2000" spc="-20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a</a:t>
            </a:r>
            <a:r>
              <a:rPr lang="en-US" sz="2000" spc="-15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document</a:t>
            </a:r>
            <a:r>
              <a:rPr lang="en-US" sz="2000" spc="-35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into</a:t>
            </a:r>
            <a:r>
              <a:rPr lang="en-US" sz="2000" spc="-30" dirty="0">
                <a:latin typeface="Tahoma"/>
                <a:cs typeface="Tahoma"/>
              </a:rPr>
              <a:t> </a:t>
            </a:r>
            <a:r>
              <a:rPr lang="en-US" sz="2000" spc="-5" dirty="0">
                <a:latin typeface="Tahoma"/>
                <a:cs typeface="Tahoma"/>
              </a:rPr>
              <a:t>separate </a:t>
            </a:r>
            <a:r>
              <a:rPr lang="en-US" sz="2000" spc="-735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information</a:t>
            </a:r>
            <a:r>
              <a:rPr lang="en-US" sz="2000" spc="-40" dirty="0">
                <a:latin typeface="Tahoma"/>
                <a:cs typeface="Tahoma"/>
              </a:rPr>
              <a:t> </a:t>
            </a:r>
            <a:r>
              <a:rPr lang="en-US" sz="2000" spc="-5" dirty="0">
                <a:latin typeface="Tahoma"/>
                <a:cs typeface="Tahoma"/>
              </a:rPr>
              <a:t>containers</a:t>
            </a:r>
            <a:r>
              <a:rPr lang="en-US" sz="2000" spc="-20" dirty="0">
                <a:latin typeface="Tahoma"/>
                <a:cs typeface="Tahoma"/>
              </a:rPr>
              <a:t> </a:t>
            </a:r>
            <a:r>
              <a:rPr lang="en-US" sz="2000" spc="-5" dirty="0">
                <a:latin typeface="Tahoma"/>
                <a:cs typeface="Tahoma"/>
              </a:rPr>
              <a:t>called</a:t>
            </a:r>
            <a:r>
              <a:rPr lang="en-US" sz="2000" spc="-10" dirty="0">
                <a:latin typeface="Tahoma"/>
                <a:cs typeface="Tahoma"/>
              </a:rPr>
              <a:t> </a:t>
            </a:r>
            <a:r>
              <a:rPr lang="en-US" sz="2000" spc="-5" dirty="0">
                <a:latin typeface="Tahoma"/>
                <a:cs typeface="Tahoma"/>
              </a:rPr>
              <a:t>elements.</a:t>
            </a:r>
          </a:p>
          <a:p>
            <a:pPr marL="12065" indent="0" algn="just">
              <a:lnSpc>
                <a:spcPct val="100000"/>
              </a:lnSpc>
              <a:spcBef>
                <a:spcPts val="100"/>
              </a:spcBef>
              <a:buSzPct val="60416"/>
              <a:buNone/>
              <a:tabLst>
                <a:tab pos="354965" algn="l"/>
                <a:tab pos="355600" algn="l"/>
              </a:tabLst>
            </a:pPr>
            <a:endParaRPr lang="en-US" sz="2000" spc="-5" dirty="0">
              <a:latin typeface="Tahoma"/>
              <a:cs typeface="Tahoma"/>
            </a:endParaRPr>
          </a:p>
          <a:p>
            <a:pPr marL="354965" indent="-342900" algn="just">
              <a:lnSpc>
                <a:spcPct val="100000"/>
              </a:lnSpc>
              <a:spcBef>
                <a:spcPts val="100"/>
              </a:spcBef>
              <a:buSzPct val="60416"/>
              <a:buFont typeface="Wingdings" panose="05000000000000000000" pitchFamily="2" charset="2"/>
              <a:buChar char="§"/>
              <a:tabLst>
                <a:tab pos="354965" algn="l"/>
                <a:tab pos="355600" algn="l"/>
              </a:tabLst>
            </a:pPr>
            <a:r>
              <a:rPr lang="en-US" sz="2000" dirty="0">
                <a:latin typeface="Tahoma"/>
                <a:cs typeface="Tahoma"/>
              </a:rPr>
              <a:t>A document </a:t>
            </a:r>
            <a:r>
              <a:rPr lang="en-US" sz="2000" spc="-5" dirty="0">
                <a:latin typeface="Tahoma"/>
                <a:cs typeface="Tahoma"/>
              </a:rPr>
              <a:t>consists </a:t>
            </a:r>
            <a:r>
              <a:rPr lang="en-US" sz="2000" dirty="0">
                <a:latin typeface="Tahoma"/>
                <a:cs typeface="Tahoma"/>
              </a:rPr>
              <a:t>of one </a:t>
            </a:r>
            <a:r>
              <a:rPr lang="en-US" sz="2000" spc="-5" dirty="0">
                <a:latin typeface="Tahoma"/>
                <a:cs typeface="Tahoma"/>
              </a:rPr>
              <a:t>outermost element, </a:t>
            </a:r>
            <a:r>
              <a:rPr lang="en-US" sz="2000" dirty="0">
                <a:latin typeface="Tahoma"/>
                <a:cs typeface="Tahoma"/>
              </a:rPr>
              <a:t> </a:t>
            </a:r>
            <a:r>
              <a:rPr lang="en-US" sz="2000" spc="-5" dirty="0">
                <a:latin typeface="Tahoma"/>
                <a:cs typeface="Tahoma"/>
              </a:rPr>
              <a:t>calle</a:t>
            </a:r>
            <a:r>
              <a:rPr lang="en-US" sz="2000" dirty="0">
                <a:latin typeface="Tahoma"/>
                <a:cs typeface="Tahoma"/>
              </a:rPr>
              <a:t>d</a:t>
            </a:r>
            <a:r>
              <a:rPr lang="en-US" sz="2000" spc="15" dirty="0">
                <a:latin typeface="Tahoma"/>
                <a:cs typeface="Tahoma"/>
              </a:rPr>
              <a:t> </a:t>
            </a:r>
            <a:r>
              <a:rPr lang="en-US" sz="2000" dirty="0">
                <a:latin typeface="Courier New"/>
                <a:cs typeface="Courier New"/>
              </a:rPr>
              <a:t>root</a:t>
            </a:r>
            <a:r>
              <a:rPr lang="en-US" sz="2000" spc="-715" dirty="0">
                <a:latin typeface="Courier New"/>
                <a:cs typeface="Courier New"/>
              </a:rPr>
              <a:t> </a:t>
            </a:r>
            <a:r>
              <a:rPr lang="en-US" sz="2000" spc="-5" dirty="0">
                <a:latin typeface="Tahoma"/>
                <a:cs typeface="Tahoma"/>
              </a:rPr>
              <a:t>ele</a:t>
            </a:r>
            <a:r>
              <a:rPr lang="en-US" sz="2000" spc="-10" dirty="0">
                <a:latin typeface="Tahoma"/>
                <a:cs typeface="Tahoma"/>
              </a:rPr>
              <a:t>m</a:t>
            </a:r>
            <a:r>
              <a:rPr lang="en-US" sz="2000" spc="-5" dirty="0">
                <a:latin typeface="Tahoma"/>
                <a:cs typeface="Tahoma"/>
              </a:rPr>
              <a:t>en</a:t>
            </a:r>
            <a:r>
              <a:rPr lang="en-US" sz="2000" dirty="0">
                <a:latin typeface="Tahoma"/>
                <a:cs typeface="Tahoma"/>
              </a:rPr>
              <a:t>t </a:t>
            </a:r>
            <a:r>
              <a:rPr lang="en-US" sz="2000" spc="-5" dirty="0">
                <a:latin typeface="Tahoma"/>
                <a:cs typeface="Tahoma"/>
              </a:rPr>
              <a:t>tha</a:t>
            </a:r>
            <a:r>
              <a:rPr lang="en-US" sz="2000" dirty="0">
                <a:latin typeface="Tahoma"/>
                <a:cs typeface="Tahoma"/>
              </a:rPr>
              <a:t>t</a:t>
            </a:r>
            <a:r>
              <a:rPr lang="en-US" sz="2000" spc="-10" dirty="0">
                <a:latin typeface="Tahoma"/>
                <a:cs typeface="Tahoma"/>
              </a:rPr>
              <a:t> </a:t>
            </a:r>
            <a:r>
              <a:rPr lang="en-US" sz="2000" spc="-5" dirty="0">
                <a:latin typeface="Tahoma"/>
                <a:cs typeface="Tahoma"/>
              </a:rPr>
              <a:t>contai</a:t>
            </a:r>
            <a:r>
              <a:rPr lang="en-US" sz="2000" spc="5" dirty="0">
                <a:latin typeface="Tahoma"/>
                <a:cs typeface="Tahoma"/>
              </a:rPr>
              <a:t>n</a:t>
            </a:r>
            <a:r>
              <a:rPr lang="en-US" sz="2000" dirty="0">
                <a:latin typeface="Tahoma"/>
                <a:cs typeface="Tahoma"/>
              </a:rPr>
              <a:t>s</a:t>
            </a:r>
            <a:r>
              <a:rPr lang="en-US" sz="2000" spc="-25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all the</a:t>
            </a:r>
            <a:r>
              <a:rPr lang="en-US" sz="2000" spc="-5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ot</a:t>
            </a:r>
            <a:r>
              <a:rPr lang="en-US" sz="2000" spc="5" dirty="0">
                <a:latin typeface="Tahoma"/>
                <a:cs typeface="Tahoma"/>
              </a:rPr>
              <a:t>h</a:t>
            </a:r>
            <a:r>
              <a:rPr lang="en-US" sz="2000" spc="-5" dirty="0">
                <a:latin typeface="Tahoma"/>
                <a:cs typeface="Tahoma"/>
              </a:rPr>
              <a:t>er  elements, </a:t>
            </a:r>
            <a:r>
              <a:rPr lang="en-US" sz="2000" dirty="0">
                <a:latin typeface="Tahoma"/>
                <a:cs typeface="Tahoma"/>
              </a:rPr>
              <a:t>plus </a:t>
            </a:r>
            <a:r>
              <a:rPr lang="en-US" sz="2000" spc="-5" dirty="0">
                <a:latin typeface="Tahoma"/>
                <a:cs typeface="Tahoma"/>
              </a:rPr>
              <a:t>some </a:t>
            </a:r>
            <a:r>
              <a:rPr lang="en-US" sz="2000" dirty="0">
                <a:latin typeface="Tahoma"/>
                <a:cs typeface="Tahoma"/>
              </a:rPr>
              <a:t>optional administrative </a:t>
            </a:r>
            <a:r>
              <a:rPr lang="en-US" sz="2000" spc="5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information</a:t>
            </a:r>
            <a:r>
              <a:rPr lang="en-US" sz="2000" spc="-45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at</a:t>
            </a:r>
            <a:r>
              <a:rPr lang="en-US" sz="2000" spc="-5" dirty="0">
                <a:latin typeface="Tahoma"/>
                <a:cs typeface="Tahoma"/>
              </a:rPr>
              <a:t> the</a:t>
            </a:r>
            <a:r>
              <a:rPr lang="en-US" sz="2000" spc="-15" dirty="0">
                <a:latin typeface="Tahoma"/>
                <a:cs typeface="Tahoma"/>
              </a:rPr>
              <a:t> </a:t>
            </a:r>
            <a:r>
              <a:rPr lang="en-US" sz="2000" spc="-5" dirty="0">
                <a:latin typeface="Tahoma"/>
                <a:cs typeface="Tahoma"/>
              </a:rPr>
              <a:t>top,</a:t>
            </a:r>
            <a:r>
              <a:rPr lang="en-US" sz="2000" spc="-30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known</a:t>
            </a:r>
            <a:r>
              <a:rPr lang="en-US" sz="2000" spc="-5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as</a:t>
            </a:r>
            <a:r>
              <a:rPr lang="en-US" sz="2000" spc="-10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XML</a:t>
            </a:r>
            <a:r>
              <a:rPr lang="en-US" sz="2000" spc="-5" dirty="0">
                <a:latin typeface="Tahoma"/>
                <a:cs typeface="Tahoma"/>
              </a:rPr>
              <a:t> declaration</a:t>
            </a:r>
            <a:endParaRPr lang="en-US" sz="2000" dirty="0">
              <a:latin typeface="Tahoma"/>
              <a:cs typeface="Tahoma"/>
            </a:endParaRPr>
          </a:p>
          <a:p>
            <a:pPr marL="354965" indent="-342900">
              <a:lnSpc>
                <a:spcPct val="100000"/>
              </a:lnSpc>
              <a:spcBef>
                <a:spcPts val="100"/>
              </a:spcBef>
              <a:buSzPct val="60416"/>
              <a:buFont typeface="Wingdings" panose="05000000000000000000" pitchFamily="2" charset="2"/>
              <a:buChar char="§"/>
              <a:tabLst>
                <a:tab pos="354965" algn="l"/>
                <a:tab pos="355600" algn="l"/>
              </a:tabLst>
            </a:pPr>
            <a:endParaRPr lang="en-US" sz="2000" dirty="0">
              <a:latin typeface="Tahoma"/>
              <a:cs typeface="Tahoma"/>
            </a:endParaRPr>
          </a:p>
          <a:p>
            <a:pPr marL="354965" indent="-342900">
              <a:lnSpc>
                <a:spcPct val="100000"/>
              </a:lnSpc>
              <a:spcBef>
                <a:spcPts val="100"/>
              </a:spcBef>
              <a:buSzPct val="60416"/>
              <a:buFont typeface="Wingdings" panose="05000000000000000000" pitchFamily="2" charset="2"/>
              <a:buChar char="§"/>
              <a:tabLst>
                <a:tab pos="354965" algn="l"/>
                <a:tab pos="355600" algn="l"/>
              </a:tabLst>
            </a:pPr>
            <a:endParaRPr lang="en-US" sz="2000" spc="-5" dirty="0">
              <a:latin typeface="Tahoma"/>
              <a:cs typeface="Tahoma"/>
            </a:endParaRPr>
          </a:p>
          <a:p>
            <a:pPr marL="354965" indent="-342900">
              <a:lnSpc>
                <a:spcPct val="100000"/>
              </a:lnSpc>
              <a:spcBef>
                <a:spcPts val="100"/>
              </a:spcBef>
              <a:buSzPct val="60416"/>
              <a:buFont typeface="Wingdings" panose="05000000000000000000" pitchFamily="2" charset="2"/>
              <a:buChar char="§"/>
              <a:tabLst>
                <a:tab pos="354965" algn="l"/>
                <a:tab pos="355600" algn="l"/>
              </a:tabLst>
            </a:pPr>
            <a:endParaRPr lang="en-US" sz="2000" spc="-5" dirty="0">
              <a:latin typeface="Tahoma"/>
              <a:cs typeface="Tahoma"/>
            </a:endParaRPr>
          </a:p>
          <a:p>
            <a:pPr marL="12065" marR="1003935" indent="0">
              <a:lnSpc>
                <a:spcPct val="100000"/>
              </a:lnSpc>
              <a:spcBef>
                <a:spcPts val="5"/>
              </a:spcBef>
              <a:buClr>
                <a:srgbClr val="3333CC"/>
              </a:buClr>
              <a:buSzPct val="60416"/>
              <a:buNone/>
              <a:tabLst>
                <a:tab pos="354965" algn="l"/>
                <a:tab pos="355600" algn="l"/>
              </a:tabLst>
            </a:pPr>
            <a:endParaRPr lang="en-US" sz="20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3333CC"/>
              </a:buClr>
              <a:buFont typeface="Wingdings"/>
              <a:buChar char=""/>
            </a:pPr>
            <a:endParaRPr lang="en-US" sz="3200" dirty="0">
              <a:latin typeface="Tahoma"/>
              <a:cs typeface="Tahoma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981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6C401-C7DA-4747-932C-8E161BC63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btw html and xml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0C771961-2E23-484F-AFFF-7C56A1487F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3576860"/>
              </p:ext>
            </p:extLst>
          </p:nvPr>
        </p:nvGraphicFramePr>
        <p:xfrm>
          <a:off x="2229181" y="2884856"/>
          <a:ext cx="7839851" cy="22877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015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8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5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  <a:latin typeface="Courier New"/>
                          <a:cs typeface="Courier New"/>
                        </a:rPr>
                        <a:t>HTML</a:t>
                      </a:r>
                      <a:endParaRPr sz="2400" dirty="0">
                        <a:solidFill>
                          <a:schemeClr val="bg1">
                            <a:lumMod val="85000"/>
                            <a:lumOff val="15000"/>
                          </a:schemeClr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5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  <a:latin typeface="Courier New"/>
                          <a:cs typeface="Courier New"/>
                        </a:rPr>
                        <a:t>XML</a:t>
                      </a:r>
                      <a:endParaRPr sz="2400" dirty="0">
                        <a:solidFill>
                          <a:schemeClr val="bg1">
                            <a:lumMod val="85000"/>
                            <a:lumOff val="15000"/>
                          </a:schemeClr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39">
                <a:tc>
                  <a:txBody>
                    <a:bodyPr/>
                    <a:lstStyle/>
                    <a:p>
                      <a:pPr marL="91440" marR="25082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HTML</a:t>
                      </a:r>
                      <a:r>
                        <a:rPr sz="20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5" dirty="0">
                          <a:latin typeface="Tahoma"/>
                          <a:cs typeface="Tahoma"/>
                        </a:rPr>
                        <a:t>was</a:t>
                      </a:r>
                      <a:r>
                        <a:rPr sz="20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designed</a:t>
                      </a:r>
                      <a:r>
                        <a:rPr sz="2000" spc="-6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5" dirty="0">
                          <a:latin typeface="Tahoma"/>
                          <a:cs typeface="Tahoma"/>
                        </a:rPr>
                        <a:t>to display </a:t>
                      </a:r>
                      <a:r>
                        <a:rPr sz="2000" spc="-6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data.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47752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XML</a:t>
                      </a:r>
                      <a:r>
                        <a:rPr sz="20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5" dirty="0">
                          <a:latin typeface="Tahoma"/>
                          <a:cs typeface="Tahoma"/>
                        </a:rPr>
                        <a:t>was</a:t>
                      </a:r>
                      <a:r>
                        <a:rPr sz="20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designed</a:t>
                      </a:r>
                      <a:r>
                        <a:rPr sz="2000" spc="-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5" dirty="0">
                          <a:latin typeface="Tahoma"/>
                          <a:cs typeface="Tahoma"/>
                        </a:rPr>
                        <a:t>to</a:t>
                      </a:r>
                      <a:r>
                        <a:rPr sz="20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5" dirty="0">
                          <a:latin typeface="Tahoma"/>
                          <a:cs typeface="Tahoma"/>
                        </a:rPr>
                        <a:t>carry </a:t>
                      </a:r>
                      <a:r>
                        <a:rPr sz="2000" spc="-6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data.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3298">
                <a:tc>
                  <a:txBody>
                    <a:bodyPr/>
                    <a:lstStyle/>
                    <a:p>
                      <a:pPr marL="91440" marR="58991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HTML </a:t>
                      </a:r>
                      <a:r>
                        <a:rPr sz="2000" spc="-5" dirty="0">
                          <a:latin typeface="Tahoma"/>
                          <a:cs typeface="Tahoma"/>
                        </a:rPr>
                        <a:t>displays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data and </a:t>
                      </a:r>
                      <a:r>
                        <a:rPr sz="2000" spc="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5" dirty="0">
                          <a:latin typeface="Tahoma"/>
                          <a:cs typeface="Tahoma"/>
                        </a:rPr>
                        <a:t>focuses</a:t>
                      </a:r>
                      <a:r>
                        <a:rPr sz="2000" spc="-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on</a:t>
                      </a:r>
                      <a:r>
                        <a:rPr sz="20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how</a:t>
                      </a:r>
                      <a:r>
                        <a:rPr sz="20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data</a:t>
                      </a:r>
                      <a:r>
                        <a:rPr sz="20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looks.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76136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XML describes data and </a:t>
                      </a:r>
                      <a:r>
                        <a:rPr sz="2000" spc="-6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5" dirty="0">
                          <a:latin typeface="Tahoma"/>
                          <a:cs typeface="Tahoma"/>
                        </a:rPr>
                        <a:t>focuses</a:t>
                      </a:r>
                      <a:r>
                        <a:rPr sz="2000" spc="-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on</a:t>
                      </a:r>
                      <a:r>
                        <a:rPr sz="20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5" dirty="0">
                          <a:latin typeface="Tahoma"/>
                          <a:cs typeface="Tahoma"/>
                        </a:rPr>
                        <a:t>what</a:t>
                      </a:r>
                      <a:r>
                        <a:rPr sz="20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data</a:t>
                      </a:r>
                      <a:r>
                        <a:rPr sz="20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is.</a:t>
                      </a: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HTML</a:t>
                      </a:r>
                      <a:r>
                        <a:rPr sz="20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5" dirty="0">
                          <a:latin typeface="Tahoma"/>
                          <a:cs typeface="Tahoma"/>
                        </a:rPr>
                        <a:t>displays</a:t>
                      </a:r>
                      <a:r>
                        <a:rPr sz="20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5" dirty="0">
                          <a:latin typeface="Tahoma"/>
                          <a:cs typeface="Tahoma"/>
                        </a:rPr>
                        <a:t>information.</a:t>
                      </a:r>
                      <a:endParaRPr sz="2000" dirty="0">
                        <a:latin typeface="Tahoma"/>
                        <a:cs typeface="Tahoma"/>
                      </a:endParaRPr>
                    </a:p>
                  </a:txBody>
                  <a:tcPr marL="0" marR="0" marT="457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589915" algn="l" defTabSz="914400" rtl="0" eaLnBrk="1" latinLnBrk="0" hangingPunct="1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kern="1200" dirty="0">
                          <a:solidFill>
                            <a:schemeClr val="tx1"/>
                          </a:solidFill>
                          <a:latin typeface="Tahoma"/>
                          <a:ea typeface="+mn-ea"/>
                          <a:cs typeface="Tahoma"/>
                        </a:rPr>
                        <a:t>XML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ahoma"/>
                          <a:ea typeface="+mn-ea"/>
                          <a:cs typeface="Tahoma"/>
                        </a:rPr>
                        <a:t> </a:t>
                      </a:r>
                      <a:r>
                        <a:rPr sz="2000" kern="1200" dirty="0">
                          <a:solidFill>
                            <a:schemeClr val="tx1"/>
                          </a:solidFill>
                          <a:latin typeface="Tahoma"/>
                          <a:ea typeface="+mn-ea"/>
                          <a:cs typeface="Tahoma"/>
                        </a:rPr>
                        <a:t>describes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ahoma"/>
                          <a:ea typeface="+mn-ea"/>
                          <a:cs typeface="Tahoma"/>
                        </a:rPr>
                        <a:t> </a:t>
                      </a:r>
                      <a:r>
                        <a:rPr sz="2000" kern="1200" dirty="0">
                          <a:solidFill>
                            <a:schemeClr val="tx1"/>
                          </a:solidFill>
                          <a:latin typeface="Tahoma"/>
                          <a:ea typeface="+mn-ea"/>
                          <a:cs typeface="Tahoma"/>
                        </a:rPr>
                        <a:t>information.</a:t>
                      </a:r>
                    </a:p>
                  </a:txBody>
                  <a:tcPr marL="0" marR="0" marT="457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0147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76227-B041-446F-9FB6-B2E79EE79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Parsers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A5295-BB3B-4A26-8B60-52701F04E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69265" indent="-457200">
              <a:lnSpc>
                <a:spcPct val="100000"/>
              </a:lnSpc>
              <a:spcBef>
                <a:spcPts val="575"/>
              </a:spcBef>
              <a:buSzPct val="60000"/>
              <a:buFont typeface="+mj-lt"/>
              <a:buAutoNum type="arabicPeriod"/>
              <a:tabLst>
                <a:tab pos="354965" algn="l"/>
                <a:tab pos="355600" algn="l"/>
              </a:tabLst>
            </a:pPr>
            <a:r>
              <a:rPr lang="en-US" sz="2000" b="1" dirty="0">
                <a:latin typeface="Tahoma"/>
                <a:cs typeface="Tahoma"/>
              </a:rPr>
              <a:t>An</a:t>
            </a:r>
            <a:r>
              <a:rPr lang="en-US" sz="2000" b="1" spc="-25" dirty="0">
                <a:latin typeface="Tahoma"/>
                <a:cs typeface="Tahoma"/>
              </a:rPr>
              <a:t> </a:t>
            </a:r>
            <a:r>
              <a:rPr lang="en-US" sz="2000" b="1" spc="-5" dirty="0">
                <a:latin typeface="Tahoma"/>
                <a:cs typeface="Tahoma"/>
              </a:rPr>
              <a:t>XML</a:t>
            </a:r>
            <a:r>
              <a:rPr lang="en-US" sz="2000" b="1" spc="-25" dirty="0">
                <a:latin typeface="Tahoma"/>
                <a:cs typeface="Tahoma"/>
              </a:rPr>
              <a:t> </a:t>
            </a:r>
            <a:r>
              <a:rPr lang="en-US" sz="2000" b="1" spc="-5" dirty="0">
                <a:latin typeface="Tahoma"/>
                <a:cs typeface="Tahoma"/>
              </a:rPr>
              <a:t>parser:</a:t>
            </a:r>
            <a:endParaRPr lang="en-US" sz="2000" dirty="0">
              <a:latin typeface="Tahoma"/>
              <a:cs typeface="Tahoma"/>
            </a:endParaRPr>
          </a:p>
          <a:p>
            <a:pPr marL="811530" lvl="1" indent="-342900">
              <a:lnSpc>
                <a:spcPct val="100000"/>
              </a:lnSpc>
              <a:spcBef>
                <a:spcPts val="430"/>
              </a:spcBef>
              <a:buSzPct val="55555"/>
              <a:buFont typeface="Wingdings" panose="05000000000000000000" pitchFamily="2" charset="2"/>
              <a:buChar char="§"/>
              <a:tabLst>
                <a:tab pos="756285" algn="l"/>
                <a:tab pos="756920" algn="l"/>
              </a:tabLst>
            </a:pPr>
            <a:r>
              <a:rPr lang="en-US" sz="1800" dirty="0">
                <a:latin typeface="Tahoma"/>
                <a:cs typeface="Tahoma"/>
              </a:rPr>
              <a:t>Reads</a:t>
            </a:r>
            <a:r>
              <a:rPr lang="en-US" sz="1800" spc="-25" dirty="0">
                <a:latin typeface="Tahoma"/>
                <a:cs typeface="Tahoma"/>
              </a:rPr>
              <a:t> </a:t>
            </a:r>
            <a:r>
              <a:rPr lang="en-US" sz="1800" spc="-5" dirty="0">
                <a:latin typeface="Tahoma"/>
                <a:cs typeface="Tahoma"/>
              </a:rPr>
              <a:t>the</a:t>
            </a:r>
            <a:r>
              <a:rPr lang="en-US" sz="1800" spc="-40" dirty="0">
                <a:latin typeface="Tahoma"/>
                <a:cs typeface="Tahoma"/>
              </a:rPr>
              <a:t> </a:t>
            </a:r>
            <a:r>
              <a:rPr lang="en-US" sz="1800" spc="-5" dirty="0">
                <a:latin typeface="Tahoma"/>
                <a:cs typeface="Tahoma"/>
              </a:rPr>
              <a:t>document</a:t>
            </a:r>
            <a:endParaRPr lang="en-US" sz="1800" dirty="0">
              <a:latin typeface="Tahoma"/>
              <a:cs typeface="Tahoma"/>
            </a:endParaRPr>
          </a:p>
          <a:p>
            <a:pPr marL="811530" lvl="1" indent="-342900">
              <a:lnSpc>
                <a:spcPct val="100000"/>
              </a:lnSpc>
              <a:spcBef>
                <a:spcPts val="434"/>
              </a:spcBef>
              <a:buSzPct val="55555"/>
              <a:buFont typeface="Wingdings" panose="05000000000000000000" pitchFamily="2" charset="2"/>
              <a:buChar char="§"/>
              <a:tabLst>
                <a:tab pos="756285" algn="l"/>
                <a:tab pos="756920" algn="l"/>
              </a:tabLst>
            </a:pPr>
            <a:r>
              <a:rPr lang="en-US" sz="1800" spc="-5" dirty="0">
                <a:latin typeface="Tahoma"/>
                <a:cs typeface="Tahoma"/>
              </a:rPr>
              <a:t>Verifies</a:t>
            </a:r>
            <a:r>
              <a:rPr lang="en-US" sz="1800" spc="-20" dirty="0">
                <a:latin typeface="Tahoma"/>
                <a:cs typeface="Tahoma"/>
              </a:rPr>
              <a:t> </a:t>
            </a:r>
            <a:r>
              <a:rPr lang="en-US" sz="1800" dirty="0">
                <a:latin typeface="Tahoma"/>
                <a:cs typeface="Tahoma"/>
              </a:rPr>
              <a:t>it</a:t>
            </a:r>
            <a:r>
              <a:rPr lang="en-US" sz="1800" spc="-10" dirty="0">
                <a:latin typeface="Tahoma"/>
                <a:cs typeface="Tahoma"/>
              </a:rPr>
              <a:t> </a:t>
            </a:r>
            <a:r>
              <a:rPr lang="en-US" sz="1800" spc="-5" dirty="0">
                <a:latin typeface="Tahoma"/>
                <a:cs typeface="Tahoma"/>
              </a:rPr>
              <a:t>for</a:t>
            </a:r>
            <a:r>
              <a:rPr lang="en-US" sz="1800" spc="-15" dirty="0">
                <a:latin typeface="Tahoma"/>
                <a:cs typeface="Tahoma"/>
              </a:rPr>
              <a:t> </a:t>
            </a:r>
            <a:r>
              <a:rPr lang="en-US" sz="1800" spc="-5" dirty="0">
                <a:latin typeface="Tahoma"/>
                <a:cs typeface="Tahoma"/>
              </a:rPr>
              <a:t>its</a:t>
            </a:r>
            <a:r>
              <a:rPr lang="en-US" sz="1800" spc="-20" dirty="0">
                <a:latin typeface="Tahoma"/>
                <a:cs typeface="Tahoma"/>
              </a:rPr>
              <a:t> </a:t>
            </a:r>
            <a:r>
              <a:rPr lang="en-US" sz="1800" spc="-5" dirty="0">
                <a:latin typeface="Tahoma"/>
                <a:cs typeface="Tahoma"/>
              </a:rPr>
              <a:t>well-formedness</a:t>
            </a:r>
            <a:endParaRPr lang="en-US" sz="1800" dirty="0">
              <a:latin typeface="Tahoma"/>
              <a:cs typeface="Tahoma"/>
            </a:endParaRPr>
          </a:p>
          <a:p>
            <a:pPr marL="811530" lvl="1" indent="-342900">
              <a:lnSpc>
                <a:spcPct val="100000"/>
              </a:lnSpc>
              <a:spcBef>
                <a:spcPts val="430"/>
              </a:spcBef>
              <a:buSzPct val="55555"/>
              <a:buFont typeface="Wingdings" panose="05000000000000000000" pitchFamily="2" charset="2"/>
              <a:buChar char="§"/>
              <a:tabLst>
                <a:tab pos="756285" algn="l"/>
                <a:tab pos="756920" algn="l"/>
              </a:tabLst>
            </a:pPr>
            <a:r>
              <a:rPr lang="en-US" sz="1800" dirty="0">
                <a:latin typeface="Tahoma"/>
                <a:cs typeface="Tahoma"/>
              </a:rPr>
              <a:t>After</a:t>
            </a:r>
            <a:r>
              <a:rPr lang="en-US" sz="1800" spc="-10" dirty="0">
                <a:latin typeface="Tahoma"/>
                <a:cs typeface="Tahoma"/>
              </a:rPr>
              <a:t> </a:t>
            </a:r>
            <a:r>
              <a:rPr lang="en-US" sz="1800" spc="-5" dirty="0">
                <a:latin typeface="Tahoma"/>
                <a:cs typeface="Tahoma"/>
              </a:rPr>
              <a:t>verification, converts</a:t>
            </a:r>
            <a:r>
              <a:rPr lang="en-US" sz="1800" spc="-10" dirty="0">
                <a:latin typeface="Tahoma"/>
                <a:cs typeface="Tahoma"/>
              </a:rPr>
              <a:t> </a:t>
            </a:r>
            <a:r>
              <a:rPr lang="en-US" sz="1800" dirty="0">
                <a:latin typeface="Tahoma"/>
                <a:cs typeface="Tahoma"/>
              </a:rPr>
              <a:t>it</a:t>
            </a:r>
            <a:r>
              <a:rPr lang="en-US" sz="1800" spc="-5" dirty="0">
                <a:latin typeface="Tahoma"/>
                <a:cs typeface="Tahoma"/>
              </a:rPr>
              <a:t> into </a:t>
            </a:r>
            <a:r>
              <a:rPr lang="en-US" sz="1800" dirty="0">
                <a:latin typeface="Tahoma"/>
                <a:cs typeface="Tahoma"/>
              </a:rPr>
              <a:t>a</a:t>
            </a:r>
            <a:r>
              <a:rPr lang="en-US" sz="1800" spc="-10" dirty="0">
                <a:latin typeface="Tahoma"/>
                <a:cs typeface="Tahoma"/>
              </a:rPr>
              <a:t> </a:t>
            </a:r>
            <a:r>
              <a:rPr lang="en-US" sz="1800" spc="-5" dirty="0">
                <a:latin typeface="Tahoma"/>
                <a:cs typeface="Tahoma"/>
              </a:rPr>
              <a:t>tree</a:t>
            </a:r>
            <a:r>
              <a:rPr lang="en-US" sz="1800" spc="-10" dirty="0">
                <a:latin typeface="Tahoma"/>
                <a:cs typeface="Tahoma"/>
              </a:rPr>
              <a:t> </a:t>
            </a:r>
            <a:r>
              <a:rPr lang="en-US" sz="1800" dirty="0">
                <a:latin typeface="Tahoma"/>
                <a:cs typeface="Tahoma"/>
              </a:rPr>
              <a:t>of</a:t>
            </a:r>
            <a:r>
              <a:rPr lang="en-US" sz="1800" spc="-5" dirty="0">
                <a:latin typeface="Tahoma"/>
                <a:cs typeface="Tahoma"/>
              </a:rPr>
              <a:t> elements</a:t>
            </a:r>
            <a:endParaRPr lang="en-US" sz="1800" dirty="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Wingdings" panose="05000000000000000000" pitchFamily="2" charset="2"/>
              <a:buChar char="§"/>
            </a:pPr>
            <a:endParaRPr lang="en-US" sz="2750" dirty="0">
              <a:latin typeface="Tahoma"/>
              <a:cs typeface="Tahoma"/>
            </a:endParaRPr>
          </a:p>
          <a:p>
            <a:pPr marL="469265" indent="-457200">
              <a:lnSpc>
                <a:spcPct val="100000"/>
              </a:lnSpc>
              <a:buSzPct val="60000"/>
              <a:buFont typeface="+mj-lt"/>
              <a:buAutoNum type="arabicPeriod"/>
              <a:tabLst>
                <a:tab pos="354965" algn="l"/>
                <a:tab pos="355600" algn="l"/>
              </a:tabLst>
            </a:pPr>
            <a:r>
              <a:rPr lang="en-US" sz="2000" b="1" spc="-5" dirty="0">
                <a:latin typeface="Tahoma"/>
                <a:cs typeface="Tahoma"/>
              </a:rPr>
              <a:t>Commonly</a:t>
            </a:r>
            <a:r>
              <a:rPr lang="en-US" sz="2000" b="1" spc="-15" dirty="0">
                <a:latin typeface="Tahoma"/>
                <a:cs typeface="Tahoma"/>
              </a:rPr>
              <a:t> </a:t>
            </a:r>
            <a:r>
              <a:rPr lang="en-US" sz="2000" b="1" spc="-5" dirty="0">
                <a:latin typeface="Tahoma"/>
                <a:cs typeface="Tahoma"/>
              </a:rPr>
              <a:t>used</a:t>
            </a:r>
            <a:r>
              <a:rPr lang="en-US" sz="2000" b="1" spc="-30" dirty="0">
                <a:latin typeface="Tahoma"/>
                <a:cs typeface="Tahoma"/>
              </a:rPr>
              <a:t> </a:t>
            </a:r>
            <a:r>
              <a:rPr lang="en-US" sz="2000" b="1" spc="-5" dirty="0">
                <a:latin typeface="Tahoma"/>
                <a:cs typeface="Tahoma"/>
              </a:rPr>
              <a:t>parsers:</a:t>
            </a:r>
            <a:endParaRPr lang="en-US" sz="2000" dirty="0">
              <a:latin typeface="Tahoma"/>
              <a:cs typeface="Tahoma"/>
            </a:endParaRPr>
          </a:p>
          <a:p>
            <a:pPr marL="811530" lvl="1" indent="-342900">
              <a:lnSpc>
                <a:spcPct val="100000"/>
              </a:lnSpc>
              <a:spcBef>
                <a:spcPts val="430"/>
              </a:spcBef>
              <a:buSzPct val="55555"/>
              <a:buFont typeface="Wingdings" panose="05000000000000000000" pitchFamily="2" charset="2"/>
              <a:buChar char="§"/>
              <a:tabLst>
                <a:tab pos="756285" algn="l"/>
                <a:tab pos="756920" algn="l"/>
              </a:tabLst>
            </a:pPr>
            <a:r>
              <a:rPr lang="en-US" sz="1800" spc="-5" dirty="0">
                <a:latin typeface="Tahoma"/>
                <a:cs typeface="Tahoma"/>
              </a:rPr>
              <a:t>Crimson,</a:t>
            </a:r>
            <a:r>
              <a:rPr lang="en-US" sz="1800" spc="-10" dirty="0">
                <a:latin typeface="Tahoma"/>
                <a:cs typeface="Tahoma"/>
              </a:rPr>
              <a:t> </a:t>
            </a:r>
            <a:r>
              <a:rPr lang="en-US" sz="1800" dirty="0">
                <a:latin typeface="Tahoma"/>
                <a:cs typeface="Tahoma"/>
              </a:rPr>
              <a:t>Xerces,</a:t>
            </a:r>
            <a:r>
              <a:rPr lang="en-US" sz="1800" spc="5" dirty="0">
                <a:latin typeface="Tahoma"/>
                <a:cs typeface="Tahoma"/>
              </a:rPr>
              <a:t> </a:t>
            </a:r>
            <a:r>
              <a:rPr lang="en-US" sz="1800" spc="-5" dirty="0">
                <a:latin typeface="Tahoma"/>
                <a:cs typeface="Tahoma"/>
              </a:rPr>
              <a:t>Oracle</a:t>
            </a:r>
            <a:r>
              <a:rPr lang="en-US" sz="1800" spc="10" dirty="0">
                <a:latin typeface="Tahoma"/>
                <a:cs typeface="Tahoma"/>
              </a:rPr>
              <a:t> </a:t>
            </a:r>
            <a:r>
              <a:rPr lang="en-US" sz="1800" dirty="0">
                <a:latin typeface="Tahoma"/>
                <a:cs typeface="Tahoma"/>
              </a:rPr>
              <a:t>XML </a:t>
            </a:r>
            <a:r>
              <a:rPr lang="en-US" sz="1800" spc="-5" dirty="0">
                <a:latin typeface="Tahoma"/>
                <a:cs typeface="Tahoma"/>
              </a:rPr>
              <a:t>Parser, JAXP,</a:t>
            </a:r>
            <a:r>
              <a:rPr lang="en-US" sz="1800" spc="5" dirty="0">
                <a:latin typeface="Tahoma"/>
                <a:cs typeface="Tahoma"/>
              </a:rPr>
              <a:t> </a:t>
            </a:r>
            <a:r>
              <a:rPr lang="en-US" sz="1800" dirty="0">
                <a:latin typeface="Tahoma"/>
                <a:cs typeface="Tahoma"/>
              </a:rPr>
              <a:t>MSXML</a:t>
            </a:r>
          </a:p>
          <a:p>
            <a:pPr lvl="1">
              <a:lnSpc>
                <a:spcPct val="100000"/>
              </a:lnSpc>
              <a:spcBef>
                <a:spcPts val="45"/>
              </a:spcBef>
              <a:buFont typeface="Wingdings" panose="05000000000000000000" pitchFamily="2" charset="2"/>
              <a:buChar char="§"/>
            </a:pPr>
            <a:endParaRPr lang="en-US" sz="2750" dirty="0">
              <a:latin typeface="Tahoma"/>
              <a:cs typeface="Tahoma"/>
            </a:endParaRPr>
          </a:p>
          <a:p>
            <a:pPr marL="469265" indent="-457200">
              <a:lnSpc>
                <a:spcPct val="100000"/>
              </a:lnSpc>
              <a:buSzPct val="60000"/>
              <a:buFont typeface="+mj-lt"/>
              <a:buAutoNum type="arabicPeriod"/>
              <a:tabLst>
                <a:tab pos="354965" algn="l"/>
                <a:tab pos="355600" algn="l"/>
              </a:tabLst>
            </a:pPr>
            <a:r>
              <a:rPr lang="en-US" sz="2000" b="1" spc="-5" dirty="0">
                <a:latin typeface="Tahoma"/>
                <a:cs typeface="Tahoma"/>
              </a:rPr>
              <a:t>Type</a:t>
            </a:r>
            <a:r>
              <a:rPr lang="en-US" sz="2000" b="1" spc="-30" dirty="0">
                <a:latin typeface="Tahoma"/>
                <a:cs typeface="Tahoma"/>
              </a:rPr>
              <a:t> </a:t>
            </a:r>
            <a:r>
              <a:rPr lang="en-US" sz="2000" b="1" spc="-5" dirty="0">
                <a:latin typeface="Tahoma"/>
                <a:cs typeface="Tahoma"/>
              </a:rPr>
              <a:t>of</a:t>
            </a:r>
            <a:r>
              <a:rPr lang="en-US" sz="2000" b="1" spc="-20" dirty="0">
                <a:latin typeface="Tahoma"/>
                <a:cs typeface="Tahoma"/>
              </a:rPr>
              <a:t> </a:t>
            </a:r>
            <a:r>
              <a:rPr lang="en-US" sz="2000" b="1" spc="-5" dirty="0">
                <a:latin typeface="Tahoma"/>
                <a:cs typeface="Tahoma"/>
              </a:rPr>
              <a:t>parsers:</a:t>
            </a:r>
            <a:endParaRPr lang="en-US" sz="2000" dirty="0">
              <a:latin typeface="Tahoma"/>
              <a:cs typeface="Tahoma"/>
            </a:endParaRPr>
          </a:p>
          <a:p>
            <a:pPr marL="811530" lvl="1" indent="-342900">
              <a:lnSpc>
                <a:spcPct val="100000"/>
              </a:lnSpc>
              <a:spcBef>
                <a:spcPts val="425"/>
              </a:spcBef>
              <a:buSzPct val="55555"/>
              <a:buFont typeface="Wingdings" panose="05000000000000000000" pitchFamily="2" charset="2"/>
              <a:buChar char="§"/>
              <a:tabLst>
                <a:tab pos="756285" algn="l"/>
                <a:tab pos="756920" algn="l"/>
              </a:tabLst>
            </a:pPr>
            <a:r>
              <a:rPr lang="en-US" sz="1800" spc="-5" dirty="0">
                <a:latin typeface="Tahoma"/>
                <a:cs typeface="Tahoma"/>
              </a:rPr>
              <a:t>Non</a:t>
            </a:r>
            <a:r>
              <a:rPr lang="en-US" sz="1800" spc="-25" dirty="0">
                <a:latin typeface="Tahoma"/>
                <a:cs typeface="Tahoma"/>
              </a:rPr>
              <a:t> </a:t>
            </a:r>
            <a:r>
              <a:rPr lang="en-US" sz="1800" spc="-5" dirty="0">
                <a:latin typeface="Tahoma"/>
                <a:cs typeface="Tahoma"/>
              </a:rPr>
              <a:t>Validating </a:t>
            </a:r>
            <a:r>
              <a:rPr lang="en-US" sz="1800" dirty="0">
                <a:latin typeface="Tahoma"/>
                <a:cs typeface="Tahoma"/>
              </a:rPr>
              <a:t>parser</a:t>
            </a:r>
          </a:p>
          <a:p>
            <a:pPr marL="811530" lvl="1" indent="-342900">
              <a:lnSpc>
                <a:spcPct val="100000"/>
              </a:lnSpc>
              <a:spcBef>
                <a:spcPts val="434"/>
              </a:spcBef>
              <a:buSzPct val="55555"/>
              <a:buFont typeface="Wingdings" panose="05000000000000000000" pitchFamily="2" charset="2"/>
              <a:buChar char="§"/>
              <a:tabLst>
                <a:tab pos="756285" algn="l"/>
                <a:tab pos="756920" algn="l"/>
              </a:tabLst>
            </a:pPr>
            <a:r>
              <a:rPr lang="en-US" sz="1800" spc="-5" dirty="0">
                <a:latin typeface="Tahoma"/>
                <a:cs typeface="Tahoma"/>
              </a:rPr>
              <a:t>Validating</a:t>
            </a:r>
            <a:r>
              <a:rPr lang="en-US" sz="1800" spc="-15" dirty="0">
                <a:latin typeface="Tahoma"/>
                <a:cs typeface="Tahoma"/>
              </a:rPr>
              <a:t> </a:t>
            </a:r>
            <a:r>
              <a:rPr lang="en-US" sz="1800" dirty="0">
                <a:latin typeface="Tahoma"/>
                <a:cs typeface="Tahoma"/>
              </a:rPr>
              <a:t>parser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504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C0D71-EBF6-4B8C-B80F-E68B00210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Parsers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4D627-80A5-4D96-862A-4598A8067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7020" indent="-457200">
              <a:lnSpc>
                <a:spcPct val="100000"/>
              </a:lnSpc>
              <a:spcBef>
                <a:spcPts val="680"/>
              </a:spcBef>
              <a:buFont typeface="+mj-lt"/>
              <a:buAutoNum type="arabicPeriod"/>
            </a:pPr>
            <a:r>
              <a:rPr lang="en-US" sz="2000" b="1" spc="-5" dirty="0">
                <a:latin typeface="Tahoma"/>
                <a:cs typeface="Tahoma"/>
              </a:rPr>
              <a:t>Non</a:t>
            </a:r>
            <a:r>
              <a:rPr lang="en-US" sz="2000" b="1" spc="-15" dirty="0">
                <a:latin typeface="Tahoma"/>
                <a:cs typeface="Tahoma"/>
              </a:rPr>
              <a:t> </a:t>
            </a:r>
            <a:r>
              <a:rPr lang="en-US" sz="2000" b="1" spc="-5" dirty="0">
                <a:latin typeface="Tahoma"/>
                <a:cs typeface="Tahoma"/>
              </a:rPr>
              <a:t>Validating</a:t>
            </a:r>
            <a:r>
              <a:rPr lang="en-US" sz="2000" b="1" spc="-10" dirty="0">
                <a:latin typeface="Tahoma"/>
                <a:cs typeface="Tahoma"/>
              </a:rPr>
              <a:t> </a:t>
            </a:r>
            <a:r>
              <a:rPr lang="en-US" sz="2000" b="1" spc="-5" dirty="0">
                <a:latin typeface="Tahoma"/>
                <a:cs typeface="Tahoma"/>
              </a:rPr>
              <a:t>parser</a:t>
            </a:r>
            <a:endParaRPr lang="en-US" sz="2000" dirty="0">
              <a:latin typeface="Tahoma"/>
              <a:cs typeface="Tahoma"/>
            </a:endParaRPr>
          </a:p>
          <a:p>
            <a:pPr marL="354965" indent="-342900">
              <a:lnSpc>
                <a:spcPct val="100000"/>
              </a:lnSpc>
              <a:spcBef>
                <a:spcPts val="580"/>
              </a:spcBef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lang="en-US" sz="2000" spc="-5" dirty="0">
                <a:latin typeface="Tahoma"/>
                <a:cs typeface="Tahoma"/>
              </a:rPr>
              <a:t>It</a:t>
            </a:r>
            <a:r>
              <a:rPr lang="en-US" sz="2000" dirty="0">
                <a:latin typeface="Tahoma"/>
                <a:cs typeface="Tahoma"/>
              </a:rPr>
              <a:t> </a:t>
            </a:r>
            <a:r>
              <a:rPr lang="en-US" sz="2000" spc="-5" dirty="0">
                <a:latin typeface="Tahoma"/>
                <a:cs typeface="Tahoma"/>
              </a:rPr>
              <a:t>checks</a:t>
            </a:r>
            <a:r>
              <a:rPr lang="en-US" sz="2000" spc="15" dirty="0">
                <a:latin typeface="Tahoma"/>
                <a:cs typeface="Tahoma"/>
              </a:rPr>
              <a:t> </a:t>
            </a:r>
            <a:r>
              <a:rPr lang="en-US" sz="2000" spc="-5" dirty="0">
                <a:latin typeface="Tahoma"/>
                <a:cs typeface="Tahoma"/>
              </a:rPr>
              <a:t>the well-formedness</a:t>
            </a:r>
            <a:r>
              <a:rPr lang="en-US" sz="2000" spc="-15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of</a:t>
            </a:r>
            <a:r>
              <a:rPr lang="en-US" sz="2000" spc="-15" dirty="0">
                <a:latin typeface="Tahoma"/>
                <a:cs typeface="Tahoma"/>
              </a:rPr>
              <a:t> </a:t>
            </a:r>
            <a:r>
              <a:rPr lang="en-US" sz="2000" spc="-5" dirty="0">
                <a:latin typeface="Tahoma"/>
                <a:cs typeface="Tahoma"/>
              </a:rPr>
              <a:t>the document.</a:t>
            </a:r>
            <a:endParaRPr lang="en-US" sz="2000" dirty="0">
              <a:latin typeface="Tahoma"/>
              <a:cs typeface="Tahoma"/>
            </a:endParaRPr>
          </a:p>
          <a:p>
            <a:pPr marL="354965" marR="5080" indent="-342900">
              <a:lnSpc>
                <a:spcPct val="100000"/>
              </a:lnSpc>
              <a:spcBef>
                <a:spcPts val="575"/>
              </a:spcBef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lang="en-US" sz="2000" spc="-15" dirty="0">
                <a:latin typeface="Tahoma"/>
                <a:cs typeface="Tahoma"/>
              </a:rPr>
              <a:t>Reads </a:t>
            </a:r>
            <a:r>
              <a:rPr lang="en-US" sz="2000" dirty="0">
                <a:latin typeface="Tahoma"/>
                <a:cs typeface="Tahoma"/>
              </a:rPr>
              <a:t>the document and </a:t>
            </a:r>
            <a:r>
              <a:rPr lang="en-US" sz="2000" spc="-5" dirty="0">
                <a:latin typeface="Tahoma"/>
                <a:cs typeface="Tahoma"/>
              </a:rPr>
              <a:t>checks </a:t>
            </a:r>
            <a:r>
              <a:rPr lang="en-US" sz="2000" spc="-10" dirty="0">
                <a:latin typeface="Tahoma"/>
                <a:cs typeface="Tahoma"/>
              </a:rPr>
              <a:t>for </a:t>
            </a:r>
            <a:r>
              <a:rPr lang="en-US" sz="2000" dirty="0">
                <a:latin typeface="Tahoma"/>
                <a:cs typeface="Tahoma"/>
              </a:rPr>
              <a:t>its </a:t>
            </a:r>
            <a:r>
              <a:rPr lang="en-US" sz="2000" spc="-5" dirty="0">
                <a:latin typeface="Tahoma"/>
                <a:cs typeface="Tahoma"/>
              </a:rPr>
              <a:t>conformity </a:t>
            </a:r>
            <a:r>
              <a:rPr lang="en-US" sz="2000" spc="-735" dirty="0">
                <a:latin typeface="Tahoma"/>
                <a:cs typeface="Tahoma"/>
              </a:rPr>
              <a:t> </a:t>
            </a:r>
            <a:r>
              <a:rPr lang="en-US" sz="2000" spc="-5" dirty="0">
                <a:latin typeface="Tahoma"/>
                <a:cs typeface="Tahoma"/>
              </a:rPr>
              <a:t>with </a:t>
            </a:r>
            <a:r>
              <a:rPr lang="en-US" sz="2000" dirty="0">
                <a:latin typeface="Tahoma"/>
                <a:cs typeface="Tahoma"/>
              </a:rPr>
              <a:t>XML</a:t>
            </a:r>
            <a:r>
              <a:rPr lang="en-US" sz="2000" spc="-5" dirty="0">
                <a:latin typeface="Tahoma"/>
                <a:cs typeface="Tahoma"/>
              </a:rPr>
              <a:t> standards.</a:t>
            </a:r>
            <a:endParaRPr lang="en-US" sz="20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3333CC"/>
              </a:buClr>
              <a:buFont typeface="Wingdings"/>
              <a:buChar char=""/>
            </a:pPr>
            <a:endParaRPr lang="en-US" sz="3200" dirty="0">
              <a:latin typeface="Tahoma"/>
              <a:cs typeface="Tahoma"/>
            </a:endParaRPr>
          </a:p>
          <a:p>
            <a:pPr marL="287020" indent="-457200">
              <a:lnSpc>
                <a:spcPct val="100000"/>
              </a:lnSpc>
              <a:buFont typeface="+mj-lt"/>
              <a:buAutoNum type="arabicPeriod" startAt="2"/>
            </a:pPr>
            <a:r>
              <a:rPr lang="en-US" sz="2000" b="1" spc="-5" dirty="0">
                <a:latin typeface="Tahoma"/>
                <a:cs typeface="Tahoma"/>
              </a:rPr>
              <a:t>Validating</a:t>
            </a:r>
            <a:r>
              <a:rPr lang="en-US" sz="2000" b="1" spc="-25" dirty="0">
                <a:latin typeface="Tahoma"/>
                <a:cs typeface="Tahoma"/>
              </a:rPr>
              <a:t> </a:t>
            </a:r>
            <a:r>
              <a:rPr lang="en-US" sz="2000" b="1" spc="-5" dirty="0">
                <a:latin typeface="Tahoma"/>
                <a:cs typeface="Tahoma"/>
              </a:rPr>
              <a:t>parser</a:t>
            </a:r>
            <a:endParaRPr lang="en-US" sz="2000" dirty="0">
              <a:latin typeface="Tahoma"/>
              <a:cs typeface="Tahoma"/>
            </a:endParaRPr>
          </a:p>
          <a:p>
            <a:pPr marL="469265" indent="-457200">
              <a:lnSpc>
                <a:spcPct val="100000"/>
              </a:lnSpc>
              <a:spcBef>
                <a:spcPts val="575"/>
              </a:spcBef>
              <a:buSzPct val="60416"/>
              <a:buFont typeface="Wingdings" panose="05000000000000000000" pitchFamily="2" charset="2"/>
              <a:buChar char="§"/>
              <a:tabLst>
                <a:tab pos="354965" algn="l"/>
                <a:tab pos="355600" algn="l"/>
              </a:tabLst>
            </a:pPr>
            <a:r>
              <a:rPr lang="en-US" sz="2000" spc="-15" dirty="0">
                <a:latin typeface="Tahoma"/>
                <a:cs typeface="Tahoma"/>
              </a:rPr>
              <a:t>It checks the validity of the document using DTD</a:t>
            </a:r>
            <a:r>
              <a:rPr lang="en-US" sz="2000" spc="-30" dirty="0">
                <a:latin typeface="Tahoma"/>
                <a:cs typeface="Tahoma"/>
              </a:rPr>
              <a:t>.</a:t>
            </a:r>
            <a:endParaRPr lang="en-US" sz="2000" dirty="0">
              <a:latin typeface="Tahoma"/>
              <a:cs typeface="Tahom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486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D0CD8-9928-4E56-B97C-7080547DD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browsers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3B24D-7CB4-479D-98B4-17B288AF2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4965" indent="-342900" algn="just">
              <a:lnSpc>
                <a:spcPct val="100000"/>
              </a:lnSpc>
              <a:spcBef>
                <a:spcPts val="100"/>
              </a:spcBef>
              <a:buSzPct val="60416"/>
              <a:buFont typeface="Wingdings" panose="05000000000000000000" pitchFamily="2" charset="2"/>
              <a:buChar char="q"/>
              <a:tabLst>
                <a:tab pos="355600" algn="l"/>
              </a:tabLst>
            </a:pPr>
            <a:r>
              <a:rPr lang="en-US" sz="2400" spc="-5" dirty="0">
                <a:latin typeface="Tahoma"/>
                <a:cs typeface="Tahoma"/>
              </a:rPr>
              <a:t>Web browsers</a:t>
            </a:r>
            <a:r>
              <a:rPr lang="en-US" sz="2400" spc="5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can format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XML</a:t>
            </a:r>
            <a:r>
              <a:rPr lang="en-US" sz="2400" spc="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data and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display it </a:t>
            </a:r>
            <a:r>
              <a:rPr lang="en-US" sz="2400" spc="-5" dirty="0">
                <a:latin typeface="Tahoma"/>
                <a:cs typeface="Tahoma"/>
              </a:rPr>
              <a:t>to</a:t>
            </a:r>
            <a:endParaRPr lang="en-US" sz="2400" dirty="0">
              <a:latin typeface="Tahoma"/>
              <a:cs typeface="Tahoma"/>
            </a:endParaRPr>
          </a:p>
          <a:p>
            <a:pPr marL="172085" indent="0" algn="just">
              <a:lnSpc>
                <a:spcPct val="100000"/>
              </a:lnSpc>
              <a:spcBef>
                <a:spcPts val="5"/>
              </a:spcBef>
              <a:buNone/>
            </a:pPr>
            <a:r>
              <a:rPr lang="en-US" sz="2400" spc="-5" dirty="0">
                <a:latin typeface="Tahoma"/>
                <a:cs typeface="Tahoma"/>
              </a:rPr>
              <a:t>the</a:t>
            </a:r>
            <a:r>
              <a:rPr lang="en-US" sz="2400" spc="-5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user.</a:t>
            </a:r>
          </a:p>
          <a:p>
            <a:pPr marL="514985" indent="-342900" algn="just">
              <a:lnSpc>
                <a:spcPct val="100000"/>
              </a:lnSpc>
              <a:spcBef>
                <a:spcPts val="5"/>
              </a:spcBef>
              <a:buFont typeface="Wingdings" panose="05000000000000000000" pitchFamily="2" charset="2"/>
              <a:buChar char="q"/>
            </a:pPr>
            <a:endParaRPr lang="en-US" sz="2400" dirty="0">
              <a:latin typeface="Tahoma"/>
              <a:cs typeface="Tahoma"/>
            </a:endParaRPr>
          </a:p>
          <a:p>
            <a:pPr marL="354965" marR="313055" indent="-342900" algn="just">
              <a:lnSpc>
                <a:spcPct val="100000"/>
              </a:lnSpc>
              <a:spcBef>
                <a:spcPts val="575"/>
              </a:spcBef>
              <a:buSzPct val="60416"/>
              <a:buFont typeface="Wingdings" panose="05000000000000000000" pitchFamily="2" charset="2"/>
              <a:buChar char="q"/>
              <a:tabLst>
                <a:tab pos="355600" algn="l"/>
              </a:tabLst>
            </a:pPr>
            <a:r>
              <a:rPr lang="en-US" sz="2400" dirty="0">
                <a:latin typeface="Tahoma"/>
                <a:cs typeface="Tahoma"/>
              </a:rPr>
              <a:t>Other programs like database, Musical </a:t>
            </a:r>
            <a:r>
              <a:rPr lang="en-US" sz="2400" spc="-5" dirty="0">
                <a:latin typeface="Tahoma"/>
                <a:cs typeface="Tahoma"/>
              </a:rPr>
              <a:t>Instrument </a:t>
            </a:r>
            <a:r>
              <a:rPr lang="en-US" sz="2400" spc="-740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Digital Interface </a:t>
            </a:r>
            <a:r>
              <a:rPr lang="en-US" sz="2400" dirty="0">
                <a:latin typeface="Tahoma"/>
                <a:cs typeface="Tahoma"/>
              </a:rPr>
              <a:t>(MIDI) program or a </a:t>
            </a:r>
            <a:r>
              <a:rPr lang="en-US" sz="2400" spc="-5" dirty="0">
                <a:latin typeface="Tahoma"/>
                <a:cs typeface="Tahoma"/>
              </a:rPr>
              <a:t>spreadsheet </a:t>
            </a:r>
            <a:r>
              <a:rPr lang="en-US" sz="2400" spc="-73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program</a:t>
            </a:r>
            <a:r>
              <a:rPr lang="en-US" sz="2400" spc="-4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may </a:t>
            </a:r>
            <a:r>
              <a:rPr lang="en-US" sz="2400" spc="-5" dirty="0">
                <a:latin typeface="Tahoma"/>
                <a:cs typeface="Tahoma"/>
              </a:rPr>
              <a:t>present</a:t>
            </a:r>
            <a:r>
              <a:rPr lang="en-US" sz="2400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XML</a:t>
            </a:r>
            <a:r>
              <a:rPr lang="en-US" sz="2400" spc="-1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data</a:t>
            </a:r>
            <a:r>
              <a:rPr lang="en-US" sz="2400" spc="-5" dirty="0">
                <a:latin typeface="Tahoma"/>
                <a:cs typeface="Tahoma"/>
              </a:rPr>
              <a:t> accordingly.</a:t>
            </a:r>
            <a:endParaRPr lang="en-US"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 panose="05000000000000000000" pitchFamily="2" charset="2"/>
              <a:buChar char="q"/>
            </a:pPr>
            <a:endParaRPr lang="en-US" sz="3300" dirty="0">
              <a:latin typeface="Tahoma"/>
              <a:cs typeface="Tahoma"/>
            </a:endParaRPr>
          </a:p>
          <a:p>
            <a:pPr marL="354965" indent="-342900" algn="just">
              <a:lnSpc>
                <a:spcPct val="100000"/>
              </a:lnSpc>
              <a:buSzPct val="60416"/>
              <a:buFont typeface="Wingdings" panose="05000000000000000000" pitchFamily="2" charset="2"/>
              <a:buChar char="q"/>
              <a:tabLst>
                <a:tab pos="355600" algn="l"/>
              </a:tabLst>
            </a:pPr>
            <a:r>
              <a:rPr lang="en-US" sz="2400" dirty="0">
                <a:latin typeface="Tahoma"/>
                <a:cs typeface="Tahoma"/>
              </a:rPr>
              <a:t>Commonly</a:t>
            </a:r>
            <a:r>
              <a:rPr lang="en-US" sz="2400" spc="-4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used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web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browsers:</a:t>
            </a:r>
            <a:endParaRPr lang="en-US" sz="2400" dirty="0">
              <a:latin typeface="Tahoma"/>
              <a:cs typeface="Tahoma"/>
            </a:endParaRPr>
          </a:p>
          <a:p>
            <a:pPr marL="468630" lvl="1" indent="0">
              <a:lnSpc>
                <a:spcPct val="100000"/>
              </a:lnSpc>
              <a:spcBef>
                <a:spcPts val="484"/>
              </a:spcBef>
              <a:buSzPct val="55000"/>
              <a:buNone/>
              <a:tabLst>
                <a:tab pos="756285" algn="l"/>
                <a:tab pos="756920" algn="l"/>
              </a:tabLst>
            </a:pPr>
            <a:r>
              <a:rPr lang="en-US" spc="-5" dirty="0">
                <a:latin typeface="Tahoma"/>
                <a:cs typeface="Tahoma"/>
              </a:rPr>
              <a:t>Netscape,</a:t>
            </a:r>
            <a:r>
              <a:rPr lang="en-US" spc="-30" dirty="0">
                <a:latin typeface="Tahoma"/>
                <a:cs typeface="Tahoma"/>
              </a:rPr>
              <a:t> </a:t>
            </a:r>
            <a:r>
              <a:rPr lang="en-US" spc="-5" dirty="0">
                <a:latin typeface="Tahoma"/>
                <a:cs typeface="Tahoma"/>
              </a:rPr>
              <a:t>Mozilla, Internet</a:t>
            </a:r>
            <a:r>
              <a:rPr lang="en-US" spc="5" dirty="0">
                <a:latin typeface="Tahoma"/>
                <a:cs typeface="Tahoma"/>
              </a:rPr>
              <a:t> </a:t>
            </a:r>
            <a:r>
              <a:rPr lang="en-US" spc="-5" dirty="0">
                <a:latin typeface="Tahoma"/>
                <a:cs typeface="Tahoma"/>
              </a:rPr>
              <a:t>Explorer,</a:t>
            </a:r>
            <a:r>
              <a:rPr lang="en-US" spc="-15" dirty="0">
                <a:latin typeface="Tahoma"/>
                <a:cs typeface="Tahoma"/>
              </a:rPr>
              <a:t> </a:t>
            </a:r>
            <a:r>
              <a:rPr lang="en-US" spc="-5" dirty="0">
                <a:latin typeface="Tahoma"/>
                <a:cs typeface="Tahoma"/>
              </a:rPr>
              <a:t>Firefox,</a:t>
            </a:r>
            <a:r>
              <a:rPr lang="en-US" spc="-20" dirty="0">
                <a:latin typeface="Tahoma"/>
                <a:cs typeface="Tahoma"/>
              </a:rPr>
              <a:t> </a:t>
            </a:r>
            <a:r>
              <a:rPr lang="en-US" spc="-5" dirty="0">
                <a:latin typeface="Tahoma"/>
                <a:cs typeface="Tahoma"/>
              </a:rPr>
              <a:t>Opera</a:t>
            </a:r>
            <a:endParaRPr lang="en-US" dirty="0">
              <a:latin typeface="Tahoma"/>
              <a:cs typeface="Tahom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301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D0CD8-9928-4E56-B97C-7080547DD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3B24D-7CB4-479D-98B4-17B288AF2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5600" indent="-342900">
              <a:lnSpc>
                <a:spcPct val="100000"/>
              </a:lnSpc>
              <a:spcBef>
                <a:spcPts val="585"/>
              </a:spcBef>
              <a:buSzPct val="60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lang="en-US" sz="2400" dirty="0">
                <a:latin typeface="Tahoma"/>
                <a:cs typeface="Tahoma"/>
              </a:rPr>
              <a:t>Used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for</a:t>
            </a:r>
            <a:r>
              <a:rPr lang="en-US" sz="2400" spc="10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the</a:t>
            </a:r>
            <a:r>
              <a:rPr lang="en-US" sz="2400" spc="-1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people</a:t>
            </a:r>
            <a:r>
              <a:rPr lang="en-US" sz="2400" spc="-1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to</a:t>
            </a:r>
            <a:r>
              <a:rPr lang="en-US" sz="2400" spc="5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give</a:t>
            </a:r>
            <a:r>
              <a:rPr lang="en-US" sz="2400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information</a:t>
            </a:r>
            <a:r>
              <a:rPr lang="en-US" sz="2400" spc="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about</a:t>
            </a:r>
            <a:r>
              <a:rPr lang="en-US" sz="2400" spc="-10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the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code</a:t>
            </a:r>
            <a:endParaRPr lang="en-US" sz="240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SzPct val="60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lang="en-US" sz="2400" dirty="0">
                <a:latin typeface="Tahoma"/>
                <a:cs typeface="Tahoma"/>
              </a:rPr>
              <a:t>Usually</a:t>
            </a:r>
            <a:r>
              <a:rPr lang="en-US" sz="2400" spc="-2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made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for</a:t>
            </a:r>
            <a:r>
              <a:rPr lang="en-US" sz="2400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the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content</a:t>
            </a:r>
            <a:endParaRPr lang="en-US" sz="2400" dirty="0">
              <a:latin typeface="Tahoma"/>
              <a:cs typeface="Tahoma"/>
            </a:endParaRPr>
          </a:p>
          <a:p>
            <a:endParaRPr lang="en-US" dirty="0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278B4685-FF57-4763-A6EA-EC555E76FA8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3465" y="3144824"/>
            <a:ext cx="6852261" cy="32918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880029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A1138-B41C-4CE5-982C-AE93B5FAA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 syntax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C65D41-54B1-4DD7-9DF4-5E486EF9DE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-6" b="8045"/>
          <a:stretch/>
        </p:blipFill>
        <p:spPr>
          <a:xfrm>
            <a:off x="2356323" y="2436825"/>
            <a:ext cx="7479354" cy="38684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36622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72564-08C9-4E67-9B8D-EEADEE7A3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Structure of well and non well formed document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190FD5F-4627-4F87-8F60-A5C09AD65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532" y="2463276"/>
            <a:ext cx="10344040" cy="3884361"/>
          </a:xfrm>
        </p:spPr>
        <p:txBody>
          <a:bodyPr>
            <a:normAutofit/>
          </a:bodyPr>
          <a:lstStyle/>
          <a:p>
            <a:pPr marL="354965" indent="-342900">
              <a:lnSpc>
                <a:spcPct val="100000"/>
              </a:lnSpc>
              <a:spcBef>
                <a:spcPts val="100"/>
              </a:spcBef>
              <a:buSzPct val="60416"/>
              <a:buFont typeface="Wingdings" panose="05000000000000000000" pitchFamily="2" charset="2"/>
              <a:buChar char="§"/>
              <a:tabLst>
                <a:tab pos="354965" algn="l"/>
                <a:tab pos="355600" algn="l"/>
              </a:tabLst>
            </a:pPr>
            <a:endParaRPr lang="en-US" sz="2000" dirty="0">
              <a:latin typeface="Tahoma"/>
              <a:cs typeface="Tahoma"/>
            </a:endParaRPr>
          </a:p>
          <a:p>
            <a:pPr marL="354965" indent="-342900">
              <a:lnSpc>
                <a:spcPct val="100000"/>
              </a:lnSpc>
              <a:spcBef>
                <a:spcPts val="100"/>
              </a:spcBef>
              <a:buSzPct val="60416"/>
              <a:buFont typeface="Wingdings" panose="05000000000000000000" pitchFamily="2" charset="2"/>
              <a:buChar char="§"/>
              <a:tabLst>
                <a:tab pos="354965" algn="l"/>
                <a:tab pos="355600" algn="l"/>
              </a:tabLst>
            </a:pPr>
            <a:endParaRPr lang="en-US" sz="2000" spc="-5" dirty="0">
              <a:latin typeface="Tahoma"/>
              <a:cs typeface="Tahoma"/>
            </a:endParaRPr>
          </a:p>
          <a:p>
            <a:pPr marL="354965" indent="-342900">
              <a:lnSpc>
                <a:spcPct val="100000"/>
              </a:lnSpc>
              <a:spcBef>
                <a:spcPts val="100"/>
              </a:spcBef>
              <a:buSzPct val="60416"/>
              <a:buFont typeface="Wingdings" panose="05000000000000000000" pitchFamily="2" charset="2"/>
              <a:buChar char="§"/>
              <a:tabLst>
                <a:tab pos="354965" algn="l"/>
                <a:tab pos="355600" algn="l"/>
              </a:tabLst>
            </a:pPr>
            <a:endParaRPr lang="en-US" sz="2000" spc="-5" dirty="0">
              <a:latin typeface="Tahoma"/>
              <a:cs typeface="Tahoma"/>
            </a:endParaRPr>
          </a:p>
          <a:p>
            <a:pPr marL="12065" marR="1003935" indent="0">
              <a:lnSpc>
                <a:spcPct val="100000"/>
              </a:lnSpc>
              <a:spcBef>
                <a:spcPts val="5"/>
              </a:spcBef>
              <a:buClr>
                <a:srgbClr val="3333CC"/>
              </a:buClr>
              <a:buSzPct val="60416"/>
              <a:buNone/>
              <a:tabLst>
                <a:tab pos="354965" algn="l"/>
                <a:tab pos="355600" algn="l"/>
              </a:tabLst>
            </a:pPr>
            <a:endParaRPr lang="en-US" sz="20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3333CC"/>
              </a:buClr>
              <a:buFont typeface="Wingdings"/>
              <a:buChar char=""/>
            </a:pPr>
            <a:endParaRPr lang="en-US" sz="3200" dirty="0">
              <a:latin typeface="Tahoma"/>
              <a:cs typeface="Tahoma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2ABE5EB-326E-4AAB-A7DB-C4F4EC03E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49711" y="2151875"/>
            <a:ext cx="3537603" cy="41957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245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45BFA-FE10-4941-B4C9-12CE5E735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Tags, prolog and root elements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1301FC20-01B2-4FB7-A749-A67F94FC5181}"/>
              </a:ext>
            </a:extLst>
          </p:cNvPr>
          <p:cNvSpPr txBox="1"/>
          <p:nvPr/>
        </p:nvSpPr>
        <p:spPr>
          <a:xfrm>
            <a:off x="1949302" y="3007665"/>
            <a:ext cx="7315200" cy="187743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192">
            <a:solidFill>
              <a:srgbClr val="000000"/>
            </a:solidFill>
          </a:ln>
        </p:spPr>
        <p:txBody>
          <a:bodyPr vert="horz" wrap="square" lIns="0" tIns="1524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200"/>
              </a:spcBef>
            </a:pPr>
            <a:r>
              <a:rPr sz="1600" spc="-5" dirty="0">
                <a:solidFill>
                  <a:schemeClr val="bg1"/>
                </a:solidFill>
                <a:latin typeface="Courier New"/>
                <a:cs typeface="Courier New"/>
              </a:rPr>
              <a:t>&lt;?xml</a:t>
            </a:r>
            <a:r>
              <a:rPr sz="1600" spc="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Courier New"/>
                <a:cs typeface="Courier New"/>
              </a:rPr>
              <a:t>version=”1.0”</a:t>
            </a:r>
            <a:r>
              <a:rPr sz="1600" spc="2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Courier New"/>
                <a:cs typeface="Courier New"/>
              </a:rPr>
              <a:t>encoding=”iso-8859-1”</a:t>
            </a:r>
            <a:r>
              <a:rPr sz="1600" spc="5" dirty="0">
                <a:solidFill>
                  <a:schemeClr val="bg1"/>
                </a:solidFill>
                <a:latin typeface="Courier New"/>
                <a:cs typeface="Courier New"/>
              </a:rPr>
              <a:t> ?&gt;</a:t>
            </a:r>
            <a:endParaRPr sz="16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  <a:tabLst>
                <a:tab pos="457200" algn="l"/>
              </a:tabLst>
            </a:pPr>
            <a:r>
              <a:rPr sz="1600" spc="-5" dirty="0">
                <a:solidFill>
                  <a:schemeClr val="bg1"/>
                </a:solidFill>
                <a:latin typeface="Courier New"/>
                <a:cs typeface="Courier New"/>
              </a:rPr>
              <a:t>-	&lt;</a:t>
            </a:r>
            <a:r>
              <a:rPr sz="1600" spc="-10" dirty="0">
                <a:solidFill>
                  <a:schemeClr val="bg1"/>
                </a:solidFill>
                <a:latin typeface="Tahoma"/>
                <a:cs typeface="Tahoma"/>
              </a:rPr>
              <a:t>FlowerPlanet</a:t>
            </a:r>
            <a:r>
              <a:rPr sz="1600" spc="-5" dirty="0">
                <a:solidFill>
                  <a:schemeClr val="bg1"/>
                </a:solidFill>
                <a:latin typeface="Courier New"/>
                <a:cs typeface="Courier New"/>
              </a:rPr>
              <a:t>&gt;</a:t>
            </a:r>
            <a:endParaRPr sz="16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213360">
              <a:lnSpc>
                <a:spcPct val="100000"/>
              </a:lnSpc>
            </a:pPr>
            <a:r>
              <a:rPr sz="1600" spc="-5" dirty="0">
                <a:solidFill>
                  <a:schemeClr val="bg1"/>
                </a:solidFill>
                <a:latin typeface="Courier New"/>
                <a:cs typeface="Courier New"/>
              </a:rPr>
              <a:t>&lt;Name&gt;Rose&lt;/Name&gt;</a:t>
            </a:r>
            <a:endParaRPr sz="16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335280">
              <a:lnSpc>
                <a:spcPct val="100000"/>
              </a:lnSpc>
            </a:pPr>
            <a:r>
              <a:rPr sz="1600" spc="-5" dirty="0">
                <a:solidFill>
                  <a:schemeClr val="bg1"/>
                </a:solidFill>
                <a:latin typeface="Courier New"/>
                <a:cs typeface="Courier New"/>
              </a:rPr>
              <a:t>&lt;Price&gt;$1&lt;/Price&gt;</a:t>
            </a:r>
            <a:endParaRPr sz="16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335280">
              <a:lnSpc>
                <a:spcPct val="100000"/>
              </a:lnSpc>
            </a:pPr>
            <a:r>
              <a:rPr sz="1600" spc="-5" dirty="0">
                <a:solidFill>
                  <a:schemeClr val="bg1"/>
                </a:solidFill>
                <a:latin typeface="Courier New"/>
                <a:cs typeface="Courier New"/>
              </a:rPr>
              <a:t>&lt;Description&gt;Red in</a:t>
            </a:r>
            <a:r>
              <a:rPr sz="1600" spc="-1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Courier New"/>
                <a:cs typeface="Courier New"/>
              </a:rPr>
              <a:t>color&lt;/Description&gt;</a:t>
            </a:r>
            <a:endParaRPr sz="16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335280">
              <a:lnSpc>
                <a:spcPct val="100000"/>
              </a:lnSpc>
            </a:pPr>
            <a:r>
              <a:rPr sz="1600" spc="-5" dirty="0">
                <a:solidFill>
                  <a:schemeClr val="bg1"/>
                </a:solidFill>
                <a:latin typeface="Courier New"/>
                <a:cs typeface="Courier New"/>
              </a:rPr>
              <a:t>&lt;Number&gt;700&lt;/Number&gt;</a:t>
            </a:r>
            <a:endParaRPr sz="16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solidFill>
                  <a:schemeClr val="bg1"/>
                </a:solidFill>
                <a:latin typeface="Tahoma"/>
                <a:cs typeface="Tahoma"/>
              </a:rPr>
              <a:t>&lt;/FlowerPlanet&gt;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0AD23371-C0D9-4533-987C-7F208734B09B}"/>
              </a:ext>
            </a:extLst>
          </p:cNvPr>
          <p:cNvSpPr txBox="1"/>
          <p:nvPr/>
        </p:nvSpPr>
        <p:spPr>
          <a:xfrm>
            <a:off x="1950063" y="2507031"/>
            <a:ext cx="1752600" cy="425450"/>
          </a:xfrm>
          <a:prstGeom prst="rect">
            <a:avLst/>
          </a:prstGeom>
          <a:solidFill>
            <a:srgbClr val="339966"/>
          </a:solidFill>
          <a:ln w="28955">
            <a:solidFill>
              <a:srgbClr val="00000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45"/>
              </a:spcBef>
            </a:pP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Code</a:t>
            </a:r>
            <a:r>
              <a:rPr sz="20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Snippet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29F96F1D-9F86-4889-AEBE-CCC5768DDAF8}"/>
              </a:ext>
            </a:extLst>
          </p:cNvPr>
          <p:cNvSpPr txBox="1"/>
          <p:nvPr/>
        </p:nvSpPr>
        <p:spPr>
          <a:xfrm>
            <a:off x="1949302" y="5141266"/>
            <a:ext cx="7315200" cy="10419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192">
            <a:solidFill>
              <a:srgbClr val="000000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91440">
              <a:lnSpc>
                <a:spcPts val="1850"/>
              </a:lnSpc>
              <a:spcBef>
                <a:spcPts val="425"/>
              </a:spcBef>
            </a:pPr>
            <a:r>
              <a:rPr sz="1600" spc="-10" dirty="0">
                <a:solidFill>
                  <a:schemeClr val="bg1"/>
                </a:solidFill>
                <a:latin typeface="Tahoma"/>
                <a:cs typeface="Tahoma"/>
              </a:rPr>
              <a:t>where,</a:t>
            </a:r>
            <a:endParaRPr sz="160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548640">
              <a:lnSpc>
                <a:spcPts val="1850"/>
              </a:lnSpc>
            </a:pPr>
            <a:r>
              <a:rPr sz="1600" spc="-5" dirty="0">
                <a:solidFill>
                  <a:schemeClr val="bg1"/>
                </a:solidFill>
                <a:latin typeface="Courier New"/>
                <a:cs typeface="Courier New"/>
              </a:rPr>
              <a:t>&lt;Name&gt;,</a:t>
            </a:r>
            <a:r>
              <a:rPr sz="1600" spc="2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Courier New"/>
                <a:cs typeface="Courier New"/>
              </a:rPr>
              <a:t>&lt;Price&gt;,&lt;Description&gt;</a:t>
            </a:r>
            <a:r>
              <a:rPr sz="1600" spc="6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Tahoma"/>
                <a:cs typeface="Tahoma"/>
              </a:rPr>
              <a:t>and</a:t>
            </a:r>
            <a:r>
              <a:rPr sz="1600" spc="47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Courier New"/>
                <a:cs typeface="Courier New"/>
              </a:rPr>
              <a:t>&lt;Number&gt;</a:t>
            </a:r>
            <a:r>
              <a:rPr sz="1600" spc="3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Tahoma"/>
                <a:cs typeface="Tahoma"/>
              </a:rPr>
              <a:t>tags</a:t>
            </a:r>
            <a:r>
              <a:rPr sz="1600" spc="1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Tahoma"/>
                <a:cs typeface="Tahoma"/>
              </a:rPr>
              <a:t>are</a:t>
            </a:r>
            <a:endParaRPr sz="160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548640">
              <a:lnSpc>
                <a:spcPts val="1850"/>
              </a:lnSpc>
              <a:spcBef>
                <a:spcPts val="145"/>
              </a:spcBef>
            </a:pPr>
            <a:r>
              <a:rPr sz="1600" spc="-10" dirty="0">
                <a:solidFill>
                  <a:schemeClr val="bg1"/>
                </a:solidFill>
                <a:latin typeface="Tahoma"/>
                <a:cs typeface="Tahoma"/>
              </a:rPr>
              <a:t>elements</a:t>
            </a:r>
            <a:endParaRPr sz="160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548640">
              <a:lnSpc>
                <a:spcPts val="1850"/>
              </a:lnSpc>
            </a:pPr>
            <a:r>
              <a:rPr sz="1600" spc="-5" dirty="0">
                <a:solidFill>
                  <a:schemeClr val="bg1"/>
                </a:solidFill>
                <a:latin typeface="Courier New"/>
                <a:cs typeface="Courier New"/>
              </a:rPr>
              <a:t>&lt;FlowerPlanet&gt;</a:t>
            </a:r>
            <a:r>
              <a:rPr sz="1600" spc="6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Tahoma"/>
                <a:cs typeface="Tahoma"/>
              </a:rPr>
              <a:t>and</a:t>
            </a:r>
            <a:r>
              <a:rPr sz="1600" spc="47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Courier New"/>
                <a:cs typeface="Courier New"/>
              </a:rPr>
              <a:t>&lt;/FlowerPlanet&gt;</a:t>
            </a:r>
            <a:r>
              <a:rPr sz="1600" spc="6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Tahoma"/>
                <a:cs typeface="Tahoma"/>
              </a:rPr>
              <a:t>are</a:t>
            </a:r>
            <a:r>
              <a:rPr sz="1600" spc="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Tahoma"/>
                <a:cs typeface="Tahoma"/>
              </a:rPr>
              <a:t>the</a:t>
            </a:r>
            <a:r>
              <a:rPr sz="1600" spc="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Tahoma"/>
                <a:cs typeface="Tahoma"/>
              </a:rPr>
              <a:t>root</a:t>
            </a:r>
            <a:r>
              <a:rPr sz="1600" spc="4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Tahoma"/>
                <a:cs typeface="Tahoma"/>
              </a:rPr>
              <a:t>elements</a:t>
            </a:r>
            <a:endParaRPr sz="1600" dirty="0">
              <a:solidFill>
                <a:schemeClr val="bg1"/>
              </a:solidFill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758404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DDCEC-6EBF-4323-B4F0-3248572F8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Tags, prolog and root elements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FEBB129-1DE3-49D0-8C6C-AE18FD536D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700" b="16891"/>
          <a:stretch/>
        </p:blipFill>
        <p:spPr>
          <a:xfrm>
            <a:off x="654553" y="2436667"/>
            <a:ext cx="7351764" cy="34963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hought Bubble: Cloud 10">
            <a:extLst>
              <a:ext uri="{FF2B5EF4-FFF2-40B4-BE49-F238E27FC236}">
                <a16:creationId xmlns:a16="http://schemas.microsoft.com/office/drawing/2014/main" id="{1F137F61-E54F-4BDD-AF2C-2976AB0B4446}"/>
              </a:ext>
            </a:extLst>
          </p:cNvPr>
          <p:cNvSpPr/>
          <p:nvPr/>
        </p:nvSpPr>
        <p:spPr>
          <a:xfrm>
            <a:off x="7804298" y="3165902"/>
            <a:ext cx="4313274" cy="3202999"/>
          </a:xfrm>
          <a:prstGeom prst="cloudCallout">
            <a:avLst>
              <a:gd name="adj1" fmla="val -52368"/>
              <a:gd name="adj2" fmla="val -48631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C43075-38B8-46FC-8DC3-CD46BBE9597C}"/>
              </a:ext>
            </a:extLst>
          </p:cNvPr>
          <p:cNvSpPr txBox="1"/>
          <p:nvPr/>
        </p:nvSpPr>
        <p:spPr>
          <a:xfrm>
            <a:off x="8396177" y="3890238"/>
            <a:ext cx="35311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This is the XML optional preamble. version="1.0" means that this is the XML standard this file conforms to. encoding="utf-8" means that the file is encoded using the UTF-8 Unicode encoding</a:t>
            </a:r>
          </a:p>
        </p:txBody>
      </p:sp>
    </p:spTree>
    <p:extLst>
      <p:ext uri="{BB962C8B-B14F-4D97-AF65-F5344CB8AC3E}">
        <p14:creationId xmlns:p14="http://schemas.microsoft.com/office/powerpoint/2010/main" val="3688199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72564-08C9-4E67-9B8D-EEADEE7A3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dirty="0"/>
              <a:t>Xml Editors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190FD5F-4627-4F87-8F60-A5C09AD65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532" y="2463276"/>
            <a:ext cx="10344040" cy="3884361"/>
          </a:xfrm>
        </p:spPr>
        <p:txBody>
          <a:bodyPr>
            <a:normAutofit/>
          </a:bodyPr>
          <a:lstStyle/>
          <a:p>
            <a:pPr marL="354965" indent="-342900">
              <a:lnSpc>
                <a:spcPct val="100000"/>
              </a:lnSpc>
              <a:spcBef>
                <a:spcPts val="100"/>
              </a:spcBef>
              <a:buSzPct val="60416"/>
              <a:buFont typeface="Wingdings" panose="05000000000000000000" pitchFamily="2" charset="2"/>
              <a:buChar char="§"/>
              <a:tabLst>
                <a:tab pos="354965" algn="l"/>
                <a:tab pos="355600" algn="l"/>
              </a:tabLst>
            </a:pPr>
            <a:endParaRPr lang="en-US" sz="2000" dirty="0">
              <a:latin typeface="Tahoma"/>
              <a:cs typeface="Tahoma"/>
            </a:endParaRPr>
          </a:p>
          <a:p>
            <a:pPr marL="354965" indent="-342900">
              <a:lnSpc>
                <a:spcPct val="100000"/>
              </a:lnSpc>
              <a:spcBef>
                <a:spcPts val="100"/>
              </a:spcBef>
              <a:buSzPct val="60416"/>
              <a:buFont typeface="Wingdings" panose="05000000000000000000" pitchFamily="2" charset="2"/>
              <a:buChar char="§"/>
              <a:tabLst>
                <a:tab pos="354965" algn="l"/>
                <a:tab pos="355600" algn="l"/>
              </a:tabLst>
            </a:pPr>
            <a:endParaRPr lang="en-US" sz="2000" spc="-5" dirty="0">
              <a:latin typeface="Tahoma"/>
              <a:cs typeface="Tahoma"/>
            </a:endParaRPr>
          </a:p>
          <a:p>
            <a:pPr marL="354965" indent="-342900">
              <a:lnSpc>
                <a:spcPct val="100000"/>
              </a:lnSpc>
              <a:spcBef>
                <a:spcPts val="100"/>
              </a:spcBef>
              <a:buSzPct val="60416"/>
              <a:buFont typeface="Wingdings" panose="05000000000000000000" pitchFamily="2" charset="2"/>
              <a:buChar char="§"/>
              <a:tabLst>
                <a:tab pos="354965" algn="l"/>
                <a:tab pos="355600" algn="l"/>
              </a:tabLst>
            </a:pPr>
            <a:endParaRPr lang="en-US" sz="2000" spc="-5" dirty="0">
              <a:latin typeface="Tahoma"/>
              <a:cs typeface="Tahoma"/>
            </a:endParaRPr>
          </a:p>
          <a:p>
            <a:pPr marL="12065" marR="1003935" indent="0">
              <a:lnSpc>
                <a:spcPct val="100000"/>
              </a:lnSpc>
              <a:spcBef>
                <a:spcPts val="5"/>
              </a:spcBef>
              <a:buClr>
                <a:srgbClr val="3333CC"/>
              </a:buClr>
              <a:buSzPct val="60416"/>
              <a:buNone/>
              <a:tabLst>
                <a:tab pos="354965" algn="l"/>
                <a:tab pos="355600" algn="l"/>
              </a:tabLst>
            </a:pPr>
            <a:endParaRPr lang="en-US" sz="20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3333CC"/>
              </a:buClr>
              <a:buFont typeface="Wingdings"/>
              <a:buChar char=""/>
            </a:pPr>
            <a:endParaRPr lang="en-US" sz="3200" dirty="0">
              <a:latin typeface="Tahoma"/>
              <a:cs typeface="Tahoma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32C1F3-D799-45ED-AE72-3822C3C4B89B}"/>
              </a:ext>
            </a:extLst>
          </p:cNvPr>
          <p:cNvSpPr/>
          <p:nvPr/>
        </p:nvSpPr>
        <p:spPr>
          <a:xfrm>
            <a:off x="1357423" y="2264756"/>
            <a:ext cx="661699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en-US" sz="2800" dirty="0"/>
              <a:t>The popularly used editors are: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en-US" sz="2800" dirty="0"/>
              <a:t>XMLwriter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en-US" sz="2800" dirty="0"/>
              <a:t>XML Spy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en-US" sz="2800" dirty="0"/>
              <a:t>XML Pro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en-US" sz="2800" dirty="0"/>
              <a:t>XMLmind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en-US" sz="2800" dirty="0"/>
              <a:t>XMetal</a:t>
            </a:r>
          </a:p>
        </p:txBody>
      </p:sp>
    </p:spTree>
    <p:extLst>
      <p:ext uri="{BB962C8B-B14F-4D97-AF65-F5344CB8AC3E}">
        <p14:creationId xmlns:p14="http://schemas.microsoft.com/office/powerpoint/2010/main" val="2075667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D0CD8-9928-4E56-B97C-7080547DD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</a:t>
            </a:r>
            <a:r>
              <a:rPr lang="en-US" spc="-35" dirty="0"/>
              <a:t> </a:t>
            </a:r>
            <a:r>
              <a:rPr lang="en-US" dirty="0"/>
              <a:t>an</a:t>
            </a:r>
            <a:r>
              <a:rPr lang="en-US" spc="-35" dirty="0"/>
              <a:t> </a:t>
            </a:r>
            <a:r>
              <a:rPr lang="en-US" dirty="0"/>
              <a:t>XML</a:t>
            </a:r>
            <a:r>
              <a:rPr lang="en-US" spc="-30" dirty="0"/>
              <a:t> </a:t>
            </a:r>
            <a:r>
              <a:rPr lang="en-US" dirty="0"/>
              <a:t>document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3B24D-7CB4-479D-98B4-17B288AF2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1263" y="2367584"/>
            <a:ext cx="9784080" cy="4206240"/>
          </a:xfrm>
        </p:spPr>
        <p:txBody>
          <a:bodyPr/>
          <a:lstStyle/>
          <a:p>
            <a:pPr marL="582931" lvl="1" indent="0">
              <a:lnSpc>
                <a:spcPct val="100000"/>
              </a:lnSpc>
              <a:spcBef>
                <a:spcPts val="480"/>
              </a:spcBef>
              <a:spcAft>
                <a:spcPts val="200"/>
              </a:spcAft>
              <a:buNone/>
              <a:tabLst>
                <a:tab pos="1002665" algn="l"/>
                <a:tab pos="1003300" algn="l"/>
              </a:tabLst>
            </a:pPr>
            <a:endParaRPr lang="en-US" dirty="0">
              <a:latin typeface="Tahoma"/>
              <a:cs typeface="Tahoma"/>
            </a:endParaRPr>
          </a:p>
          <a:p>
            <a:pPr marL="469265" indent="-457200">
              <a:lnSpc>
                <a:spcPct val="100000"/>
              </a:lnSpc>
              <a:spcBef>
                <a:spcPts val="5"/>
              </a:spcBef>
              <a:buSzPct val="60416"/>
              <a:buFont typeface="Wingdings" panose="05000000000000000000" pitchFamily="2" charset="2"/>
              <a:buChar char="q"/>
              <a:tabLst>
                <a:tab pos="469265" algn="l"/>
                <a:tab pos="469900" algn="l"/>
              </a:tabLst>
            </a:pPr>
            <a:r>
              <a:rPr lang="en-US" sz="2400" dirty="0">
                <a:latin typeface="Tahoma"/>
                <a:cs typeface="Tahoma"/>
              </a:rPr>
              <a:t>The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steps</a:t>
            </a:r>
            <a:r>
              <a:rPr lang="en-US" sz="2400" spc="-10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to</a:t>
            </a:r>
            <a:r>
              <a:rPr lang="en-US" sz="2400" spc="-1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build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an</a:t>
            </a:r>
            <a:r>
              <a:rPr lang="en-US" sz="2400" spc="-5" dirty="0">
                <a:latin typeface="Tahoma"/>
                <a:cs typeface="Tahoma"/>
              </a:rPr>
              <a:t> XML</a:t>
            </a:r>
            <a:r>
              <a:rPr lang="en-US" sz="2400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document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are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as</a:t>
            </a:r>
            <a:r>
              <a:rPr lang="en-US" sz="2400" spc="10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follows:</a:t>
            </a:r>
            <a:endParaRPr lang="en-US" sz="2400" dirty="0">
              <a:latin typeface="Tahoma"/>
              <a:cs typeface="Tahoma"/>
            </a:endParaRPr>
          </a:p>
          <a:p>
            <a:pPr marL="1040131" indent="-457200">
              <a:lnSpc>
                <a:spcPct val="100000"/>
              </a:lnSpc>
              <a:spcBef>
                <a:spcPts val="480"/>
              </a:spcBef>
              <a:buFont typeface="+mj-lt"/>
              <a:buAutoNum type="arabicPeriod"/>
              <a:tabLst>
                <a:tab pos="1002665" algn="l"/>
                <a:tab pos="1003300" algn="l"/>
              </a:tabLst>
            </a:pPr>
            <a:r>
              <a:rPr lang="en-US" sz="2000" dirty="0">
                <a:latin typeface="Tahoma"/>
                <a:cs typeface="Tahoma"/>
              </a:rPr>
              <a:t>Create</a:t>
            </a:r>
            <a:r>
              <a:rPr lang="en-US" sz="2000" spc="-20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an</a:t>
            </a:r>
            <a:r>
              <a:rPr lang="en-US" sz="2000" spc="-5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XML</a:t>
            </a:r>
            <a:r>
              <a:rPr lang="en-US" sz="2000" spc="-20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document</a:t>
            </a:r>
            <a:r>
              <a:rPr lang="en-US" sz="2000" spc="-35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in</a:t>
            </a:r>
            <a:r>
              <a:rPr lang="en-US" sz="2000" spc="-5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an</a:t>
            </a:r>
            <a:r>
              <a:rPr lang="en-US" sz="2000" spc="-20" dirty="0">
                <a:latin typeface="Tahoma"/>
                <a:cs typeface="Tahoma"/>
              </a:rPr>
              <a:t> </a:t>
            </a:r>
            <a:r>
              <a:rPr lang="en-US" sz="2000" spc="-5" dirty="0">
                <a:latin typeface="Tahoma"/>
                <a:cs typeface="Tahoma"/>
              </a:rPr>
              <a:t>editor</a:t>
            </a:r>
            <a:endParaRPr lang="en-US" sz="2000" dirty="0">
              <a:latin typeface="Tahoma"/>
              <a:cs typeface="Tahoma"/>
            </a:endParaRPr>
          </a:p>
          <a:p>
            <a:pPr marL="1040131" indent="-457200">
              <a:lnSpc>
                <a:spcPct val="100000"/>
              </a:lnSpc>
              <a:spcBef>
                <a:spcPts val="480"/>
              </a:spcBef>
              <a:buFont typeface="+mj-lt"/>
              <a:buAutoNum type="arabicPeriod"/>
              <a:tabLst>
                <a:tab pos="1002665" algn="l"/>
                <a:tab pos="1003300" algn="l"/>
              </a:tabLst>
            </a:pPr>
            <a:r>
              <a:rPr lang="en-US" sz="2000" spc="-5" dirty="0">
                <a:latin typeface="Tahoma"/>
                <a:cs typeface="Tahoma"/>
              </a:rPr>
              <a:t>Save</a:t>
            </a:r>
            <a:r>
              <a:rPr lang="en-US" sz="2000" spc="-30" dirty="0">
                <a:latin typeface="Tahoma"/>
                <a:cs typeface="Tahoma"/>
              </a:rPr>
              <a:t> </a:t>
            </a:r>
            <a:r>
              <a:rPr lang="en-US" sz="2000" spc="-5" dirty="0">
                <a:latin typeface="Tahoma"/>
                <a:cs typeface="Tahoma"/>
              </a:rPr>
              <a:t>the</a:t>
            </a:r>
            <a:r>
              <a:rPr lang="en-US" sz="2000" spc="-15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XML</a:t>
            </a:r>
            <a:r>
              <a:rPr lang="en-US" sz="2000" spc="-30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document</a:t>
            </a:r>
          </a:p>
          <a:p>
            <a:pPr marL="1040131" indent="-457200">
              <a:lnSpc>
                <a:spcPct val="100000"/>
              </a:lnSpc>
              <a:spcBef>
                <a:spcPts val="480"/>
              </a:spcBef>
              <a:buFont typeface="+mj-lt"/>
              <a:buAutoNum type="arabicPeriod"/>
              <a:tabLst>
                <a:tab pos="1002665" algn="l"/>
                <a:tab pos="1003300" algn="l"/>
              </a:tabLst>
            </a:pPr>
            <a:r>
              <a:rPr lang="en-US" sz="2000" dirty="0">
                <a:latin typeface="Tahoma"/>
                <a:cs typeface="Tahoma"/>
              </a:rPr>
              <a:t>Load</a:t>
            </a:r>
            <a:r>
              <a:rPr lang="en-US" sz="2000" spc="-30" dirty="0">
                <a:latin typeface="Tahoma"/>
                <a:cs typeface="Tahoma"/>
              </a:rPr>
              <a:t> </a:t>
            </a:r>
            <a:r>
              <a:rPr lang="en-US" sz="2000" spc="-5" dirty="0">
                <a:latin typeface="Tahoma"/>
                <a:cs typeface="Tahoma"/>
              </a:rPr>
              <a:t>the </a:t>
            </a:r>
            <a:r>
              <a:rPr lang="en-US" sz="2000" dirty="0">
                <a:latin typeface="Tahoma"/>
                <a:cs typeface="Tahoma"/>
              </a:rPr>
              <a:t>XML</a:t>
            </a:r>
            <a:r>
              <a:rPr lang="en-US" sz="2000" spc="-25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document</a:t>
            </a:r>
            <a:r>
              <a:rPr lang="en-US" sz="2000" spc="-30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in</a:t>
            </a:r>
            <a:r>
              <a:rPr lang="en-US" sz="2000" spc="-10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a</a:t>
            </a:r>
            <a:r>
              <a:rPr lang="en-US" sz="2000" spc="-20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browser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428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A8978-1092-4E10-8C81-0443C2E06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Task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CF6A7-93BF-4A8F-87C7-D4C05DF8B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8491" y="2367584"/>
            <a:ext cx="9784080" cy="420624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800" dirty="0"/>
              <a:t>Create an Employee File to store the following fields in XML.</a:t>
            </a:r>
          </a:p>
          <a:p>
            <a:pPr marL="228600" lvl="1" indent="0">
              <a:buNone/>
            </a:pPr>
            <a:r>
              <a:rPr lang="en-US" dirty="0"/>
              <a:t>         EMPNO,ENAME,DESIGNATION,SALARY AND DEPTNAME</a:t>
            </a:r>
          </a:p>
          <a:p>
            <a:pPr marL="228600" lvl="1" indent="0">
              <a:buNone/>
            </a:pPr>
            <a:endParaRPr lang="en-US" dirty="0"/>
          </a:p>
          <a:p>
            <a:pPr marL="228600" lvl="1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Create Department file that contains the information of all the departments present in an organization.</a:t>
            </a:r>
          </a:p>
          <a:p>
            <a:pPr marL="228600" lvl="1" indent="0">
              <a:buNone/>
            </a:pPr>
            <a:r>
              <a:rPr lang="en-US" dirty="0"/>
              <a:t>                     DeptNo, DeptName, Location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0667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683EC-E0A1-410E-AEAD-C1B7CB8CB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 this student data in xml format</a:t>
            </a:r>
          </a:p>
        </p:txBody>
      </p:sp>
      <p:graphicFrame>
        <p:nvGraphicFramePr>
          <p:cNvPr id="4" name="Group 71">
            <a:extLst>
              <a:ext uri="{FF2B5EF4-FFF2-40B4-BE49-F238E27FC236}">
                <a16:creationId xmlns:a16="http://schemas.microsoft.com/office/drawing/2014/main" id="{1A9C65CF-0523-46C2-988E-081A35AF44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1923951"/>
              </p:ext>
            </p:extLst>
          </p:nvPr>
        </p:nvGraphicFramePr>
        <p:xfrm>
          <a:off x="2244478" y="2175178"/>
          <a:ext cx="7700962" cy="4398646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16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5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17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1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798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sid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fname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lname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Y_of_B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50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David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Dave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1984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23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John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Jones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1983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53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John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Smith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1983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55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Mike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Green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1985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54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Ann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Webb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1980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57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Cathy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Brown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1981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60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Nick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Smith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1979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62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Sue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Moor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1976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64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George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Wolf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1978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58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Harry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Potter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1983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7193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65390-245F-4242-A633-114F8CA6B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xml code checker for movies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75EBC-D6EB-45ED-BEE1-25D91D5C9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check a xml code for movie visit :https://www.omdbapi.com/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4875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D0CD8-9928-4E56-B97C-7080547DD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3B24D-7CB4-479D-98B4-17B288AF2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1977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AA579-F52A-41C3-9B56-104AB16A8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BCF0DD-ABFA-4136-ADB8-46EAF1025D2D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482738-75E1-42A6-B6E9-E31C08C3CD8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9811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mbria-Calibri">
      <a:majorFont>
        <a:latin typeface="Cambria" panose="02040503050406030204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593</TotalTime>
  <Words>581</Words>
  <Application>Microsoft Office PowerPoint</Application>
  <PresentationFormat>Widescreen</PresentationFormat>
  <Paragraphs>150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Cambria</vt:lpstr>
      <vt:lpstr>Courier New</vt:lpstr>
      <vt:lpstr>Tahoma</vt:lpstr>
      <vt:lpstr>Wingdings</vt:lpstr>
      <vt:lpstr>Banded</vt:lpstr>
      <vt:lpstr>Introduction to xml</vt:lpstr>
      <vt:lpstr>What is an XML?</vt:lpstr>
      <vt:lpstr>XML Markup</vt:lpstr>
      <vt:lpstr>Difference btw html and xml</vt:lpstr>
      <vt:lpstr>Parsers</vt:lpstr>
      <vt:lpstr>Parsers</vt:lpstr>
      <vt:lpstr>browsers</vt:lpstr>
      <vt:lpstr>Comments</vt:lpstr>
      <vt:lpstr>Example syntax</vt:lpstr>
      <vt:lpstr>Structure of well and non well formed document</vt:lpstr>
      <vt:lpstr>Tags, prolog and root elements</vt:lpstr>
      <vt:lpstr>Tags, prolog and root elements</vt:lpstr>
      <vt:lpstr>Xml Editors</vt:lpstr>
      <vt:lpstr>Creating an XML document</vt:lpstr>
      <vt:lpstr>Task </vt:lpstr>
      <vt:lpstr>Print this student data in xml format</vt:lpstr>
      <vt:lpstr>Online xml code checker for movies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xml</dc:title>
  <dc:creator>Fariha Shafiq</dc:creator>
  <cp:lastModifiedBy>Fariha Shafiq</cp:lastModifiedBy>
  <cp:revision>19</cp:revision>
  <dcterms:created xsi:type="dcterms:W3CDTF">2023-09-05T11:21:46Z</dcterms:created>
  <dcterms:modified xsi:type="dcterms:W3CDTF">2025-03-15T09:59:36Z</dcterms:modified>
</cp:coreProperties>
</file>