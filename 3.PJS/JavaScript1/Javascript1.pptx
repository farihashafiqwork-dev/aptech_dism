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59" r:id="rId4"/>
    <p:sldId id="260" r:id="rId5"/>
    <p:sldId id="261" r:id="rId6"/>
    <p:sldId id="262" r:id="rId7"/>
    <p:sldId id="268" r:id="rId8"/>
    <p:sldId id="270" r:id="rId9"/>
    <p:sldId id="273" r:id="rId10"/>
    <p:sldId id="310" r:id="rId11"/>
    <p:sldId id="272" r:id="rId12"/>
    <p:sldId id="264" r:id="rId13"/>
    <p:sldId id="311" r:id="rId14"/>
    <p:sldId id="258" r:id="rId15"/>
    <p:sldId id="269" r:id="rId16"/>
    <p:sldId id="312" r:id="rId17"/>
    <p:sldId id="266" r:id="rId18"/>
    <p:sldId id="267" r:id="rId19"/>
    <p:sldId id="257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316" r:id="rId43"/>
    <p:sldId id="298" r:id="rId44"/>
    <p:sldId id="299" r:id="rId45"/>
    <p:sldId id="300" r:id="rId46"/>
    <p:sldId id="301" r:id="rId47"/>
    <p:sldId id="306" r:id="rId48"/>
    <p:sldId id="302" r:id="rId49"/>
    <p:sldId id="303" r:id="rId50"/>
    <p:sldId id="305" r:id="rId51"/>
    <p:sldId id="304" r:id="rId52"/>
    <p:sldId id="307" r:id="rId53"/>
    <p:sldId id="308" r:id="rId54"/>
    <p:sldId id="309" r:id="rId55"/>
    <p:sldId id="313" r:id="rId56"/>
    <p:sldId id="314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DD6A61B-75A5-494C-B729-7D16B71D15B4}">
          <p14:sldIdLst>
            <p14:sldId id="256"/>
            <p14:sldId id="259"/>
            <p14:sldId id="260"/>
            <p14:sldId id="261"/>
            <p14:sldId id="262"/>
            <p14:sldId id="268"/>
            <p14:sldId id="270"/>
          </p14:sldIdLst>
        </p14:section>
        <p14:section name="Variables in js" id="{D9F0F00C-4E4A-4F36-B235-02B71ECB4E55}">
          <p14:sldIdLst>
            <p14:sldId id="273"/>
            <p14:sldId id="310"/>
            <p14:sldId id="272"/>
            <p14:sldId id="264"/>
            <p14:sldId id="311"/>
            <p14:sldId id="258"/>
            <p14:sldId id="269"/>
          </p14:sldIdLst>
        </p14:section>
        <p14:section name="Data types" id="{BAA7D841-6B30-4AFC-999D-8FDDE2C1C6E6}">
          <p14:sldIdLst>
            <p14:sldId id="312"/>
            <p14:sldId id="266"/>
            <p14:sldId id="267"/>
            <p14:sldId id="257"/>
          </p14:sldIdLst>
        </p14:section>
        <p14:section name="Comments" id="{4347056F-4631-4697-8B35-43788A8EEB3D}">
          <p14:sldIdLst>
            <p14:sldId id="275"/>
            <p14:sldId id="276"/>
          </p14:sldIdLst>
        </p14:section>
        <p14:section name="Operators" id="{7A3A6A5F-A001-4C91-95C4-21489261D3B0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onditional statements" id="{3EC801E3-A68E-4CC6-AF36-7C6B0B5D4EE4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Built-in function" id="{37113A7D-08EC-4F44-B408-61387AFD82AD}">
          <p14:sldIdLst>
            <p14:sldId id="295"/>
            <p14:sldId id="296"/>
            <p14:sldId id="297"/>
            <p14:sldId id="316"/>
          </p14:sldIdLst>
        </p14:section>
        <p14:section name="Functions" id="{E909719D-487D-45E3-A2BB-9CC4D520D59C}">
          <p14:sldIdLst>
            <p14:sldId id="298"/>
            <p14:sldId id="299"/>
            <p14:sldId id="300"/>
            <p14:sldId id="301"/>
            <p14:sldId id="306"/>
            <p14:sldId id="302"/>
          </p14:sldIdLst>
        </p14:section>
        <p14:section name="Loops" id="{F22BB334-A3B4-4A54-A5A4-D506A8C823D4}">
          <p14:sldIdLst>
            <p14:sldId id="303"/>
            <p14:sldId id="305"/>
            <p14:sldId id="304"/>
          </p14:sldIdLst>
        </p14:section>
        <p14:section name="Arrays" id="{A6496A5C-F5FA-4677-AB25-43B5FEC5B39D}">
          <p14:sldIdLst>
            <p14:sldId id="307"/>
            <p14:sldId id="308"/>
            <p14:sldId id="309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F01C-3E1B-4AD9-9A0C-F26518753BCF}" type="datetimeFigureOut">
              <a:rPr lang="en-PK" smtClean="0"/>
              <a:t>06/11/2024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0A08869-D902-4B21-9489-3C8EA772AF37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10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F01C-3E1B-4AD9-9A0C-F26518753BCF}" type="datetimeFigureOut">
              <a:rPr lang="en-PK" smtClean="0"/>
              <a:t>06/11/2024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08869-D902-4B21-9489-3C8EA772AF37}" type="slidenum">
              <a:rPr lang="en-PK" smtClean="0"/>
              <a:t>‹#›</a:t>
            </a:fld>
            <a:endParaRPr lang="en-P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936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F01C-3E1B-4AD9-9A0C-F26518753BCF}" type="datetimeFigureOut">
              <a:rPr lang="en-PK" smtClean="0"/>
              <a:t>06/11/2024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08869-D902-4B21-9489-3C8EA772AF37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89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F01C-3E1B-4AD9-9A0C-F26518753BCF}" type="datetimeFigureOut">
              <a:rPr lang="en-PK" smtClean="0"/>
              <a:t>06/11/2024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08869-D902-4B21-9489-3C8EA772AF37}" type="slidenum">
              <a:rPr lang="en-PK" smtClean="0"/>
              <a:t>‹#›</a:t>
            </a:fld>
            <a:endParaRPr lang="en-P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43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F01C-3E1B-4AD9-9A0C-F26518753BCF}" type="datetimeFigureOut">
              <a:rPr lang="en-PK" smtClean="0"/>
              <a:t>06/11/2024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08869-D902-4B21-9489-3C8EA772AF37}" type="slidenum">
              <a:rPr lang="en-PK" smtClean="0"/>
              <a:t>‹#›</a:t>
            </a:fld>
            <a:endParaRPr lang="en-P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574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F01C-3E1B-4AD9-9A0C-F26518753BCF}" type="datetimeFigureOut">
              <a:rPr lang="en-PK" smtClean="0"/>
              <a:t>06/11/2024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08869-D902-4B21-9489-3C8EA772AF37}" type="slidenum">
              <a:rPr lang="en-PK" smtClean="0"/>
              <a:t>‹#›</a:t>
            </a:fld>
            <a:endParaRPr lang="en-P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205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F01C-3E1B-4AD9-9A0C-F26518753BCF}" type="datetimeFigureOut">
              <a:rPr lang="en-PK" smtClean="0"/>
              <a:t>06/11/2024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08869-D902-4B21-9489-3C8EA772AF3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7305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F01C-3E1B-4AD9-9A0C-F26518753BCF}" type="datetimeFigureOut">
              <a:rPr lang="en-PK" smtClean="0"/>
              <a:t>06/11/2024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08869-D902-4B21-9489-3C8EA772AF37}" type="slidenum">
              <a:rPr lang="en-PK" smtClean="0"/>
              <a:t>‹#›</a:t>
            </a:fld>
            <a:endParaRPr lang="en-P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4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F18F01C-3E1B-4AD9-9A0C-F26518753BCF}" type="datetimeFigureOut">
              <a:rPr lang="en-PK" smtClean="0"/>
              <a:t>06/11/2024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08869-D902-4B21-9489-3C8EA772AF37}" type="slidenum">
              <a:rPr lang="en-PK" smtClean="0"/>
              <a:t>‹#›</a:t>
            </a:fld>
            <a:endParaRPr lang="en-P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055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F01C-3E1B-4AD9-9A0C-F26518753BCF}" type="datetimeFigureOut">
              <a:rPr lang="en-PK" smtClean="0"/>
              <a:t>06/11/2024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08869-D902-4B21-9489-3C8EA772AF37}" type="slidenum">
              <a:rPr lang="en-PK" smtClean="0"/>
              <a:t>‹#›</a:t>
            </a:fld>
            <a:endParaRPr lang="en-P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77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F01C-3E1B-4AD9-9A0C-F26518753BCF}" type="datetimeFigureOut">
              <a:rPr lang="en-PK" smtClean="0"/>
              <a:t>06/11/2024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08869-D902-4B21-9489-3C8EA772AF37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374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9AB3A824-1A51-4B26-AD58-A6D8E14F6C04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437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67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E5059C3-6A89-4494-99FF-5A4D6FFD50EB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224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462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457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212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9839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830290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CBC1C18-307B-4F68-A007-B5B542270E8D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3614690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9051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86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8F01C-3E1B-4AD9-9A0C-F26518753BCF}" type="datetimeFigureOut">
              <a:rPr lang="en-PK" smtClean="0"/>
              <a:t>06/11/2024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0A08869-D902-4B21-9489-3C8EA772AF37}" type="slidenum">
              <a:rPr lang="en-PK" smtClean="0"/>
              <a:t>‹#›</a:t>
            </a:fld>
            <a:endParaRPr lang="en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13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0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mp"/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mp"/><Relationship Id="rId2" Type="http://schemas.openxmlformats.org/officeDocument/2006/relationships/image" Target="../media/image48.tmp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E2BB-35B7-49B4-BEAF-4D79F992E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72216-E1BB-4ED5-B0FC-57BB81BC7C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11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30633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B455B-9BF5-4B0C-8DE9-B8B7E9D1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EA2B0-88A2-4EE5-A30B-7937DCE69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61" y="1853754"/>
            <a:ext cx="7288163" cy="41997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Scripting refers to a series of commands that are executed immediately on occurrence of an event. </a:t>
            </a:r>
          </a:p>
          <a:p>
            <a:r>
              <a:rPr lang="en-US" dirty="0"/>
              <a:t>This event is an action generated by a user while interacting with a Web page. </a:t>
            </a:r>
          </a:p>
          <a:p>
            <a:r>
              <a:rPr lang="en-US" dirty="0"/>
              <a:t>Examples of events include button clicks, selecting a product from a menu, and so on. </a:t>
            </a:r>
          </a:p>
          <a:p>
            <a:r>
              <a:rPr lang="en-US" dirty="0"/>
              <a:t>There are two types of scripting languages.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Client-side</a:t>
            </a:r>
            <a:r>
              <a:rPr lang="en-US" dirty="0"/>
              <a:t> Scripting Refers to a script being executed on the client’s machine by the browser. JavaScript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Server-side</a:t>
            </a:r>
            <a:r>
              <a:rPr lang="en-US" dirty="0"/>
              <a:t> Scripting Refers to a script being executed on a Web server to generate dynamic HTML pages. Php .NET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35E7A-AFE2-4994-8451-A8A33A862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425" y="1961263"/>
            <a:ext cx="460057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39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85276-FE42-408C-B4E3-E2CBFD4B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E003A-CD86-4929-B507-902C3069A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7513661" cy="3683319"/>
          </a:xfrm>
        </p:spPr>
        <p:txBody>
          <a:bodyPr/>
          <a:lstStyle/>
          <a:p>
            <a:r>
              <a:rPr lang="en-US" dirty="0"/>
              <a:t>JavaScript is a scripting language that allows you to build dynamic Web pages by ensuring maximum user interactivity. </a:t>
            </a:r>
          </a:p>
          <a:p>
            <a:r>
              <a:rPr lang="en-US" dirty="0"/>
              <a:t>JavaScript language is an object-based language, which means that it provides objects for specifying functionalities. </a:t>
            </a:r>
          </a:p>
          <a:p>
            <a:r>
              <a:rPr lang="en-US" dirty="0"/>
              <a:t>In real life, an object is a visible entity such as a car .Which has some characteristics such as  color, design, function.</a:t>
            </a:r>
          </a:p>
          <a:p>
            <a:r>
              <a:rPr lang="en-US" dirty="0"/>
              <a:t>Versions of JavaScript  //self study from your book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C9422-63AC-408F-9010-D61ED77AE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241" y="2015732"/>
            <a:ext cx="279082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14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FD22-6091-45DE-B21E-6E759E5B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96BA4-AF26-44B5-9224-027E8411B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8847" y="1947263"/>
            <a:ext cx="4645152" cy="801943"/>
          </a:xfrm>
        </p:spPr>
        <p:txBody>
          <a:bodyPr/>
          <a:lstStyle/>
          <a:p>
            <a:r>
              <a:rPr lang="en-US" dirty="0"/>
              <a:t>Client-side JS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0D1-FCB9-43B0-A6E0-D6D90086A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382" y="2821493"/>
            <a:ext cx="4645152" cy="3143372"/>
          </a:xfrm>
        </p:spPr>
        <p:txBody>
          <a:bodyPr>
            <a:normAutofit fontScale="92500"/>
          </a:bodyPr>
          <a:lstStyle/>
          <a:p>
            <a:r>
              <a:rPr lang="en-US" dirty="0"/>
              <a:t>A client-side JavaScript (CSJS) is executed by the browser on the user’s workstation.</a:t>
            </a:r>
          </a:p>
          <a:p>
            <a:r>
              <a:rPr lang="en-US" dirty="0"/>
              <a:t>A client-side script might contain instructions</a:t>
            </a:r>
          </a:p>
          <a:p>
            <a:r>
              <a:rPr lang="en-US" dirty="0"/>
              <a:t>Examples include displaying a welcome page with the username, displaying date and time, validating that the required user details are filled etc.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2E85E-9BB0-4B1B-9510-7FCF86398C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46848" y="2019256"/>
            <a:ext cx="4645152" cy="802237"/>
          </a:xfrm>
        </p:spPr>
        <p:txBody>
          <a:bodyPr/>
          <a:lstStyle/>
          <a:p>
            <a:r>
              <a:rPr lang="en-US" dirty="0"/>
              <a:t>Server-side Js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AD31AA-C75E-4297-995E-078173640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68383" y="2807953"/>
            <a:ext cx="4645152" cy="323234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server-side JavaScript (SSJS) is executed by the Web server when an HTML page is requested by a user. </a:t>
            </a:r>
          </a:p>
          <a:p>
            <a:r>
              <a:rPr lang="en-US" dirty="0"/>
              <a:t>The output of a server-side JavaScript is sent to the user and is displayed by the browser</a:t>
            </a:r>
          </a:p>
          <a:p>
            <a:r>
              <a:rPr lang="en-US" dirty="0"/>
              <a:t>A server-side JavaScript can interact with the database, fetch the required information specific to the user, and display it to the user. </a:t>
            </a:r>
          </a:p>
        </p:txBody>
      </p:sp>
    </p:spTree>
    <p:extLst>
      <p:ext uri="{BB962C8B-B14F-4D97-AF65-F5344CB8AC3E}">
        <p14:creationId xmlns:p14="http://schemas.microsoft.com/office/powerpoint/2010/main" val="4206600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EAC204-6891-42D1-A53E-D2E8D6E2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 Tag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C9792-4197-467A-9CDF-C4ADF6A78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&lt;script&gt; </a:t>
            </a:r>
            <a:r>
              <a:rPr lang="en-US" dirty="0"/>
              <a:t>tag defines a script for an HTML page to make them interactive.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The browser that supports scripts interprets and executes the script specified under the </a:t>
            </a:r>
            <a:r>
              <a:rPr lang="en-US" b="1" dirty="0"/>
              <a:t>&lt;script&gt; </a:t>
            </a:r>
            <a:r>
              <a:rPr lang="en-US" dirty="0"/>
              <a:t>tag when the page loads in the browser.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You can directly insert a JavaScript code under the </a:t>
            </a:r>
            <a:r>
              <a:rPr lang="en-US" b="1" dirty="0"/>
              <a:t>&lt;script&gt; </a:t>
            </a:r>
            <a:r>
              <a:rPr lang="en-US" dirty="0"/>
              <a:t>tag.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 You can define multiple </a:t>
            </a:r>
            <a:r>
              <a:rPr lang="en-US" b="1" dirty="0"/>
              <a:t>&lt;script&gt; </a:t>
            </a:r>
            <a:r>
              <a:rPr lang="en-US" dirty="0"/>
              <a:t>tags either in the </a:t>
            </a:r>
            <a:r>
              <a:rPr lang="en-US" b="1" dirty="0"/>
              <a:t>&lt;head&gt; </a:t>
            </a:r>
            <a:r>
              <a:rPr lang="en-US" dirty="0"/>
              <a:t>or in the </a:t>
            </a:r>
            <a:r>
              <a:rPr lang="en-US" b="1" dirty="0"/>
              <a:t>&lt;body&gt; </a:t>
            </a:r>
            <a:r>
              <a:rPr lang="en-US" dirty="0"/>
              <a:t>elements of an HTML page.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In HTML5, the type attribute specifying the scripting language is no longer required as it is optional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6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1AAEA-EF60-4007-B8DF-3B024CD607A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3373" y="333821"/>
            <a:ext cx="2611697" cy="385982"/>
          </a:xfrm>
        </p:spPr>
        <p:txBody>
          <a:bodyPr>
            <a:normAutofit/>
          </a:bodyPr>
          <a:lstStyle/>
          <a:p>
            <a:r>
              <a:rPr lang="en-US" sz="2000" dirty="0"/>
              <a:t>Basic Syntax of JS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EB1B29-192B-4856-A98F-4A5A7B1B59B1}"/>
              </a:ext>
            </a:extLst>
          </p:cNvPr>
          <p:cNvSpPr txBox="1"/>
          <p:nvPr/>
        </p:nvSpPr>
        <p:spPr>
          <a:xfrm>
            <a:off x="584791" y="808074"/>
            <a:ext cx="468895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 </a:t>
            </a:r>
            <a:r>
              <a:rPr lang="en-US" dirty="0" err="1"/>
              <a:t>lang</a:t>
            </a:r>
            <a:r>
              <a:rPr lang="en-US" dirty="0"/>
              <a:t>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    &lt;meta charset="UTF-8"&gt;</a:t>
            </a:r>
          </a:p>
          <a:p>
            <a:r>
              <a:rPr lang="en-US" dirty="0"/>
              <a:t>    &lt;meta http-</a:t>
            </a:r>
            <a:r>
              <a:rPr lang="en-US" dirty="0" err="1"/>
              <a:t>equiv</a:t>
            </a:r>
            <a:r>
              <a:rPr lang="en-US" dirty="0"/>
              <a:t>="X-UA-Compatible" content="IE=edge"&gt;</a:t>
            </a:r>
          </a:p>
          <a:p>
            <a:r>
              <a:rPr lang="en-US" dirty="0"/>
              <a:t>    &lt;meta name="viewport" content="width=device-width, initial-scale=1.0"&gt;</a:t>
            </a:r>
          </a:p>
          <a:p>
            <a:r>
              <a:rPr lang="en-US" dirty="0"/>
              <a:t>    &lt;title&gt;Document&lt;/title&gt;</a:t>
            </a:r>
          </a:p>
          <a:p>
            <a:r>
              <a:rPr lang="en-US" dirty="0"/>
              <a:t>    &lt;script&gt;</a:t>
            </a:r>
          </a:p>
          <a:p>
            <a:r>
              <a:rPr lang="en-US" dirty="0"/>
              <a:t>        </a:t>
            </a:r>
            <a:r>
              <a:rPr lang="en-US" dirty="0" err="1"/>
              <a:t>document.write</a:t>
            </a:r>
            <a:r>
              <a:rPr lang="en-US" dirty="0"/>
              <a:t>("Hello World");</a:t>
            </a:r>
          </a:p>
          <a:p>
            <a:r>
              <a:rPr lang="en-US" dirty="0"/>
              <a:t>    &lt;/script&gt;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    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A9F63C-9338-482C-8538-25978F342846}"/>
              </a:ext>
            </a:extLst>
          </p:cNvPr>
          <p:cNvSpPr txBox="1">
            <a:spLocks/>
          </p:cNvSpPr>
          <p:nvPr/>
        </p:nvSpPr>
        <p:spPr>
          <a:xfrm>
            <a:off x="6557112" y="333821"/>
            <a:ext cx="4319994" cy="4710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Basic Syntax of JS with html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93B569-34AD-4600-BE60-8941B67B5490}"/>
              </a:ext>
            </a:extLst>
          </p:cNvPr>
          <p:cNvSpPr txBox="1"/>
          <p:nvPr/>
        </p:nvSpPr>
        <p:spPr>
          <a:xfrm>
            <a:off x="6230679" y="808074"/>
            <a:ext cx="5635256" cy="5156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 </a:t>
            </a:r>
            <a:r>
              <a:rPr lang="en-US" dirty="0" err="1"/>
              <a:t>lang</a:t>
            </a:r>
            <a:r>
              <a:rPr lang="en-US" dirty="0"/>
              <a:t>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    &lt;meta charset="UTF-8"&gt;</a:t>
            </a:r>
          </a:p>
          <a:p>
            <a:r>
              <a:rPr lang="en-US" dirty="0"/>
              <a:t>    &lt;meta http-</a:t>
            </a:r>
            <a:r>
              <a:rPr lang="en-US" dirty="0" err="1"/>
              <a:t>equiv</a:t>
            </a:r>
            <a:r>
              <a:rPr lang="en-US" dirty="0"/>
              <a:t>="X-UA-Compatible" content="IE=edge"&gt;</a:t>
            </a:r>
          </a:p>
          <a:p>
            <a:r>
              <a:rPr lang="en-US" dirty="0"/>
              <a:t>    &lt;meta name="viewport" content="width=device-width, initial-scale=1.0"&gt;</a:t>
            </a:r>
          </a:p>
          <a:p>
            <a:r>
              <a:rPr lang="en-US" dirty="0"/>
              <a:t>    &lt;title&gt;Document&lt;/title&gt;</a:t>
            </a:r>
          </a:p>
          <a:p>
            <a:r>
              <a:rPr lang="en-US" dirty="0"/>
              <a:t>    &lt;script&gt;</a:t>
            </a:r>
          </a:p>
          <a:p>
            <a:r>
              <a:rPr lang="en-US" dirty="0"/>
              <a:t>        </a:t>
            </a:r>
            <a:r>
              <a:rPr lang="en-US" dirty="0" err="1"/>
              <a:t>document.write</a:t>
            </a:r>
            <a:r>
              <a:rPr lang="en-US" dirty="0"/>
              <a:t>("&lt;h1&gt;&lt;</a:t>
            </a:r>
            <a:r>
              <a:rPr lang="en-US" dirty="0" err="1"/>
              <a:t>i</a:t>
            </a:r>
            <a:r>
              <a:rPr lang="en-US" dirty="0"/>
              <a:t>&gt;Hello World&lt;/</a:t>
            </a:r>
            <a:r>
              <a:rPr lang="en-US" dirty="0" err="1"/>
              <a:t>i</a:t>
            </a:r>
            <a:r>
              <a:rPr lang="en-US" dirty="0"/>
              <a:t>&gt;&lt;/h1&gt;");</a:t>
            </a:r>
          </a:p>
          <a:p>
            <a:r>
              <a:rPr lang="en-US" dirty="0"/>
              <a:t>    &lt;/script&gt;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    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B6C238-5D27-4512-ADDF-6D7EAAF2F8C9}"/>
              </a:ext>
            </a:extLst>
          </p:cNvPr>
          <p:cNvCxnSpPr>
            <a:cxnSpLocks/>
          </p:cNvCxnSpPr>
          <p:nvPr/>
        </p:nvCxnSpPr>
        <p:spPr>
          <a:xfrm>
            <a:off x="5714999" y="0"/>
            <a:ext cx="47848" cy="608182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161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2D9F8-8237-4F6E-97EA-9A90B863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JavaScript with HTML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E67E79-72AC-43A2-8B87-1767B2F34726}"/>
              </a:ext>
            </a:extLst>
          </p:cNvPr>
          <p:cNvSpPr/>
          <p:nvPr/>
        </p:nvSpPr>
        <p:spPr>
          <a:xfrm>
            <a:off x="230372" y="1853754"/>
            <a:ext cx="812681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Internal - by using &lt;script&gt;tag.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External - by using an external .</a:t>
            </a:r>
            <a:r>
              <a:rPr lang="en-US" dirty="0" err="1">
                <a:solidFill>
                  <a:schemeClr val="accent1"/>
                </a:solidFill>
              </a:rPr>
              <a:t>js</a:t>
            </a:r>
            <a:r>
              <a:rPr lang="en-US" dirty="0">
                <a:solidFill>
                  <a:schemeClr val="accent1"/>
                </a:solidFill>
              </a:rPr>
              <a:t> file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JavaScript allows you to display information using the methods of the document object.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document.write</a:t>
            </a:r>
            <a:r>
              <a:rPr lang="en-US" dirty="0"/>
              <a:t>():Displays any type of data.</a:t>
            </a:r>
          </a:p>
          <a:p>
            <a:endParaRPr lang="en-US" dirty="0"/>
          </a:p>
          <a:p>
            <a:r>
              <a:rPr lang="en-US" dirty="0" err="1"/>
              <a:t>document.writeln</a:t>
            </a:r>
            <a:r>
              <a:rPr lang="en-US" dirty="0"/>
              <a:t>():Displays any type of data and appends a new line character.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1E4EB9-A7B9-47C0-AB30-17103001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814" y="4605383"/>
            <a:ext cx="3932261" cy="2865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1CA7D91-E213-4E9B-91E2-104245F096DB}"/>
              </a:ext>
            </a:extLst>
          </p:cNvPr>
          <p:cNvSpPr/>
          <p:nvPr/>
        </p:nvSpPr>
        <p:spPr>
          <a:xfrm>
            <a:off x="7825563" y="2016596"/>
            <a:ext cx="413606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</a:rPr>
              <a:t>Note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It makes no sense to use </a:t>
            </a:r>
            <a:r>
              <a:rPr lang="en-US" b="1" dirty="0" err="1">
                <a:solidFill>
                  <a:srgbClr val="000000"/>
                </a:solidFill>
                <a:latin typeface="Verdana" panose="020B0604030504040204" pitchFamily="34" charset="0"/>
              </a:rPr>
              <a:t>writeln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in HTML.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Newline characters are ignored in HTML.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E6A9A5-7DBA-4ED5-8506-2E536E45B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77" y="2196750"/>
            <a:ext cx="3346893" cy="7062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29E153-18FA-407D-BC5A-EB0EFBA01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77" y="3312352"/>
            <a:ext cx="3500475" cy="7162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89228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2931-AFE7-4910-A9DF-43849107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7673A-C4F4-48FC-B843-A8EF4420F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AE8905-4B88-4A9F-AFF2-C57A7D60DF64}"/>
              </a:ext>
            </a:extLst>
          </p:cNvPr>
          <p:cNvSpPr/>
          <p:nvPr/>
        </p:nvSpPr>
        <p:spPr>
          <a:xfrm>
            <a:off x="1451579" y="1997839"/>
            <a:ext cx="83303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A variable refers to a symbolic name that holds a value, which keeps changing.</a:t>
            </a:r>
          </a:p>
          <a:p>
            <a:pPr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 For example, age of a student and salary of an employee can be treated as variables. </a:t>
            </a:r>
          </a:p>
          <a:p>
            <a:pPr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In JavaScript, a variable is a unique location in computer’s memory that stores a value          and has a unique name. </a:t>
            </a:r>
          </a:p>
          <a:p>
            <a:pPr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name of the variable is used to access and read the value stored in it. </a:t>
            </a:r>
          </a:p>
          <a:p>
            <a:pPr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A variable can store different types of data such as a character, a number, or a string.</a:t>
            </a:r>
          </a:p>
        </p:txBody>
      </p:sp>
    </p:spTree>
    <p:extLst>
      <p:ext uri="{BB962C8B-B14F-4D97-AF65-F5344CB8AC3E}">
        <p14:creationId xmlns:p14="http://schemas.microsoft.com/office/powerpoint/2010/main" val="691563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2931-AFE7-4910-A9DF-43849107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7673A-C4F4-48FC-B843-A8EF4420F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</a:t>
            </a:r>
          </a:p>
          <a:p>
            <a:r>
              <a:rPr lang="en-US" dirty="0"/>
              <a:t>Let</a:t>
            </a:r>
          </a:p>
          <a:p>
            <a:r>
              <a:rPr lang="en-US" dirty="0"/>
              <a:t>Const</a:t>
            </a:r>
          </a:p>
          <a:p>
            <a:r>
              <a:rPr lang="en-US" dirty="0">
                <a:solidFill>
                  <a:schemeClr val="accent1"/>
                </a:solidFill>
              </a:rPr>
              <a:t>Var Variable:</a:t>
            </a:r>
          </a:p>
          <a:p>
            <a:r>
              <a:rPr lang="en-US" dirty="0"/>
              <a:t>Variable defined with var keyword can be redeclared </a:t>
            </a:r>
          </a:p>
          <a:p>
            <a:r>
              <a:rPr lang="en-US" dirty="0"/>
              <a:t>Variables defined with var can be Reassigned.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007EFA-2544-42E6-BC29-040D50CB28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3" t="2231" b="2880"/>
          <a:stretch/>
        </p:blipFill>
        <p:spPr>
          <a:xfrm>
            <a:off x="7549370" y="4579088"/>
            <a:ext cx="4105184" cy="10492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3276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5D1F-2A00-4166-9791-48E5101F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FC6FF-C6A3-4758-82E3-69C6A9C76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A9A00-2D53-45A9-989D-A13C1E2F70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Variables defined with let can not be redeclared.</a:t>
            </a:r>
          </a:p>
          <a:p>
            <a:r>
              <a:rPr lang="en-US" dirty="0"/>
              <a:t>Variables defined with let must be declared before use.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D2941-7327-4C98-8A8D-676C391C1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Const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4212B6-1EB0-409B-A812-1DA89201C6D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Variables defined with const cannot be Redeclared.</a:t>
            </a:r>
          </a:p>
          <a:p>
            <a:r>
              <a:rPr lang="en-US" dirty="0"/>
              <a:t>Variables defined with const cannot be Reassigned.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61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8B9A-D930-4399-AF43-ED52A797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a variable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A6ECD6-5F4D-46F4-9144-5950FC11B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15878"/>
            <a:ext cx="8213416" cy="3350467"/>
          </a:xfrm>
        </p:spPr>
        <p:txBody>
          <a:bodyPr>
            <a:normAutofit fontScale="70000" lnSpcReduction="2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Declaring a variable refers to creating a variable by specifying the variable name.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For example, one can create a variable named to store the name of a student.</a:t>
            </a:r>
          </a:p>
          <a:p>
            <a:pPr marL="0" indent="0" algn="just">
              <a:buNone/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In JavaScript, the var keyword is used to create a variable by allocating memory to it.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a keyword is a reserved word that holds a special meaning.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the variable can be initialized at the time of creating the variable or later. initialization refers to the task of assigning a value to a variable.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once the variable is initialized, you can change the value of a variable as required.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variables allow keeping track of data during the execution of the script.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while referring to a variable, you are referring to the value of that variable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E77FCD-D0DB-4EA4-A241-FBC5231A7C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3" t="2231" b="2880"/>
          <a:stretch/>
        </p:blipFill>
        <p:spPr>
          <a:xfrm>
            <a:off x="7549370" y="4579088"/>
            <a:ext cx="4105184" cy="10492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4391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43D30-5F13-41AA-947A-1208A8D24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45" y="823377"/>
            <a:ext cx="10058400" cy="730366"/>
          </a:xfrm>
        </p:spPr>
        <p:txBody>
          <a:bodyPr/>
          <a:lstStyle/>
          <a:p>
            <a:pPr algn="ctr"/>
            <a:r>
              <a:rPr lang="en-US" dirty="0"/>
              <a:t>Variable Naming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ED547-7F4E-4FC5-A12F-8ABB71763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931805"/>
            <a:ext cx="9707526" cy="1173936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b="1" dirty="0"/>
              <a:t>JavaScript is a case-sensitive language.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 The variables X and x are treated as two different variables.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 JavaScript consists of certain rules for naming a variable as follows: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AF2CCD-4E2A-4971-B9A7-FF2B1BA3C4AF}"/>
              </a:ext>
            </a:extLst>
          </p:cNvPr>
          <p:cNvSpPr/>
          <p:nvPr/>
        </p:nvSpPr>
        <p:spPr>
          <a:xfrm>
            <a:off x="1720697" y="4961121"/>
            <a:ext cx="5817785" cy="531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consist of digits, underscore, and alphabets.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39609C-FB0F-4D2E-BFD2-40F8751A2502}"/>
              </a:ext>
            </a:extLst>
          </p:cNvPr>
          <p:cNvSpPr/>
          <p:nvPr/>
        </p:nvSpPr>
        <p:spPr>
          <a:xfrm>
            <a:off x="565299" y="3105741"/>
            <a:ext cx="8438706" cy="531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cannot begin with a number and cannot contain any punctuation marks.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60B718-A764-4CD9-8084-839C16B54C58}"/>
              </a:ext>
            </a:extLst>
          </p:cNvPr>
          <p:cNvSpPr/>
          <p:nvPr/>
        </p:nvSpPr>
        <p:spPr>
          <a:xfrm>
            <a:off x="1656903" y="4347141"/>
            <a:ext cx="6049929" cy="531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must begin with a letter or underscore character.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9DB182-5DAE-4A06-A444-56F2465C37C3}"/>
              </a:ext>
            </a:extLst>
          </p:cNvPr>
          <p:cNvSpPr/>
          <p:nvPr/>
        </p:nvSpPr>
        <p:spPr>
          <a:xfrm>
            <a:off x="607832" y="3726719"/>
            <a:ext cx="8353640" cy="531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cannot contain any kind of special characters such as +, *, %, and so 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21BCCC-BE9D-4770-BDB7-76571DDDB188}"/>
              </a:ext>
            </a:extLst>
          </p:cNvPr>
          <p:cNvSpPr/>
          <p:nvPr/>
        </p:nvSpPr>
        <p:spPr>
          <a:xfrm>
            <a:off x="3079894" y="6216113"/>
            <a:ext cx="3099389" cy="531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cannot contain spaces. </a:t>
            </a:r>
          </a:p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2FCEB4-8849-40D8-ABAA-1A6A9F18693B}"/>
              </a:ext>
            </a:extLst>
          </p:cNvPr>
          <p:cNvSpPr/>
          <p:nvPr/>
        </p:nvSpPr>
        <p:spPr>
          <a:xfrm>
            <a:off x="2685603" y="5597574"/>
            <a:ext cx="3992527" cy="531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cannot be a JavaScript keyword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2B84E-7A29-4A4D-BD10-1AB482C72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904" y="4404288"/>
            <a:ext cx="3992527" cy="2176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8835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627BB2-2953-4B0F-959B-6071A199C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32" y="1072558"/>
            <a:ext cx="10995318" cy="39672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8F1A2C-5DDB-48FC-8415-62761C0E9617}"/>
              </a:ext>
            </a:extLst>
          </p:cNvPr>
          <p:cNvSpPr txBox="1"/>
          <p:nvPr/>
        </p:nvSpPr>
        <p:spPr>
          <a:xfrm>
            <a:off x="1743740" y="350874"/>
            <a:ext cx="4561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Difference between Variables</a:t>
            </a:r>
          </a:p>
        </p:txBody>
      </p:sp>
    </p:spTree>
    <p:extLst>
      <p:ext uri="{BB962C8B-B14F-4D97-AF65-F5344CB8AC3E}">
        <p14:creationId xmlns:p14="http://schemas.microsoft.com/office/powerpoint/2010/main" val="4263095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2F42CF-9CA8-43BF-BF85-83B85941CC6D}"/>
              </a:ext>
            </a:extLst>
          </p:cNvPr>
          <p:cNvSpPr txBox="1"/>
          <p:nvPr/>
        </p:nvSpPr>
        <p:spPr>
          <a:xfrm>
            <a:off x="120501" y="815899"/>
            <a:ext cx="43451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      &lt;script&gt;</a:t>
            </a:r>
          </a:p>
          <a:p>
            <a:r>
              <a:rPr lang="en-US" dirty="0"/>
              <a:t>     var </a:t>
            </a:r>
            <a:r>
              <a:rPr lang="en-US" dirty="0" err="1"/>
              <a:t>studID</a:t>
            </a:r>
            <a:r>
              <a:rPr lang="en-US" dirty="0"/>
              <a:t>;</a:t>
            </a:r>
          </a:p>
          <a:p>
            <a:r>
              <a:rPr lang="en-US" dirty="0"/>
              <a:t>     var </a:t>
            </a:r>
            <a:r>
              <a:rPr lang="en-US" dirty="0" err="1"/>
              <a:t>studName</a:t>
            </a:r>
            <a:r>
              <a:rPr lang="en-US" dirty="0"/>
              <a:t>;</a:t>
            </a:r>
          </a:p>
          <a:p>
            <a:r>
              <a:rPr lang="en-US" dirty="0"/>
              <a:t>     </a:t>
            </a:r>
            <a:r>
              <a:rPr lang="en-US" dirty="0" err="1"/>
              <a:t>studID</a:t>
            </a:r>
            <a:r>
              <a:rPr lang="en-US" dirty="0"/>
              <a:t> = 50;</a:t>
            </a:r>
          </a:p>
          <a:p>
            <a:r>
              <a:rPr lang="en-US" dirty="0"/>
              <a:t>     </a:t>
            </a:r>
            <a:r>
              <a:rPr lang="en-US" dirty="0" err="1"/>
              <a:t>studName</a:t>
            </a:r>
            <a:r>
              <a:rPr lang="en-US" dirty="0"/>
              <a:t> = "David Fernando";</a:t>
            </a:r>
          </a:p>
          <a:p>
            <a:r>
              <a:rPr lang="en-US" dirty="0"/>
              <a:t>     </a:t>
            </a:r>
            <a:br>
              <a:rPr lang="en-US" dirty="0"/>
            </a:br>
            <a:r>
              <a:rPr lang="en-US" dirty="0"/>
              <a:t>     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studID+studName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    &lt;/script&gt;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34178C-07F9-411F-BDF2-7D6F572685CA}"/>
              </a:ext>
            </a:extLst>
          </p:cNvPr>
          <p:cNvSpPr txBox="1"/>
          <p:nvPr/>
        </p:nvSpPr>
        <p:spPr>
          <a:xfrm>
            <a:off x="1020726" y="446567"/>
            <a:ext cx="244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50FEE-450A-4B90-9FE8-EE88586DA2D3}"/>
              </a:ext>
            </a:extLst>
          </p:cNvPr>
          <p:cNvSpPr txBox="1"/>
          <p:nvPr/>
        </p:nvSpPr>
        <p:spPr>
          <a:xfrm>
            <a:off x="368598" y="3216556"/>
            <a:ext cx="244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32750-A002-476C-9835-453A8A588970}"/>
              </a:ext>
            </a:extLst>
          </p:cNvPr>
          <p:cNvSpPr txBox="1"/>
          <p:nvPr/>
        </p:nvSpPr>
        <p:spPr>
          <a:xfrm>
            <a:off x="0" y="3585888"/>
            <a:ext cx="48838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      &lt;script&gt;</a:t>
            </a:r>
          </a:p>
          <a:p>
            <a:r>
              <a:rPr lang="en-US" dirty="0"/>
              <a:t>     var </a:t>
            </a:r>
            <a:r>
              <a:rPr lang="en-US" dirty="0" err="1"/>
              <a:t>studID</a:t>
            </a:r>
            <a:r>
              <a:rPr lang="en-US" dirty="0"/>
              <a:t>;</a:t>
            </a:r>
          </a:p>
          <a:p>
            <a:r>
              <a:rPr lang="en-US" dirty="0"/>
              <a:t>     var </a:t>
            </a:r>
            <a:r>
              <a:rPr lang="en-US" dirty="0" err="1"/>
              <a:t>studName</a:t>
            </a:r>
            <a:r>
              <a:rPr lang="en-US" dirty="0"/>
              <a:t>;</a:t>
            </a:r>
          </a:p>
          <a:p>
            <a:r>
              <a:rPr lang="en-US" dirty="0"/>
              <a:t>     </a:t>
            </a:r>
            <a:r>
              <a:rPr lang="en-US" dirty="0" err="1"/>
              <a:t>studID</a:t>
            </a:r>
            <a:r>
              <a:rPr lang="en-US" dirty="0"/>
              <a:t> = 50;</a:t>
            </a:r>
          </a:p>
          <a:p>
            <a:r>
              <a:rPr lang="en-US" dirty="0"/>
              <a:t>     </a:t>
            </a:r>
            <a:r>
              <a:rPr lang="en-US" dirty="0" err="1"/>
              <a:t>studName</a:t>
            </a:r>
            <a:r>
              <a:rPr lang="en-US" dirty="0"/>
              <a:t> = "David Fernando";</a:t>
            </a:r>
          </a:p>
          <a:p>
            <a:r>
              <a:rPr lang="en-US" dirty="0"/>
              <a:t>     </a:t>
            </a:r>
            <a:br>
              <a:rPr lang="en-US" dirty="0"/>
            </a:br>
            <a:r>
              <a:rPr lang="en-US" dirty="0"/>
              <a:t>     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studID</a:t>
            </a:r>
            <a:r>
              <a:rPr lang="en-US" dirty="0"/>
              <a:t> +" " +</a:t>
            </a:r>
            <a:r>
              <a:rPr lang="en-US" dirty="0" err="1"/>
              <a:t>studName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    &lt;/script&gt;</a:t>
            </a:r>
          </a:p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B4D2B5-4555-432C-91D4-8F889E6879DE}"/>
              </a:ext>
            </a:extLst>
          </p:cNvPr>
          <p:cNvCxnSpPr>
            <a:cxnSpLocks/>
          </p:cNvCxnSpPr>
          <p:nvPr/>
        </p:nvCxnSpPr>
        <p:spPr>
          <a:xfrm>
            <a:off x="0" y="3125972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468C1EE-946D-4BF6-AF22-449003764982}"/>
              </a:ext>
            </a:extLst>
          </p:cNvPr>
          <p:cNvSpPr txBox="1"/>
          <p:nvPr/>
        </p:nvSpPr>
        <p:spPr>
          <a:xfrm>
            <a:off x="6195239" y="815899"/>
            <a:ext cx="3239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 &lt;script&gt;</a:t>
            </a:r>
          </a:p>
          <a:p>
            <a:r>
              <a:rPr lang="en-US" dirty="0"/>
              <a:t>     var name=“FARIHA";</a:t>
            </a:r>
          </a:p>
          <a:p>
            <a:r>
              <a:rPr lang="en-US" dirty="0"/>
              <a:t>     </a:t>
            </a:r>
            <a:r>
              <a:rPr lang="en-US" dirty="0" err="1"/>
              <a:t>document.write</a:t>
            </a:r>
            <a:r>
              <a:rPr lang="en-US" dirty="0"/>
              <a:t>(name);</a:t>
            </a:r>
          </a:p>
          <a:p>
            <a:r>
              <a:rPr lang="en-US" dirty="0"/>
              <a:t>    &lt;/script&gt;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A02AB-23B9-4140-9007-4E6639BB41DF}"/>
              </a:ext>
            </a:extLst>
          </p:cNvPr>
          <p:cNvSpPr txBox="1"/>
          <p:nvPr/>
        </p:nvSpPr>
        <p:spPr>
          <a:xfrm>
            <a:off x="6096000" y="446567"/>
            <a:ext cx="3980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E3311B-C25D-4387-A593-48865FA60801}"/>
              </a:ext>
            </a:extLst>
          </p:cNvPr>
          <p:cNvSpPr/>
          <p:nvPr/>
        </p:nvSpPr>
        <p:spPr>
          <a:xfrm>
            <a:off x="5376530" y="367766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“Fariha"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“Shafiq"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"My name is:"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fname+lname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8D0F6C-FE9D-4AB3-B64E-CF9903313D44}"/>
              </a:ext>
            </a:extLst>
          </p:cNvPr>
          <p:cNvSpPr txBox="1"/>
          <p:nvPr/>
        </p:nvSpPr>
        <p:spPr>
          <a:xfrm>
            <a:off x="5560834" y="3244334"/>
            <a:ext cx="3980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Example:4</a:t>
            </a:r>
          </a:p>
        </p:txBody>
      </p:sp>
    </p:spTree>
    <p:extLst>
      <p:ext uri="{BB962C8B-B14F-4D97-AF65-F5344CB8AC3E}">
        <p14:creationId xmlns:p14="http://schemas.microsoft.com/office/powerpoint/2010/main" val="740118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23E9-90C4-45D3-8DE8-EBD697AC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474" y="672172"/>
            <a:ext cx="9603275" cy="1049235"/>
          </a:xfrm>
        </p:spPr>
        <p:txBody>
          <a:bodyPr/>
          <a:lstStyle/>
          <a:p>
            <a:r>
              <a:rPr lang="en-US" dirty="0"/>
              <a:t>Datatypes in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9812F-3B6E-4715-A27F-E48ED230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144" y="1853754"/>
            <a:ext cx="10921712" cy="2633186"/>
          </a:xfrm>
        </p:spPr>
        <p:txBody>
          <a:bodyPr>
            <a:normAutofit/>
          </a:bodyPr>
          <a:lstStyle/>
          <a:p>
            <a:r>
              <a:rPr lang="en-US" dirty="0"/>
              <a:t>Data types in JavaScript are classified into two broad categories,</a:t>
            </a:r>
          </a:p>
          <a:p>
            <a:r>
              <a:rPr lang="en-US" dirty="0"/>
              <a:t>Primitive Data Types.</a:t>
            </a:r>
          </a:p>
          <a:p>
            <a:r>
              <a:rPr lang="en-US" dirty="0"/>
              <a:t>Composite Data Types. </a:t>
            </a:r>
          </a:p>
        </p:txBody>
      </p:sp>
    </p:spTree>
    <p:extLst>
      <p:ext uri="{BB962C8B-B14F-4D97-AF65-F5344CB8AC3E}">
        <p14:creationId xmlns:p14="http://schemas.microsoft.com/office/powerpoint/2010/main" val="3322331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23E9-90C4-45D3-8DE8-EBD697AC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474" y="672172"/>
            <a:ext cx="9603275" cy="1049235"/>
          </a:xfrm>
        </p:spPr>
        <p:txBody>
          <a:bodyPr/>
          <a:lstStyle/>
          <a:p>
            <a:r>
              <a:rPr lang="en-US" dirty="0"/>
              <a:t>PRIMITIVE DATA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9812F-3B6E-4715-A27F-E48ED230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144" y="1853754"/>
            <a:ext cx="10921712" cy="2633186"/>
          </a:xfrm>
        </p:spPr>
        <p:txBody>
          <a:bodyPr>
            <a:normAutofit/>
          </a:bodyPr>
          <a:lstStyle/>
          <a:p>
            <a:r>
              <a:rPr lang="en-US" dirty="0"/>
              <a:t>A primitive data type contains a single value such as a number or a string. </a:t>
            </a:r>
          </a:p>
          <a:p>
            <a:r>
              <a:rPr lang="en-US" dirty="0"/>
              <a:t>A value that you can assign to variables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91A49933-F41E-42F2-87AC-F19EB2C26F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1661065"/>
              </p:ext>
            </p:extLst>
          </p:nvPr>
        </p:nvGraphicFramePr>
        <p:xfrm>
          <a:off x="886046" y="2832901"/>
          <a:ext cx="10058400" cy="3745679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548270">
                  <a:extLst>
                    <a:ext uri="{9D8B030D-6E8A-4147-A177-3AD203B41FA5}">
                      <a16:colId xmlns:a16="http://schemas.microsoft.com/office/drawing/2014/main" val="1391090367"/>
                    </a:ext>
                  </a:extLst>
                </a:gridCol>
                <a:gridCol w="7510130">
                  <a:extLst>
                    <a:ext uri="{9D8B030D-6E8A-4147-A177-3AD203B41FA5}">
                      <a16:colId xmlns:a16="http://schemas.microsoft.com/office/drawing/2014/main" val="2988998749"/>
                    </a:ext>
                  </a:extLst>
                </a:gridCol>
              </a:tblGrid>
              <a:tr h="365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Primitive Data Type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81285578"/>
                  </a:ext>
                </a:extLst>
              </a:tr>
              <a:tr h="365175">
                <a:tc>
                  <a:txBody>
                    <a:bodyPr/>
                    <a:lstStyle/>
                    <a:p>
                      <a:r>
                        <a:rPr lang="en-US" dirty="0"/>
                        <a:t>Boolean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Contains only two values namely, true or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73855821"/>
                  </a:ext>
                </a:extLst>
              </a:tr>
              <a:tr h="912939">
                <a:tc>
                  <a:txBody>
                    <a:bodyPr/>
                    <a:lstStyle/>
                    <a:p>
                      <a:r>
                        <a:rPr lang="en-US" dirty="0"/>
                        <a:t>Null </a:t>
                      </a:r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Contains only one value namely, null. A variable of this value specifies that the variable has no value. This null value is a keyword and it is not the same as the value, zero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93830707"/>
                  </a:ext>
                </a:extLst>
              </a:tr>
              <a:tr h="912939">
                <a:tc>
                  <a:txBody>
                    <a:bodyPr/>
                    <a:lstStyle/>
                    <a:p>
                      <a:r>
                        <a:rPr lang="en-US" dirty="0"/>
                        <a:t>Number (Integer, float)</a:t>
                      </a:r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Contains positive and negative numbers and numbers with decimal point. Some of the valid examples include 6, 7.5, -8, 7.5e-3, and so 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6646555"/>
                  </a:ext>
                </a:extLst>
              </a:tr>
              <a:tr h="1186820">
                <a:tc>
                  <a:txBody>
                    <a:bodyPr/>
                    <a:lstStyle/>
                    <a:p>
                      <a:r>
                        <a:rPr lang="en-US" dirty="0"/>
                        <a:t>String </a:t>
                      </a:r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Contains alphanumeric characters in single or double quotation marks. Single quotes are used to represent a string, which itself consists of quotation marks. A set of quotes without any characters within it is known as the null 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83212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655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9AD9-F8F0-4123-9E6F-95CE9965B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Datatypes in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1BED1-048E-46EA-8ECB-60359856B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834" y="1853754"/>
            <a:ext cx="11179901" cy="2016497"/>
          </a:xfrm>
        </p:spPr>
        <p:txBody>
          <a:bodyPr>
            <a:normAutofit/>
          </a:bodyPr>
          <a:lstStyle/>
          <a:p>
            <a:r>
              <a:rPr lang="en-US" dirty="0"/>
              <a:t>COMPOSITE DATA TYPES :</a:t>
            </a:r>
          </a:p>
          <a:p>
            <a:r>
              <a:rPr lang="en-US" dirty="0"/>
              <a:t> A composite data type stores a collection of multiple related values, unlike primitive data types. </a:t>
            </a:r>
          </a:p>
          <a:p>
            <a:r>
              <a:rPr lang="en-US" dirty="0"/>
              <a:t> In JavaScript, all composite data types are treated as objects. </a:t>
            </a:r>
          </a:p>
          <a:p>
            <a:r>
              <a:rPr lang="en-US" dirty="0"/>
              <a:t>A composite data type can be either predefined or user-defined in JavaScript. 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6CD6B93C-CB41-4741-AB89-C4E7A6911B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6413928"/>
              </p:ext>
            </p:extLst>
          </p:nvPr>
        </p:nvGraphicFramePr>
        <p:xfrm>
          <a:off x="510523" y="3792553"/>
          <a:ext cx="10809767" cy="247403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643964">
                  <a:extLst>
                    <a:ext uri="{9D8B030D-6E8A-4147-A177-3AD203B41FA5}">
                      <a16:colId xmlns:a16="http://schemas.microsoft.com/office/drawing/2014/main" val="1391090367"/>
                    </a:ext>
                  </a:extLst>
                </a:gridCol>
                <a:gridCol w="8165803">
                  <a:extLst>
                    <a:ext uri="{9D8B030D-6E8A-4147-A177-3AD203B41FA5}">
                      <a16:colId xmlns:a16="http://schemas.microsoft.com/office/drawing/2014/main" val="2988998749"/>
                    </a:ext>
                  </a:extLst>
                </a:gridCol>
              </a:tblGrid>
              <a:tr h="467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Composite Data Type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81285578"/>
                  </a:ext>
                </a:extLst>
              </a:tr>
              <a:tr h="84862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  <a:p>
                      <a:pPr algn="ctr"/>
                      <a:r>
                        <a:rPr lang="en-US" b="1" dirty="0"/>
                        <a:t>Object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Refers to a collection of properties and functions. Properties specify the characteristics and functions determine the behavior of a JavaScript 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73855821"/>
                  </a:ext>
                </a:extLst>
              </a:tr>
              <a:tr h="71537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Functions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Refers to a collection of statements, which are instructions to achieve a specific task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93830707"/>
                  </a:ext>
                </a:extLst>
              </a:tr>
              <a:tr h="44256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Arrays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Refers to a collection of values stored in adjacent memory locations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5664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6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6D2379-C29A-423F-ADAA-E85B03882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49" y="1287244"/>
            <a:ext cx="5184651" cy="28437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B3AF20-0641-42F9-8212-F671AA2C9AF2}"/>
              </a:ext>
            </a:extLst>
          </p:cNvPr>
          <p:cNvSpPr txBox="1"/>
          <p:nvPr/>
        </p:nvSpPr>
        <p:spPr>
          <a:xfrm>
            <a:off x="418214" y="764024"/>
            <a:ext cx="5677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Different Datatypes with Examples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939A81-9626-41AE-80AC-7FDCE2F8F0B0}"/>
              </a:ext>
            </a:extLst>
          </p:cNvPr>
          <p:cNvSpPr/>
          <p:nvPr/>
        </p:nvSpPr>
        <p:spPr>
          <a:xfrm>
            <a:off x="5896418" y="523220"/>
            <a:ext cx="612457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x=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a=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y=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(x);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(x )                                                                                                                                                  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(a);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a);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(y);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y);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46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FAEDA-93E8-42A7-BB48-3BD0301B3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F879F-0792-4DD3-867F-0FD2E077D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91" y="2207118"/>
            <a:ext cx="10552579" cy="345061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Single-line Comments: begin with two forward slashes (//). </a:t>
            </a:r>
          </a:p>
          <a:p>
            <a:r>
              <a:rPr lang="en-US" dirty="0"/>
              <a:t>// This statement declares a variable named num. </a:t>
            </a:r>
          </a:p>
          <a:p>
            <a:r>
              <a:rPr lang="en-US" dirty="0"/>
              <a:t>var num;</a:t>
            </a:r>
          </a:p>
          <a:p>
            <a:r>
              <a:rPr lang="en-US" dirty="0"/>
              <a:t>Multi-line Comments: begin with a forward slash followed by an asterisk (/*) and end with an asterisk followed by a forward slash (*/).  </a:t>
            </a:r>
          </a:p>
          <a:p>
            <a:r>
              <a:rPr lang="en-US" dirty="0"/>
              <a:t>/* This line of code</a:t>
            </a:r>
          </a:p>
          <a:p>
            <a:r>
              <a:rPr lang="en-US" dirty="0"/>
              <a:t>declares a variable */</a:t>
            </a:r>
          </a:p>
          <a:p>
            <a:r>
              <a:rPr lang="en-US" dirty="0"/>
              <a:t> var num;</a:t>
            </a:r>
          </a:p>
        </p:txBody>
      </p:sp>
    </p:spTree>
    <p:extLst>
      <p:ext uri="{BB962C8B-B14F-4D97-AF65-F5344CB8AC3E}">
        <p14:creationId xmlns:p14="http://schemas.microsoft.com/office/powerpoint/2010/main" val="1811299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D28C-EDBB-4F81-96E0-6E753136D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Escape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6FB5B-908B-4380-A19D-6A6FD6366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escape sequence character is a special character that is preceded by a backslash (\).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A61812-271B-4DCB-8130-BBEA589FD7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110"/>
          <a:stretch/>
        </p:blipFill>
        <p:spPr>
          <a:xfrm>
            <a:off x="3214364" y="2487696"/>
            <a:ext cx="6604148" cy="2980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364" y="3791546"/>
            <a:ext cx="5486400" cy="342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2A29A2-4079-458B-BE42-87BB91B468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042"/>
          <a:stretch/>
        </p:blipFill>
        <p:spPr>
          <a:xfrm>
            <a:off x="3214364" y="2778341"/>
            <a:ext cx="6604148" cy="85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83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8166-380B-41FB-939B-623ABB34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EBDDA-DD73-427B-8632-1542F381B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330846" cy="3480193"/>
          </a:xfrm>
        </p:spPr>
        <p:txBody>
          <a:bodyPr>
            <a:normAutofit/>
          </a:bodyPr>
          <a:lstStyle/>
          <a:p>
            <a:r>
              <a:rPr lang="en-US" dirty="0"/>
              <a:t>There are three main types of operators, which are as follows:</a:t>
            </a:r>
          </a:p>
          <a:p>
            <a:r>
              <a:rPr lang="en-US" dirty="0"/>
              <a:t>Unary operators - Operates on a single operand. </a:t>
            </a:r>
          </a:p>
          <a:p>
            <a:r>
              <a:rPr lang="en-US" dirty="0"/>
              <a:t>For example, the expression                                         y = -x.</a:t>
            </a:r>
          </a:p>
          <a:p>
            <a:r>
              <a:rPr lang="en-US" dirty="0"/>
              <a:t>Binary operators - Operates on two operands. </a:t>
            </a:r>
          </a:p>
          <a:p>
            <a:r>
              <a:rPr lang="en-US" dirty="0"/>
              <a:t>For example, the expression                                         sum = y + x.</a:t>
            </a:r>
          </a:p>
          <a:p>
            <a:r>
              <a:rPr lang="en-US" dirty="0"/>
              <a:t>Ternary operators - Operates on three operands. </a:t>
            </a:r>
          </a:p>
          <a:p>
            <a:r>
              <a:rPr lang="en-US" dirty="0"/>
              <a:t>For example, the expression                                         age &gt;= 18 ? “Eligible” : “Not Eligible”.</a:t>
            </a:r>
          </a:p>
        </p:txBody>
      </p:sp>
    </p:spTree>
    <p:extLst>
      <p:ext uri="{BB962C8B-B14F-4D97-AF65-F5344CB8AC3E}">
        <p14:creationId xmlns:p14="http://schemas.microsoft.com/office/powerpoint/2010/main" val="4149408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E0A7-1587-4675-A149-45D3C1F1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and their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444D0-E5EB-4090-B326-7939D4D5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six categories of operators are as follows: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Arithmetic operators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Relational operators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Logical operators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Assignment operators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Bitwise operators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Special operators</a:t>
            </a:r>
          </a:p>
        </p:txBody>
      </p:sp>
    </p:spTree>
    <p:extLst>
      <p:ext uri="{BB962C8B-B14F-4D97-AF65-F5344CB8AC3E}">
        <p14:creationId xmlns:p14="http://schemas.microsoft.com/office/powerpoint/2010/main" val="3251112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C38F-ADE9-48F1-8873-EBA02450B89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8801" y="123618"/>
            <a:ext cx="3946524" cy="438148"/>
          </a:xfrm>
        </p:spPr>
        <p:txBody>
          <a:bodyPr>
            <a:normAutofit/>
          </a:bodyPr>
          <a:lstStyle/>
          <a:p>
            <a:r>
              <a:rPr lang="en-US" sz="2400" cap="none" dirty="0">
                <a:solidFill>
                  <a:schemeClr val="accent1"/>
                </a:solidFill>
              </a:rPr>
              <a:t>Arithmetic Operators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0FCDC3-546F-4CBC-96C7-A6F9CA26663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58801" y="425319"/>
            <a:ext cx="4762500" cy="20780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16EAA2-3809-4783-932A-5B29B2942FD7}"/>
              </a:ext>
            </a:extLst>
          </p:cNvPr>
          <p:cNvSpPr/>
          <p:nvPr/>
        </p:nvSpPr>
        <p:spPr>
          <a:xfrm>
            <a:off x="6806565" y="3333690"/>
            <a:ext cx="41033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Increment and Decrement Operators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8131B3-8349-4352-8407-C6B877668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826" y="3733800"/>
            <a:ext cx="7117681" cy="15308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CD501BF-C2A0-49AA-8C42-EA729A73617F}"/>
              </a:ext>
            </a:extLst>
          </p:cNvPr>
          <p:cNvSpPr/>
          <p:nvPr/>
        </p:nvSpPr>
        <p:spPr>
          <a:xfrm>
            <a:off x="419100" y="2471650"/>
            <a:ext cx="43815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loanAmount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34500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interest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interestAmount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totalAmount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interestAmount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loanAmount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 (interest /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totalAmount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loanAmount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interestAmount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"&lt;B&gt;Total amount to be paid ($):&lt;/B&gt;"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totalAmount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B1C50-293D-4CEB-B14B-D9610A9F1BD2}"/>
              </a:ext>
            </a:extLst>
          </p:cNvPr>
          <p:cNvSpPr/>
          <p:nvPr/>
        </p:nvSpPr>
        <p:spPr>
          <a:xfrm>
            <a:off x="5915025" y="56176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num1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num2= 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'Number after increment =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++num1 +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'Number after decrement =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--num2);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044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8478B9-4071-415C-ABEE-ADCBDED850AC}"/>
              </a:ext>
            </a:extLst>
          </p:cNvPr>
          <p:cNvSpPr/>
          <p:nvPr/>
        </p:nvSpPr>
        <p:spPr>
          <a:xfrm>
            <a:off x="523875" y="567035"/>
            <a:ext cx="54006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Relational Operator: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 Relational operators are binary operators that make a comparison between two operands.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 After making a comparison, they return a Boolean value namely, true or false.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1ECD7-5C37-4FEC-B4D6-CA26153E7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30" y="2477387"/>
            <a:ext cx="5152516" cy="30165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6F882A-6D9F-4861-8BD4-EDE6CBBA732C}"/>
              </a:ext>
            </a:extLst>
          </p:cNvPr>
          <p:cNvSpPr/>
          <p:nvPr/>
        </p:nvSpPr>
        <p:spPr>
          <a:xfrm>
            <a:off x="6267451" y="567035"/>
            <a:ext cx="5715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Logical Operator: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Logical operators are binary operators that perform logical operations on two operands.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They belong to the category of relational operators, as they return a Boolean value.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594CDE-258E-43F4-8972-5772F46D4EA3}"/>
              </a:ext>
            </a:extLst>
          </p:cNvPr>
          <p:cNvCxnSpPr>
            <a:cxnSpLocks/>
          </p:cNvCxnSpPr>
          <p:nvPr/>
        </p:nvCxnSpPr>
        <p:spPr>
          <a:xfrm>
            <a:off x="5781675" y="200025"/>
            <a:ext cx="1" cy="5953125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0B3EAB3-3180-4520-A781-23EB38438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729948"/>
            <a:ext cx="5538309" cy="247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88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CCAF21-3D6A-458E-B6D8-F3E892D702FF}"/>
              </a:ext>
            </a:extLst>
          </p:cNvPr>
          <p:cNvSpPr/>
          <p:nvPr/>
        </p:nvSpPr>
        <p:spPr>
          <a:xfrm>
            <a:off x="238125" y="209460"/>
            <a:ext cx="5038725" cy="1238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Assignment Operator: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Assignment operator assign the value of the right side operand to the operand on the left side by using the equal to operator (=).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135FCE-6BC7-48AF-BAD9-9F3040B5CD68}"/>
              </a:ext>
            </a:extLst>
          </p:cNvPr>
          <p:cNvSpPr/>
          <p:nvPr/>
        </p:nvSpPr>
        <p:spPr>
          <a:xfrm>
            <a:off x="6448425" y="1582341"/>
            <a:ext cx="538162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Bitwise Operator: (logical operator)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Bitwise operators represent their operands in bits (zeros and ones) and perform operations on them.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They return standard decimal values.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72C93-E527-4CBF-8D60-1851CCC8D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432322"/>
            <a:ext cx="5086350" cy="1381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C89F1E-C90C-4684-A78A-C595514338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49"/>
          <a:stretch/>
        </p:blipFill>
        <p:spPr>
          <a:xfrm>
            <a:off x="6634797" y="2813447"/>
            <a:ext cx="4598155" cy="29101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5690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FABBA1-5B49-449F-9C5D-43B4C7E5380E}"/>
              </a:ext>
            </a:extLst>
          </p:cNvPr>
          <p:cNvSpPr/>
          <p:nvPr/>
        </p:nvSpPr>
        <p:spPr>
          <a:xfrm>
            <a:off x="409575" y="30986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Special Operator: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There are some operators in JavaScript which do not belong to any of the categories of JavaScript operators.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Such operators are referred to as the special operators.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DD50D6-7D9D-4AFA-9838-066D00266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14" y="1701633"/>
            <a:ext cx="5989361" cy="21557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0CCA6B-7933-4D4A-8808-97E15104A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551" y="2106326"/>
            <a:ext cx="4613254" cy="37345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E31D29-9694-4186-8E1F-2E9D791EA801}"/>
              </a:ext>
            </a:extLst>
          </p:cNvPr>
          <p:cNvSpPr/>
          <p:nvPr/>
        </p:nvSpPr>
        <p:spPr>
          <a:xfrm>
            <a:off x="7930828" y="1510189"/>
            <a:ext cx="2516715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Operator Precedence: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199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F883-2689-4FA5-8C41-31BFDE0B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BD344-A481-4190-824F-94C605BAE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60" y="1853754"/>
            <a:ext cx="5842356" cy="5023021"/>
          </a:xfrm>
        </p:spPr>
        <p:txBody>
          <a:bodyPr>
            <a:normAutofit/>
          </a:bodyPr>
          <a:lstStyle/>
          <a:p>
            <a:r>
              <a:rPr lang="en-US" dirty="0"/>
              <a:t>Conditional statements are used to perform different actions based on different conditions.</a:t>
            </a:r>
          </a:p>
          <a:p>
            <a:r>
              <a:rPr lang="en-US" dirty="0"/>
              <a:t>In JavaScript we have the following conditional statements:</a:t>
            </a:r>
          </a:p>
          <a:p>
            <a:pPr marL="285750" indent="-285750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If statement </a:t>
            </a:r>
          </a:p>
          <a:p>
            <a:pPr marL="285750" indent="-285750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Else statement</a:t>
            </a:r>
          </a:p>
          <a:p>
            <a:pPr marL="285750" indent="-285750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Else if statement </a:t>
            </a:r>
          </a:p>
          <a:p>
            <a:pPr marL="285750" indent="-285750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Switch-case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98CF97-3889-43E3-8E19-1127327377F0}"/>
              </a:ext>
            </a:extLst>
          </p:cNvPr>
          <p:cNvSpPr txBox="1"/>
          <p:nvPr/>
        </p:nvSpPr>
        <p:spPr>
          <a:xfrm>
            <a:off x="6943060" y="2094614"/>
            <a:ext cx="43806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An example of a condition is </a:t>
            </a:r>
            <a:r>
              <a:rPr lang="en-US" b="1" dirty="0"/>
              <a:t>a password</a:t>
            </a:r>
            <a:r>
              <a:rPr lang="en-US" dirty="0"/>
              <a:t>. Passwords are “if, then” logic statements: If a user enters the correct password, then they can access the program.</a:t>
            </a:r>
          </a:p>
        </p:txBody>
      </p:sp>
    </p:spTree>
    <p:extLst>
      <p:ext uri="{BB962C8B-B14F-4D97-AF65-F5344CB8AC3E}">
        <p14:creationId xmlns:p14="http://schemas.microsoft.com/office/powerpoint/2010/main" val="4264189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EDA19-24C7-4A4F-AB81-9A086C840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95300-E243-4D5F-AC3C-7873F08C1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if to specify a block of code to be executed, if a specified condition is true </a:t>
            </a:r>
          </a:p>
          <a:p>
            <a:r>
              <a:rPr lang="en-US" dirty="0"/>
              <a:t>Syntax: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3CE71-40F0-4D59-A69C-1D24ED55D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972096"/>
            <a:ext cx="3893843" cy="2078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B368F4-07B6-4BA8-B2E0-0C509DE0E7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84"/>
          <a:stretch/>
        </p:blipFill>
        <p:spPr>
          <a:xfrm>
            <a:off x="6096000" y="2972096"/>
            <a:ext cx="5674471" cy="238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88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E4CB17-1871-4AD7-ACB1-C10B42DBD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63" y="972625"/>
            <a:ext cx="4069011" cy="2333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C070C4-EC31-4520-89F5-38293D48071F}"/>
              </a:ext>
            </a:extLst>
          </p:cNvPr>
          <p:cNvSpPr txBox="1"/>
          <p:nvPr/>
        </p:nvSpPr>
        <p:spPr>
          <a:xfrm>
            <a:off x="2049934" y="457200"/>
            <a:ext cx="1786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FC31BC-0709-42C1-8810-C8573BC6E0DA}"/>
              </a:ext>
            </a:extLst>
          </p:cNvPr>
          <p:cNvSpPr/>
          <p:nvPr/>
        </p:nvSpPr>
        <p:spPr>
          <a:xfrm>
            <a:off x="5187437" y="65725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(a&gt;=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 is greater"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E6E7A7-27CF-4186-A243-99AA431113A1}"/>
              </a:ext>
            </a:extLst>
          </p:cNvPr>
          <p:cNvCxnSpPr>
            <a:cxnSpLocks/>
          </p:cNvCxnSpPr>
          <p:nvPr/>
        </p:nvCxnSpPr>
        <p:spPr>
          <a:xfrm flipH="1">
            <a:off x="6943063" y="857310"/>
            <a:ext cx="1105784" cy="433973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0B2ADA-F3DD-4BD8-9288-87B451200EAF}"/>
              </a:ext>
            </a:extLst>
          </p:cNvPr>
          <p:cNvSpPr txBox="1"/>
          <p:nvPr/>
        </p:nvSpPr>
        <p:spPr>
          <a:xfrm>
            <a:off x="8048846" y="657256"/>
            <a:ext cx="2244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Relational operator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1B6B44-B7FE-4497-92B8-72084FF95993}"/>
              </a:ext>
            </a:extLst>
          </p:cNvPr>
          <p:cNvSpPr/>
          <p:nvPr/>
        </p:nvSpPr>
        <p:spPr>
          <a:xfrm>
            <a:off x="6123029" y="329558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"Monday"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(a==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"Monday"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"Today is Monday"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3B3E465-C0A3-4440-AA2A-C12974407097}"/>
              </a:ext>
            </a:extLst>
          </p:cNvPr>
          <p:cNvCxnSpPr/>
          <p:nvPr/>
        </p:nvCxnSpPr>
        <p:spPr>
          <a:xfrm>
            <a:off x="4977574" y="2849526"/>
            <a:ext cx="7214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8065D-8D04-4D0F-8D61-FF95AF6B66C7}"/>
              </a:ext>
            </a:extLst>
          </p:cNvPr>
          <p:cNvSpPr/>
          <p:nvPr/>
        </p:nvSpPr>
        <p:spPr>
          <a:xfrm>
            <a:off x="304800" y="3467418"/>
            <a:ext cx="5818229" cy="2305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(a&gt;b)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 is greater than B"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164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94AF-A8C4-4F97-9E06-9A185D39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 with Logical Operators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0D32BC-D56A-4187-9CFB-2FCE92866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1956833"/>
            <a:ext cx="4092747" cy="18565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4B94CB-CC41-46E4-BA5F-729B2942B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75" y="1956833"/>
            <a:ext cx="4855765" cy="18816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8BEBD3-66EC-464E-91F3-FFA561B89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235" y="4124524"/>
            <a:ext cx="4855765" cy="1720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D89F4C-C919-4301-8DC7-608D870B4A0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5" t="22611" r="36667" b="2680"/>
          <a:stretch/>
        </p:blipFill>
        <p:spPr>
          <a:xfrm>
            <a:off x="7216499" y="3916416"/>
            <a:ext cx="3838355" cy="213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42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A29D36-6679-4E1E-A34F-4530A806794A}"/>
              </a:ext>
            </a:extLst>
          </p:cNvPr>
          <p:cNvSpPr/>
          <p:nvPr/>
        </p:nvSpPr>
        <p:spPr>
          <a:xfrm>
            <a:off x="591879" y="42560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age=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/>
              <a:t>if (age &gt;=18 &amp;&amp; age&lt;=21) {</a:t>
            </a:r>
          </a:p>
          <a:p>
            <a:r>
              <a:rPr lang="en-US" dirty="0"/>
              <a:t>        </a:t>
            </a:r>
            <a:r>
              <a:rPr lang="en-US" dirty="0" err="1"/>
              <a:t>document.write</a:t>
            </a:r>
            <a:r>
              <a:rPr lang="en-US" dirty="0"/>
              <a:t>("You are eligible");</a:t>
            </a:r>
          </a:p>
          <a:p>
            <a:r>
              <a:rPr lang="en-US" dirty="0"/>
              <a:t>      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AD2A83-222E-4524-AA93-376D88FFB1C1}"/>
              </a:ext>
            </a:extLst>
          </p:cNvPr>
          <p:cNvSpPr/>
          <p:nvPr/>
        </p:nvSpPr>
        <p:spPr>
          <a:xfrm>
            <a:off x="5504121" y="70260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(a&gt;=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|| b&lt;=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"Condition A is true"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8BA445-0D3E-4581-941D-2E1F6414578A}"/>
              </a:ext>
            </a:extLst>
          </p:cNvPr>
          <p:cNvSpPr/>
          <p:nvPr/>
        </p:nvSpPr>
        <p:spPr>
          <a:xfrm>
            <a:off x="591879" y="273392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(!a&gt;=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51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F9C0-8780-483F-A9D2-5BF5BF617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7E654-1250-42C4-BE88-2C78E0273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else if to specify a new condition to test, if the first condition is false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52384A-67D0-4DDA-8B58-8550BA0E39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7" t="36091" r="6408" b="7483"/>
          <a:stretch/>
        </p:blipFill>
        <p:spPr>
          <a:xfrm>
            <a:off x="6020164" y="2700671"/>
            <a:ext cx="5488014" cy="1935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C24FA4-9D29-4128-9E2C-2C0114A88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537" y="2634701"/>
            <a:ext cx="3653643" cy="221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25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2955B2-2B44-4F52-BA4A-40A6C530FA8F}"/>
              </a:ext>
            </a:extLst>
          </p:cNvPr>
          <p:cNvSpPr/>
          <p:nvPr/>
        </p:nvSpPr>
        <p:spPr>
          <a:xfrm>
            <a:off x="251639" y="121692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(x&gt;=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"X is greater"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"X is smaller"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FB952-CCC0-436C-880E-262600D01997}"/>
              </a:ext>
            </a:extLst>
          </p:cNvPr>
          <p:cNvSpPr txBox="1"/>
          <p:nvPr/>
        </p:nvSpPr>
        <p:spPr>
          <a:xfrm>
            <a:off x="2062717" y="680483"/>
            <a:ext cx="1456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913052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FC67-BCA4-49F2-B0D5-8C9FBE63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Else IF Statement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08D676-7FA0-443E-BDC9-E2C92C02D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9171" y="2048096"/>
            <a:ext cx="4667487" cy="2956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BE6B22-CA16-4577-93E7-DCACACF8F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579" y="2048097"/>
            <a:ext cx="3907555" cy="295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99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F19C4D-3C4F-4D12-A0FA-022AB1CC5397}"/>
              </a:ext>
            </a:extLst>
          </p:cNvPr>
          <p:cNvSpPr/>
          <p:nvPr/>
        </p:nvSpPr>
        <p:spPr>
          <a:xfrm>
            <a:off x="474921" y="1455856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time=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(time&lt;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"Good Morning"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(time&lt;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"Good Afternoon"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"Incorrect time"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07013-8D68-4DE9-8490-20278900845B}"/>
              </a:ext>
            </a:extLst>
          </p:cNvPr>
          <p:cNvSpPr txBox="1"/>
          <p:nvPr/>
        </p:nvSpPr>
        <p:spPr>
          <a:xfrm>
            <a:off x="1768548" y="880538"/>
            <a:ext cx="1754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90F0EA-7D89-42A7-A621-CE4852D8DCED}"/>
              </a:ext>
            </a:extLst>
          </p:cNvPr>
          <p:cNvSpPr/>
          <p:nvPr/>
        </p:nvSpPr>
        <p:spPr>
          <a:xfrm>
            <a:off x="5897526" y="1698760"/>
            <a:ext cx="581955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per=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(per&gt;=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per&lt;=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"You are in Merit"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}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(per&gt;=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per&lt;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"You are in 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Ist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Division."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}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(per&gt;=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per&lt;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"You are in 2nd Division."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}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(per&gt;=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per&lt;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"You are in 3rd Division."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}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(per&lt;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"You are Fail."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}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"Please Enter Valid Percentage."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BF6C5A-CAF4-46FC-850D-7B941A4911A1}"/>
              </a:ext>
            </a:extLst>
          </p:cNvPr>
          <p:cNvCxnSpPr/>
          <p:nvPr/>
        </p:nvCxnSpPr>
        <p:spPr>
          <a:xfrm>
            <a:off x="5497033" y="0"/>
            <a:ext cx="0" cy="6198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D03C824-F38D-467C-92D6-C8C9DC2CFB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08" b="3644"/>
          <a:stretch/>
        </p:blipFill>
        <p:spPr>
          <a:xfrm>
            <a:off x="8422492" y="104362"/>
            <a:ext cx="3599386" cy="176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32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E40E-35A7-4F11-A9E1-4F520105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Case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EC3551-9C53-4D9F-ABD2-BF4AC68FA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725" t="18749" r="4107"/>
          <a:stretch/>
        </p:blipFill>
        <p:spPr>
          <a:xfrm>
            <a:off x="3691197" y="1321853"/>
            <a:ext cx="3981812" cy="450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38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EEFDDC-DAAE-45A2-B671-A5E72CB249D7}"/>
              </a:ext>
            </a:extLst>
          </p:cNvPr>
          <p:cNvSpPr/>
          <p:nvPr/>
        </p:nvSpPr>
        <p:spPr>
          <a:xfrm>
            <a:off x="2399414" y="843677"/>
            <a:ext cx="571322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day =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(day)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"Today is Monday"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 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"Today is Tuesday"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"Today is Wednesday"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"Today is Thursday"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"Today is Friday"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"Today is Saturday"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"Today is Sunday"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"Enter the valid Week day"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6C35B-C921-4CDF-831D-24AC9E9297B3}"/>
              </a:ext>
            </a:extLst>
          </p:cNvPr>
          <p:cNvSpPr txBox="1"/>
          <p:nvPr/>
        </p:nvSpPr>
        <p:spPr>
          <a:xfrm>
            <a:off x="4657060" y="350875"/>
            <a:ext cx="2626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439682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6EAA3-ABE8-4946-8AF3-001341144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3AA2CC-4854-4C6D-9CF8-D432A64BE1C5}"/>
              </a:ext>
            </a:extLst>
          </p:cNvPr>
          <p:cNvSpPr/>
          <p:nvPr/>
        </p:nvSpPr>
        <p:spPr>
          <a:xfrm>
            <a:off x="7864549" y="2228671"/>
            <a:ext cx="31903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alert(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7ED2CD-3796-4609-9B33-109F4E9A7E1F}"/>
              </a:ext>
            </a:extLst>
          </p:cNvPr>
          <p:cNvSpPr/>
          <p:nvPr/>
        </p:nvSpPr>
        <p:spPr>
          <a:xfrm>
            <a:off x="7322288" y="371051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  a=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b=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(a&lt;b)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alert(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 is greater"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      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alert(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"B is greater"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221DF6-D142-4B95-983C-A80680D95417}"/>
              </a:ext>
            </a:extLst>
          </p:cNvPr>
          <p:cNvSpPr/>
          <p:nvPr/>
        </p:nvSpPr>
        <p:spPr>
          <a:xfrm>
            <a:off x="1451579" y="1956184"/>
            <a:ext cx="6096000" cy="15081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Description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alert() method displays an alert box with a message and an OK button.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alert() method is used when you want information to come through to the user.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7E06F6-AA99-435B-AD68-14F20E47A144}"/>
              </a:ext>
            </a:extLst>
          </p:cNvPr>
          <p:cNvCxnSpPr/>
          <p:nvPr/>
        </p:nvCxnSpPr>
        <p:spPr>
          <a:xfrm>
            <a:off x="7719237" y="3464289"/>
            <a:ext cx="4472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8388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ABCF-1E4D-449A-AB0D-F2205934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7D973-F977-4782-8E4F-300657FEB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906691" cy="3513198"/>
          </a:xfrm>
        </p:spPr>
        <p:txBody>
          <a:bodyPr/>
          <a:lstStyle/>
          <a:p>
            <a:r>
              <a:rPr lang="en-US" dirty="0"/>
              <a:t>Description</a:t>
            </a:r>
          </a:p>
          <a:p>
            <a:r>
              <a:rPr lang="en-US" dirty="0"/>
              <a:t>The confirm() method displays a dialog box with a message, an OK button, and a Cancel button.</a:t>
            </a:r>
          </a:p>
          <a:p>
            <a:r>
              <a:rPr lang="en-US" dirty="0"/>
              <a:t>The confirm() method returns true if the user clicked "OK", otherwise false.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8DA76-B384-4886-B7DE-0FCBBB2B4CF2}"/>
              </a:ext>
            </a:extLst>
          </p:cNvPr>
          <p:cNvSpPr/>
          <p:nvPr/>
        </p:nvSpPr>
        <p:spPr>
          <a:xfrm>
            <a:off x="7237228" y="2015732"/>
            <a:ext cx="45193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confirm(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"Do you like to study Computer Science?"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2675A0-BB7A-493E-9679-2C87CBBD3165}"/>
              </a:ext>
            </a:extLst>
          </p:cNvPr>
          <p:cNvSpPr/>
          <p:nvPr/>
        </p:nvSpPr>
        <p:spPr>
          <a:xfrm>
            <a:off x="6253216" y="337803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a= confirm(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"Do you like to study Computer Science?"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alert(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"Good to know that"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alert(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"Sorry to hear that :("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81DD6B-E474-455E-A810-3D8455F9EFD5}"/>
              </a:ext>
            </a:extLst>
          </p:cNvPr>
          <p:cNvCxnSpPr/>
          <p:nvPr/>
        </p:nvCxnSpPr>
        <p:spPr>
          <a:xfrm>
            <a:off x="6655981" y="3216061"/>
            <a:ext cx="55360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7947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5848-C46D-41BC-A241-FEE1047F4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3AF53-47ED-4F5A-98A3-60FBEC572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1735" y="2004858"/>
            <a:ext cx="4824637" cy="340687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Description</a:t>
            </a:r>
          </a:p>
          <a:p>
            <a:r>
              <a:rPr lang="en-US" dirty="0"/>
              <a:t>The prompt() method displays a dialog box that prompts the user for input.</a:t>
            </a:r>
          </a:p>
          <a:p>
            <a:r>
              <a:rPr lang="en-US" dirty="0"/>
              <a:t>The prompt() method returns the input value if the user clicks "OK", otherwise it returns null.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BDB2EB-FF78-47CF-8F3E-46952FEE0166}"/>
              </a:ext>
            </a:extLst>
          </p:cNvPr>
          <p:cNvSpPr/>
          <p:nvPr/>
        </p:nvSpPr>
        <p:spPr>
          <a:xfrm>
            <a:off x="6326372" y="22748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a=prompt(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"Enter your name"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"My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nameis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+a);       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}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3583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24794">
              <a:schemeClr val="accent1">
                <a:lumMod val="20000"/>
                <a:lumOff val="80000"/>
              </a:schemeClr>
            </a:gs>
            <a:gs pos="0">
              <a:schemeClr val="accent1">
                <a:lumMod val="20000"/>
                <a:lumOff val="80000"/>
              </a:schemeClr>
            </a:gs>
            <a:gs pos="77000">
              <a:schemeClr val="accent3">
                <a:lumMod val="20000"/>
                <a:lumOff val="80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E99A-E95E-4E78-9EBF-2B7B253DE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Task to print sum of 2 integer from user input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2F4E35-CA7A-4A81-AE4D-B7BF90D85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3266" y="2311905"/>
            <a:ext cx="5036855" cy="3365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BAF825-7F11-4D5B-909B-FA3ADB764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087" y="1966221"/>
            <a:ext cx="3474819" cy="13620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25ED78-C0C5-43B0-9EC5-D2A46C7E65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087" y="3620425"/>
            <a:ext cx="3496084" cy="1382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4AEDBE-E2A0-4AA6-96EB-FB451938C2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5415" y="5295458"/>
            <a:ext cx="4315427" cy="1257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4442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A7E5-547D-4B1D-999B-04923D4A8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867037"/>
            <a:ext cx="9603275" cy="1049235"/>
          </a:xfrm>
        </p:spPr>
        <p:txBody>
          <a:bodyPr/>
          <a:lstStyle/>
          <a:p>
            <a:r>
              <a:rPr lang="en-US" dirty="0"/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0096A-2EF4-4388-B28E-12EF66B0D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733" y="2036997"/>
            <a:ext cx="6437779" cy="38574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JavaScript function is defined with the function keyword, followed by a name, followed by parentheses ().</a:t>
            </a:r>
          </a:p>
          <a:p>
            <a:r>
              <a:rPr lang="en-US" dirty="0"/>
              <a:t>Function names can contain letters, digits, underscores, and dollar signs (same rules as variables).</a:t>
            </a:r>
          </a:p>
          <a:p>
            <a:r>
              <a:rPr lang="en-US" dirty="0"/>
              <a:t>The parentheses may include parameter names separated by commas:</a:t>
            </a:r>
          </a:p>
          <a:p>
            <a:r>
              <a:rPr lang="en-US" dirty="0"/>
              <a:t>(parameter1, parameter2, ...)</a:t>
            </a:r>
          </a:p>
          <a:p>
            <a:r>
              <a:rPr lang="en-US" dirty="0"/>
              <a:t>The code to be executed, by the function, is placed inside curly brackets: {}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4FA692-8158-4BBD-A76E-1261D33AC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512" y="2480475"/>
            <a:ext cx="5373079" cy="189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043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4EB4A4-06D7-4153-9D10-A7F4DC0BDDD1}"/>
              </a:ext>
            </a:extLst>
          </p:cNvPr>
          <p:cNvSpPr/>
          <p:nvPr/>
        </p:nvSpPr>
        <p:spPr>
          <a:xfrm>
            <a:off x="2729024" y="1158143"/>
            <a:ext cx="7786576" cy="2393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hello()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alert(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"HI Welcome to my page"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hello();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"&lt;h1&gt;Good Evening&lt;/h1&gt;"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0738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76641-ABD3-4F0B-B44C-FDAF80AD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with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2CC66-2F78-4255-9D0D-B75F95210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parameters are listed inside the parentheses () in the function definition.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EB731-E10E-48FB-8509-96ED2766B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981" y="2854842"/>
            <a:ext cx="6088469" cy="203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331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8A6E97-B6D6-423D-940C-6036E81597E5}"/>
              </a:ext>
            </a:extLst>
          </p:cNvPr>
          <p:cNvSpPr/>
          <p:nvPr/>
        </p:nvSpPr>
        <p:spPr>
          <a:xfrm>
            <a:off x="602512" y="70121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name(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fname,lname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}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name(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Fariha"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"Shafiq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2F8D2D-A7C3-488B-AB98-98A1645A12A1}"/>
              </a:ext>
            </a:extLst>
          </p:cNvPr>
          <p:cNvSpPr/>
          <p:nvPr/>
        </p:nvSpPr>
        <p:spPr>
          <a:xfrm>
            <a:off x="6556744" y="300954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name(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a,b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alert(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 sum is:"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a+b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}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name(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9254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231F-545C-4FD7-8728-7C2AA5F84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with return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2D4267-C210-4328-A76E-2137C9F102CA}"/>
              </a:ext>
            </a:extLst>
          </p:cNvPr>
          <p:cNvSpPr/>
          <p:nvPr/>
        </p:nvSpPr>
        <p:spPr>
          <a:xfrm>
            <a:off x="559981" y="1997839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fullname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fname,lname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}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fullname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Fariha"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“Shafiq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4A6260-A4B8-44FA-B172-04AAF0D606DE}"/>
              </a:ext>
            </a:extLst>
          </p:cNvPr>
          <p:cNvSpPr/>
          <p:nvPr/>
        </p:nvSpPr>
        <p:spPr>
          <a:xfrm>
            <a:off x="6333460" y="370599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add(a, b)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sum = add(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console.log(sum);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ECDBF-0191-44D9-8999-025C94BD6480}"/>
              </a:ext>
            </a:extLst>
          </p:cNvPr>
          <p:cNvSpPr txBox="1"/>
          <p:nvPr/>
        </p:nvSpPr>
        <p:spPr>
          <a:xfrm>
            <a:off x="5794744" y="297711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230EB-5531-4630-A599-B090D3E39F05}"/>
              </a:ext>
            </a:extLst>
          </p:cNvPr>
          <p:cNvSpPr txBox="1"/>
          <p:nvPr/>
        </p:nvSpPr>
        <p:spPr>
          <a:xfrm>
            <a:off x="6333460" y="2425934"/>
            <a:ext cx="43203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Return statement function ko value return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karti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hai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Aur</a:t>
            </a:r>
            <a:r>
              <a:rPr lang="en-US" sz="2000" b="1">
                <a:solidFill>
                  <a:schemeClr val="accent1">
                    <a:lumMod val="50000"/>
                  </a:schemeClr>
                </a:solidFill>
              </a:rPr>
              <a:t> function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ko assign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hojati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hai</a:t>
            </a: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868CBA-4287-4EC6-842B-04EEF01B4074}"/>
              </a:ext>
            </a:extLst>
          </p:cNvPr>
          <p:cNvCxnSpPr>
            <a:cxnSpLocks/>
          </p:cNvCxnSpPr>
          <p:nvPr/>
        </p:nvCxnSpPr>
        <p:spPr>
          <a:xfrm flipH="1">
            <a:off x="2934588" y="3040911"/>
            <a:ext cx="33988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9964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E3DE-BFDA-4F05-B4BC-1B59939AA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Vs Local variable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73B0A4-896E-426F-B0C7-2C5A08EB9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9759" y="1950424"/>
            <a:ext cx="3791143" cy="18062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7AF7446-30A9-4F49-9B49-AD8FAC6C417A}"/>
              </a:ext>
            </a:extLst>
          </p:cNvPr>
          <p:cNvSpPr/>
          <p:nvPr/>
        </p:nvSpPr>
        <p:spPr>
          <a:xfrm>
            <a:off x="1493238" y="1950424"/>
            <a:ext cx="476692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a=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"Fariha"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hello()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(a+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 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 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 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hello();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625ECE-F491-4A25-971B-3CDDF5A16ECC}"/>
              </a:ext>
            </a:extLst>
          </p:cNvPr>
          <p:cNvSpPr/>
          <p:nvPr/>
        </p:nvSpPr>
        <p:spPr>
          <a:xfrm>
            <a:off x="6762307" y="3472553"/>
            <a:ext cx="484135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hello()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“Fariha"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(a+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 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 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 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hello();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2046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2249-F289-4DD0-A27A-C70A62E0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3D1DDC-1686-4B66-8EBC-4C7B21396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-1180"/>
          <a:stretch/>
        </p:blipFill>
        <p:spPr>
          <a:xfrm>
            <a:off x="6096000" y="1912487"/>
            <a:ext cx="4958854" cy="22153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391C8F-5514-4AC6-9957-3527D6F5FCA1}"/>
              </a:ext>
            </a:extLst>
          </p:cNvPr>
          <p:cNvSpPr txBox="1"/>
          <p:nvPr/>
        </p:nvSpPr>
        <p:spPr>
          <a:xfrm>
            <a:off x="1451579" y="2004506"/>
            <a:ext cx="37107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While loop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Do/while loop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For loop</a:t>
            </a:r>
          </a:p>
        </p:txBody>
      </p:sp>
    </p:spTree>
    <p:extLst>
      <p:ext uri="{BB962C8B-B14F-4D97-AF65-F5344CB8AC3E}">
        <p14:creationId xmlns:p14="http://schemas.microsoft.com/office/powerpoint/2010/main" val="38363884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D6E9E-98DD-4F7E-AB2D-AA68356C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CDF3D3-8497-40F8-92E9-00615F391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7121" y="2013318"/>
            <a:ext cx="5591016" cy="2115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F1AD74-CEC5-40F9-B4C5-B60380857D60}"/>
              </a:ext>
            </a:extLst>
          </p:cNvPr>
          <p:cNvSpPr/>
          <p:nvPr/>
        </p:nvSpPr>
        <p:spPr>
          <a:xfrm>
            <a:off x="676940" y="209699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a&lt;=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a++)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"Print me 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6066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8B41FE-C591-421F-B9C6-93E73FE191B5}"/>
              </a:ext>
            </a:extLst>
          </p:cNvPr>
          <p:cNvSpPr/>
          <p:nvPr/>
        </p:nvSpPr>
        <p:spPr>
          <a:xfrm>
            <a:off x="6837321" y="4165840"/>
            <a:ext cx="5354679" cy="16076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5A965D-9CB3-43F3-916D-058D0DD6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While/Do while loop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AF71EA-89D7-4FB7-9150-C2D6AFA9704B}"/>
              </a:ext>
            </a:extLst>
          </p:cNvPr>
          <p:cNvSpPr/>
          <p:nvPr/>
        </p:nvSpPr>
        <p:spPr>
          <a:xfrm>
            <a:off x="974651" y="1853754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(a&lt;=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“Fariha 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a++;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F7EDE8-AEAE-4370-9E0F-7D28DCFA4158}"/>
              </a:ext>
            </a:extLst>
          </p:cNvPr>
          <p:cNvSpPr/>
          <p:nvPr/>
        </p:nvSpPr>
        <p:spPr>
          <a:xfrm>
            <a:off x="258726" y="4576153"/>
            <a:ext cx="53623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(a&lt;=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“Fariha 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a=a+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1BD3EF-038B-4482-96E6-C6E7E43E65C9}"/>
              </a:ext>
            </a:extLst>
          </p:cNvPr>
          <p:cNvSpPr/>
          <p:nvPr/>
        </p:nvSpPr>
        <p:spPr>
          <a:xfrm>
            <a:off x="7070651" y="1941094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a=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(a&gt;=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(a+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":Fariha 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a=a-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3C930B-4BB8-4356-A641-DA6380DCEE55}"/>
              </a:ext>
            </a:extLst>
          </p:cNvPr>
          <p:cNvSpPr/>
          <p:nvPr/>
        </p:nvSpPr>
        <p:spPr>
          <a:xfrm>
            <a:off x="6950148" y="4165840"/>
            <a:ext cx="536235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do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": Hello world &lt;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br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&gt;"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++;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} 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3685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4D0BC-C068-4663-9D1B-1F4C8C63E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67037"/>
            <a:ext cx="9603275" cy="1049235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770B5-CBA5-43E8-9964-E13469984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30" y="2094993"/>
            <a:ext cx="7011937" cy="3895970"/>
          </a:xfrm>
        </p:spPr>
        <p:txBody>
          <a:bodyPr>
            <a:normAutofit/>
          </a:bodyPr>
          <a:lstStyle/>
          <a:p>
            <a:r>
              <a:rPr lang="en-US" sz="1800" dirty="0"/>
              <a:t>An array is a collection of values stored in adjacent memory locations. </a:t>
            </a:r>
          </a:p>
          <a:p>
            <a:r>
              <a:rPr lang="en-US" sz="1800" dirty="0"/>
              <a:t>These array values are referenced using a common array name. </a:t>
            </a:r>
          </a:p>
          <a:p>
            <a:r>
              <a:rPr lang="en-US" sz="1800"/>
              <a:t>These </a:t>
            </a:r>
            <a:r>
              <a:rPr lang="en-US" sz="1800" dirty="0"/>
              <a:t>values that are also referred to as elements and can be accessed by using subscript or index numbers. </a:t>
            </a:r>
          </a:p>
          <a:p>
            <a:r>
              <a:rPr lang="en-US" sz="1800" dirty="0"/>
              <a:t>The subscript number determines the position of an element in an array list. JavaScript supports two types of arrays that are as follows:</a:t>
            </a:r>
          </a:p>
          <a:p>
            <a:r>
              <a:rPr lang="en-US" sz="1800" dirty="0"/>
              <a:t>Single-dimensional array</a:t>
            </a:r>
          </a:p>
          <a:p>
            <a:r>
              <a:rPr lang="en-US" sz="1800" dirty="0"/>
              <a:t>Multi-dimensional array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D2279-7A11-4F43-A1AA-E9D8C2A05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387" y="1916272"/>
            <a:ext cx="3446886" cy="18051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A1494A-BD66-42DF-8861-4499D2402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796" y="4816344"/>
            <a:ext cx="5058056" cy="117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158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F866C39-6BD1-438D-923F-8B473E2FFB40}"/>
              </a:ext>
            </a:extLst>
          </p:cNvPr>
          <p:cNvSpPr/>
          <p:nvPr/>
        </p:nvSpPr>
        <p:spPr>
          <a:xfrm>
            <a:off x="366228" y="2798276"/>
            <a:ext cx="5886988" cy="31554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A28EB-49EB-461E-B75F-FFFD3A900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AC20E-08EF-4281-A463-0A813CF19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single-dimensional array, the elements are stored in a single row in the allocated memory.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5408B-C740-468D-A630-0F276FB0C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022" y="2618075"/>
            <a:ext cx="4933950" cy="2000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1BFBE2-7B7E-450A-B0CE-447BD16C2679}"/>
              </a:ext>
            </a:extLst>
          </p:cNvPr>
          <p:cNvSpPr/>
          <p:nvPr/>
        </p:nvSpPr>
        <p:spPr>
          <a:xfrm>
            <a:off x="998461" y="3099542"/>
            <a:ext cx="37968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=[</a:t>
            </a:r>
            <a:r>
              <a:rPr lang="en-US" sz="160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sz="160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CE9178"/>
                </a:solidFill>
                <a:latin typeface="Consolas" panose="020B0609020204030204" pitchFamily="49" charset="0"/>
              </a:rPr>
              <a:t>“mifra"</a:t>
            </a:r>
            <a:r>
              <a:rPr lang="en-US" sz="160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70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90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"&lt;</a:t>
            </a:r>
            <a:r>
              <a:rPr lang="en-US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br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&gt;"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"The value on index 1 is:"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1156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5BF4C-42F6-4C57-9BAC-EC634D756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67037"/>
            <a:ext cx="9603275" cy="1049235"/>
          </a:xfrm>
        </p:spPr>
        <p:txBody>
          <a:bodyPr/>
          <a:lstStyle/>
          <a:p>
            <a:r>
              <a:rPr lang="en-US" dirty="0"/>
              <a:t>Multi 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D2D47-F3B1-4F6B-9CAF-6EC5261E0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multi-dimensional array stores a combination of values of a single type in two or more dimensions. These dimensions are represented as rows and columns similar to those of a Microsoft Excel sheet. A two-dimensional array is an example of the multi-dimensional array.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9841F-88AC-4739-AB88-091D490580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40" b="6164"/>
          <a:stretch/>
        </p:blipFill>
        <p:spPr>
          <a:xfrm>
            <a:off x="998202" y="3670912"/>
            <a:ext cx="5097798" cy="16529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05E8E5-37E2-4BFE-908D-D0388F0F3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478" y="3429000"/>
            <a:ext cx="4686121" cy="213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5384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5BF4C-42F6-4C57-9BAC-EC634D756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67037"/>
            <a:ext cx="9603275" cy="1049235"/>
          </a:xfrm>
        </p:spPr>
        <p:txBody>
          <a:bodyPr/>
          <a:lstStyle/>
          <a:p>
            <a:r>
              <a:rPr lang="en-US" dirty="0"/>
              <a:t>Update and delete array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B0371380-2CC7-4785-9D59-66CE8B61F3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975" y="2406783"/>
            <a:ext cx="9604375" cy="2668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2233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5BF4C-42F6-4C57-9BAC-EC634D756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67037"/>
            <a:ext cx="9603275" cy="1049235"/>
          </a:xfrm>
        </p:spPr>
        <p:txBody>
          <a:bodyPr/>
          <a:lstStyle/>
          <a:p>
            <a:r>
              <a:rPr lang="en-US" dirty="0"/>
              <a:t>Sort and reverse array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28B351D8-5D44-4AE6-B1E8-589BC940D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500" y="2348199"/>
            <a:ext cx="8697432" cy="2349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0902264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" id="{355C5553-B386-4AA4-89F2-C548A60537C6}" vid="{820C8D04-24D8-4AF0-842B-D1C34DAB1100}"/>
    </a:ext>
  </a:extLst>
</a:theme>
</file>

<file path=ppt/theme/themeOverride1.xml><?xml version="1.0" encoding="utf-8"?>
<a:themeOverride xmlns:a="http://schemas.openxmlformats.org/drawingml/2006/main">
  <a:clrScheme name="Savon">
    <a:dk1>
      <a:sysClr val="windowText" lastClr="000000"/>
    </a:dk1>
    <a:lt1>
      <a:sysClr val="window" lastClr="FFFFFF"/>
    </a:lt1>
    <a:dk2>
      <a:srgbClr val="1485A4"/>
    </a:dk2>
    <a:lt2>
      <a:srgbClr val="E3DED1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F49100"/>
    </a:hlink>
    <a:folHlink>
      <a:srgbClr val="739D9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1875</TotalTime>
  <Words>2076</Words>
  <Application>Microsoft Office PowerPoint</Application>
  <PresentationFormat>Widescreen</PresentationFormat>
  <Paragraphs>533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5" baseType="lpstr">
      <vt:lpstr>Arial</vt:lpstr>
      <vt:lpstr>Century Gothic</vt:lpstr>
      <vt:lpstr>Consolas</vt:lpstr>
      <vt:lpstr>Garamond</vt:lpstr>
      <vt:lpstr>Gill Sans MT</vt:lpstr>
      <vt:lpstr>Segoe UI</vt:lpstr>
      <vt:lpstr>Verdana</vt:lpstr>
      <vt:lpstr>Wingdings</vt:lpstr>
      <vt:lpstr>Gallery</vt:lpstr>
      <vt:lpstr>Savon</vt:lpstr>
      <vt:lpstr>Introduction to JavaScript</vt:lpstr>
      <vt:lpstr>Scripting </vt:lpstr>
      <vt:lpstr>JavaScript</vt:lpstr>
      <vt:lpstr>JavaScript</vt:lpstr>
      <vt:lpstr>Script Tag </vt:lpstr>
      <vt:lpstr>Basic Syntax of JS</vt:lpstr>
      <vt:lpstr>Embedding JavaScript with HTML</vt:lpstr>
      <vt:lpstr>variables</vt:lpstr>
      <vt:lpstr>Types of variables</vt:lpstr>
      <vt:lpstr>Variables</vt:lpstr>
      <vt:lpstr>Declaring a variable</vt:lpstr>
      <vt:lpstr>Variable Naming Rules</vt:lpstr>
      <vt:lpstr>PowerPoint Presentation</vt:lpstr>
      <vt:lpstr>PowerPoint Presentation</vt:lpstr>
      <vt:lpstr>Datatypes in Js</vt:lpstr>
      <vt:lpstr>PRIMITIVE DATA TYPES </vt:lpstr>
      <vt:lpstr>Datatypes in Js</vt:lpstr>
      <vt:lpstr>PowerPoint Presentation</vt:lpstr>
      <vt:lpstr>Comments</vt:lpstr>
      <vt:lpstr>Escape Sequence</vt:lpstr>
      <vt:lpstr>Basic Operators</vt:lpstr>
      <vt:lpstr>Operators and their Types</vt:lpstr>
      <vt:lpstr>Arithmetic Operators</vt:lpstr>
      <vt:lpstr>PowerPoint Presentation</vt:lpstr>
      <vt:lpstr>PowerPoint Presentation</vt:lpstr>
      <vt:lpstr>PowerPoint Presentation</vt:lpstr>
      <vt:lpstr>Conditional Statement in JavaScript</vt:lpstr>
      <vt:lpstr>If Statement</vt:lpstr>
      <vt:lpstr>PowerPoint Presentation</vt:lpstr>
      <vt:lpstr>If Statement with Logical Operators</vt:lpstr>
      <vt:lpstr>PowerPoint Presentation</vt:lpstr>
      <vt:lpstr>IF Else</vt:lpstr>
      <vt:lpstr>PowerPoint Presentation</vt:lpstr>
      <vt:lpstr>Else IF Statement</vt:lpstr>
      <vt:lpstr>PowerPoint Presentation</vt:lpstr>
      <vt:lpstr>Switch Case</vt:lpstr>
      <vt:lpstr>PowerPoint Presentation</vt:lpstr>
      <vt:lpstr>Alert()</vt:lpstr>
      <vt:lpstr>Confirm()</vt:lpstr>
      <vt:lpstr>Prompt()</vt:lpstr>
      <vt:lpstr>Task to print sum of 2 integer from user input</vt:lpstr>
      <vt:lpstr>Function</vt:lpstr>
      <vt:lpstr>PowerPoint Presentation</vt:lpstr>
      <vt:lpstr>Function with parameters</vt:lpstr>
      <vt:lpstr>PowerPoint Presentation</vt:lpstr>
      <vt:lpstr>Function with return value</vt:lpstr>
      <vt:lpstr>Global Vs Local variable</vt:lpstr>
      <vt:lpstr>Loop</vt:lpstr>
      <vt:lpstr>For Loop</vt:lpstr>
      <vt:lpstr>While/Do while loop</vt:lpstr>
      <vt:lpstr>Arrays</vt:lpstr>
      <vt:lpstr>Single dimensional array</vt:lpstr>
      <vt:lpstr>Multi dimensional array</vt:lpstr>
      <vt:lpstr>Update and delete array</vt:lpstr>
      <vt:lpstr>Sort and reverse array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Osama</dc:creator>
  <cp:lastModifiedBy>Fariha Shafiq</cp:lastModifiedBy>
  <cp:revision>134</cp:revision>
  <dcterms:created xsi:type="dcterms:W3CDTF">2023-05-28T17:08:16Z</dcterms:created>
  <dcterms:modified xsi:type="dcterms:W3CDTF">2024-06-11T14:42:52Z</dcterms:modified>
</cp:coreProperties>
</file>