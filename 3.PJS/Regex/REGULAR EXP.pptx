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67" r:id="rId2"/>
    <p:sldId id="471" r:id="rId3"/>
    <p:sldId id="468" r:id="rId4"/>
    <p:sldId id="469" r:id="rId5"/>
    <p:sldId id="47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gular Expression" id="{6B5F6B66-FE95-46EB-9500-E6FABFA74470}">
          <p14:sldIdLst>
            <p14:sldId id="467"/>
            <p14:sldId id="471"/>
            <p14:sldId id="468"/>
            <p14:sldId id="469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tika Liaquat" initials="A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47" autoAdjust="0"/>
    <p:restoredTop sz="94660"/>
  </p:normalViewPr>
  <p:slideViewPr>
    <p:cSldViewPr>
      <p:cViewPr varScale="1">
        <p:scale>
          <a:sx n="90" d="100"/>
          <a:sy n="90" d="100"/>
        </p:scale>
        <p:origin x="142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C7EC9-2CE2-4888-B745-8A9EB7296C6C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2B131-BCFB-44E8-BA8D-4BCC8A10E57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B90-FF7E-5041-AB9F-1BC0957AB82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1" descr="C:\Users\Syed Liaquat Ali\Desktop\Electronics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4478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7752F-1704-4A05-9868-9A0A5ECE6C39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EF1A4-BCA1-4527-9072-CF0A0766D49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090446"/>
            <a:ext cx="762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  <a:sym typeface="+mn-ea"/>
              </a:rPr>
              <a:t>REGEX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  <a:p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52400"/>
            <a:ext cx="7620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  <a:sym typeface="+mn-ea"/>
              </a:rPr>
              <a:t>REGEX METHODS AND PROPERTIES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test(string) – Tests a string for matching a pattern and returns a </a:t>
            </a:r>
            <a:r>
              <a:rPr lang="en-US" dirty="0" err="1"/>
              <a:t>boolean</a:t>
            </a:r>
            <a:r>
              <a:rPr lang="en-US" dirty="0"/>
              <a:t> value of true or false. The </a:t>
            </a:r>
            <a:r>
              <a:rPr lang="en-US" dirty="0" err="1"/>
              <a:t>boolean</a:t>
            </a:r>
            <a:r>
              <a:rPr lang="en-US" dirty="0"/>
              <a:t> value indicates whether the pattern exists in the string. This method is commonly used for validation.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exec(string) – Executes a string to search the matching pattern within it. The method returns a null value, if pattern is not found. In case of multiple matches, it returns the matched result set.</a:t>
            </a:r>
          </a:p>
          <a:p>
            <a:endParaRPr lang="en-US" dirty="0"/>
          </a:p>
          <a:p>
            <a:r>
              <a:rPr lang="en-US" dirty="0">
                <a:latin typeface="Elephant" panose="02020904090505020303" pitchFamily="18" charset="0"/>
              </a:rPr>
              <a:t>CATEGORIES OF PATTERN MATCHING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Position Matching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Alternation and Grouping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Character Classes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251165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2864" y="62647"/>
            <a:ext cx="320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Elephant" panose="02020904090505020303" pitchFamily="18" charset="0"/>
              </a:rPr>
              <a:t>POSITION MATCHING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464780"/>
          <a:ext cx="8826321" cy="27908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7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0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8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Britannic Bold" panose="020B0903060703020204" pitchFamily="34" charset="0"/>
                        </a:rPr>
                        <a:t>Symbol </a:t>
                      </a:r>
                      <a:endParaRPr lang="en-US" sz="1800" b="1" i="0" u="none" strike="noStrike" dirty="0">
                        <a:solidFill>
                          <a:srgbClr val="2F75B5"/>
                        </a:solidFill>
                        <a:effectLst/>
                        <a:latin typeface="Britannic Bold" panose="020B0903060703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Britannic Bold" panose="020B0903060703020204" pitchFamily="34" charset="0"/>
                        </a:rPr>
                        <a:t>Description </a:t>
                      </a:r>
                      <a:endParaRPr lang="en-US" sz="1800" b="1" i="0" u="none" strike="noStrike" dirty="0">
                        <a:solidFill>
                          <a:srgbClr val="2F75B5"/>
                        </a:solidFill>
                        <a:effectLst/>
                        <a:latin typeface="Britannic Bold" panose="020B0903060703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Britannic Bold" panose="020B0903060703020204" pitchFamily="34" charset="0"/>
                        </a:rPr>
                        <a:t>Example</a:t>
                      </a:r>
                      <a:endParaRPr lang="en-US" sz="1800" b="1" i="0" u="none" strike="noStrike" dirty="0">
                        <a:solidFill>
                          <a:srgbClr val="2F75B5"/>
                        </a:solidFill>
                        <a:effectLst/>
                        <a:latin typeface="Britannic Bold" panose="020B0903060703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8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^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Denotes the start of a string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/^Good/ matches “Good” in “Good night”, but not in “A Good Eyesight”</a:t>
                      </a:r>
                      <a:endParaRPr lang="en-US" sz="1800" b="0" i="0" u="none" strike="noStrike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$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Denotes the end of a string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/art$/ matches “art” in “Cart”, but not in “artist”</a:t>
                      </a:r>
                      <a:endParaRPr lang="en-US" sz="1800" b="0" i="0" u="none" strike="noStrike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8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\b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Matches a word boundary. A word boundary includes the position between a word and the space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</a:rPr>
                        <a:t>ry</a:t>
                      </a:r>
                      <a:r>
                        <a:rPr lang="en-US" sz="1800" u="none" strike="noStrike" dirty="0">
                          <a:effectLst/>
                        </a:rPr>
                        <a:t>\b/ matches “</a:t>
                      </a:r>
                      <a:r>
                        <a:rPr lang="en-US" sz="1800" u="none" strike="noStrike" dirty="0" err="1">
                          <a:effectLst/>
                        </a:rPr>
                        <a:t>ry</a:t>
                      </a:r>
                      <a:r>
                        <a:rPr lang="en-US" sz="1800" u="none" strike="noStrike" dirty="0">
                          <a:effectLst/>
                        </a:rPr>
                        <a:t>” in “She is very good”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8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\B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Matches a non-word boundary 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/\Ban/ matches “an” in “</a:t>
                      </a:r>
                      <a:r>
                        <a:rPr lang="en-US" sz="1800" u="none" strike="noStrike" dirty="0" err="1">
                          <a:effectLst/>
                        </a:rPr>
                        <a:t>operand”,but</a:t>
                      </a:r>
                      <a:r>
                        <a:rPr lang="en-US" sz="1800" u="none" strike="noStrike" dirty="0">
                          <a:effectLst/>
                        </a:rPr>
                        <a:t> not in “anomaly”</a:t>
                      </a:r>
                      <a:endParaRPr lang="en-US" sz="1800" b="0" i="0" u="none" strike="noStrike" dirty="0">
                        <a:solidFill>
                          <a:srgbClr val="2F75B5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492864" y="3810000"/>
            <a:ext cx="4490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Elephant" panose="02020904090505020303" pitchFamily="18" charset="0"/>
              </a:rPr>
              <a:t>ALTERNATION AND GROUPING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6047" y="4267200"/>
          <a:ext cx="8441541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8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4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01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94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()</a:t>
                      </a: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Organizes characters together in a group to specify a set of characters in a string 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/(</a:t>
                      </a:r>
                      <a:r>
                        <a:rPr lang="en-US" dirty="0" err="1"/>
                        <a:t>xyz</a:t>
                      </a:r>
                      <a:r>
                        <a:rPr lang="en-US" dirty="0"/>
                        <a:t>)+(</a:t>
                      </a:r>
                      <a:r>
                        <a:rPr lang="en-US" dirty="0" err="1"/>
                        <a:t>uvw</a:t>
                      </a:r>
                      <a:r>
                        <a:rPr lang="en-US" dirty="0"/>
                        <a:t>)/ Matches one or more number of occurrences of “</a:t>
                      </a:r>
                      <a:r>
                        <a:rPr lang="en-US" dirty="0" err="1"/>
                        <a:t>xyz</a:t>
                      </a:r>
                      <a:r>
                        <a:rPr lang="en-US" dirty="0"/>
                        <a:t>” followed by one occurrence of “</a:t>
                      </a:r>
                      <a:r>
                        <a:rPr lang="en-US" dirty="0" err="1"/>
                        <a:t>uvw</a:t>
                      </a:r>
                      <a:r>
                        <a:rPr lang="en-US" dirty="0"/>
                        <a:t>”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9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|</a:t>
                      </a: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Find any of the alternatives specified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/(</a:t>
                      </a:r>
                      <a:r>
                        <a:rPr lang="en-US" dirty="0" err="1"/>
                        <a:t>xy</a:t>
                      </a:r>
                      <a:r>
                        <a:rPr lang="en-US" dirty="0"/>
                        <a:t>)|(</a:t>
                      </a:r>
                      <a:r>
                        <a:rPr lang="en-US" dirty="0" err="1"/>
                        <a:t>uv</a:t>
                      </a:r>
                      <a:r>
                        <a:rPr lang="en-US" dirty="0"/>
                        <a:t>)|(</a:t>
                      </a:r>
                      <a:r>
                        <a:rPr lang="en-US" dirty="0" err="1"/>
                        <a:t>st</a:t>
                      </a:r>
                      <a:r>
                        <a:rPr lang="en-US" dirty="0"/>
                        <a:t>)/ Matches “</a:t>
                      </a:r>
                      <a:r>
                        <a:rPr lang="en-US" dirty="0" err="1"/>
                        <a:t>xy</a:t>
                      </a:r>
                      <a:r>
                        <a:rPr lang="en-US" dirty="0"/>
                        <a:t>” or “</a:t>
                      </a:r>
                      <a:r>
                        <a:rPr lang="en-US" dirty="0" err="1"/>
                        <a:t>uv</a:t>
                      </a:r>
                      <a:r>
                        <a:rPr lang="en-US" dirty="0"/>
                        <a:t>” or “</a:t>
                      </a:r>
                      <a:r>
                        <a:rPr lang="en-US" dirty="0" err="1"/>
                        <a:t>st</a:t>
                      </a:r>
                      <a:r>
                        <a:rPr lang="en-US" dirty="0"/>
                        <a:t>”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228600"/>
            <a:ext cx="3210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Elephant" panose="02020904090505020303" pitchFamily="18" charset="0"/>
              </a:rPr>
              <a:t>CHARACTER CLASSES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52610" y="737453"/>
          <a:ext cx="8610600" cy="5397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5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2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773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Example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\W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Matches a non-word character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/\W/ Matches “%” in “800%”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\d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Matches a digit between 0 to 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/\d/ Matches “4” in “A4”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\D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Searches for a non-digit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/\D/ Matches “ID” in “ID 2246”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\s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Searches any single space character /including space, tab, form feed, and line feed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/\s\w*/ Matches “ bar” in “scroll bar”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\S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Searches a non-space character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/\S\w*/ Matches “scroll” in “scrollbar”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51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[xyz]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Matches one of the characters specified within the character 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/[BC]RT/ Matches “BRT” and “CRT” but, not “RRT”, since the leading letter “R” is not specified in the 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64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[^xyz]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Matches one of the characters not specified within the character 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/[^BC]RT/ Matches “RRT”, but not “BRT” or “CRT”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17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Denotes a character except for the new line and line terminator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/s.t/ Matches “sat”, “sit”, “set”, and so 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US" sz="1800" u="none" strike="noStrike" dirty="0"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417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\w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Matches alphabets and digits along with the underscore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/\w/ Matches “600” in “600%”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US" sz="1800" u="none" strike="noStrike" dirty="0"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228600"/>
            <a:ext cx="2002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Elephant" panose="02020904090505020303" pitchFamily="18" charset="0"/>
              </a:rPr>
              <a:t>REPETITION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838200"/>
          <a:ext cx="8834705" cy="490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7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60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n+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Matches any string that contains at least one n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le+d</a:t>
                      </a:r>
                      <a:r>
                        <a:rPr lang="en-US" sz="1800" dirty="0"/>
                        <a:t>/ Matches both “led” and “lead”</a:t>
                      </a:r>
                      <a:endParaRPr lang="en-US" sz="18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n*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Matches any string that contains zero or more occurrences of n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im</a:t>
                      </a:r>
                      <a:r>
                        <a:rPr lang="en-US" sz="1800" dirty="0"/>
                        <a:t>*/ Matches “</a:t>
                      </a:r>
                      <a:r>
                        <a:rPr lang="en-US" sz="1800" dirty="0" err="1"/>
                        <a:t>i</a:t>
                      </a:r>
                      <a:r>
                        <a:rPr lang="en-US" sz="1800" dirty="0"/>
                        <a:t>” in “Ice” and “</a:t>
                      </a:r>
                      <a:r>
                        <a:rPr lang="en-US" sz="1800" dirty="0" err="1"/>
                        <a:t>imm</a:t>
                      </a:r>
                      <a:r>
                        <a:rPr lang="en-US" sz="1800" dirty="0"/>
                        <a:t>” in “immaculate”, but nothing in “good”</a:t>
                      </a:r>
                      <a:endParaRPr lang="en-US" sz="18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n?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Matches any string that contains zero or one occurrences of n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/l\</a:t>
                      </a:r>
                      <a:r>
                        <a:rPr lang="en-US" sz="1800" dirty="0" err="1"/>
                        <a:t>s?m</a:t>
                      </a:r>
                      <a:r>
                        <a:rPr lang="en-US" sz="1800" dirty="0"/>
                        <a:t>/ Matches “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” or “l m”</a:t>
                      </a:r>
                      <a:endParaRPr lang="en-US" sz="18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60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n{X}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Matches any string that contains a sequence of X n's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/\d{6}/ Matches exactly 6 digits</a:t>
                      </a:r>
                      <a:endParaRPr lang="en-US" sz="18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31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n{X,Y}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Matches any string that contains a sequence of X to Y n's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/\d{6,8}/ Matches minimum 6 to maximum 8 digits</a:t>
                      </a:r>
                      <a:endParaRPr lang="en-US" sz="18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31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n{X,}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1524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Matches any string that contains a sequence of at least X n's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/\s{4,}/ Matches minimum 4 whitespace characters</a:t>
                      </a:r>
                      <a:endParaRPr lang="en-US" sz="18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694</Words>
  <Application>Microsoft Office PowerPoint</Application>
  <PresentationFormat>On-screen Show (4:3)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Britannic Bold</vt:lpstr>
      <vt:lpstr>Calibri</vt:lpstr>
      <vt:lpstr>Elephant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Syed Liaquat Ali</dc:creator>
  <cp:lastModifiedBy>Nashmia Khan</cp:lastModifiedBy>
  <cp:revision>349</cp:revision>
  <dcterms:created xsi:type="dcterms:W3CDTF">2016-05-11T05:45:00Z</dcterms:created>
  <dcterms:modified xsi:type="dcterms:W3CDTF">2023-06-13T09:12:33Z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1033-11.2.0.10296</vt:lpwstr>
  </property>
  <property fmtid="{D5CDD505-2E9C-101B-9397-08002B2CF9AE}" pid="3" name="ICV">
    <vt:lpwstr>4486D900987545EA969181852AB21BF0</vt:lpwstr>
  </property>
</Properties>
</file>