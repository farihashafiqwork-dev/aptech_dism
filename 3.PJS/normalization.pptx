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20"/>
  </p:notesMasterIdLst>
  <p:sldIdLst>
    <p:sldId id="256" r:id="rId2"/>
    <p:sldId id="257" r:id="rId3"/>
    <p:sldId id="385" r:id="rId4"/>
    <p:sldId id="386" r:id="rId5"/>
    <p:sldId id="388" r:id="rId6"/>
    <p:sldId id="389" r:id="rId7"/>
    <p:sldId id="391" r:id="rId8"/>
    <p:sldId id="392" r:id="rId9"/>
    <p:sldId id="393" r:id="rId10"/>
    <p:sldId id="260" r:id="rId11"/>
    <p:sldId id="263" r:id="rId12"/>
    <p:sldId id="387" r:id="rId13"/>
    <p:sldId id="398" r:id="rId14"/>
    <p:sldId id="399" r:id="rId15"/>
    <p:sldId id="400" r:id="rId16"/>
    <p:sldId id="402" r:id="rId17"/>
    <p:sldId id="403" r:id="rId18"/>
    <p:sldId id="404" r:id="rId19"/>
  </p:sldIdLst>
  <p:sldSz cx="9144000" cy="5143500" type="screen16x9"/>
  <p:notesSz cx="6858000" cy="9144000"/>
  <p:embeddedFontLst>
    <p:embeddedFont>
      <p:font typeface="Hammersmith One" panose="020B0604020202020204" charset="0"/>
      <p:regular r:id="rId21"/>
    </p:embeddedFont>
    <p:embeddedFont>
      <p:font typeface="Manjari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8AEE6-8D56-4A08-B172-D4C7926625F1}">
  <a:tblStyle styleId="{E4B8AEE6-8D56-4A08-B172-D4C792662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AE18C1-0645-4278-9141-9B14148FE186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7E7"/>
          </a:solidFill>
        </a:fill>
      </a:tcStyle>
    </a:wholeTbl>
    <a:band1H>
      <a:tcTxStyle/>
      <a:tcStyle>
        <a:tcBdr/>
        <a:fill>
          <a:solidFill>
            <a:srgbClr val="E8CC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C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FCBD2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BD2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CBD2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4D405F-37B6-4D15-A906-798D8D460E49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tcBdr/>
        <a:fill>
          <a:solidFill>
            <a:srgbClr val="CBD7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7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5EB2FC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5EB2FC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5EB2FC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3F66CA6-1EC2-4630-B476-6544A54A39BA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2BB26C-F2E5-497B-86A4-CD36E2478280}" styleName="Table_4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ED"/>
          </a:solidFill>
        </a:fill>
      </a:tcStyle>
    </a:wholeTbl>
    <a:band1H>
      <a:tcTxStyle/>
      <a:tcStyle>
        <a:tcBdr/>
        <a:fill>
          <a:solidFill>
            <a:srgbClr val="CADF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F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69E78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69E78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69E78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916FA9-76D6-447D-A476-393F9442BA8B}" styleName="Table_5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FE6"/>
          </a:solidFill>
        </a:fill>
      </a:tcStyle>
    </a:wholeTbl>
    <a:band1H>
      <a:tcTxStyle/>
      <a:tcStyle>
        <a:tcBdr/>
        <a:fill>
          <a:solidFill>
            <a:srgbClr val="FAD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D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949E7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949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949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24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004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423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219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1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61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c6a01074ef_0_17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c6a01074ef_0_17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083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c33250489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c33250489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7102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130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414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7696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1688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4004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c6a01074ef_0_2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c6a01074ef_0_2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361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13" name="Google Shape;13;p2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2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"/>
          <p:cNvSpPr/>
          <p:nvPr/>
        </p:nvSpPr>
        <p:spPr>
          <a:xfrm rot="-1690000">
            <a:off x="4770052" y="3432202"/>
            <a:ext cx="4311133" cy="265232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2"/>
          <p:cNvSpPr/>
          <p:nvPr/>
        </p:nvSpPr>
        <p:spPr>
          <a:xfrm rot="-8976185">
            <a:off x="-892229" y="695729"/>
            <a:ext cx="3210901" cy="31975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2"/>
          <p:cNvGrpSpPr/>
          <p:nvPr/>
        </p:nvGrpSpPr>
        <p:grpSpPr>
          <a:xfrm>
            <a:off x="5420243" y="-954594"/>
            <a:ext cx="2270935" cy="2260334"/>
            <a:chOff x="6762468" y="1386456"/>
            <a:chExt cx="2270935" cy="2260334"/>
          </a:xfrm>
        </p:grpSpPr>
        <p:sp>
          <p:nvSpPr>
            <p:cNvPr id="504" name="Google Shape;504;p22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2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2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2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2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22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8" name="Google Shape;538;p22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7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38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951" name="Google Shape;951;p38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5" name="Google Shape;975;p38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8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8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9" name="Google Shape;979;p38"/>
          <p:cNvSpPr txBox="1">
            <a:spLocks noGrp="1"/>
          </p:cNvSpPr>
          <p:nvPr>
            <p:ph type="subTitle" idx="1"/>
          </p:nvPr>
        </p:nvSpPr>
        <p:spPr>
          <a:xfrm>
            <a:off x="1613400" y="132395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38"/>
          <p:cNvSpPr txBox="1">
            <a:spLocks noGrp="1"/>
          </p:cNvSpPr>
          <p:nvPr>
            <p:ph type="subTitle" idx="2"/>
          </p:nvPr>
        </p:nvSpPr>
        <p:spPr>
          <a:xfrm>
            <a:off x="1613400" y="2377655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38"/>
          <p:cNvSpPr txBox="1">
            <a:spLocks noGrp="1"/>
          </p:cNvSpPr>
          <p:nvPr>
            <p:ph type="subTitle" idx="3"/>
          </p:nvPr>
        </p:nvSpPr>
        <p:spPr>
          <a:xfrm>
            <a:off x="1613400" y="179169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8"/>
          <p:cNvSpPr txBox="1">
            <a:spLocks noGrp="1"/>
          </p:cNvSpPr>
          <p:nvPr>
            <p:ph type="subTitle" idx="4"/>
          </p:nvPr>
        </p:nvSpPr>
        <p:spPr>
          <a:xfrm>
            <a:off x="1613400" y="2845395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8"/>
          <p:cNvSpPr txBox="1">
            <a:spLocks noGrp="1"/>
          </p:cNvSpPr>
          <p:nvPr>
            <p:ph type="subTitle" idx="5"/>
          </p:nvPr>
        </p:nvSpPr>
        <p:spPr>
          <a:xfrm>
            <a:off x="1613400" y="343136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38"/>
          <p:cNvSpPr txBox="1">
            <a:spLocks noGrp="1"/>
          </p:cNvSpPr>
          <p:nvPr>
            <p:ph type="subTitle" idx="6"/>
          </p:nvPr>
        </p:nvSpPr>
        <p:spPr>
          <a:xfrm>
            <a:off x="1613400" y="389910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4250" y="445025"/>
            <a:ext cx="805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4250" y="1152475"/>
            <a:ext cx="805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8" r:id="rId5"/>
    <p:sldLayoutId id="2147483684" r:id="rId6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83"/>
          <p:cNvSpPr txBox="1">
            <a:spLocks noGrp="1"/>
          </p:cNvSpPr>
          <p:nvPr>
            <p:ph type="ctrTitle"/>
          </p:nvPr>
        </p:nvSpPr>
        <p:spPr>
          <a:xfrm>
            <a:off x="1283100" y="1342025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accent2"/>
                </a:solidFill>
              </a:rPr>
              <a:t>Organize Your Schema Using Standard Rules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“DATABASE NORMALIZATION”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06" name="Google Shape;2006;p83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Facilitator: Jaweria Ejaz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5" grpId="0"/>
      <p:bldP spid="200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</a:rPr>
              <a:t>Primarily a tool to validate and improve a logical design so that it satisfies certain constraints that </a:t>
            </a:r>
            <a:r>
              <a:rPr lang="en-US" sz="2000" b="1" dirty="0">
                <a:solidFill>
                  <a:srgbClr val="000000"/>
                </a:solidFill>
              </a:rPr>
              <a:t>avoid unnecessary duplication of data.</a:t>
            </a:r>
          </a:p>
          <a:p>
            <a:pPr marL="495300" indent="-3429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</a:rPr>
              <a:t>The process of decomposing relations with anomalies to produce smaller, </a:t>
            </a:r>
            <a:r>
              <a:rPr lang="en-US" sz="2000" b="1" dirty="0">
                <a:solidFill>
                  <a:srgbClr val="000000"/>
                </a:solidFill>
              </a:rPr>
              <a:t>well-structured</a:t>
            </a:r>
            <a:r>
              <a:rPr lang="en-US" sz="2000" dirty="0">
                <a:solidFill>
                  <a:srgbClr val="000000"/>
                </a:solidFill>
              </a:rPr>
              <a:t> relations.</a:t>
            </a:r>
          </a:p>
          <a:p>
            <a:pPr marL="495300" indent="-3429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</a:rPr>
              <a:t>Normalization is a database design technique that reduces data redundancy and eliminates undesirable characteristics like Insertion, Update and Deletion Anomalies.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Normalization?</a:t>
            </a: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 relation that contains minimal data redundancy and allows users to insert, delete, and update rows without causing data inconsistencies</a:t>
            </a:r>
          </a:p>
          <a:p>
            <a:pPr marL="495300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Goal of normalization is to avoid anomalies.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We Need Normalization?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3387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A database anomaly is an inconsistency in the data resulting from an operation like an update, insertion, or deletion.</a:t>
            </a:r>
          </a:p>
          <a:p>
            <a:pPr marL="952500" lvl="1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Insertion Anomaly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–adding new rows forces user to create duplicate data</a:t>
            </a:r>
          </a:p>
          <a:p>
            <a:pPr marL="952500" lvl="1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Deletion Anomaly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–deleting rows may cause a loss of data that would be needed for other future rows</a:t>
            </a:r>
          </a:p>
          <a:p>
            <a:pPr marL="952500" lvl="1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Modification Anomaly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–changing data in a row forces changes to other rows because of duplication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are Anomalies?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956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Row level Duplicity we make a primary key in the table: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0f Duplications and Anomaly</a:t>
            </a:r>
            <a:endParaRPr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39769C-B345-40E8-BB80-6977FEE9C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729435"/>
              </p:ext>
            </p:extLst>
          </p:nvPr>
        </p:nvGraphicFramePr>
        <p:xfrm>
          <a:off x="1524000" y="2054785"/>
          <a:ext cx="6096000" cy="1854200"/>
        </p:xfrm>
        <a:graphic>
          <a:graphicData uri="http://schemas.openxmlformats.org/drawingml/2006/table">
            <a:tbl>
              <a:tblPr firstRow="1" bandRow="1">
                <a:tableStyleId>{E4B8AEE6-8D56-4A08-B172-D4C7926625F1}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89786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516288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4178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93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Laiba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919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11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Fariha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60934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79F451-30AC-484C-91E6-8D78CCC68291}"/>
              </a:ext>
            </a:extLst>
          </p:cNvPr>
          <p:cNvSpPr/>
          <p:nvPr/>
        </p:nvSpPr>
        <p:spPr>
          <a:xfrm>
            <a:off x="1586753" y="2054785"/>
            <a:ext cx="1219200" cy="320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AA9BE-2ABE-4993-8A2F-863CB4AE2248}"/>
              </a:ext>
            </a:extLst>
          </p:cNvPr>
          <p:cNvSpPr txBox="1"/>
          <p:nvPr/>
        </p:nvSpPr>
        <p:spPr>
          <a:xfrm>
            <a:off x="995082" y="4052047"/>
            <a:ext cx="71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Primary key </a:t>
            </a:r>
            <a:r>
              <a:rPr lang="en-US" dirty="0"/>
              <a:t>is the unique key which can not be duplicate and always be not null.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0B182-971A-4801-BA7E-2230C1B5DA9B}"/>
              </a:ext>
            </a:extLst>
          </p:cNvPr>
          <p:cNvSpPr/>
          <p:nvPr/>
        </p:nvSpPr>
        <p:spPr>
          <a:xfrm>
            <a:off x="1586753" y="2438399"/>
            <a:ext cx="6033247" cy="311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735E3-5790-4C19-97D3-1D5675AD6D21}"/>
              </a:ext>
            </a:extLst>
          </p:cNvPr>
          <p:cNvSpPr/>
          <p:nvPr/>
        </p:nvSpPr>
        <p:spPr>
          <a:xfrm>
            <a:off x="1586753" y="3173692"/>
            <a:ext cx="6033247" cy="311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55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Now the important part is the column level </a:t>
            </a:r>
            <a:r>
              <a:rPr lang="en-US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duplicacy</a:t>
            </a: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0f Duplications and Anomaly</a:t>
            </a:r>
            <a:endParaRPr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839504D-2827-421D-BE89-B359E9E6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47515"/>
              </p:ext>
            </p:extLst>
          </p:nvPr>
        </p:nvGraphicFramePr>
        <p:xfrm>
          <a:off x="1524000" y="1604959"/>
          <a:ext cx="6095999" cy="3322320"/>
        </p:xfrm>
        <a:graphic>
          <a:graphicData uri="http://schemas.openxmlformats.org/drawingml/2006/table">
            <a:tbl>
              <a:tblPr firstRow="1" bandRow="1">
                <a:tableStyleId>{E4B8AEE6-8D56-4A08-B172-D4C7926625F1}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55186118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67306419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90772169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3125255"/>
                    </a:ext>
                  </a:extLst>
                </a:gridCol>
                <a:gridCol w="909278">
                  <a:extLst>
                    <a:ext uri="{9D8B030D-6E8A-4147-A177-3AD203B41FA5}">
                      <a16:colId xmlns:a16="http://schemas.microsoft.com/office/drawing/2014/main" val="2091117238"/>
                    </a:ext>
                  </a:extLst>
                </a:gridCol>
                <a:gridCol w="832436">
                  <a:extLst>
                    <a:ext uri="{9D8B030D-6E8A-4147-A177-3AD203B41FA5}">
                      <a16:colId xmlns:a16="http://schemas.microsoft.com/office/drawing/2014/main" val="229701819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594891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Instructor_Id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Instructor_Name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14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55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Laiba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331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Fariha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40,000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17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Jawad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</a:t>
                      </a:r>
                      <a:r>
                        <a:rPr lang="en-US" dirty="0" err="1"/>
                        <a:t>Aneeqa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953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109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DD6E177-9280-4D01-8761-F3F097FD78A8}"/>
              </a:ext>
            </a:extLst>
          </p:cNvPr>
          <p:cNvSpPr/>
          <p:nvPr/>
        </p:nvSpPr>
        <p:spPr>
          <a:xfrm>
            <a:off x="1524000" y="1742163"/>
            <a:ext cx="833718" cy="54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10A24-039C-4B1A-BFC1-A05CE64F34CE}"/>
              </a:ext>
            </a:extLst>
          </p:cNvPr>
          <p:cNvSpPr/>
          <p:nvPr/>
        </p:nvSpPr>
        <p:spPr>
          <a:xfrm>
            <a:off x="3299011" y="2501153"/>
            <a:ext cx="466164" cy="2357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C12A6-50E0-49AB-9060-5E01E56FD941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914400" y="1658471"/>
            <a:ext cx="609600" cy="354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BB66AA-7903-4093-8E47-6B6455977B2F}"/>
              </a:ext>
            </a:extLst>
          </p:cNvPr>
          <p:cNvSpPr txBox="1"/>
          <p:nvPr/>
        </p:nvSpPr>
        <p:spPr>
          <a:xfrm>
            <a:off x="99168" y="1214586"/>
            <a:ext cx="122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 will avoid row level Duplicity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16A68A-5338-4A7B-B358-E7C5F300FB3F}"/>
              </a:ext>
            </a:extLst>
          </p:cNvPr>
          <p:cNvCxnSpPr>
            <a:stCxn id="8" idx="1"/>
          </p:cNvCxnSpPr>
          <p:nvPr/>
        </p:nvCxnSpPr>
        <p:spPr>
          <a:xfrm flipH="1">
            <a:off x="1219200" y="3680012"/>
            <a:ext cx="2079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271D82-4CFD-4142-ABF4-12ABEB732EA9}"/>
              </a:ext>
            </a:extLst>
          </p:cNvPr>
          <p:cNvSpPr txBox="1"/>
          <p:nvPr/>
        </p:nvSpPr>
        <p:spPr>
          <a:xfrm>
            <a:off x="0" y="3403323"/>
            <a:ext cx="1228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 Level Duplicity</a:t>
            </a:r>
          </a:p>
        </p:txBody>
      </p:sp>
    </p:spTree>
    <p:extLst>
      <p:ext uri="{BB962C8B-B14F-4D97-AF65-F5344CB8AC3E}">
        <p14:creationId xmlns:p14="http://schemas.microsoft.com/office/powerpoint/2010/main" val="283239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733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Column level duplicity occur insertion, deletion and </a:t>
            </a:r>
            <a:r>
              <a:rPr lang="en-US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updation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 Anomaly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INSERTION: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0f Duplications and Anomaly</a:t>
            </a:r>
            <a:endParaRPr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839504D-2827-421D-BE89-B359E9E6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90648"/>
              </p:ext>
            </p:extLst>
          </p:nvPr>
        </p:nvGraphicFramePr>
        <p:xfrm>
          <a:off x="1353671" y="2291332"/>
          <a:ext cx="6580096" cy="2672615"/>
        </p:xfrm>
        <a:graphic>
          <a:graphicData uri="http://schemas.openxmlformats.org/drawingml/2006/table">
            <a:tbl>
              <a:tblPr firstRow="1" bandRow="1">
                <a:tableStyleId>{E4B8AEE6-8D56-4A08-B172-D4C7926625F1}</a:tableStyleId>
              </a:tblPr>
              <a:tblGrid>
                <a:gridCol w="940014">
                  <a:extLst>
                    <a:ext uri="{9D8B030D-6E8A-4147-A177-3AD203B41FA5}">
                      <a16:colId xmlns:a16="http://schemas.microsoft.com/office/drawing/2014/main" val="2551861188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6730641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9077216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123125255"/>
                    </a:ext>
                  </a:extLst>
                </a:gridCol>
                <a:gridCol w="981485">
                  <a:extLst>
                    <a:ext uri="{9D8B030D-6E8A-4147-A177-3AD203B41FA5}">
                      <a16:colId xmlns:a16="http://schemas.microsoft.com/office/drawing/2014/main" val="2091117238"/>
                    </a:ext>
                  </a:extLst>
                </a:gridCol>
                <a:gridCol w="898541">
                  <a:extLst>
                    <a:ext uri="{9D8B030D-6E8A-4147-A177-3AD203B41FA5}">
                      <a16:colId xmlns:a16="http://schemas.microsoft.com/office/drawing/2014/main" val="2297018194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594891356"/>
                    </a:ext>
                  </a:extLst>
                </a:gridCol>
              </a:tblGrid>
              <a:tr h="42380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1492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55597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Laiba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331409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Fariha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40,000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17888"/>
                  </a:ext>
                </a:extLst>
              </a:tr>
              <a:tr h="4238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Jawad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</a:t>
                      </a:r>
                      <a:r>
                        <a:rPr lang="en-US" sz="1200" dirty="0" err="1"/>
                        <a:t>Aneeqa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95337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1091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Sr. Ahsan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58693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DD6E177-9280-4D01-8761-F3F097FD78A8}"/>
              </a:ext>
            </a:extLst>
          </p:cNvPr>
          <p:cNvSpPr/>
          <p:nvPr/>
        </p:nvSpPr>
        <p:spPr>
          <a:xfrm>
            <a:off x="1362635" y="2305161"/>
            <a:ext cx="869576" cy="319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C12A6-50E0-49AB-9060-5E01E56FD94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53035" y="2221469"/>
            <a:ext cx="609600" cy="243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BB66AA-7903-4093-8E47-6B6455977B2F}"/>
              </a:ext>
            </a:extLst>
          </p:cNvPr>
          <p:cNvSpPr txBox="1"/>
          <p:nvPr/>
        </p:nvSpPr>
        <p:spPr>
          <a:xfrm>
            <a:off x="99168" y="1869717"/>
            <a:ext cx="1228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D5A529-38AA-445D-904D-6F0C0DED73DD}"/>
              </a:ext>
            </a:extLst>
          </p:cNvPr>
          <p:cNvCxnSpPr/>
          <p:nvPr/>
        </p:nvCxnSpPr>
        <p:spPr>
          <a:xfrm>
            <a:off x="3316942" y="4798634"/>
            <a:ext cx="4276164" cy="0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ction Button: Help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1F86264-A6E2-496F-9946-C8792B75BD7A}"/>
              </a:ext>
            </a:extLst>
          </p:cNvPr>
          <p:cNvSpPr/>
          <p:nvPr/>
        </p:nvSpPr>
        <p:spPr>
          <a:xfrm>
            <a:off x="1461251" y="4724254"/>
            <a:ext cx="322729" cy="161511"/>
          </a:xfrm>
          <a:prstGeom prst="actionButtonHelp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C780E9-DA3C-4C92-A620-AC72FE1EB077}"/>
              </a:ext>
            </a:extLst>
          </p:cNvPr>
          <p:cNvSpPr/>
          <p:nvPr/>
        </p:nvSpPr>
        <p:spPr>
          <a:xfrm>
            <a:off x="1389531" y="4686539"/>
            <a:ext cx="6508376" cy="242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AF5DC5-FED0-4142-BB03-78D8E217B2A7}"/>
              </a:ext>
            </a:extLst>
          </p:cNvPr>
          <p:cNvCxnSpPr/>
          <p:nvPr/>
        </p:nvCxnSpPr>
        <p:spPr>
          <a:xfrm flipH="1" flipV="1">
            <a:off x="815791" y="4329879"/>
            <a:ext cx="609600" cy="528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32DCFF-FE33-499A-AE47-45A1898404BE}"/>
              </a:ext>
            </a:extLst>
          </p:cNvPr>
          <p:cNvSpPr txBox="1"/>
          <p:nvPr/>
        </p:nvSpPr>
        <p:spPr>
          <a:xfrm>
            <a:off x="242882" y="3772249"/>
            <a:ext cx="940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Insertion anomaly occur</a:t>
            </a:r>
          </a:p>
        </p:txBody>
      </p:sp>
    </p:spTree>
    <p:extLst>
      <p:ext uri="{BB962C8B-B14F-4D97-AF65-F5344CB8AC3E}">
        <p14:creationId xmlns:p14="http://schemas.microsoft.com/office/powerpoint/2010/main" val="23923091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733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Column level duplicity occur insertion, deletion and </a:t>
            </a:r>
            <a:r>
              <a:rPr lang="en-US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updation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 Anomaly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DELETION: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DELETE From </a:t>
            </a:r>
            <a:r>
              <a:rPr lang="en-US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table_name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; where </a:t>
            </a:r>
            <a:r>
              <a:rPr lang="en-US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Student_Id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=1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0f Duplications and Anomaly</a:t>
            </a:r>
            <a:endParaRPr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839504D-2827-421D-BE89-B359E9E6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666521"/>
              </p:ext>
            </p:extLst>
          </p:nvPr>
        </p:nvGraphicFramePr>
        <p:xfrm>
          <a:off x="1353671" y="2291332"/>
          <a:ext cx="6580096" cy="2372423"/>
        </p:xfrm>
        <a:graphic>
          <a:graphicData uri="http://schemas.openxmlformats.org/drawingml/2006/table">
            <a:tbl>
              <a:tblPr firstRow="1" bandRow="1">
                <a:tableStyleId>{E4B8AEE6-8D56-4A08-B172-D4C7926625F1}</a:tableStyleId>
              </a:tblPr>
              <a:tblGrid>
                <a:gridCol w="940014">
                  <a:extLst>
                    <a:ext uri="{9D8B030D-6E8A-4147-A177-3AD203B41FA5}">
                      <a16:colId xmlns:a16="http://schemas.microsoft.com/office/drawing/2014/main" val="2551861188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6730641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9077216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123125255"/>
                    </a:ext>
                  </a:extLst>
                </a:gridCol>
                <a:gridCol w="981485">
                  <a:extLst>
                    <a:ext uri="{9D8B030D-6E8A-4147-A177-3AD203B41FA5}">
                      <a16:colId xmlns:a16="http://schemas.microsoft.com/office/drawing/2014/main" val="2091117238"/>
                    </a:ext>
                  </a:extLst>
                </a:gridCol>
                <a:gridCol w="898541">
                  <a:extLst>
                    <a:ext uri="{9D8B030D-6E8A-4147-A177-3AD203B41FA5}">
                      <a16:colId xmlns:a16="http://schemas.microsoft.com/office/drawing/2014/main" val="2297018194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594891356"/>
                    </a:ext>
                  </a:extLst>
                </a:gridCol>
              </a:tblGrid>
              <a:tr h="42380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1492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55597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Laiba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331409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Fariha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40,000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17888"/>
                  </a:ext>
                </a:extLst>
              </a:tr>
              <a:tr h="4238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Jawad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</a:t>
                      </a:r>
                      <a:r>
                        <a:rPr lang="en-US" sz="1200" dirty="0" err="1"/>
                        <a:t>Aneeqa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95337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109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DD6E177-9280-4D01-8761-F3F097FD78A8}"/>
              </a:ext>
            </a:extLst>
          </p:cNvPr>
          <p:cNvSpPr/>
          <p:nvPr/>
        </p:nvSpPr>
        <p:spPr>
          <a:xfrm>
            <a:off x="1362635" y="2305161"/>
            <a:ext cx="869576" cy="319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C12A6-50E0-49AB-9060-5E01E56FD94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53035" y="2221469"/>
            <a:ext cx="609600" cy="243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BB66AA-7903-4093-8E47-6B6455977B2F}"/>
              </a:ext>
            </a:extLst>
          </p:cNvPr>
          <p:cNvSpPr txBox="1"/>
          <p:nvPr/>
        </p:nvSpPr>
        <p:spPr>
          <a:xfrm>
            <a:off x="99168" y="1869717"/>
            <a:ext cx="1228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D5A529-38AA-445D-904D-6F0C0DED73DD}"/>
              </a:ext>
            </a:extLst>
          </p:cNvPr>
          <p:cNvCxnSpPr>
            <a:cxnSpLocks/>
          </p:cNvCxnSpPr>
          <p:nvPr/>
        </p:nvCxnSpPr>
        <p:spPr>
          <a:xfrm>
            <a:off x="1425391" y="2907080"/>
            <a:ext cx="618564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AF5DC5-FED0-4142-BB03-78D8E217B2A7}"/>
              </a:ext>
            </a:extLst>
          </p:cNvPr>
          <p:cNvCxnSpPr/>
          <p:nvPr/>
        </p:nvCxnSpPr>
        <p:spPr>
          <a:xfrm flipH="1" flipV="1">
            <a:off x="905433" y="3522829"/>
            <a:ext cx="609600" cy="528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32DCFF-FE33-499A-AE47-45A1898404BE}"/>
              </a:ext>
            </a:extLst>
          </p:cNvPr>
          <p:cNvSpPr txBox="1"/>
          <p:nvPr/>
        </p:nvSpPr>
        <p:spPr>
          <a:xfrm>
            <a:off x="126341" y="2956086"/>
            <a:ext cx="940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Deletion anomaly occur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404E18-F74C-4990-8BDF-390D7606B855}"/>
              </a:ext>
            </a:extLst>
          </p:cNvPr>
          <p:cNvCxnSpPr>
            <a:cxnSpLocks/>
          </p:cNvCxnSpPr>
          <p:nvPr/>
        </p:nvCxnSpPr>
        <p:spPr>
          <a:xfrm>
            <a:off x="1425391" y="4054563"/>
            <a:ext cx="6185644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8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84"/>
          <p:cNvSpPr txBox="1">
            <a:spLocks noGrp="1"/>
          </p:cNvSpPr>
          <p:nvPr>
            <p:ph type="body" idx="1"/>
          </p:nvPr>
        </p:nvSpPr>
        <p:spPr>
          <a:xfrm>
            <a:off x="661891" y="930465"/>
            <a:ext cx="7717500" cy="3733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Column level duplicity occur insertion, deletion and </a:t>
            </a:r>
            <a:r>
              <a:rPr lang="en-US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updation</a:t>
            </a:r>
            <a:r>
              <a:rPr 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 Anomaly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Updation</a:t>
            </a: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 Anomaly:</a:t>
            </a:r>
          </a:p>
          <a:p>
            <a:pPr marL="609600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Update From </a:t>
            </a:r>
            <a:r>
              <a:rPr lang="en-US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table_name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; Set Salary= 70,000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Manjari" panose="020B0604020202020204" charset="0"/>
                <a:cs typeface="Manjari" panose="020B0604020202020204" charset="0"/>
              </a:rPr>
              <a:t>where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Instructor_Id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= I2</a:t>
            </a:r>
            <a:endParaRPr lang="en-US" dirty="0">
              <a:solidFill>
                <a:schemeClr val="bg1">
                  <a:lumMod val="10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609600" lvl="1" indent="0">
              <a:lnSpc>
                <a:spcPct val="9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Manjari" panose="020B0604020202020204" charset="0"/>
              <a:cs typeface="Manjari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2" name="Google Shape;2012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 0f Duplications and Anomaly</a:t>
            </a:r>
            <a:endParaRPr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839504D-2827-421D-BE89-B359E9E6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587677"/>
              </p:ext>
            </p:extLst>
          </p:nvPr>
        </p:nvGraphicFramePr>
        <p:xfrm>
          <a:off x="1353671" y="2291332"/>
          <a:ext cx="6580096" cy="2372423"/>
        </p:xfrm>
        <a:graphic>
          <a:graphicData uri="http://schemas.openxmlformats.org/drawingml/2006/table">
            <a:tbl>
              <a:tblPr firstRow="1" bandRow="1">
                <a:tableStyleId>{E4B8AEE6-8D56-4A08-B172-D4C7926625F1}</a:tableStyleId>
              </a:tblPr>
              <a:tblGrid>
                <a:gridCol w="940014">
                  <a:extLst>
                    <a:ext uri="{9D8B030D-6E8A-4147-A177-3AD203B41FA5}">
                      <a16:colId xmlns:a16="http://schemas.microsoft.com/office/drawing/2014/main" val="2551861188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6730641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907721699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3123125255"/>
                    </a:ext>
                  </a:extLst>
                </a:gridCol>
                <a:gridCol w="981485">
                  <a:extLst>
                    <a:ext uri="{9D8B030D-6E8A-4147-A177-3AD203B41FA5}">
                      <a16:colId xmlns:a16="http://schemas.microsoft.com/office/drawing/2014/main" val="2091117238"/>
                    </a:ext>
                  </a:extLst>
                </a:gridCol>
                <a:gridCol w="898541">
                  <a:extLst>
                    <a:ext uri="{9D8B030D-6E8A-4147-A177-3AD203B41FA5}">
                      <a16:colId xmlns:a16="http://schemas.microsoft.com/office/drawing/2014/main" val="2297018194"/>
                    </a:ext>
                  </a:extLst>
                </a:gridCol>
                <a:gridCol w="940014">
                  <a:extLst>
                    <a:ext uri="{9D8B030D-6E8A-4147-A177-3AD203B41FA5}">
                      <a16:colId xmlns:a16="http://schemas.microsoft.com/office/drawing/2014/main" val="1594891356"/>
                    </a:ext>
                  </a:extLst>
                </a:gridCol>
              </a:tblGrid>
              <a:tr h="42380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Student_Name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Course_Name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Instructor_Name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1492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55597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Laiba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331409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Fariha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Sara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40,000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17888"/>
                  </a:ext>
                </a:extLst>
              </a:tr>
              <a:tr h="4238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Jawad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</a:t>
                      </a:r>
                      <a:r>
                        <a:rPr lang="en-US" sz="1200" dirty="0" err="1"/>
                        <a:t>Aneeqa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953370"/>
                  </a:ext>
                </a:extLst>
              </a:tr>
              <a:tr h="300192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Ms. Aliya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109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DD6E177-9280-4D01-8761-F3F097FD78A8}"/>
              </a:ext>
            </a:extLst>
          </p:cNvPr>
          <p:cNvSpPr/>
          <p:nvPr/>
        </p:nvSpPr>
        <p:spPr>
          <a:xfrm>
            <a:off x="1362635" y="2305161"/>
            <a:ext cx="869576" cy="319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C12A6-50E0-49AB-9060-5E01E56FD94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53035" y="2221469"/>
            <a:ext cx="609600" cy="243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BB66AA-7903-4093-8E47-6B6455977B2F}"/>
              </a:ext>
            </a:extLst>
          </p:cNvPr>
          <p:cNvSpPr txBox="1"/>
          <p:nvPr/>
        </p:nvSpPr>
        <p:spPr>
          <a:xfrm>
            <a:off x="99168" y="1869717"/>
            <a:ext cx="1228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2DCFF-FE33-499A-AE47-45A1898404BE}"/>
              </a:ext>
            </a:extLst>
          </p:cNvPr>
          <p:cNvSpPr txBox="1"/>
          <p:nvPr/>
        </p:nvSpPr>
        <p:spPr>
          <a:xfrm>
            <a:off x="8238755" y="2984265"/>
            <a:ext cx="9407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Updation</a:t>
            </a:r>
            <a:r>
              <a:rPr lang="en-US" dirty="0"/>
              <a:t> anomaly occur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A1B7CC6-0DF2-4769-AC3B-41022324B914}"/>
              </a:ext>
            </a:extLst>
          </p:cNvPr>
          <p:cNvCxnSpPr/>
          <p:nvPr/>
        </p:nvCxnSpPr>
        <p:spPr>
          <a:xfrm flipV="1">
            <a:off x="7584141" y="3594847"/>
            <a:ext cx="990047" cy="9054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B95030-D938-4129-96B9-DD79819C8D9A}"/>
              </a:ext>
            </a:extLst>
          </p:cNvPr>
          <p:cNvCxnSpPr/>
          <p:nvPr/>
        </p:nvCxnSpPr>
        <p:spPr>
          <a:xfrm>
            <a:off x="7575176" y="3199912"/>
            <a:ext cx="9592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31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1" grpId="0" build="p"/>
      <p:bldP spid="20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87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Anomalies Exist</a:t>
            </a:r>
            <a:endParaRPr dirty="0"/>
          </a:p>
        </p:txBody>
      </p:sp>
      <p:sp>
        <p:nvSpPr>
          <p:cNvPr id="2058" name="Google Shape;2058;p87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dirty="0"/>
              <a:t>Because there are two themes (entity types) in this one relation. This results in data duplication and an unnecessary dependency between the entities.</a:t>
            </a:r>
          </a:p>
        </p:txBody>
      </p:sp>
      <p:sp>
        <p:nvSpPr>
          <p:cNvPr id="2059" name="Google Shape;2059;p87"/>
          <p:cNvSpPr/>
          <p:nvPr/>
        </p:nvSpPr>
        <p:spPr>
          <a:xfrm>
            <a:off x="3881688" y="3991450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7" grpId="0"/>
      <p:bldP spid="205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Things To Know Before Starting Normalization</a:t>
            </a:r>
          </a:p>
        </p:txBody>
      </p:sp>
      <p:sp>
        <p:nvSpPr>
          <p:cNvPr id="2078" name="Google Shape;2078;p90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8499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What is a database?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What are correct entities/relations?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What is a primary key?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07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344706" y="281349"/>
            <a:ext cx="6005100" cy="678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Steps of Normalization</a:t>
            </a:r>
          </a:p>
        </p:txBody>
      </p:sp>
      <p:sp>
        <p:nvSpPr>
          <p:cNvPr id="2078" name="Google Shape;2078;p90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2079" name="Google Shape;2079;p90"/>
          <p:cNvSpPr/>
          <p:nvPr/>
        </p:nvSpPr>
        <p:spPr>
          <a:xfrm>
            <a:off x="3881688" y="3819325"/>
            <a:ext cx="1380619" cy="52850"/>
          </a:xfrm>
          <a:custGeom>
            <a:avLst/>
            <a:gdLst/>
            <a:ahLst/>
            <a:cxnLst/>
            <a:rect l="l" t="t" r="r" b="b"/>
            <a:pathLst>
              <a:path w="17505" h="670" extrusionOk="0">
                <a:moveTo>
                  <a:pt x="0" y="0"/>
                </a:moveTo>
                <a:lnTo>
                  <a:pt x="0" y="669"/>
                </a:lnTo>
                <a:lnTo>
                  <a:pt x="17505" y="669"/>
                </a:lnTo>
                <a:lnTo>
                  <a:pt x="175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E096A6ED-E525-41D5-B487-1F52E80F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601" y="1152050"/>
            <a:ext cx="3495636" cy="377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5A0445-20EA-4149-88FA-EAF77F956588}"/>
              </a:ext>
            </a:extLst>
          </p:cNvPr>
          <p:cNvSpPr/>
          <p:nvPr/>
        </p:nvSpPr>
        <p:spPr>
          <a:xfrm>
            <a:off x="5557947" y="1910096"/>
            <a:ext cx="32969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chemeClr val="accent5">
                    <a:lumMod val="75000"/>
                  </a:schemeClr>
                </a:solidFill>
                <a:latin typeface="Manjari" panose="020B0604020202020204" charset="0"/>
                <a:cs typeface="Manjari" panose="020B0604020202020204" charset="0"/>
              </a:rPr>
              <a:t>3</a:t>
            </a:r>
            <a:r>
              <a:rPr lang="en-US" altLang="en-US" b="1" baseline="30000" dirty="0">
                <a:solidFill>
                  <a:schemeClr val="accent5">
                    <a:lumMod val="75000"/>
                  </a:schemeClr>
                </a:solidFill>
                <a:latin typeface="Manjari" panose="020B0604020202020204" charset="0"/>
                <a:cs typeface="Manjari" panose="020B0604020202020204" charset="0"/>
              </a:rPr>
              <a:t>rd</a:t>
            </a:r>
            <a:r>
              <a:rPr lang="en-US" altLang="en-US" b="1" dirty="0">
                <a:solidFill>
                  <a:schemeClr val="accent5">
                    <a:lumMod val="75000"/>
                  </a:schemeClr>
                </a:solidFill>
                <a:latin typeface="Manjari" panose="020B0604020202020204" charset="0"/>
                <a:cs typeface="Manjari" panose="020B0604020202020204" charset="0"/>
              </a:rPr>
              <a:t> normal form is generally considered to be sufficient, although higher degrees of normalization are possible.</a:t>
            </a:r>
            <a:endParaRPr lang="en-US" altLang="en-US" sz="1600" b="1" dirty="0">
              <a:solidFill>
                <a:schemeClr val="accent5">
                  <a:lumMod val="75000"/>
                </a:schemeClr>
              </a:solidFill>
              <a:latin typeface="Manjari" panose="020B0604020202020204" charset="0"/>
              <a:cs typeface="Manjar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01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667436" y="204031"/>
            <a:ext cx="6005100" cy="9381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Normal 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D38CF-BAE3-44B5-B659-D285340F39D5}"/>
              </a:ext>
            </a:extLst>
          </p:cNvPr>
          <p:cNvSpPr txBox="1"/>
          <p:nvPr/>
        </p:nvSpPr>
        <p:spPr>
          <a:xfrm>
            <a:off x="1085993" y="1182095"/>
            <a:ext cx="772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multivalued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attribute value is atomic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64F627-1412-41C2-8391-6C63FBDEA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436" y="1705315"/>
            <a:ext cx="5931129" cy="2406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70326E-E3B9-4035-A741-C79CFF6984BF}"/>
              </a:ext>
            </a:extLst>
          </p:cNvPr>
          <p:cNvSpPr/>
          <p:nvPr/>
        </p:nvSpPr>
        <p:spPr>
          <a:xfrm>
            <a:off x="4572000" y="2232211"/>
            <a:ext cx="2832847" cy="938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26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757709" y="244674"/>
            <a:ext cx="6005100" cy="9374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Normal 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D38CF-BAE3-44B5-B659-D285340F39D5}"/>
              </a:ext>
            </a:extLst>
          </p:cNvPr>
          <p:cNvSpPr txBox="1"/>
          <p:nvPr/>
        </p:nvSpPr>
        <p:spPr>
          <a:xfrm>
            <a:off x="1085993" y="1182095"/>
            <a:ext cx="772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multivalued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attribute value is atomic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FD248-EF1C-4F9A-83C0-FE7171FD4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70" y="1796468"/>
            <a:ext cx="6329083" cy="3283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70326E-E3B9-4035-A741-C79CFF6984BF}"/>
              </a:ext>
            </a:extLst>
          </p:cNvPr>
          <p:cNvSpPr/>
          <p:nvPr/>
        </p:nvSpPr>
        <p:spPr>
          <a:xfrm>
            <a:off x="1595718" y="2429436"/>
            <a:ext cx="6042212" cy="1272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0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667436" y="328523"/>
            <a:ext cx="6005100" cy="9052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Normal 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D38CF-BAE3-44B5-B659-D285340F39D5}"/>
              </a:ext>
            </a:extLst>
          </p:cNvPr>
          <p:cNvSpPr txBox="1"/>
          <p:nvPr/>
        </p:nvSpPr>
        <p:spPr>
          <a:xfrm>
            <a:off x="1085993" y="1182095"/>
            <a:ext cx="772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non-key attribute must be defined by the entire key, not by only part of the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partial functional dependencies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1E426-553F-40A5-93AB-7CED8273A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736" y="1651145"/>
            <a:ext cx="611393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1B0A16-41F7-452B-B3D1-665239B6D2AA}"/>
              </a:ext>
            </a:extLst>
          </p:cNvPr>
          <p:cNvSpPr/>
          <p:nvPr/>
        </p:nvSpPr>
        <p:spPr>
          <a:xfrm>
            <a:off x="1335737" y="4076313"/>
            <a:ext cx="611392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OrderID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OrderDate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CustomerID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CustomerName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CustomerAddress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ProductID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ProductDescription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ProductFinish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ProductStandardPrice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OrderID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ProductID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en-US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OrderQuantity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20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667436" y="-282997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Normal 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D38CF-BAE3-44B5-B659-D285340F39D5}"/>
              </a:ext>
            </a:extLst>
          </p:cNvPr>
          <p:cNvSpPr txBox="1"/>
          <p:nvPr/>
        </p:nvSpPr>
        <p:spPr>
          <a:xfrm>
            <a:off x="1085993" y="1182095"/>
            <a:ext cx="772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non-key attribute must be defined by the entire key, not by only part of the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partial functional dependencies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EDED5-1F97-4B9E-851A-2EA0A8691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528" y="1795926"/>
            <a:ext cx="6633884" cy="274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59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667436" y="320039"/>
            <a:ext cx="6005100" cy="9137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Normal Form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D38CF-BAE3-44B5-B659-D285340F39D5}"/>
              </a:ext>
            </a:extLst>
          </p:cNvPr>
          <p:cNvSpPr txBox="1"/>
          <p:nvPr/>
        </p:nvSpPr>
        <p:spPr>
          <a:xfrm>
            <a:off x="1085993" y="1182095"/>
            <a:ext cx="7726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transitive dependencies (functional dependencies on non-primary-key attribute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91281-6E44-4DAB-B035-ABEF6AAD4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436" y="1739732"/>
            <a:ext cx="5576047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88232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90"/>
          <p:cNvSpPr txBox="1">
            <a:spLocks noGrp="1"/>
          </p:cNvSpPr>
          <p:nvPr>
            <p:ph type="title"/>
          </p:nvPr>
        </p:nvSpPr>
        <p:spPr>
          <a:xfrm>
            <a:off x="1676401" y="1689238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795987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7" grpId="0"/>
    </p:bldLst>
  </p:timing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734</Words>
  <Application>Microsoft Office PowerPoint</Application>
  <PresentationFormat>On-screen Show (16:9)</PresentationFormat>
  <Paragraphs>271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</vt:lpstr>
      <vt:lpstr>Hammersmith One</vt:lpstr>
      <vt:lpstr>Roboto Condensed Light</vt:lpstr>
      <vt:lpstr>Manjari</vt:lpstr>
      <vt:lpstr>Arial</vt:lpstr>
      <vt:lpstr>Wingdings</vt:lpstr>
      <vt:lpstr>Elegant Education Pack for Students XL by Slidesgo</vt:lpstr>
      <vt:lpstr>Organize Your Schema Using Standard Rules “DATABASE NORMALIZATION”</vt:lpstr>
      <vt:lpstr>What is Normalization?</vt:lpstr>
      <vt:lpstr>Why We Need Normalization?</vt:lpstr>
      <vt:lpstr>What are Anomalies?</vt:lpstr>
      <vt:lpstr>Example 0f Duplications and Anomaly</vt:lpstr>
      <vt:lpstr>Example 0f Duplications and Anomaly</vt:lpstr>
      <vt:lpstr>Example 0f Duplications and Anomaly</vt:lpstr>
      <vt:lpstr>Example 0f Duplications and Anomaly</vt:lpstr>
      <vt:lpstr>Example 0f Duplications and Anomaly</vt:lpstr>
      <vt:lpstr>Why Anomalies Exist</vt:lpstr>
      <vt:lpstr>Things To Know Before Starting Normalization</vt:lpstr>
      <vt:lpstr>Steps of Normalization</vt:lpstr>
      <vt:lpstr>1st Normal Form</vt:lpstr>
      <vt:lpstr>1st Normal Form</vt:lpstr>
      <vt:lpstr>2nd Normal Form</vt:lpstr>
      <vt:lpstr>2nd Normal Form</vt:lpstr>
      <vt:lpstr>3RD Normal Form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Organize Your Schema Using Standard Rules “DATABASE NORMALIZATION”</dc:title>
  <dc:creator>Fariha Shafiq</dc:creator>
  <cp:lastModifiedBy>Fariha Shafiq</cp:lastModifiedBy>
  <cp:revision>36</cp:revision>
  <dcterms:modified xsi:type="dcterms:W3CDTF">2025-01-30T09:41:13Z</dcterms:modified>
</cp:coreProperties>
</file>