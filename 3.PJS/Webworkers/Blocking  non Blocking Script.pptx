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19EC2F9-BC33-4A95-9514-EEE7147FFDDB}">
      <dgm:prSet/>
      <dgm:spPr/>
      <dgm:t>
        <a:bodyPr/>
        <a:lstStyle/>
        <a:p>
          <a:r>
            <a:rPr lang="en-US" b="0" i="0"/>
            <a:t>In JavaScript, you can also pass a function as an argument to a function</a:t>
          </a:r>
          <a:endParaRPr lang="en-US"/>
        </a:p>
      </dgm:t>
    </dgm:pt>
    <dgm:pt modelId="{B6934C76-790D-4B2D-BC90-BBFD6CC435C5}" type="parTrans" cxnId="{00FDE09D-18E3-475D-8972-A0599DC1779D}">
      <dgm:prSet/>
      <dgm:spPr/>
      <dgm:t>
        <a:bodyPr/>
        <a:lstStyle/>
        <a:p>
          <a:endParaRPr lang="en-PK"/>
        </a:p>
      </dgm:t>
    </dgm:pt>
    <dgm:pt modelId="{36E54827-3EB8-483B-B5ED-1785B8F42C4B}" type="sibTrans" cxnId="{00FDE09D-18E3-475D-8972-A0599DC1779D}">
      <dgm:prSet phldrT="01" phldr="0"/>
      <dgm:spPr/>
      <dgm:t>
        <a:bodyPr/>
        <a:lstStyle/>
        <a:p>
          <a:r>
            <a:rPr lang="en-PK"/>
            <a:t>01</a:t>
          </a:r>
        </a:p>
      </dgm:t>
    </dgm:pt>
    <dgm:pt modelId="{E3CB9DE9-A9E3-4348-A1BE-0D0B5A8C4263}">
      <dgm:prSet/>
      <dgm:spPr/>
      <dgm:t>
        <a:bodyPr/>
        <a:lstStyle/>
        <a:p>
          <a:r>
            <a:rPr lang="en-US" b="0" i="0"/>
            <a:t>This function that is passed as an argument inside of another function is called a callback function.</a:t>
          </a:r>
          <a:endParaRPr lang="en-US"/>
        </a:p>
      </dgm:t>
    </dgm:pt>
    <dgm:pt modelId="{3A528763-803D-48B1-AC3C-A812EA9FD402}" type="parTrans" cxnId="{084AB147-6CCF-47ED-B53B-C3A582016564}">
      <dgm:prSet/>
      <dgm:spPr/>
      <dgm:t>
        <a:bodyPr/>
        <a:lstStyle/>
        <a:p>
          <a:endParaRPr lang="en-PK"/>
        </a:p>
      </dgm:t>
    </dgm:pt>
    <dgm:pt modelId="{66C39AAA-7ABE-44D5-BCBD-012DB4161F32}" type="sibTrans" cxnId="{084AB147-6CCF-47ED-B53B-C3A582016564}">
      <dgm:prSet phldrT="02" phldr="0"/>
      <dgm:spPr/>
      <dgm:t>
        <a:bodyPr/>
        <a:lstStyle/>
        <a:p>
          <a:r>
            <a:rPr lang="en-PK"/>
            <a:t>02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80C0DBC-30CD-4974-ACAB-980437CAD2B0}" type="pres">
      <dgm:prSet presAssocID="{E19EC2F9-BC33-4A95-9514-EEE7147FFDDB}" presName="compositeNode" presStyleCnt="0">
        <dgm:presLayoutVars>
          <dgm:bulletEnabled val="1"/>
        </dgm:presLayoutVars>
      </dgm:prSet>
      <dgm:spPr/>
    </dgm:pt>
    <dgm:pt modelId="{CAD9B270-A2EB-4EBD-AEA9-A837961AE52C}" type="pres">
      <dgm:prSet presAssocID="{E19EC2F9-BC33-4A95-9514-EEE7147FFDDB}" presName="bgRect" presStyleLbl="alignNode1" presStyleIdx="0" presStyleCnt="2"/>
      <dgm:spPr/>
    </dgm:pt>
    <dgm:pt modelId="{92AA63A7-9503-41CD-AF25-E9ED585AC12B}" type="pres">
      <dgm:prSet presAssocID="{36E54827-3EB8-483B-B5ED-1785B8F42C4B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4FFF4E2F-5A2A-4B8A-A0ED-33C0D1411C22}" type="pres">
      <dgm:prSet presAssocID="{E19EC2F9-BC33-4A95-9514-EEE7147FFDDB}" presName="nodeRect" presStyleLbl="alignNode1" presStyleIdx="0" presStyleCnt="2">
        <dgm:presLayoutVars>
          <dgm:bulletEnabled val="1"/>
        </dgm:presLayoutVars>
      </dgm:prSet>
      <dgm:spPr/>
    </dgm:pt>
    <dgm:pt modelId="{CC1D9541-C395-4946-B7F4-100A51CA226E}" type="pres">
      <dgm:prSet presAssocID="{36E54827-3EB8-483B-B5ED-1785B8F42C4B}" presName="sibTrans" presStyleCnt="0"/>
      <dgm:spPr/>
    </dgm:pt>
    <dgm:pt modelId="{589C8C19-EF61-4FE7-8CE3-9C43A40ADFF8}" type="pres">
      <dgm:prSet presAssocID="{E3CB9DE9-A9E3-4348-A1BE-0D0B5A8C4263}" presName="compositeNode" presStyleCnt="0">
        <dgm:presLayoutVars>
          <dgm:bulletEnabled val="1"/>
        </dgm:presLayoutVars>
      </dgm:prSet>
      <dgm:spPr/>
    </dgm:pt>
    <dgm:pt modelId="{8316C898-3356-4C16-986B-4369F8375C91}" type="pres">
      <dgm:prSet presAssocID="{E3CB9DE9-A9E3-4348-A1BE-0D0B5A8C4263}" presName="bgRect" presStyleLbl="alignNode1" presStyleIdx="1" presStyleCnt="2"/>
      <dgm:spPr/>
    </dgm:pt>
    <dgm:pt modelId="{DAEF3499-8EF3-4F7A-B51F-90137A12C38E}" type="pres">
      <dgm:prSet presAssocID="{66C39AAA-7ABE-44D5-BCBD-012DB4161F32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CDD5C7BD-C281-4EF0-9950-FA6D0D4F15CF}" type="pres">
      <dgm:prSet presAssocID="{E3CB9DE9-A9E3-4348-A1BE-0D0B5A8C4263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622B1300-D740-4E00-AE0F-15454441CD3F}" type="presOf" srcId="{66C39AAA-7ABE-44D5-BCBD-012DB4161F32}" destId="{DAEF3499-8EF3-4F7A-B51F-90137A12C38E}" srcOrd="0" destOrd="0" presId="urn:microsoft.com/office/officeart/2016/7/layout/LinearBlockProcessNumbered"/>
    <dgm:cxn modelId="{1AAB5A0D-F1E1-499E-A703-F60A4926AE12}" type="presOf" srcId="{E19EC2F9-BC33-4A95-9514-EEE7147FFDDB}" destId="{4FFF4E2F-5A2A-4B8A-A0ED-33C0D1411C22}" srcOrd="1" destOrd="0" presId="urn:microsoft.com/office/officeart/2016/7/layout/LinearBlockProcessNumbered"/>
    <dgm:cxn modelId="{F0C96B23-E5CE-4219-8E8F-E83552E02754}" type="presOf" srcId="{36E54827-3EB8-483B-B5ED-1785B8F42C4B}" destId="{92AA63A7-9503-41CD-AF25-E9ED585AC12B}" srcOrd="0" destOrd="0" presId="urn:microsoft.com/office/officeart/2016/7/layout/LinearBlockProcessNumbered"/>
    <dgm:cxn modelId="{0FAA7127-20FC-42F7-AB81-B42106B32975}" type="presOf" srcId="{E3CB9DE9-A9E3-4348-A1BE-0D0B5A8C4263}" destId="{CDD5C7BD-C281-4EF0-9950-FA6D0D4F15CF}" srcOrd="1" destOrd="0" presId="urn:microsoft.com/office/officeart/2016/7/layout/LinearBlockProcessNumbered"/>
    <dgm:cxn modelId="{084AB147-6CCF-47ED-B53B-C3A582016564}" srcId="{8AA20905-3954-474B-A606-562BCA026DC1}" destId="{E3CB9DE9-A9E3-4348-A1BE-0D0B5A8C4263}" srcOrd="1" destOrd="0" parTransId="{3A528763-803D-48B1-AC3C-A812EA9FD402}" sibTransId="{66C39AAA-7ABE-44D5-BCBD-012DB4161F32}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00FDE09D-18E3-475D-8972-A0599DC1779D}" srcId="{8AA20905-3954-474B-A606-562BCA026DC1}" destId="{E19EC2F9-BC33-4A95-9514-EEE7147FFDDB}" srcOrd="0" destOrd="0" parTransId="{B6934C76-790D-4B2D-BC90-BBFD6CC435C5}" sibTransId="{36E54827-3EB8-483B-B5ED-1785B8F42C4B}"/>
    <dgm:cxn modelId="{EE1332A0-7AD9-476C-A93C-C26C92170A6F}" type="presOf" srcId="{E19EC2F9-BC33-4A95-9514-EEE7147FFDDB}" destId="{CAD9B270-A2EB-4EBD-AEA9-A837961AE52C}" srcOrd="0" destOrd="0" presId="urn:microsoft.com/office/officeart/2016/7/layout/LinearBlockProcessNumbered"/>
    <dgm:cxn modelId="{D01ECDEF-5EEC-42BB-9569-286862449872}" type="presOf" srcId="{E3CB9DE9-A9E3-4348-A1BE-0D0B5A8C4263}" destId="{8316C898-3356-4C16-986B-4369F8375C91}" srcOrd="0" destOrd="0" presId="urn:microsoft.com/office/officeart/2016/7/layout/LinearBlockProcessNumbered"/>
    <dgm:cxn modelId="{31DAF400-1AC9-44F8-BC5B-11FE23806F18}" type="presParOf" srcId="{579698BD-D232-4926-8D7B-29A69B90858B}" destId="{380C0DBC-30CD-4974-ACAB-980437CAD2B0}" srcOrd="0" destOrd="0" presId="urn:microsoft.com/office/officeart/2016/7/layout/LinearBlockProcessNumbered"/>
    <dgm:cxn modelId="{171D3DA9-9B6B-42D3-847E-F1F53A359848}" type="presParOf" srcId="{380C0DBC-30CD-4974-ACAB-980437CAD2B0}" destId="{CAD9B270-A2EB-4EBD-AEA9-A837961AE52C}" srcOrd="0" destOrd="0" presId="urn:microsoft.com/office/officeart/2016/7/layout/LinearBlockProcessNumbered"/>
    <dgm:cxn modelId="{8FFDDE37-F324-47C5-B266-A6AB0A96A502}" type="presParOf" srcId="{380C0DBC-30CD-4974-ACAB-980437CAD2B0}" destId="{92AA63A7-9503-41CD-AF25-E9ED585AC12B}" srcOrd="1" destOrd="0" presId="urn:microsoft.com/office/officeart/2016/7/layout/LinearBlockProcessNumbered"/>
    <dgm:cxn modelId="{AAB0EB26-7FEB-464A-A715-461F8D314C6C}" type="presParOf" srcId="{380C0DBC-30CD-4974-ACAB-980437CAD2B0}" destId="{4FFF4E2F-5A2A-4B8A-A0ED-33C0D1411C22}" srcOrd="2" destOrd="0" presId="urn:microsoft.com/office/officeart/2016/7/layout/LinearBlockProcessNumbered"/>
    <dgm:cxn modelId="{E270DE78-15A6-43F6-AEA1-14097B1CBE0F}" type="presParOf" srcId="{579698BD-D232-4926-8D7B-29A69B90858B}" destId="{CC1D9541-C395-4946-B7F4-100A51CA226E}" srcOrd="1" destOrd="0" presId="urn:microsoft.com/office/officeart/2016/7/layout/LinearBlockProcessNumbered"/>
    <dgm:cxn modelId="{EFBCA8EA-BCA8-464C-A338-8A880FA25EF0}" type="presParOf" srcId="{579698BD-D232-4926-8D7B-29A69B90858B}" destId="{589C8C19-EF61-4FE7-8CE3-9C43A40ADFF8}" srcOrd="2" destOrd="0" presId="urn:microsoft.com/office/officeart/2016/7/layout/LinearBlockProcessNumbered"/>
    <dgm:cxn modelId="{F0C04C26-DC82-40F8-AFE3-16948CBD652D}" type="presParOf" srcId="{589C8C19-EF61-4FE7-8CE3-9C43A40ADFF8}" destId="{8316C898-3356-4C16-986B-4369F8375C91}" srcOrd="0" destOrd="0" presId="urn:microsoft.com/office/officeart/2016/7/layout/LinearBlockProcessNumbered"/>
    <dgm:cxn modelId="{62A83D8C-6E8B-4746-A126-2E1378570096}" type="presParOf" srcId="{589C8C19-EF61-4FE7-8CE3-9C43A40ADFF8}" destId="{DAEF3499-8EF3-4F7A-B51F-90137A12C38E}" srcOrd="1" destOrd="0" presId="urn:microsoft.com/office/officeart/2016/7/layout/LinearBlockProcessNumbered"/>
    <dgm:cxn modelId="{2E078F6E-97DC-4DD8-BC9A-90FDA50A42C1}" type="presParOf" srcId="{589C8C19-EF61-4FE7-8CE3-9C43A40ADFF8}" destId="{CDD5C7BD-C281-4EF0-9950-FA6D0D4F15C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D9B270-A2EB-4EBD-AEA9-A837961AE52C}">
      <dsp:nvSpPr>
        <dsp:cNvPr id="0" name=""/>
        <dsp:cNvSpPr/>
      </dsp:nvSpPr>
      <dsp:spPr>
        <a:xfrm>
          <a:off x="3235" y="0"/>
          <a:ext cx="497461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In JavaScript, you can also pass a function as an argument to a function</a:t>
          </a:r>
          <a:endParaRPr lang="en-US" sz="2600" kern="1200"/>
        </a:p>
      </dsp:txBody>
      <dsp:txXfrm>
        <a:off x="3235" y="1485900"/>
        <a:ext cx="4974617" cy="2228850"/>
      </dsp:txXfrm>
    </dsp:sp>
    <dsp:sp modelId="{92AA63A7-9503-41CD-AF25-E9ED585AC12B}">
      <dsp:nvSpPr>
        <dsp:cNvPr id="0" name=""/>
        <dsp:cNvSpPr/>
      </dsp:nvSpPr>
      <dsp:spPr>
        <a:xfrm>
          <a:off x="3235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6600" kern="1200"/>
            <a:t>01</a:t>
          </a:r>
        </a:p>
      </dsp:txBody>
      <dsp:txXfrm>
        <a:off x="3235" y="0"/>
        <a:ext cx="4974617" cy="1485900"/>
      </dsp:txXfrm>
    </dsp:sp>
    <dsp:sp modelId="{8316C898-3356-4C16-986B-4369F8375C91}">
      <dsp:nvSpPr>
        <dsp:cNvPr id="0" name=""/>
        <dsp:cNvSpPr/>
      </dsp:nvSpPr>
      <dsp:spPr>
        <a:xfrm>
          <a:off x="5375822" y="0"/>
          <a:ext cx="497461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0" rIns="491382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This function that is passed as an argument inside of another function is called a callback function.</a:t>
          </a:r>
          <a:endParaRPr lang="en-US" sz="2600" kern="1200"/>
        </a:p>
      </dsp:txBody>
      <dsp:txXfrm>
        <a:off x="5375822" y="1485900"/>
        <a:ext cx="4974617" cy="2228850"/>
      </dsp:txXfrm>
    </dsp:sp>
    <dsp:sp modelId="{DAEF3499-8EF3-4F7A-B51F-90137A12C38E}">
      <dsp:nvSpPr>
        <dsp:cNvPr id="0" name=""/>
        <dsp:cNvSpPr/>
      </dsp:nvSpPr>
      <dsp:spPr>
        <a:xfrm>
          <a:off x="5375822" y="0"/>
          <a:ext cx="497461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382" tIns="165100" rIns="49138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6600" kern="1200"/>
            <a:t>02</a:t>
          </a:r>
        </a:p>
      </dsp:txBody>
      <dsp:txXfrm>
        <a:off x="5375822" y="0"/>
        <a:ext cx="497461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javascript/setTimeou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Blocking  non Blocking 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pPr algn="l"/>
            <a:r>
              <a:rPr lang="en-US" b="1" i="0" dirty="0" err="1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CallBack</a:t>
            </a: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 Function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066541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EAA0-01EA-D985-F44E-4E96F398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697816"/>
            <a:ext cx="10353762" cy="3714749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greet(name, callback) {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console.log('Hi' + ' ' + name);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callback();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callback function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console.log('I am callback function');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passing function as an argument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greet('Peter',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0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CE7C-3B09-1DDD-42D0-020648C8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PK" altLang="en-PK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Output</a:t>
            </a:r>
            <a:r>
              <a:rPr kumimoji="0" lang="en-US" altLang="en-PK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euclid_circular_a"/>
              </a:rPr>
              <a:t> (Run on Console)</a:t>
            </a:r>
            <a:b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</a:b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E40CA8-298A-B86F-D87D-0D97F7942D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6503" y="1866900"/>
            <a:ext cx="3264310" cy="1661993"/>
          </a:xfrm>
          <a:prstGeom prst="rect">
            <a:avLst/>
          </a:prstGeom>
          <a:solidFill>
            <a:srgbClr val="383B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  <a:t>Hi Peter I am </a:t>
            </a:r>
            <a:r>
              <a:rPr kumimoji="0" lang="en-PK" altLang="en-PK" sz="3600" b="1" i="0" u="none" strike="noStrike" cap="none" normalizeH="0" baseline="0" dirty="0" err="1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  <a:t>callback</a:t>
            </a: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rgbClr val="D5D5D5"/>
                </a:solidFill>
                <a:effectLst/>
                <a:latin typeface="droid sans mono"/>
              </a:rPr>
              <a:t> function</a:t>
            </a:r>
            <a:r>
              <a:rPr kumimoji="0" lang="en-PK" altLang="en-P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PK" altLang="en-PK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0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D1769-1C95-A2BB-2AE4-E2E22E68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Benefit of Callback Function</a:t>
            </a:r>
            <a:b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68F5F-42E4-1734-5431-68A947014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The benefit of using a callback function is that you can wait for the result of a previous function call and then execute another function call</a:t>
            </a:r>
          </a:p>
          <a:p>
            <a:r>
              <a:rPr lang="en-US" dirty="0"/>
              <a:t>In this example, we are going to use the </a:t>
            </a:r>
            <a:r>
              <a:rPr lang="en-US" dirty="0" err="1"/>
              <a:t>setTimeout</a:t>
            </a:r>
            <a:r>
              <a:rPr lang="en-US" dirty="0"/>
              <a:t>() method to mimic the program that takes time to execute, such as data coming from the server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965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D5F9-C9DC-173B-8D55-28BA78D8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Example: Program with </a:t>
            </a:r>
            <a:r>
              <a:rPr lang="en-US" b="1" i="0" dirty="0" err="1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setTimeout</a:t>
            </a:r>
            <a:r>
              <a:rPr lang="en-US" b="1" i="0" dirty="0">
                <a:solidFill>
                  <a:schemeClr val="tx1">
                    <a:lumMod val="95000"/>
                  </a:schemeClr>
                </a:solidFill>
                <a:effectLst/>
                <a:latin typeface="euclid_circular_a"/>
              </a:rPr>
              <a:t>()</a:t>
            </a:r>
            <a:b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C0052-5D4F-2F98-923A-02A5BE04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726" y="1276352"/>
            <a:ext cx="10353762" cy="3714749"/>
          </a:xfrm>
        </p:spPr>
        <p:txBody>
          <a:bodyPr>
            <a:noAutofit/>
          </a:bodyPr>
          <a:lstStyle/>
          <a:p>
            <a:r>
              <a:rPr lang="en-US" sz="1800" b="1" dirty="0"/>
              <a:t>//  program that shows the delay in execution</a:t>
            </a:r>
          </a:p>
          <a:p>
            <a:r>
              <a:rPr lang="en-US" sz="1800" b="1" dirty="0"/>
              <a:t>function greet() {</a:t>
            </a:r>
          </a:p>
          <a:p>
            <a:r>
              <a:rPr lang="en-US" sz="1800" b="1" dirty="0"/>
              <a:t>    console.log('Hello world');</a:t>
            </a:r>
          </a:p>
          <a:p>
            <a:r>
              <a:rPr lang="en-US" sz="1800" b="1" dirty="0"/>
              <a:t>}</a:t>
            </a:r>
          </a:p>
          <a:p>
            <a:pPr marL="36900" indent="0">
              <a:buNone/>
            </a:pPr>
            <a:r>
              <a:rPr lang="en-US" sz="1800" b="1" dirty="0"/>
              <a:t>function </a:t>
            </a:r>
            <a:r>
              <a:rPr lang="en-US" sz="1800" b="1" dirty="0" err="1"/>
              <a:t>sayName</a:t>
            </a:r>
            <a:r>
              <a:rPr lang="en-US" sz="1800" b="1" dirty="0"/>
              <a:t>(name) {</a:t>
            </a:r>
          </a:p>
          <a:p>
            <a:r>
              <a:rPr lang="en-US" sz="1800" b="1" dirty="0"/>
              <a:t>    console.log('Hello' + ' ' + name);</a:t>
            </a:r>
          </a:p>
          <a:p>
            <a:r>
              <a:rPr lang="en-US" sz="1800" b="1" dirty="0"/>
              <a:t>}</a:t>
            </a:r>
          </a:p>
          <a:p>
            <a:pPr marL="36900" indent="0">
              <a:buNone/>
            </a:pPr>
            <a:r>
              <a:rPr lang="en-US" sz="1800" b="1" dirty="0"/>
              <a:t>// calling the function</a:t>
            </a:r>
          </a:p>
          <a:p>
            <a:r>
              <a:rPr lang="en-US" sz="1800" b="1" dirty="0" err="1"/>
              <a:t>setTimeout</a:t>
            </a:r>
            <a:r>
              <a:rPr lang="en-US" sz="1800" b="1" dirty="0"/>
              <a:t>(greet, 2000);</a:t>
            </a:r>
          </a:p>
          <a:p>
            <a:r>
              <a:rPr lang="en-US" sz="1800" b="1" dirty="0" err="1"/>
              <a:t>sayName</a:t>
            </a:r>
            <a:r>
              <a:rPr lang="en-US" sz="1800" b="1" dirty="0"/>
              <a:t>('John');</a:t>
            </a:r>
            <a:endParaRPr lang="en-PK" sz="1800" b="1" dirty="0"/>
          </a:p>
        </p:txBody>
      </p:sp>
    </p:spTree>
    <p:extLst>
      <p:ext uri="{BB962C8B-B14F-4D97-AF65-F5344CB8AC3E}">
        <p14:creationId xmlns:p14="http://schemas.microsoft.com/office/powerpoint/2010/main" val="295560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8C63-C196-53BD-F29D-54C7DADC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C3185-EEB1-0025-E1B6-0241168B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As you know, the </a:t>
            </a:r>
            <a:r>
              <a:rPr lang="en-US" b="0" i="0" u="none" strike="noStrike" dirty="0" err="1">
                <a:solidFill>
                  <a:srgbClr val="0556F3"/>
                </a:solidFill>
                <a:effectLst/>
                <a:latin typeface="euclid_circular_a"/>
                <a:hlinkClick r:id="rId2"/>
              </a:rPr>
              <a:t>setTimeout</a:t>
            </a:r>
            <a:r>
              <a:rPr lang="en-US" b="0" i="0" u="none" strike="noStrike" dirty="0">
                <a:solidFill>
                  <a:srgbClr val="0556F3"/>
                </a:solidFill>
                <a:effectLst/>
                <a:latin typeface="euclid_circular_a"/>
                <a:hlinkClick r:id="rId2"/>
              </a:rPr>
              <a:t>()</a:t>
            </a:r>
            <a:r>
              <a:rPr lang="en-US" b="0" i="0" dirty="0">
                <a:effectLst/>
                <a:latin typeface="euclid_circular_a"/>
              </a:rPr>
              <a:t> method executes a block of code after the specified time.</a:t>
            </a:r>
          </a:p>
          <a:p>
            <a:r>
              <a:rPr lang="en-US" dirty="0"/>
              <a:t>Here, the greet() function is called after 2000 milliseconds (2 seconds). During this wait, the </a:t>
            </a:r>
            <a:r>
              <a:rPr lang="en-US" dirty="0" err="1"/>
              <a:t>sayName</a:t>
            </a:r>
            <a:r>
              <a:rPr lang="en-US" dirty="0"/>
              <a:t>('John'); is executed. That is why Hello John is printed before Hello world.</a:t>
            </a:r>
          </a:p>
          <a:p>
            <a:r>
              <a:rPr lang="en-US" dirty="0"/>
              <a:t>The above code is executed asynchronously (the second function; </a:t>
            </a:r>
            <a:r>
              <a:rPr lang="en-US" dirty="0" err="1"/>
              <a:t>sayName</a:t>
            </a:r>
            <a:r>
              <a:rPr lang="en-US" dirty="0"/>
              <a:t>() does not wait for the first function; greet() to complete).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5228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0DF9-D2AB-6612-5BAA-BE584DE78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0"/>
            <a:ext cx="10353762" cy="6858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// Callback Function Example</a:t>
            </a:r>
          </a:p>
          <a:p>
            <a:r>
              <a:rPr lang="en-US" dirty="0"/>
              <a:t>function greet(name, </a:t>
            </a:r>
            <a:r>
              <a:rPr lang="en-US" dirty="0" err="1"/>
              <a:t>myFunction</a:t>
            </a:r>
            <a:r>
              <a:rPr lang="en-US" dirty="0"/>
              <a:t>) {</a:t>
            </a:r>
          </a:p>
          <a:p>
            <a:r>
              <a:rPr lang="en-US" dirty="0"/>
              <a:t>    console.log('Hello world');</a:t>
            </a:r>
          </a:p>
          <a:p>
            <a:endParaRPr lang="en-US" dirty="0"/>
          </a:p>
          <a:p>
            <a:r>
              <a:rPr lang="en-US" dirty="0"/>
              <a:t>    // callback function</a:t>
            </a:r>
          </a:p>
          <a:p>
            <a:r>
              <a:rPr lang="en-US" dirty="0"/>
              <a:t>    // executed only after the greet() is executed</a:t>
            </a:r>
          </a:p>
          <a:p>
            <a:r>
              <a:rPr lang="en-US" dirty="0"/>
              <a:t>    </a:t>
            </a:r>
            <a:r>
              <a:rPr lang="en-US" dirty="0" err="1"/>
              <a:t>myFunction</a:t>
            </a:r>
            <a:r>
              <a:rPr lang="en-US" dirty="0"/>
              <a:t>(name);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callback function</a:t>
            </a:r>
          </a:p>
          <a:p>
            <a:r>
              <a:rPr lang="en-US" dirty="0"/>
              <a:t>function </a:t>
            </a:r>
            <a:r>
              <a:rPr lang="en-US" dirty="0" err="1"/>
              <a:t>sayName</a:t>
            </a:r>
            <a:r>
              <a:rPr lang="en-US" dirty="0"/>
              <a:t>(name) {</a:t>
            </a:r>
          </a:p>
          <a:p>
            <a:r>
              <a:rPr lang="en-US" dirty="0"/>
              <a:t>    console.log('Hello' + ' ' + name);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calling the function after 2 seconds</a:t>
            </a:r>
          </a:p>
          <a:p>
            <a:r>
              <a:rPr lang="en-US" dirty="0" err="1"/>
              <a:t>setTimeout</a:t>
            </a:r>
            <a:r>
              <a:rPr lang="en-US" dirty="0"/>
              <a:t>(greet, 2000, 'John', </a:t>
            </a:r>
            <a:r>
              <a:rPr lang="en-US" dirty="0" err="1"/>
              <a:t>sayName</a:t>
            </a:r>
            <a:r>
              <a:rPr lang="en-US" dirty="0"/>
              <a:t>);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0141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A510-9CA3-E7C8-CF3E-379C133B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7911-BA2E-6AE3-511F-29435B7F1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above program, the code is executed synchronously. The </a:t>
            </a:r>
            <a:r>
              <a:rPr lang="en-US" dirty="0" err="1"/>
              <a:t>sayName</a:t>
            </a:r>
            <a:r>
              <a:rPr lang="en-US" dirty="0"/>
              <a:t>() function is passed as an argument to the greet() function.</a:t>
            </a:r>
          </a:p>
          <a:p>
            <a:r>
              <a:rPr lang="en-US" dirty="0"/>
              <a:t>The </a:t>
            </a:r>
            <a:r>
              <a:rPr lang="en-US" dirty="0" err="1"/>
              <a:t>setTimeout</a:t>
            </a:r>
            <a:r>
              <a:rPr lang="en-US" dirty="0"/>
              <a:t>() method executes the greet() function only after 2 seconds. However, the </a:t>
            </a:r>
            <a:r>
              <a:rPr lang="en-US" dirty="0" err="1"/>
              <a:t>sayName</a:t>
            </a:r>
            <a:r>
              <a:rPr lang="en-US" dirty="0"/>
              <a:t>() function waits for the execution of the greet() function.</a:t>
            </a:r>
          </a:p>
          <a:p>
            <a:endParaRPr lang="en-US" dirty="0"/>
          </a:p>
          <a:p>
            <a:r>
              <a:rPr lang="en-US" b="1" i="0" dirty="0">
                <a:effectLst/>
                <a:latin typeface="euclid_circular_a"/>
              </a:rPr>
              <a:t>Note</a:t>
            </a:r>
            <a:r>
              <a:rPr lang="en-US" b="0" i="0" dirty="0">
                <a:effectLst/>
                <a:latin typeface="euclid_circular_a"/>
              </a:rPr>
              <a:t>: The callback function is helpful when you have to wait for a result that takes time. </a:t>
            </a:r>
            <a:r>
              <a:rPr lang="en-US" b="0" i="0">
                <a:effectLst/>
                <a:latin typeface="euclid_circular_a"/>
              </a:rPr>
              <a:t>For example, the data coming from a server because it takes time for data to arrive.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977909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{F248DAC6-0C8E-4593-B8B3-B5B1610992F3}tf12214701_win32</Template>
  <TotalTime>16</TotalTime>
  <Words>492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droid sans mono</vt:lpstr>
      <vt:lpstr>euclid_circular_a</vt:lpstr>
      <vt:lpstr>Goudy Old Style</vt:lpstr>
      <vt:lpstr>Times New Roman</vt:lpstr>
      <vt:lpstr>Wingdings 2</vt:lpstr>
      <vt:lpstr>SlateVTI</vt:lpstr>
      <vt:lpstr>Blocking  non Blocking Script</vt:lpstr>
      <vt:lpstr>CallBack Function</vt:lpstr>
      <vt:lpstr>PowerPoint Presentation</vt:lpstr>
      <vt:lpstr>Output (Run on Console) </vt:lpstr>
      <vt:lpstr>Benefit of Callback Function </vt:lpstr>
      <vt:lpstr>Example: Program with setTimeout()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Blocking  non Blocking Script</dc:title>
  <dc:creator>Sajida</dc:creator>
  <cp:lastModifiedBy>Sajida</cp:lastModifiedBy>
  <cp:revision>6</cp:revision>
  <dcterms:created xsi:type="dcterms:W3CDTF">2022-06-29T09:03:40Z</dcterms:created>
  <dcterms:modified xsi:type="dcterms:W3CDTF">2022-06-29T09:19:50Z</dcterms:modified>
</cp:coreProperties>
</file>