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61" r:id="rId3"/>
    <p:sldId id="263" r:id="rId4"/>
    <p:sldId id="262" r:id="rId5"/>
    <p:sldId id="257" r:id="rId6"/>
    <p:sldId id="258" r:id="rId7"/>
    <p:sldId id="259"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6D86EFB-3E68-4408-BD4E-25359A7887F0}">
          <p14:sldIdLst>
            <p14:sldId id="256"/>
          </p14:sldIdLst>
        </p14:section>
        <p14:section name="Object" id="{5A0DAD84-BAAF-4A45-8534-41ACE81AB988}">
          <p14:sldIdLst>
            <p14:sldId id="261"/>
            <p14:sldId id="263"/>
            <p14:sldId id="262"/>
          </p14:sldIdLst>
        </p14:section>
        <p14:section name="Events" id="{068AE811-9E4E-45E4-8D76-14CC8E6175AF}">
          <p14:sldIdLst>
            <p14:sldId id="257"/>
            <p14:sldId id="258"/>
          </p14:sldIdLst>
        </p14:section>
        <p14:section name="DOM" id="{0FF24475-9D41-4C33-803C-2F8FC4373A6A}">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0" d="100"/>
          <a:sy n="90" d="100"/>
        </p:scale>
        <p:origin x="16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324202F-63D1-4B33-A024-22CF2D163813}" type="datetimeFigureOut">
              <a:rPr lang="en-US" smtClean="0"/>
              <a:t>1/26/2024</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1084801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24202F-63D1-4B33-A024-22CF2D163813}"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786605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324202F-63D1-4B33-A024-22CF2D163813}" type="datetimeFigureOut">
              <a:rPr lang="en-US" smtClean="0"/>
              <a:t>1/26/2024</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2325681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24202F-63D1-4B33-A024-22CF2D163813}"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936904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24202F-63D1-4B33-A024-22CF2D163813}" type="datetimeFigureOut">
              <a:rPr lang="en-US" smtClean="0"/>
              <a:t>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151566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24202F-63D1-4B33-A024-22CF2D163813}" type="datetimeFigureOut">
              <a:rPr lang="en-US" smtClean="0"/>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858260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24202F-63D1-4B33-A024-22CF2D163813}" type="datetimeFigureOut">
              <a:rPr lang="en-US" smtClean="0"/>
              <a:t>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250531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24202F-63D1-4B33-A024-22CF2D163813}"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542638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24202F-63D1-4B33-A024-22CF2D163813}"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1971768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24202F-63D1-4B33-A024-22CF2D163813}" type="datetimeFigureOut">
              <a:rPr lang="en-US" smtClean="0"/>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2378037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324202F-63D1-4B33-A024-22CF2D163813}" type="datetimeFigureOut">
              <a:rPr lang="en-US" smtClean="0"/>
              <a:t>1/26/2024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770949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324202F-63D1-4B33-A024-22CF2D163813}" type="datetimeFigureOut">
              <a:rPr lang="en-US" smtClean="0"/>
              <a:t>1/26/2024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1D96AE9B-A59F-4D1D-B32D-3E7EDAAC0586}"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36040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324202F-63D1-4B33-A024-22CF2D163813}" type="datetimeFigureOut">
              <a:rPr lang="en-US" smtClean="0"/>
              <a:t>1/26/2024</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2713237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324202F-63D1-4B33-A024-22CF2D163813}" type="datetimeFigureOut">
              <a:rPr lang="en-US" smtClean="0"/>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2238929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324202F-63D1-4B33-A024-22CF2D163813}" type="datetimeFigureOut">
              <a:rPr lang="en-US" smtClean="0"/>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335360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24202F-63D1-4B33-A024-22CF2D163813}" type="datetimeFigureOut">
              <a:rPr lang="en-US" smtClean="0"/>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3713193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324202F-63D1-4B33-A024-22CF2D163813}" type="datetimeFigureOut">
              <a:rPr lang="en-US" smtClean="0"/>
              <a:t>1/26/2024</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1D96AE9B-A59F-4D1D-B32D-3E7EDAAC0586}" type="slidenum">
              <a:rPr lang="en-US" smtClean="0"/>
              <a:t>‹#›</a:t>
            </a:fld>
            <a:endParaRPr lang="en-US"/>
          </a:p>
        </p:txBody>
      </p:sp>
    </p:spTree>
    <p:extLst>
      <p:ext uri="{BB962C8B-B14F-4D97-AF65-F5344CB8AC3E}">
        <p14:creationId xmlns:p14="http://schemas.microsoft.com/office/powerpoint/2010/main" val="548619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324202F-63D1-4B33-A024-22CF2D163813}" type="datetimeFigureOut">
              <a:rPr lang="en-US" smtClean="0"/>
              <a:t>1/26/2024</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D96AE9B-A59F-4D1D-B32D-3E7EDAAC0586}" type="slidenum">
              <a:rPr lang="en-US" smtClean="0"/>
              <a:t>‹#›</a:t>
            </a:fld>
            <a:endParaRPr lang="en-US"/>
          </a:p>
        </p:txBody>
      </p:sp>
    </p:spTree>
    <p:extLst>
      <p:ext uri="{BB962C8B-B14F-4D97-AF65-F5344CB8AC3E}">
        <p14:creationId xmlns:p14="http://schemas.microsoft.com/office/powerpoint/2010/main" val="3469110927"/>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86BC9-303A-4174-8D0E-6C8995D501D1}"/>
              </a:ext>
            </a:extLst>
          </p:cNvPr>
          <p:cNvSpPr>
            <a:spLocks noGrp="1"/>
          </p:cNvSpPr>
          <p:nvPr>
            <p:ph type="ctrTitle"/>
          </p:nvPr>
        </p:nvSpPr>
        <p:spPr/>
        <p:txBody>
          <a:bodyPr/>
          <a:lstStyle/>
          <a:p>
            <a:r>
              <a:rPr lang="en-US" dirty="0"/>
              <a:t>JavaScript 2</a:t>
            </a:r>
          </a:p>
        </p:txBody>
      </p:sp>
    </p:spTree>
    <p:extLst>
      <p:ext uri="{BB962C8B-B14F-4D97-AF65-F5344CB8AC3E}">
        <p14:creationId xmlns:p14="http://schemas.microsoft.com/office/powerpoint/2010/main" val="316104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12641-279E-4B55-862F-CB0772ED3514}"/>
              </a:ext>
            </a:extLst>
          </p:cNvPr>
          <p:cNvSpPr>
            <a:spLocks noGrp="1"/>
          </p:cNvSpPr>
          <p:nvPr>
            <p:ph type="title"/>
          </p:nvPr>
        </p:nvSpPr>
        <p:spPr>
          <a:xfrm>
            <a:off x="600187" y="464531"/>
            <a:ext cx="4351025" cy="913695"/>
          </a:xfrm>
        </p:spPr>
        <p:txBody>
          <a:bodyPr/>
          <a:lstStyle/>
          <a:p>
            <a:r>
              <a:rPr lang="en-US" dirty="0"/>
              <a:t>Object</a:t>
            </a:r>
          </a:p>
        </p:txBody>
      </p:sp>
      <p:sp>
        <p:nvSpPr>
          <p:cNvPr id="3" name="Text Placeholder 2">
            <a:extLst>
              <a:ext uri="{FF2B5EF4-FFF2-40B4-BE49-F238E27FC236}">
                <a16:creationId xmlns:a16="http://schemas.microsoft.com/office/drawing/2014/main" id="{5DC8EC67-CB62-47D2-95EA-B5E7560ABDD8}"/>
              </a:ext>
            </a:extLst>
          </p:cNvPr>
          <p:cNvSpPr>
            <a:spLocks noGrp="1"/>
          </p:cNvSpPr>
          <p:nvPr>
            <p:ph type="body" idx="1"/>
          </p:nvPr>
        </p:nvSpPr>
        <p:spPr>
          <a:xfrm>
            <a:off x="833209" y="1497496"/>
            <a:ext cx="5369117" cy="2294913"/>
          </a:xfrm>
        </p:spPr>
        <p:txBody>
          <a:bodyPr>
            <a:normAutofit/>
          </a:bodyPr>
          <a:lstStyle/>
          <a:p>
            <a:pPr algn="l"/>
            <a:r>
              <a:rPr lang="en-US" sz="1600" dirty="0">
                <a:solidFill>
                  <a:schemeClr val="tx1"/>
                </a:solidFill>
              </a:rPr>
              <a:t>Objects are entities with properties and methods and resemble to real life objects. </a:t>
            </a:r>
          </a:p>
          <a:p>
            <a:pPr algn="l"/>
            <a:r>
              <a:rPr lang="en-US" sz="1600" dirty="0">
                <a:solidFill>
                  <a:schemeClr val="tx1"/>
                </a:solidFill>
              </a:rPr>
              <a:t>Properties </a:t>
            </a:r>
          </a:p>
          <a:p>
            <a:pPr algn="l"/>
            <a:r>
              <a:rPr lang="en-US" sz="1600" dirty="0">
                <a:solidFill>
                  <a:schemeClr val="tx1"/>
                </a:solidFill>
              </a:rPr>
              <a:t>specify the characteristics or attributes of an object.</a:t>
            </a:r>
          </a:p>
          <a:p>
            <a:pPr algn="l"/>
            <a:r>
              <a:rPr lang="en-US" sz="1600" dirty="0">
                <a:solidFill>
                  <a:schemeClr val="tx1"/>
                </a:solidFill>
              </a:rPr>
              <a:t>Methods </a:t>
            </a:r>
          </a:p>
          <a:p>
            <a:pPr algn="l"/>
            <a:r>
              <a:rPr lang="en-US" sz="1600" dirty="0">
                <a:solidFill>
                  <a:schemeClr val="tx1"/>
                </a:solidFill>
              </a:rPr>
              <a:t>identify the behavior of an object. </a:t>
            </a:r>
          </a:p>
        </p:txBody>
      </p:sp>
      <p:sp>
        <p:nvSpPr>
          <p:cNvPr id="7" name="Text Box 5">
            <a:extLst>
              <a:ext uri="{FF2B5EF4-FFF2-40B4-BE49-F238E27FC236}">
                <a16:creationId xmlns:a16="http://schemas.microsoft.com/office/drawing/2014/main" id="{F9F575FA-4816-43B4-87A2-8032A299721A}"/>
              </a:ext>
            </a:extLst>
          </p:cNvPr>
          <p:cNvSpPr txBox="1"/>
          <p:nvPr/>
        </p:nvSpPr>
        <p:spPr>
          <a:xfrm>
            <a:off x="706512" y="3900590"/>
            <a:ext cx="5495814" cy="2308324"/>
          </a:xfrm>
          <a:prstGeom prst="rect">
            <a:avLst/>
          </a:prstGeom>
          <a:noFill/>
        </p:spPr>
        <p:txBody>
          <a:bodyPr wrap="square" rtlCol="0" anchor="t">
            <a:spAutoFit/>
          </a:bodyPr>
          <a:lstStyle/>
          <a:p>
            <a:pPr algn="ctr"/>
            <a:r>
              <a:rPr lang="en-US" b="1" u="sng" dirty="0">
                <a:effectLst>
                  <a:outerShdw blurRad="38100" dist="38100" dir="2700000" algn="tl">
                    <a:srgbClr val="000000">
                      <a:alpha val="43137"/>
                    </a:srgbClr>
                  </a:outerShdw>
                </a:effectLst>
              </a:rPr>
              <a:t>Types Of Objects:</a:t>
            </a:r>
          </a:p>
          <a:p>
            <a:r>
              <a:rPr lang="en-US" b="1" dirty="0">
                <a:effectLst>
                  <a:outerShdw blurRad="38100" dist="38100" dir="2700000" algn="tl">
                    <a:srgbClr val="000000">
                      <a:alpha val="43137"/>
                    </a:srgbClr>
                  </a:outerShdw>
                </a:effectLst>
              </a:rPr>
              <a:t>Built-in Objects</a:t>
            </a:r>
            <a:r>
              <a:rPr lang="en-US" dirty="0"/>
              <a:t>- pre-defined objects which are already defined. Their </a:t>
            </a:r>
          </a:p>
          <a:p>
            <a:r>
              <a:rPr lang="en-US" dirty="0"/>
              <a:t>properties and methods need to be called to fulfill a task. </a:t>
            </a:r>
          </a:p>
          <a:p>
            <a:r>
              <a:rPr lang="en-US" b="1" dirty="0">
                <a:effectLst>
                  <a:outerShdw blurRad="38100" dist="38100" dir="2700000" algn="tl">
                    <a:srgbClr val="000000">
                      <a:alpha val="43137"/>
                    </a:srgbClr>
                  </a:outerShdw>
                </a:effectLst>
              </a:rPr>
              <a:t>Custom Object</a:t>
            </a:r>
            <a:r>
              <a:rPr lang="en-US" dirty="0"/>
              <a:t>s- Are user-defined objects, which the developer creates in the script and defines their properties and methods.</a:t>
            </a:r>
          </a:p>
        </p:txBody>
      </p:sp>
      <p:graphicFrame>
        <p:nvGraphicFramePr>
          <p:cNvPr id="8" name="Object 7">
            <a:extLst>
              <a:ext uri="{FF2B5EF4-FFF2-40B4-BE49-F238E27FC236}">
                <a16:creationId xmlns:a16="http://schemas.microsoft.com/office/drawing/2014/main" id="{18AF8F25-061E-41B2-85C4-3F4990B65AE5}"/>
              </a:ext>
            </a:extLst>
          </p:cNvPr>
          <p:cNvGraphicFramePr/>
          <p:nvPr>
            <p:extLst>
              <p:ext uri="{D42A27DB-BD31-4B8C-83A1-F6EECF244321}">
                <p14:modId xmlns:p14="http://schemas.microsoft.com/office/powerpoint/2010/main" val="1770358617"/>
              </p:ext>
            </p:extLst>
          </p:nvPr>
        </p:nvGraphicFramePr>
        <p:xfrm>
          <a:off x="7516407" y="1136902"/>
          <a:ext cx="3424496" cy="2655507"/>
        </p:xfrm>
        <a:graphic>
          <a:graphicData uri="http://schemas.openxmlformats.org/presentationml/2006/ole">
            <mc:AlternateContent xmlns:mc="http://schemas.openxmlformats.org/markup-compatibility/2006">
              <mc:Choice xmlns:v="urn:schemas-microsoft-com:vml" Requires="v">
                <p:oleObj spid="_x0000_s2060" r:id="rId3" imgW="4752975" imgH="3390900" progId="Paint.Picture">
                  <p:embed/>
                </p:oleObj>
              </mc:Choice>
              <mc:Fallback>
                <p:oleObj r:id="rId3" imgW="4752975" imgH="3390900" progId="Paint.Picture">
                  <p:embed/>
                  <p:pic>
                    <p:nvPicPr>
                      <p:cNvPr id="8" name="Object 7">
                        <a:extLst>
                          <a:ext uri="{FF2B5EF4-FFF2-40B4-BE49-F238E27FC236}">
                            <a16:creationId xmlns:a16="http://schemas.microsoft.com/office/drawing/2014/main" id="{18AF8F25-061E-41B2-85C4-3F4990B65AE5}"/>
                          </a:ext>
                        </a:extLst>
                      </p:cNvPr>
                      <p:cNvPicPr/>
                      <p:nvPr/>
                    </p:nvPicPr>
                    <p:blipFill>
                      <a:blip r:embed="rId4"/>
                      <a:stretch>
                        <a:fillRect/>
                      </a:stretch>
                    </p:blipFill>
                    <p:spPr>
                      <a:xfrm>
                        <a:off x="7516407" y="1136902"/>
                        <a:ext cx="3424496" cy="2655507"/>
                      </a:xfrm>
                      <a:prstGeom prst="rect">
                        <a:avLst/>
                      </a:prstGeom>
                    </p:spPr>
                  </p:pic>
                </p:oleObj>
              </mc:Fallback>
            </mc:AlternateContent>
          </a:graphicData>
        </a:graphic>
      </p:graphicFrame>
    </p:spTree>
    <p:extLst>
      <p:ext uri="{BB962C8B-B14F-4D97-AF65-F5344CB8AC3E}">
        <p14:creationId xmlns:p14="http://schemas.microsoft.com/office/powerpoint/2010/main" val="3794181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12641-279E-4B55-862F-CB0772ED3514}"/>
              </a:ext>
            </a:extLst>
          </p:cNvPr>
          <p:cNvSpPr>
            <a:spLocks noGrp="1"/>
          </p:cNvSpPr>
          <p:nvPr>
            <p:ph type="title"/>
          </p:nvPr>
        </p:nvSpPr>
        <p:spPr>
          <a:xfrm>
            <a:off x="917565" y="835593"/>
            <a:ext cx="4636247" cy="913695"/>
          </a:xfrm>
        </p:spPr>
        <p:txBody>
          <a:bodyPr/>
          <a:lstStyle/>
          <a:p>
            <a:r>
              <a:rPr lang="en-US" dirty="0"/>
              <a:t>Date Object</a:t>
            </a:r>
          </a:p>
        </p:txBody>
      </p:sp>
      <p:sp>
        <p:nvSpPr>
          <p:cNvPr id="8" name="Rectangle 7">
            <a:extLst>
              <a:ext uri="{FF2B5EF4-FFF2-40B4-BE49-F238E27FC236}">
                <a16:creationId xmlns:a16="http://schemas.microsoft.com/office/drawing/2014/main" id="{FDB27A1A-0003-4BE1-947D-E9EFD8E783BA}"/>
              </a:ext>
            </a:extLst>
          </p:cNvPr>
          <p:cNvSpPr/>
          <p:nvPr/>
        </p:nvSpPr>
        <p:spPr>
          <a:xfrm>
            <a:off x="917565" y="1847822"/>
            <a:ext cx="5062329" cy="12655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dirty="0"/>
              <a:t>The Date object allows you to define and manipulate the date and time values programmatically</a:t>
            </a:r>
          </a:p>
          <a:p>
            <a:endParaRPr lang="en-US" dirty="0"/>
          </a:p>
          <a:p>
            <a:r>
              <a:rPr lang="en-US" dirty="0"/>
              <a:t>Book page no. 370</a:t>
            </a:r>
          </a:p>
        </p:txBody>
      </p:sp>
      <p:graphicFrame>
        <p:nvGraphicFramePr>
          <p:cNvPr id="5" name="Object 4">
            <a:extLst>
              <a:ext uri="{FF2B5EF4-FFF2-40B4-BE49-F238E27FC236}">
                <a16:creationId xmlns:a16="http://schemas.microsoft.com/office/drawing/2014/main" id="{F6514A65-9E5B-4C2E-85FE-781B44506B26}"/>
              </a:ext>
            </a:extLst>
          </p:cNvPr>
          <p:cNvGraphicFramePr/>
          <p:nvPr/>
        </p:nvGraphicFramePr>
        <p:xfrm>
          <a:off x="6096000" y="1847822"/>
          <a:ext cx="5394960" cy="1896745"/>
        </p:xfrm>
        <a:graphic>
          <a:graphicData uri="http://schemas.openxmlformats.org/presentationml/2006/ole">
            <mc:AlternateContent xmlns:mc="http://schemas.openxmlformats.org/markup-compatibility/2006">
              <mc:Choice xmlns:v="urn:schemas-microsoft-com:vml" Requires="v">
                <p:oleObj spid="_x0000_s4108" r:id="rId3" imgW="5391150" imgH="1895475" progId="Paint.Picture">
                  <p:embed/>
                </p:oleObj>
              </mc:Choice>
              <mc:Fallback>
                <p:oleObj r:id="rId3" imgW="5391150" imgH="1895475" progId="Paint.Picture">
                  <p:embed/>
                  <p:pic>
                    <p:nvPicPr>
                      <p:cNvPr id="5" name="Object 4">
                        <a:extLst>
                          <a:ext uri="{FF2B5EF4-FFF2-40B4-BE49-F238E27FC236}">
                            <a16:creationId xmlns:a16="http://schemas.microsoft.com/office/drawing/2014/main" id="{F6514A65-9E5B-4C2E-85FE-781B44506B26}"/>
                          </a:ext>
                        </a:extLst>
                      </p:cNvPr>
                      <p:cNvPicPr/>
                      <p:nvPr/>
                    </p:nvPicPr>
                    <p:blipFill>
                      <a:blip r:embed="rId4"/>
                      <a:stretch>
                        <a:fillRect/>
                      </a:stretch>
                    </p:blipFill>
                    <p:spPr>
                      <a:xfrm>
                        <a:off x="6096000" y="1847822"/>
                        <a:ext cx="5394960" cy="1896745"/>
                      </a:xfrm>
                      <a:prstGeom prst="rect">
                        <a:avLst/>
                      </a:prstGeom>
                    </p:spPr>
                  </p:pic>
                </p:oleObj>
              </mc:Fallback>
            </mc:AlternateContent>
          </a:graphicData>
        </a:graphic>
      </p:graphicFrame>
    </p:spTree>
    <p:extLst>
      <p:ext uri="{BB962C8B-B14F-4D97-AF65-F5344CB8AC3E}">
        <p14:creationId xmlns:p14="http://schemas.microsoft.com/office/powerpoint/2010/main" val="3160047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12641-279E-4B55-862F-CB0772ED3514}"/>
              </a:ext>
            </a:extLst>
          </p:cNvPr>
          <p:cNvSpPr>
            <a:spLocks noGrp="1"/>
          </p:cNvSpPr>
          <p:nvPr>
            <p:ph type="title"/>
          </p:nvPr>
        </p:nvSpPr>
        <p:spPr>
          <a:xfrm>
            <a:off x="917565" y="663314"/>
            <a:ext cx="4636247" cy="913695"/>
          </a:xfrm>
        </p:spPr>
        <p:txBody>
          <a:bodyPr/>
          <a:lstStyle/>
          <a:p>
            <a:r>
              <a:rPr lang="en-US" dirty="0"/>
              <a:t>String Object</a:t>
            </a:r>
          </a:p>
        </p:txBody>
      </p:sp>
      <p:sp>
        <p:nvSpPr>
          <p:cNvPr id="8" name="Rectangle 7">
            <a:extLst>
              <a:ext uri="{FF2B5EF4-FFF2-40B4-BE49-F238E27FC236}">
                <a16:creationId xmlns:a16="http://schemas.microsoft.com/office/drawing/2014/main" id="{FDB27A1A-0003-4BE1-947D-E9EFD8E783BA}"/>
              </a:ext>
            </a:extLst>
          </p:cNvPr>
          <p:cNvSpPr/>
          <p:nvPr/>
        </p:nvSpPr>
        <p:spPr>
          <a:xfrm>
            <a:off x="917565" y="1477691"/>
            <a:ext cx="5062329" cy="296380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t>Strings in JavaScript are a set of characters that are surrounded by single or double quotes. </a:t>
            </a:r>
          </a:p>
          <a:p>
            <a:r>
              <a:rPr lang="en-US"/>
              <a:t>These characters can include alphabets, numbers, spaces, and symbols: %, @, &amp;, and so on. </a:t>
            </a:r>
          </a:p>
          <a:p>
            <a:r>
              <a:rPr lang="en-US"/>
              <a:t>The built-in String object allows you to perform different text operations on them.</a:t>
            </a:r>
            <a:endParaRPr lang="en-US" dirty="0"/>
          </a:p>
        </p:txBody>
      </p:sp>
      <p:graphicFrame>
        <p:nvGraphicFramePr>
          <p:cNvPr id="4" name="Object 3">
            <a:extLst>
              <a:ext uri="{FF2B5EF4-FFF2-40B4-BE49-F238E27FC236}">
                <a16:creationId xmlns:a16="http://schemas.microsoft.com/office/drawing/2014/main" id="{C1719FEF-1028-40DD-BA91-71324D475524}"/>
              </a:ext>
            </a:extLst>
          </p:cNvPr>
          <p:cNvGraphicFramePr/>
          <p:nvPr>
            <p:extLst>
              <p:ext uri="{D42A27DB-BD31-4B8C-83A1-F6EECF244321}">
                <p14:modId xmlns:p14="http://schemas.microsoft.com/office/powerpoint/2010/main" val="2366917960"/>
              </p:ext>
            </p:extLst>
          </p:nvPr>
        </p:nvGraphicFramePr>
        <p:xfrm>
          <a:off x="6268278" y="1577009"/>
          <a:ext cx="5338154" cy="4055165"/>
        </p:xfrm>
        <a:graphic>
          <a:graphicData uri="http://schemas.openxmlformats.org/presentationml/2006/ole">
            <mc:AlternateContent xmlns:mc="http://schemas.openxmlformats.org/markup-compatibility/2006">
              <mc:Choice xmlns:v="urn:schemas-microsoft-com:vml" Requires="v">
                <p:oleObj spid="_x0000_s3084" r:id="rId3" imgW="3638550" imgH="2847975" progId="Paint.Picture">
                  <p:embed/>
                </p:oleObj>
              </mc:Choice>
              <mc:Fallback>
                <p:oleObj r:id="rId3" imgW="3638550" imgH="2847975" progId="Paint.Picture">
                  <p:embed/>
                  <p:pic>
                    <p:nvPicPr>
                      <p:cNvPr id="4" name="Object 3">
                        <a:extLst>
                          <a:ext uri="{FF2B5EF4-FFF2-40B4-BE49-F238E27FC236}">
                            <a16:creationId xmlns:a16="http://schemas.microsoft.com/office/drawing/2014/main" id="{C1719FEF-1028-40DD-BA91-71324D475524}"/>
                          </a:ext>
                        </a:extLst>
                      </p:cNvPr>
                      <p:cNvPicPr/>
                      <p:nvPr/>
                    </p:nvPicPr>
                    <p:blipFill>
                      <a:blip r:embed="rId4"/>
                      <a:stretch>
                        <a:fillRect/>
                      </a:stretch>
                    </p:blipFill>
                    <p:spPr>
                      <a:xfrm>
                        <a:off x="6268278" y="1577009"/>
                        <a:ext cx="5338154" cy="4055165"/>
                      </a:xfrm>
                      <a:prstGeom prst="rect">
                        <a:avLst/>
                      </a:prstGeom>
                    </p:spPr>
                  </p:pic>
                </p:oleObj>
              </mc:Fallback>
            </mc:AlternateContent>
          </a:graphicData>
        </a:graphic>
      </p:graphicFrame>
    </p:spTree>
    <p:extLst>
      <p:ext uri="{BB962C8B-B14F-4D97-AF65-F5344CB8AC3E}">
        <p14:creationId xmlns:p14="http://schemas.microsoft.com/office/powerpoint/2010/main" val="1879779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3085B-815A-4C0E-A83A-58280F5F32AD}"/>
              </a:ext>
            </a:extLst>
          </p:cNvPr>
          <p:cNvSpPr>
            <a:spLocks noGrp="1"/>
          </p:cNvSpPr>
          <p:nvPr>
            <p:ph type="title"/>
          </p:nvPr>
        </p:nvSpPr>
        <p:spPr/>
        <p:txBody>
          <a:bodyPr/>
          <a:lstStyle/>
          <a:p>
            <a:pPr algn="l"/>
            <a:r>
              <a:rPr lang="en-US" dirty="0"/>
              <a:t>Mouse Events</a:t>
            </a:r>
          </a:p>
        </p:txBody>
      </p:sp>
      <p:sp>
        <p:nvSpPr>
          <p:cNvPr id="3" name="Content Placeholder 2">
            <a:extLst>
              <a:ext uri="{FF2B5EF4-FFF2-40B4-BE49-F238E27FC236}">
                <a16:creationId xmlns:a16="http://schemas.microsoft.com/office/drawing/2014/main" id="{E7C1D2CC-DB9C-4C5E-985C-CD0DA15A80C6}"/>
              </a:ext>
            </a:extLst>
          </p:cNvPr>
          <p:cNvSpPr>
            <a:spLocks noGrp="1"/>
          </p:cNvSpPr>
          <p:nvPr>
            <p:ph idx="1"/>
          </p:nvPr>
        </p:nvSpPr>
        <p:spPr/>
        <p:txBody>
          <a:bodyPr/>
          <a:lstStyle/>
          <a:p>
            <a:r>
              <a:rPr lang="en-US" dirty="0"/>
              <a:t>Mouse events occur when the user clicks the mouse button. </a:t>
            </a:r>
          </a:p>
          <a:p>
            <a:endParaRPr lang="en-US" dirty="0"/>
          </a:p>
        </p:txBody>
      </p:sp>
      <p:pic>
        <p:nvPicPr>
          <p:cNvPr id="4" name="Picture 3">
            <a:extLst>
              <a:ext uri="{FF2B5EF4-FFF2-40B4-BE49-F238E27FC236}">
                <a16:creationId xmlns:a16="http://schemas.microsoft.com/office/drawing/2014/main" id="{D0CFD4EC-9894-4E10-9A4A-8C303A583332}"/>
              </a:ext>
            </a:extLst>
          </p:cNvPr>
          <p:cNvPicPr>
            <a:picLocks noChangeAspect="1"/>
          </p:cNvPicPr>
          <p:nvPr/>
        </p:nvPicPr>
        <p:blipFill>
          <a:blip r:embed="rId2"/>
          <a:stretch>
            <a:fillRect/>
          </a:stretch>
        </p:blipFill>
        <p:spPr>
          <a:xfrm>
            <a:off x="5840742" y="2778427"/>
            <a:ext cx="5224743" cy="2686707"/>
          </a:xfrm>
          <a:prstGeom prst="rect">
            <a:avLst/>
          </a:prstGeom>
        </p:spPr>
      </p:pic>
    </p:spTree>
    <p:extLst>
      <p:ext uri="{BB962C8B-B14F-4D97-AF65-F5344CB8AC3E}">
        <p14:creationId xmlns:p14="http://schemas.microsoft.com/office/powerpoint/2010/main" val="1469784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A741-A491-4775-B062-D976C22ECBF8}"/>
              </a:ext>
            </a:extLst>
          </p:cNvPr>
          <p:cNvSpPr>
            <a:spLocks noGrp="1"/>
          </p:cNvSpPr>
          <p:nvPr>
            <p:ph type="title"/>
          </p:nvPr>
        </p:nvSpPr>
        <p:spPr>
          <a:xfrm>
            <a:off x="2555358" y="1151410"/>
            <a:ext cx="8610600" cy="1293028"/>
          </a:xfrm>
        </p:spPr>
        <p:txBody>
          <a:bodyPr/>
          <a:lstStyle/>
          <a:p>
            <a:pPr algn="l"/>
            <a:r>
              <a:rPr lang="en-US" dirty="0"/>
              <a:t>Focus and Selection Events </a:t>
            </a:r>
            <a:br>
              <a:rPr lang="en-US" dirty="0">
                <a:solidFill>
                  <a:schemeClr val="bg1"/>
                </a:solidFill>
              </a:rPr>
            </a:br>
            <a:endParaRPr lang="en-US" dirty="0"/>
          </a:p>
        </p:txBody>
      </p:sp>
      <p:sp>
        <p:nvSpPr>
          <p:cNvPr id="3" name="Content Placeholder 2">
            <a:extLst>
              <a:ext uri="{FF2B5EF4-FFF2-40B4-BE49-F238E27FC236}">
                <a16:creationId xmlns:a16="http://schemas.microsoft.com/office/drawing/2014/main" id="{5600F37E-3513-409C-8DB7-FF933D32D8F7}"/>
              </a:ext>
            </a:extLst>
          </p:cNvPr>
          <p:cNvSpPr>
            <a:spLocks noGrp="1"/>
          </p:cNvSpPr>
          <p:nvPr>
            <p:ph idx="1"/>
          </p:nvPr>
        </p:nvSpPr>
        <p:spPr/>
        <p:txBody>
          <a:bodyPr/>
          <a:lstStyle/>
          <a:p>
            <a:r>
              <a:rPr lang="en-US" dirty="0"/>
              <a:t>The focus events determine the activation of various elements that uses the input element. It allows you to set or reset focus for different input elements. The selection events occur when an element or a part of an element within a Web page is selected. </a:t>
            </a:r>
          </a:p>
          <a:p>
            <a:endParaRPr lang="en-US" dirty="0"/>
          </a:p>
        </p:txBody>
      </p:sp>
      <p:pic>
        <p:nvPicPr>
          <p:cNvPr id="4" name="Picture 3">
            <a:extLst>
              <a:ext uri="{FF2B5EF4-FFF2-40B4-BE49-F238E27FC236}">
                <a16:creationId xmlns:a16="http://schemas.microsoft.com/office/drawing/2014/main" id="{28908A7E-CA88-42DF-ABE3-09FDD0478F72}"/>
              </a:ext>
            </a:extLst>
          </p:cNvPr>
          <p:cNvPicPr>
            <a:picLocks noChangeAspect="1"/>
          </p:cNvPicPr>
          <p:nvPr/>
        </p:nvPicPr>
        <p:blipFill>
          <a:blip r:embed="rId2"/>
          <a:stretch>
            <a:fillRect/>
          </a:stretch>
        </p:blipFill>
        <p:spPr>
          <a:xfrm>
            <a:off x="4394278" y="3314162"/>
            <a:ext cx="6660576" cy="2034799"/>
          </a:xfrm>
          <a:prstGeom prst="rect">
            <a:avLst/>
          </a:prstGeom>
        </p:spPr>
      </p:pic>
    </p:spTree>
    <p:extLst>
      <p:ext uri="{BB962C8B-B14F-4D97-AF65-F5344CB8AC3E}">
        <p14:creationId xmlns:p14="http://schemas.microsoft.com/office/powerpoint/2010/main" val="3750501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F636-0C39-4FB5-A70A-4318A815F226}"/>
              </a:ext>
            </a:extLst>
          </p:cNvPr>
          <p:cNvSpPr>
            <a:spLocks noGrp="1"/>
          </p:cNvSpPr>
          <p:nvPr>
            <p:ph type="title"/>
          </p:nvPr>
        </p:nvSpPr>
        <p:spPr/>
        <p:txBody>
          <a:bodyPr/>
          <a:lstStyle/>
          <a:p>
            <a:r>
              <a:rPr lang="en-US" dirty="0"/>
              <a:t>DOM</a:t>
            </a:r>
          </a:p>
        </p:txBody>
      </p:sp>
      <p:sp>
        <p:nvSpPr>
          <p:cNvPr id="3" name="Content Placeholder 2">
            <a:extLst>
              <a:ext uri="{FF2B5EF4-FFF2-40B4-BE49-F238E27FC236}">
                <a16:creationId xmlns:a16="http://schemas.microsoft.com/office/drawing/2014/main" id="{BC776367-EC6B-4864-B64C-B3FB6E4E9B60}"/>
              </a:ext>
            </a:extLst>
          </p:cNvPr>
          <p:cNvSpPr>
            <a:spLocks noGrp="1"/>
          </p:cNvSpPr>
          <p:nvPr>
            <p:ph idx="1"/>
          </p:nvPr>
        </p:nvSpPr>
        <p:spPr/>
        <p:txBody>
          <a:bodyPr/>
          <a:lstStyle/>
          <a:p>
            <a:r>
              <a:rPr lang="en-US" dirty="0"/>
              <a:t>The document object represents your web page.</a:t>
            </a:r>
          </a:p>
          <a:p>
            <a:r>
              <a:rPr lang="en-US" dirty="0"/>
              <a:t>The DOM defines a standard for accessing documents.</a:t>
            </a:r>
          </a:p>
          <a:p>
            <a:r>
              <a:rPr lang="en-US" dirty="0"/>
              <a:t>Through DOM you can update, access and style your document.</a:t>
            </a:r>
          </a:p>
        </p:txBody>
      </p:sp>
      <p:pic>
        <p:nvPicPr>
          <p:cNvPr id="1026" name="Picture 2" descr="DOM HTML tree">
            <a:extLst>
              <a:ext uri="{FF2B5EF4-FFF2-40B4-BE49-F238E27FC236}">
                <a16:creationId xmlns:a16="http://schemas.microsoft.com/office/drawing/2014/main" id="{C970B2B0-E70A-42E4-AEED-87032AF59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6131" y="3757958"/>
            <a:ext cx="4981575" cy="2726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435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38173E-8007-4626-BDC0-F7577D811143}"/>
              </a:ext>
            </a:extLst>
          </p:cNvPr>
          <p:cNvSpPr/>
          <p:nvPr/>
        </p:nvSpPr>
        <p:spPr>
          <a:xfrm>
            <a:off x="393405" y="2115626"/>
            <a:ext cx="11121655" cy="1692771"/>
          </a:xfrm>
          <a:prstGeom prst="rect">
            <a:avLst/>
          </a:prstGeom>
        </p:spPr>
        <p:txBody>
          <a:bodyPr wrap="square">
            <a:spAutoFit/>
          </a:bodyPr>
          <a:lstStyle/>
          <a:p>
            <a:r>
              <a:rPr lang="en-US" sz="2000" dirty="0"/>
              <a:t>Method	                                                                                                            </a:t>
            </a:r>
            <a:r>
              <a:rPr lang="en-US" sz="2400" b="1" dirty="0"/>
              <a:t>Description</a:t>
            </a:r>
          </a:p>
          <a:p>
            <a:r>
              <a:rPr lang="en-US" sz="2000" dirty="0" err="1"/>
              <a:t>document.getElementById</a:t>
            </a:r>
            <a:r>
              <a:rPr lang="en-US" sz="2000" dirty="0"/>
              <a:t>(id)	</a:t>
            </a:r>
            <a:r>
              <a:rPr lang="en-US" sz="2000" b="1" dirty="0"/>
              <a:t>                                           Find an element by element id</a:t>
            </a:r>
          </a:p>
          <a:p>
            <a:r>
              <a:rPr lang="en-US" sz="2000" dirty="0" err="1"/>
              <a:t>document.getElementsByTagName</a:t>
            </a:r>
            <a:r>
              <a:rPr lang="en-US" sz="2000" dirty="0"/>
              <a:t>(name)	                             </a:t>
            </a:r>
            <a:r>
              <a:rPr lang="en-US" sz="2000" b="1" dirty="0"/>
              <a:t>Find elements by tag name</a:t>
            </a:r>
          </a:p>
          <a:p>
            <a:r>
              <a:rPr lang="en-US" sz="2000" dirty="0" err="1"/>
              <a:t>document.getElementsByClassName</a:t>
            </a:r>
            <a:r>
              <a:rPr lang="en-US" sz="2000" dirty="0"/>
              <a:t>(name)	                           </a:t>
            </a:r>
            <a:r>
              <a:rPr lang="en-US" sz="2000" b="1" dirty="0"/>
              <a:t>Find elements by class name</a:t>
            </a:r>
          </a:p>
          <a:p>
            <a:r>
              <a:rPr lang="en-US" sz="2000" dirty="0" err="1"/>
              <a:t>document.getElementsByName</a:t>
            </a:r>
            <a:r>
              <a:rPr lang="en-US" sz="2000" dirty="0"/>
              <a:t>(name)                                             </a:t>
            </a:r>
            <a:r>
              <a:rPr lang="en-US" sz="2000" b="1" dirty="0"/>
              <a:t>Find elements by name</a:t>
            </a:r>
          </a:p>
        </p:txBody>
      </p:sp>
      <p:cxnSp>
        <p:nvCxnSpPr>
          <p:cNvPr id="4" name="Straight Arrow Connector 3">
            <a:extLst>
              <a:ext uri="{FF2B5EF4-FFF2-40B4-BE49-F238E27FC236}">
                <a16:creationId xmlns:a16="http://schemas.microsoft.com/office/drawing/2014/main" id="{7858C3C4-B149-4449-8BAD-ED4E0EF0D617}"/>
              </a:ext>
            </a:extLst>
          </p:cNvPr>
          <p:cNvCxnSpPr>
            <a:cxnSpLocks/>
          </p:cNvCxnSpPr>
          <p:nvPr/>
        </p:nvCxnSpPr>
        <p:spPr>
          <a:xfrm>
            <a:off x="4433777" y="2615609"/>
            <a:ext cx="291332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350D5F7-6A53-48B6-839C-4BD8037F69CD}"/>
              </a:ext>
            </a:extLst>
          </p:cNvPr>
          <p:cNvCxnSpPr>
            <a:cxnSpLocks/>
          </p:cNvCxnSpPr>
          <p:nvPr/>
        </p:nvCxnSpPr>
        <p:spPr>
          <a:xfrm>
            <a:off x="5968410" y="2927498"/>
            <a:ext cx="150982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95BBC00-7EBE-401D-B8A4-25A6471815E9}"/>
              </a:ext>
            </a:extLst>
          </p:cNvPr>
          <p:cNvCxnSpPr>
            <a:cxnSpLocks/>
          </p:cNvCxnSpPr>
          <p:nvPr/>
        </p:nvCxnSpPr>
        <p:spPr>
          <a:xfrm>
            <a:off x="6096000" y="3271284"/>
            <a:ext cx="150982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073F154-502E-43CC-8EEB-EAE3A78A08CA}"/>
              </a:ext>
            </a:extLst>
          </p:cNvPr>
          <p:cNvCxnSpPr>
            <a:cxnSpLocks/>
          </p:cNvCxnSpPr>
          <p:nvPr/>
        </p:nvCxnSpPr>
        <p:spPr>
          <a:xfrm>
            <a:off x="5369443" y="3558363"/>
            <a:ext cx="307280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BCB8C3F-82FB-43CD-AD13-056DCD978358}"/>
              </a:ext>
            </a:extLst>
          </p:cNvPr>
          <p:cNvSpPr/>
          <p:nvPr/>
        </p:nvSpPr>
        <p:spPr>
          <a:xfrm>
            <a:off x="4598255" y="1418089"/>
            <a:ext cx="3727037" cy="461665"/>
          </a:xfrm>
          <a:prstGeom prst="rect">
            <a:avLst/>
          </a:prstGeom>
        </p:spPr>
        <p:txBody>
          <a:bodyPr wrap="square">
            <a:spAutoFit/>
          </a:bodyPr>
          <a:lstStyle/>
          <a:p>
            <a:r>
              <a:rPr lang="en-US" sz="2400" b="1" dirty="0">
                <a:solidFill>
                  <a:srgbClr val="FF0000"/>
                </a:solidFill>
                <a:latin typeface="Segoe UI" panose="020B0502040204020203" pitchFamily="34" charset="0"/>
              </a:rPr>
              <a:t>Finding HTML Elements</a:t>
            </a:r>
            <a:endParaRPr lang="en-US" sz="2400" b="1" i="0" dirty="0">
              <a:solidFill>
                <a:srgbClr val="FF0000"/>
              </a:solidFill>
              <a:effectLst/>
              <a:latin typeface="Segoe UI" panose="020B0502040204020203" pitchFamily="34" charset="0"/>
            </a:endParaRPr>
          </a:p>
        </p:txBody>
      </p:sp>
    </p:spTree>
    <p:extLst>
      <p:ext uri="{BB962C8B-B14F-4D97-AF65-F5344CB8AC3E}">
        <p14:creationId xmlns:p14="http://schemas.microsoft.com/office/powerpoint/2010/main" val="408565303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560</TotalTime>
  <Words>255</Words>
  <Application>Microsoft Office PowerPoint</Application>
  <PresentationFormat>Widescreen</PresentationFormat>
  <Paragraphs>33</Paragraphs>
  <Slides>8</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3" baseType="lpstr">
      <vt:lpstr>Arial</vt:lpstr>
      <vt:lpstr>Century Gothic</vt:lpstr>
      <vt:lpstr>Segoe UI</vt:lpstr>
      <vt:lpstr>Vapor Trail</vt:lpstr>
      <vt:lpstr>Bitmap Image</vt:lpstr>
      <vt:lpstr>JavaScript 2</vt:lpstr>
      <vt:lpstr>Object</vt:lpstr>
      <vt:lpstr>Date Object</vt:lpstr>
      <vt:lpstr>String Object</vt:lpstr>
      <vt:lpstr>Mouse Events</vt:lpstr>
      <vt:lpstr>Focus and Selection Events  </vt:lpstr>
      <vt:lpstr>DOM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2</dc:title>
  <dc:creator>Nashmia Khan</dc:creator>
  <cp:lastModifiedBy>Fariha Shafiq</cp:lastModifiedBy>
  <cp:revision>17</cp:revision>
  <dcterms:created xsi:type="dcterms:W3CDTF">2023-06-07T09:20:33Z</dcterms:created>
  <dcterms:modified xsi:type="dcterms:W3CDTF">2024-01-26T14:13:48Z</dcterms:modified>
</cp:coreProperties>
</file>