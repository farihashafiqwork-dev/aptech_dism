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7.jpg" ContentType="image/jpeg"/>
  <Override PartName="/ppt/media/image8.jpg" ContentType="image/jpeg"/>
  <Override PartName="/ppt/media/image10.jpg" ContentType="image/jpeg"/>
  <Override PartName="/ppt/media/image12.jpg" ContentType="image/jpeg"/>
  <Override PartName="/ppt/media/image13.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6" r:id="rId1"/>
  </p:sldMasterIdLst>
  <p:notesMasterIdLst>
    <p:notesMasterId r:id="rId58"/>
  </p:notesMasterIdLst>
  <p:sldIdLst>
    <p:sldId id="256" r:id="rId2"/>
    <p:sldId id="258" r:id="rId3"/>
    <p:sldId id="259" r:id="rId4"/>
    <p:sldId id="264" r:id="rId5"/>
    <p:sldId id="269" r:id="rId6"/>
    <p:sldId id="270" r:id="rId7"/>
    <p:sldId id="271" r:id="rId8"/>
    <p:sldId id="273" r:id="rId9"/>
    <p:sldId id="265" r:id="rId10"/>
    <p:sldId id="262" r:id="rId11"/>
    <p:sldId id="260" r:id="rId12"/>
    <p:sldId id="263" r:id="rId13"/>
    <p:sldId id="261" r:id="rId14"/>
    <p:sldId id="272" r:id="rId15"/>
    <p:sldId id="266" r:id="rId16"/>
    <p:sldId id="267" r:id="rId17"/>
    <p:sldId id="268" r:id="rId18"/>
    <p:sldId id="274" r:id="rId19"/>
    <p:sldId id="275" r:id="rId20"/>
    <p:sldId id="278" r:id="rId21"/>
    <p:sldId id="276" r:id="rId22"/>
    <p:sldId id="279" r:id="rId23"/>
    <p:sldId id="281" r:id="rId24"/>
    <p:sldId id="283" r:id="rId25"/>
    <p:sldId id="284" r:id="rId26"/>
    <p:sldId id="286" r:id="rId27"/>
    <p:sldId id="287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19" r:id="rId48"/>
    <p:sldId id="320" r:id="rId49"/>
    <p:sldId id="321" r:id="rId50"/>
    <p:sldId id="322" r:id="rId51"/>
    <p:sldId id="323" r:id="rId52"/>
    <p:sldId id="324" r:id="rId53"/>
    <p:sldId id="325" r:id="rId54"/>
    <p:sldId id="316" r:id="rId55"/>
    <p:sldId id="317" r:id="rId56"/>
    <p:sldId id="318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4DB26B-0E4D-4D2C-B346-439FAE5B4361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80ECAD-40F5-4EFE-A077-2E918C6323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920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7" name="Google Shape;427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735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011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378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286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481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519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54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702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702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968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123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6341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bc.com/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B8C0A-C5BC-4A91-A5FF-83A1E612DD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xml</a:t>
            </a:r>
          </a:p>
        </p:txBody>
      </p:sp>
    </p:spTree>
    <p:extLst>
      <p:ext uri="{BB962C8B-B14F-4D97-AF65-F5344CB8AC3E}">
        <p14:creationId xmlns:p14="http://schemas.microsoft.com/office/powerpoint/2010/main" val="3518669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72564-08C9-4E67-9B8D-EEADEE7A3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XML?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190FD5F-4627-4F87-8F60-A5C09AD65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631" y="2286000"/>
            <a:ext cx="5474328" cy="3884361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XML stands for eXtensible Markup Language</a:t>
            </a:r>
          </a:p>
          <a:p>
            <a:pPr algn="just"/>
            <a:r>
              <a:rPr lang="en-US" dirty="0"/>
              <a:t>XML is a markup language much like HTML</a:t>
            </a:r>
          </a:p>
          <a:p>
            <a:pPr algn="just"/>
            <a:r>
              <a:rPr lang="en-US" dirty="0"/>
              <a:t>XML was designed to store and transport data</a:t>
            </a:r>
          </a:p>
          <a:p>
            <a:pPr algn="just"/>
            <a:r>
              <a:rPr lang="en-US" dirty="0"/>
              <a:t>XML was designed to be self-descriptive</a:t>
            </a:r>
          </a:p>
          <a:p>
            <a:pPr algn="just"/>
            <a:r>
              <a:rPr lang="en-US" dirty="0"/>
              <a:t>XML is a W3C Recommendation</a:t>
            </a:r>
          </a:p>
          <a:p>
            <a:pPr algn="just"/>
            <a:r>
              <a:rPr lang="en-US" dirty="0"/>
              <a:t>XML uses a Document Type Definition (DTD) or an XML Schema to describe data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6E20BF-35E5-4C54-A578-A5E3559B8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310" y="2286000"/>
            <a:ext cx="5224153" cy="33474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4207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72564-08C9-4E67-9B8D-EEADEE7A3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XML</a:t>
            </a:r>
            <a:r>
              <a:rPr lang="en-US" spc="-55" dirty="0"/>
              <a:t> </a:t>
            </a:r>
            <a:r>
              <a:rPr lang="en-US" dirty="0"/>
              <a:t>Markup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190FD5F-4627-4F87-8F60-A5C09AD65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532" y="2463276"/>
            <a:ext cx="10344040" cy="3884361"/>
          </a:xfrm>
        </p:spPr>
        <p:txBody>
          <a:bodyPr>
            <a:normAutofit/>
          </a:bodyPr>
          <a:lstStyle/>
          <a:p>
            <a:pPr marL="354965" indent="-342900" algn="just">
              <a:lnSpc>
                <a:spcPct val="100000"/>
              </a:lnSpc>
              <a:spcBef>
                <a:spcPts val="100"/>
              </a:spcBef>
              <a:buSzPct val="60416"/>
              <a:buFont typeface="Wingdings" panose="05000000000000000000" pitchFamily="2" charset="2"/>
              <a:buChar char="§"/>
              <a:tabLst>
                <a:tab pos="354965" algn="l"/>
                <a:tab pos="355600" algn="l"/>
              </a:tabLst>
            </a:pPr>
            <a:r>
              <a:rPr lang="en-US" sz="2000" spc="-5" dirty="0">
                <a:latin typeface="Tahoma"/>
                <a:cs typeface="Tahoma"/>
              </a:rPr>
              <a:t>XML markup</a:t>
            </a:r>
            <a:r>
              <a:rPr lang="en-US" sz="2000" spc="-2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defines</a:t>
            </a:r>
            <a:r>
              <a:rPr lang="en-US" sz="2000" spc="-15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the</a:t>
            </a:r>
            <a:r>
              <a:rPr lang="en-US" sz="2000" spc="-1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physical and</a:t>
            </a:r>
            <a:r>
              <a:rPr lang="en-US" sz="2000" spc="-1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logical</a:t>
            </a:r>
            <a:r>
              <a:rPr lang="en-US" sz="2000" spc="-1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layout</a:t>
            </a:r>
            <a:r>
              <a:rPr lang="en-US" sz="2000" spc="-1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of </a:t>
            </a:r>
            <a:r>
              <a:rPr lang="en-US" sz="2000" spc="-5" dirty="0">
                <a:latin typeface="Tahoma"/>
                <a:cs typeface="Tahoma"/>
              </a:rPr>
              <a:t>the</a:t>
            </a:r>
            <a:r>
              <a:rPr lang="en-US" sz="2000" spc="-45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document.</a:t>
            </a:r>
          </a:p>
          <a:p>
            <a:pPr marL="12065" indent="0" algn="just">
              <a:lnSpc>
                <a:spcPct val="100000"/>
              </a:lnSpc>
              <a:spcBef>
                <a:spcPts val="100"/>
              </a:spcBef>
              <a:buSzPct val="60416"/>
              <a:buNone/>
              <a:tabLst>
                <a:tab pos="354965" algn="l"/>
                <a:tab pos="355600" algn="l"/>
              </a:tabLst>
            </a:pPr>
            <a:endParaRPr lang="en-US" sz="2000" spc="-5" dirty="0">
              <a:latin typeface="Tahoma"/>
              <a:cs typeface="Tahoma"/>
            </a:endParaRPr>
          </a:p>
          <a:p>
            <a:pPr marL="354965" indent="-342900" algn="just">
              <a:lnSpc>
                <a:spcPct val="100000"/>
              </a:lnSpc>
              <a:spcBef>
                <a:spcPts val="100"/>
              </a:spcBef>
              <a:buSzPct val="60416"/>
              <a:buFont typeface="Wingdings" panose="05000000000000000000" pitchFamily="2" charset="2"/>
              <a:buChar char="§"/>
              <a:tabLst>
                <a:tab pos="354965" algn="l"/>
                <a:tab pos="355600" algn="l"/>
              </a:tabLst>
            </a:pPr>
            <a:r>
              <a:rPr lang="en-US" sz="2000" dirty="0">
                <a:latin typeface="Tahoma"/>
                <a:cs typeface="Tahoma"/>
              </a:rPr>
              <a:t> XML</a:t>
            </a:r>
            <a:r>
              <a:rPr lang="en-US" sz="2000" spc="-2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markup</a:t>
            </a:r>
            <a:r>
              <a:rPr lang="en-US" sz="2000" spc="-3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divides</a:t>
            </a:r>
            <a:r>
              <a:rPr lang="en-US" sz="2000" spc="-2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a</a:t>
            </a:r>
            <a:r>
              <a:rPr lang="en-US" sz="2000" spc="-1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document</a:t>
            </a:r>
            <a:r>
              <a:rPr lang="en-US" sz="2000" spc="-3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into</a:t>
            </a:r>
            <a:r>
              <a:rPr lang="en-US" sz="2000" spc="-30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separate </a:t>
            </a:r>
            <a:r>
              <a:rPr lang="en-US" sz="2000" spc="-73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information</a:t>
            </a:r>
            <a:r>
              <a:rPr lang="en-US" sz="2000" spc="-40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containers</a:t>
            </a:r>
            <a:r>
              <a:rPr lang="en-US" sz="2000" spc="-20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called</a:t>
            </a:r>
            <a:r>
              <a:rPr lang="en-US" sz="2000" spc="-10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elements.</a:t>
            </a:r>
          </a:p>
          <a:p>
            <a:pPr marL="12065" indent="0" algn="just">
              <a:lnSpc>
                <a:spcPct val="100000"/>
              </a:lnSpc>
              <a:spcBef>
                <a:spcPts val="100"/>
              </a:spcBef>
              <a:buSzPct val="60416"/>
              <a:buNone/>
              <a:tabLst>
                <a:tab pos="354965" algn="l"/>
                <a:tab pos="355600" algn="l"/>
              </a:tabLst>
            </a:pPr>
            <a:endParaRPr lang="en-US" sz="2000" spc="-5" dirty="0">
              <a:latin typeface="Tahoma"/>
              <a:cs typeface="Tahoma"/>
            </a:endParaRPr>
          </a:p>
          <a:p>
            <a:pPr marL="354965" indent="-342900" algn="just">
              <a:lnSpc>
                <a:spcPct val="100000"/>
              </a:lnSpc>
              <a:spcBef>
                <a:spcPts val="100"/>
              </a:spcBef>
              <a:buSzPct val="60416"/>
              <a:buFont typeface="Wingdings" panose="05000000000000000000" pitchFamily="2" charset="2"/>
              <a:buChar char="§"/>
              <a:tabLst>
                <a:tab pos="354965" algn="l"/>
                <a:tab pos="355600" algn="l"/>
              </a:tabLst>
            </a:pPr>
            <a:r>
              <a:rPr lang="en-US" sz="2000" dirty="0">
                <a:latin typeface="Tahoma"/>
                <a:cs typeface="Tahoma"/>
              </a:rPr>
              <a:t>A document </a:t>
            </a:r>
            <a:r>
              <a:rPr lang="en-US" sz="2000" spc="-5" dirty="0">
                <a:latin typeface="Tahoma"/>
                <a:cs typeface="Tahoma"/>
              </a:rPr>
              <a:t>consists </a:t>
            </a:r>
            <a:r>
              <a:rPr lang="en-US" sz="2000" dirty="0">
                <a:latin typeface="Tahoma"/>
                <a:cs typeface="Tahoma"/>
              </a:rPr>
              <a:t>of one </a:t>
            </a:r>
            <a:r>
              <a:rPr lang="en-US" sz="2000" spc="-5" dirty="0">
                <a:latin typeface="Tahoma"/>
                <a:cs typeface="Tahoma"/>
              </a:rPr>
              <a:t>outermost element, </a:t>
            </a:r>
            <a:r>
              <a:rPr lang="en-US" sz="2000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calle</a:t>
            </a:r>
            <a:r>
              <a:rPr lang="en-US" sz="2000" dirty="0">
                <a:latin typeface="Tahoma"/>
                <a:cs typeface="Tahoma"/>
              </a:rPr>
              <a:t>d</a:t>
            </a:r>
            <a:r>
              <a:rPr lang="en-US" sz="2000" spc="15" dirty="0">
                <a:latin typeface="Tahoma"/>
                <a:cs typeface="Tahoma"/>
              </a:rPr>
              <a:t> </a:t>
            </a:r>
            <a:r>
              <a:rPr lang="en-US" sz="2000" dirty="0">
                <a:latin typeface="Courier New"/>
                <a:cs typeface="Courier New"/>
              </a:rPr>
              <a:t>root</a:t>
            </a:r>
            <a:r>
              <a:rPr lang="en-US" sz="2000" spc="-715" dirty="0">
                <a:latin typeface="Courier New"/>
                <a:cs typeface="Courier New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ele</a:t>
            </a:r>
            <a:r>
              <a:rPr lang="en-US" sz="2000" spc="-10" dirty="0">
                <a:latin typeface="Tahoma"/>
                <a:cs typeface="Tahoma"/>
              </a:rPr>
              <a:t>m</a:t>
            </a:r>
            <a:r>
              <a:rPr lang="en-US" sz="2000" spc="-5" dirty="0">
                <a:latin typeface="Tahoma"/>
                <a:cs typeface="Tahoma"/>
              </a:rPr>
              <a:t>en</a:t>
            </a:r>
            <a:r>
              <a:rPr lang="en-US" sz="2000" dirty="0">
                <a:latin typeface="Tahoma"/>
                <a:cs typeface="Tahoma"/>
              </a:rPr>
              <a:t>t </a:t>
            </a:r>
            <a:r>
              <a:rPr lang="en-US" sz="2000" spc="-5" dirty="0">
                <a:latin typeface="Tahoma"/>
                <a:cs typeface="Tahoma"/>
              </a:rPr>
              <a:t>tha</a:t>
            </a:r>
            <a:r>
              <a:rPr lang="en-US" sz="2000" dirty="0">
                <a:latin typeface="Tahoma"/>
                <a:cs typeface="Tahoma"/>
              </a:rPr>
              <a:t>t</a:t>
            </a:r>
            <a:r>
              <a:rPr lang="en-US" sz="2000" spc="-10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contai</a:t>
            </a:r>
            <a:r>
              <a:rPr lang="en-US" sz="2000" spc="5" dirty="0">
                <a:latin typeface="Tahoma"/>
                <a:cs typeface="Tahoma"/>
              </a:rPr>
              <a:t>n</a:t>
            </a:r>
            <a:r>
              <a:rPr lang="en-US" sz="2000" dirty="0">
                <a:latin typeface="Tahoma"/>
                <a:cs typeface="Tahoma"/>
              </a:rPr>
              <a:t>s</a:t>
            </a:r>
            <a:r>
              <a:rPr lang="en-US" sz="2000" spc="-2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all the</a:t>
            </a:r>
            <a:r>
              <a:rPr lang="en-US" sz="2000" spc="-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ot</a:t>
            </a:r>
            <a:r>
              <a:rPr lang="en-US" sz="2000" spc="5" dirty="0">
                <a:latin typeface="Tahoma"/>
                <a:cs typeface="Tahoma"/>
              </a:rPr>
              <a:t>h</a:t>
            </a:r>
            <a:r>
              <a:rPr lang="en-US" sz="2000" spc="-5" dirty="0">
                <a:latin typeface="Tahoma"/>
                <a:cs typeface="Tahoma"/>
              </a:rPr>
              <a:t>er  elements, </a:t>
            </a:r>
            <a:r>
              <a:rPr lang="en-US" sz="2000" dirty="0">
                <a:latin typeface="Tahoma"/>
                <a:cs typeface="Tahoma"/>
              </a:rPr>
              <a:t>plus </a:t>
            </a:r>
            <a:r>
              <a:rPr lang="en-US" sz="2000" spc="-5" dirty="0">
                <a:latin typeface="Tahoma"/>
                <a:cs typeface="Tahoma"/>
              </a:rPr>
              <a:t>some </a:t>
            </a:r>
            <a:r>
              <a:rPr lang="en-US" sz="2000" dirty="0">
                <a:latin typeface="Tahoma"/>
                <a:cs typeface="Tahoma"/>
              </a:rPr>
              <a:t>optional administrative </a:t>
            </a:r>
            <a:r>
              <a:rPr lang="en-US" sz="2000" spc="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information</a:t>
            </a:r>
            <a:r>
              <a:rPr lang="en-US" sz="2000" spc="-4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at</a:t>
            </a:r>
            <a:r>
              <a:rPr lang="en-US" sz="2000" spc="-5" dirty="0">
                <a:latin typeface="Tahoma"/>
                <a:cs typeface="Tahoma"/>
              </a:rPr>
              <a:t> the</a:t>
            </a:r>
            <a:r>
              <a:rPr lang="en-US" sz="2000" spc="-15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top,</a:t>
            </a:r>
            <a:r>
              <a:rPr lang="en-US" sz="2000" spc="-3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known</a:t>
            </a:r>
            <a:r>
              <a:rPr lang="en-US" sz="2000" spc="-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as</a:t>
            </a:r>
            <a:r>
              <a:rPr lang="en-US" sz="2000" spc="-1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XML</a:t>
            </a:r>
            <a:r>
              <a:rPr lang="en-US" sz="2000" spc="-5" dirty="0">
                <a:latin typeface="Tahoma"/>
                <a:cs typeface="Tahoma"/>
              </a:rPr>
              <a:t> declaration</a:t>
            </a:r>
            <a:endParaRPr lang="en-US" sz="2000" dirty="0">
              <a:latin typeface="Tahoma"/>
              <a:cs typeface="Tahoma"/>
            </a:endParaRPr>
          </a:p>
          <a:p>
            <a:pPr marL="354965" indent="-342900">
              <a:lnSpc>
                <a:spcPct val="100000"/>
              </a:lnSpc>
              <a:spcBef>
                <a:spcPts val="100"/>
              </a:spcBef>
              <a:buSzPct val="60416"/>
              <a:buFont typeface="Wingdings" panose="05000000000000000000" pitchFamily="2" charset="2"/>
              <a:buChar char="§"/>
              <a:tabLst>
                <a:tab pos="354965" algn="l"/>
                <a:tab pos="355600" algn="l"/>
              </a:tabLst>
            </a:pPr>
            <a:endParaRPr lang="en-US" sz="2000" dirty="0">
              <a:latin typeface="Tahoma"/>
              <a:cs typeface="Tahoma"/>
            </a:endParaRPr>
          </a:p>
          <a:p>
            <a:pPr marL="354965" indent="-342900">
              <a:lnSpc>
                <a:spcPct val="100000"/>
              </a:lnSpc>
              <a:spcBef>
                <a:spcPts val="100"/>
              </a:spcBef>
              <a:buSzPct val="60416"/>
              <a:buFont typeface="Wingdings" panose="05000000000000000000" pitchFamily="2" charset="2"/>
              <a:buChar char="§"/>
              <a:tabLst>
                <a:tab pos="354965" algn="l"/>
                <a:tab pos="355600" algn="l"/>
              </a:tabLst>
            </a:pPr>
            <a:endParaRPr lang="en-US" sz="2000" spc="-5" dirty="0">
              <a:latin typeface="Tahoma"/>
              <a:cs typeface="Tahoma"/>
            </a:endParaRPr>
          </a:p>
          <a:p>
            <a:pPr marL="354965" indent="-342900">
              <a:lnSpc>
                <a:spcPct val="100000"/>
              </a:lnSpc>
              <a:spcBef>
                <a:spcPts val="100"/>
              </a:spcBef>
              <a:buSzPct val="60416"/>
              <a:buFont typeface="Wingdings" panose="05000000000000000000" pitchFamily="2" charset="2"/>
              <a:buChar char="§"/>
              <a:tabLst>
                <a:tab pos="354965" algn="l"/>
                <a:tab pos="355600" algn="l"/>
              </a:tabLst>
            </a:pPr>
            <a:endParaRPr lang="en-US" sz="2000" spc="-5" dirty="0">
              <a:latin typeface="Tahoma"/>
              <a:cs typeface="Tahoma"/>
            </a:endParaRPr>
          </a:p>
          <a:p>
            <a:pPr marL="12065" marR="1003935" indent="0">
              <a:lnSpc>
                <a:spcPct val="100000"/>
              </a:lnSpc>
              <a:spcBef>
                <a:spcPts val="5"/>
              </a:spcBef>
              <a:buClr>
                <a:srgbClr val="3333CC"/>
              </a:buClr>
              <a:buSzPct val="60416"/>
              <a:buNone/>
              <a:tabLst>
                <a:tab pos="354965" algn="l"/>
                <a:tab pos="355600" algn="l"/>
              </a:tabLst>
            </a:pPr>
            <a:endParaRPr lang="en-US" sz="2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3333CC"/>
              </a:buClr>
              <a:buFont typeface="Wingdings"/>
              <a:buChar char=""/>
            </a:pPr>
            <a:endParaRPr lang="en-US" sz="3200" dirty="0">
              <a:latin typeface="Tahoma"/>
              <a:cs typeface="Tahoma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981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6C401-C7DA-4747-932C-8E161BC63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btw html and xml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C771961-2E23-484F-AFFF-7C56A1487F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576860"/>
              </p:ext>
            </p:extLst>
          </p:nvPr>
        </p:nvGraphicFramePr>
        <p:xfrm>
          <a:off x="2229181" y="2884856"/>
          <a:ext cx="7839851" cy="22877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01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8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5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Courier New"/>
                          <a:cs typeface="Courier New"/>
                        </a:rPr>
                        <a:t>HTML</a:t>
                      </a:r>
                      <a:endParaRPr sz="2400" dirty="0">
                        <a:solidFill>
                          <a:schemeClr val="bg1">
                            <a:lumMod val="85000"/>
                            <a:lumOff val="15000"/>
                          </a:schemeClr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400" b="1" spc="-5" dirty="0">
                          <a:solidFill>
                            <a:schemeClr val="bg1">
                              <a:lumMod val="85000"/>
                              <a:lumOff val="15000"/>
                            </a:schemeClr>
                          </a:solidFill>
                          <a:latin typeface="Courier New"/>
                          <a:cs typeface="Courier New"/>
                        </a:rPr>
                        <a:t>XML</a:t>
                      </a:r>
                      <a:endParaRPr sz="2400" dirty="0">
                        <a:solidFill>
                          <a:schemeClr val="bg1">
                            <a:lumMod val="85000"/>
                            <a:lumOff val="15000"/>
                          </a:schemeClr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39">
                <a:tc>
                  <a:txBody>
                    <a:bodyPr/>
                    <a:lstStyle/>
                    <a:p>
                      <a:pPr marL="91440" marR="25082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HTML</a:t>
                      </a:r>
                      <a:r>
                        <a:rPr sz="20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was</a:t>
                      </a:r>
                      <a:r>
                        <a:rPr sz="20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designed</a:t>
                      </a:r>
                      <a:r>
                        <a:rPr sz="2000" spc="-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to display </a:t>
                      </a:r>
                      <a:r>
                        <a:rPr sz="2000" spc="-6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data.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47752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XML</a:t>
                      </a:r>
                      <a:r>
                        <a:rPr sz="20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was</a:t>
                      </a:r>
                      <a:r>
                        <a:rPr sz="20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designed</a:t>
                      </a:r>
                      <a:r>
                        <a:rPr sz="2000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to</a:t>
                      </a:r>
                      <a:r>
                        <a:rPr sz="20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carry </a:t>
                      </a:r>
                      <a:r>
                        <a:rPr sz="2000" spc="-6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data.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298">
                <a:tc>
                  <a:txBody>
                    <a:bodyPr/>
                    <a:lstStyle/>
                    <a:p>
                      <a:pPr marL="91440" marR="58991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HTML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displays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data and </a:t>
                      </a:r>
                      <a:r>
                        <a:rPr sz="2000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focuses</a:t>
                      </a:r>
                      <a:r>
                        <a:rPr sz="2000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on</a:t>
                      </a:r>
                      <a:r>
                        <a:rPr sz="20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how</a:t>
                      </a:r>
                      <a:r>
                        <a:rPr sz="20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data</a:t>
                      </a:r>
                      <a:r>
                        <a:rPr sz="20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looks.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76136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XML describes data and </a:t>
                      </a:r>
                      <a:r>
                        <a:rPr sz="2000" spc="-6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focuses</a:t>
                      </a:r>
                      <a:r>
                        <a:rPr sz="2000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on</a:t>
                      </a:r>
                      <a:r>
                        <a:rPr sz="20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what</a:t>
                      </a:r>
                      <a:r>
                        <a:rPr sz="20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data</a:t>
                      </a:r>
                      <a:r>
                        <a:rPr sz="20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dirty="0">
                          <a:latin typeface="Tahoma"/>
                          <a:cs typeface="Tahoma"/>
                        </a:rPr>
                        <a:t>is.</a:t>
                      </a: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000" dirty="0">
                          <a:latin typeface="Tahoma"/>
                          <a:cs typeface="Tahoma"/>
                        </a:rPr>
                        <a:t>HTML</a:t>
                      </a:r>
                      <a:r>
                        <a:rPr sz="20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displays</a:t>
                      </a:r>
                      <a:r>
                        <a:rPr sz="20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000" spc="-5" dirty="0">
                          <a:latin typeface="Tahoma"/>
                          <a:cs typeface="Tahoma"/>
                        </a:rPr>
                        <a:t>information.</a:t>
                      </a:r>
                      <a:endParaRPr sz="2000" dirty="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589915" algn="l" defTabSz="914400" rtl="0" eaLnBrk="1" latinLnBrk="0" hangingPunct="1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kern="1200" dirty="0">
                          <a:solidFill>
                            <a:schemeClr val="tx1"/>
                          </a:solidFill>
                          <a:latin typeface="Tahoma"/>
                          <a:ea typeface="+mn-ea"/>
                          <a:cs typeface="Tahoma"/>
                        </a:rPr>
                        <a:t>XML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ahoma"/>
                          <a:ea typeface="+mn-ea"/>
                          <a:cs typeface="Tahoma"/>
                        </a:rPr>
                        <a:t> </a:t>
                      </a:r>
                      <a:r>
                        <a:rPr sz="2000" kern="1200" dirty="0">
                          <a:solidFill>
                            <a:schemeClr val="tx1"/>
                          </a:solidFill>
                          <a:latin typeface="Tahoma"/>
                          <a:ea typeface="+mn-ea"/>
                          <a:cs typeface="Tahoma"/>
                        </a:rPr>
                        <a:t>describes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Tahoma"/>
                          <a:ea typeface="+mn-ea"/>
                          <a:cs typeface="Tahoma"/>
                        </a:rPr>
                        <a:t> </a:t>
                      </a:r>
                      <a:r>
                        <a:rPr sz="2000" kern="1200" dirty="0">
                          <a:solidFill>
                            <a:schemeClr val="tx1"/>
                          </a:solidFill>
                          <a:latin typeface="Tahoma"/>
                          <a:ea typeface="+mn-ea"/>
                          <a:cs typeface="Tahoma"/>
                        </a:rPr>
                        <a:t>information.</a:t>
                      </a: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0147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76227-B041-446F-9FB6-B2E79EE79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Parsers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A5295-BB3B-4A26-8B60-52701F04E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69265" indent="-457200">
              <a:lnSpc>
                <a:spcPct val="100000"/>
              </a:lnSpc>
              <a:spcBef>
                <a:spcPts val="575"/>
              </a:spcBef>
              <a:buSzPct val="60000"/>
              <a:buFont typeface="+mj-lt"/>
              <a:buAutoNum type="arabicPeriod"/>
              <a:tabLst>
                <a:tab pos="354965" algn="l"/>
                <a:tab pos="355600" algn="l"/>
              </a:tabLst>
            </a:pPr>
            <a:r>
              <a:rPr lang="en-US" sz="2000" b="1" dirty="0">
                <a:latin typeface="Tahoma"/>
                <a:cs typeface="Tahoma"/>
              </a:rPr>
              <a:t>An</a:t>
            </a:r>
            <a:r>
              <a:rPr lang="en-US" sz="2000" b="1" spc="-25" dirty="0">
                <a:latin typeface="Tahoma"/>
                <a:cs typeface="Tahoma"/>
              </a:rPr>
              <a:t> </a:t>
            </a:r>
            <a:r>
              <a:rPr lang="en-US" sz="2000" b="1" spc="-5" dirty="0">
                <a:latin typeface="Tahoma"/>
                <a:cs typeface="Tahoma"/>
              </a:rPr>
              <a:t>XML</a:t>
            </a:r>
            <a:r>
              <a:rPr lang="en-US" sz="2000" b="1" spc="-25" dirty="0">
                <a:latin typeface="Tahoma"/>
                <a:cs typeface="Tahoma"/>
              </a:rPr>
              <a:t> </a:t>
            </a:r>
            <a:r>
              <a:rPr lang="en-US" sz="2000" b="1" spc="-5" dirty="0">
                <a:latin typeface="Tahoma"/>
                <a:cs typeface="Tahoma"/>
              </a:rPr>
              <a:t>parser:</a:t>
            </a:r>
            <a:endParaRPr lang="en-US" sz="2000" dirty="0">
              <a:latin typeface="Tahoma"/>
              <a:cs typeface="Tahoma"/>
            </a:endParaRPr>
          </a:p>
          <a:p>
            <a:pPr marL="811530" lvl="1" indent="-342900">
              <a:lnSpc>
                <a:spcPct val="100000"/>
              </a:lnSpc>
              <a:spcBef>
                <a:spcPts val="430"/>
              </a:spcBef>
              <a:buSzPct val="55555"/>
              <a:buFont typeface="Wingdings" panose="05000000000000000000" pitchFamily="2" charset="2"/>
              <a:buChar char="§"/>
              <a:tabLst>
                <a:tab pos="756285" algn="l"/>
                <a:tab pos="756920" algn="l"/>
              </a:tabLst>
            </a:pPr>
            <a:r>
              <a:rPr lang="en-US" sz="1800" dirty="0">
                <a:latin typeface="Tahoma"/>
                <a:cs typeface="Tahoma"/>
              </a:rPr>
              <a:t>Reads</a:t>
            </a:r>
            <a:r>
              <a:rPr lang="en-US" sz="1800" spc="-25" dirty="0">
                <a:latin typeface="Tahoma"/>
                <a:cs typeface="Tahoma"/>
              </a:rPr>
              <a:t> </a:t>
            </a:r>
            <a:r>
              <a:rPr lang="en-US" sz="1800" spc="-5" dirty="0">
                <a:latin typeface="Tahoma"/>
                <a:cs typeface="Tahoma"/>
              </a:rPr>
              <a:t>the</a:t>
            </a:r>
            <a:r>
              <a:rPr lang="en-US" sz="1800" spc="-40" dirty="0">
                <a:latin typeface="Tahoma"/>
                <a:cs typeface="Tahoma"/>
              </a:rPr>
              <a:t> </a:t>
            </a:r>
            <a:r>
              <a:rPr lang="en-US" sz="1800" spc="-5" dirty="0">
                <a:latin typeface="Tahoma"/>
                <a:cs typeface="Tahoma"/>
              </a:rPr>
              <a:t>document</a:t>
            </a:r>
            <a:endParaRPr lang="en-US" sz="1800" dirty="0">
              <a:latin typeface="Tahoma"/>
              <a:cs typeface="Tahoma"/>
            </a:endParaRPr>
          </a:p>
          <a:p>
            <a:pPr marL="811530" lvl="1" indent="-342900">
              <a:lnSpc>
                <a:spcPct val="100000"/>
              </a:lnSpc>
              <a:spcBef>
                <a:spcPts val="434"/>
              </a:spcBef>
              <a:buSzPct val="55555"/>
              <a:buFont typeface="Wingdings" panose="05000000000000000000" pitchFamily="2" charset="2"/>
              <a:buChar char="§"/>
              <a:tabLst>
                <a:tab pos="756285" algn="l"/>
                <a:tab pos="756920" algn="l"/>
              </a:tabLst>
            </a:pPr>
            <a:r>
              <a:rPr lang="en-US" sz="1800" spc="-5" dirty="0">
                <a:latin typeface="Tahoma"/>
                <a:cs typeface="Tahoma"/>
              </a:rPr>
              <a:t>Verifies</a:t>
            </a:r>
            <a:r>
              <a:rPr lang="en-US" sz="1800" spc="-20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it</a:t>
            </a:r>
            <a:r>
              <a:rPr lang="en-US" sz="1800" spc="-10" dirty="0">
                <a:latin typeface="Tahoma"/>
                <a:cs typeface="Tahoma"/>
              </a:rPr>
              <a:t> </a:t>
            </a:r>
            <a:r>
              <a:rPr lang="en-US" sz="1800" spc="-5" dirty="0">
                <a:latin typeface="Tahoma"/>
                <a:cs typeface="Tahoma"/>
              </a:rPr>
              <a:t>for</a:t>
            </a:r>
            <a:r>
              <a:rPr lang="en-US" sz="1800" spc="-15" dirty="0">
                <a:latin typeface="Tahoma"/>
                <a:cs typeface="Tahoma"/>
              </a:rPr>
              <a:t> </a:t>
            </a:r>
            <a:r>
              <a:rPr lang="en-US" sz="1800" spc="-5" dirty="0">
                <a:latin typeface="Tahoma"/>
                <a:cs typeface="Tahoma"/>
              </a:rPr>
              <a:t>its</a:t>
            </a:r>
            <a:r>
              <a:rPr lang="en-US" sz="1800" spc="-20" dirty="0">
                <a:latin typeface="Tahoma"/>
                <a:cs typeface="Tahoma"/>
              </a:rPr>
              <a:t> </a:t>
            </a:r>
            <a:r>
              <a:rPr lang="en-US" sz="1800" spc="-5" dirty="0">
                <a:latin typeface="Tahoma"/>
                <a:cs typeface="Tahoma"/>
              </a:rPr>
              <a:t>well-formedness</a:t>
            </a:r>
            <a:endParaRPr lang="en-US" sz="1800" dirty="0">
              <a:latin typeface="Tahoma"/>
              <a:cs typeface="Tahoma"/>
            </a:endParaRPr>
          </a:p>
          <a:p>
            <a:pPr marL="811530" lvl="1" indent="-342900">
              <a:lnSpc>
                <a:spcPct val="100000"/>
              </a:lnSpc>
              <a:spcBef>
                <a:spcPts val="430"/>
              </a:spcBef>
              <a:buSzPct val="55555"/>
              <a:buFont typeface="Wingdings" panose="05000000000000000000" pitchFamily="2" charset="2"/>
              <a:buChar char="§"/>
              <a:tabLst>
                <a:tab pos="756285" algn="l"/>
                <a:tab pos="756920" algn="l"/>
              </a:tabLst>
            </a:pPr>
            <a:r>
              <a:rPr lang="en-US" sz="1800" dirty="0">
                <a:latin typeface="Tahoma"/>
                <a:cs typeface="Tahoma"/>
              </a:rPr>
              <a:t>After</a:t>
            </a:r>
            <a:r>
              <a:rPr lang="en-US" sz="1800" spc="-10" dirty="0">
                <a:latin typeface="Tahoma"/>
                <a:cs typeface="Tahoma"/>
              </a:rPr>
              <a:t> </a:t>
            </a:r>
            <a:r>
              <a:rPr lang="en-US" sz="1800" spc="-5" dirty="0">
                <a:latin typeface="Tahoma"/>
                <a:cs typeface="Tahoma"/>
              </a:rPr>
              <a:t>verification, converts</a:t>
            </a:r>
            <a:r>
              <a:rPr lang="en-US" sz="1800" spc="-10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it</a:t>
            </a:r>
            <a:r>
              <a:rPr lang="en-US" sz="1800" spc="-5" dirty="0">
                <a:latin typeface="Tahoma"/>
                <a:cs typeface="Tahoma"/>
              </a:rPr>
              <a:t> into </a:t>
            </a:r>
            <a:r>
              <a:rPr lang="en-US" sz="1800" dirty="0">
                <a:latin typeface="Tahoma"/>
                <a:cs typeface="Tahoma"/>
              </a:rPr>
              <a:t>a</a:t>
            </a:r>
            <a:r>
              <a:rPr lang="en-US" sz="1800" spc="-10" dirty="0">
                <a:latin typeface="Tahoma"/>
                <a:cs typeface="Tahoma"/>
              </a:rPr>
              <a:t> </a:t>
            </a:r>
            <a:r>
              <a:rPr lang="en-US" sz="1800" spc="-5" dirty="0">
                <a:latin typeface="Tahoma"/>
                <a:cs typeface="Tahoma"/>
              </a:rPr>
              <a:t>tree</a:t>
            </a:r>
            <a:r>
              <a:rPr lang="en-US" sz="1800" spc="-10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of</a:t>
            </a:r>
            <a:r>
              <a:rPr lang="en-US" sz="1800" spc="-5" dirty="0">
                <a:latin typeface="Tahoma"/>
                <a:cs typeface="Tahoma"/>
              </a:rPr>
              <a:t> elements</a:t>
            </a:r>
            <a:endParaRPr lang="en-US" sz="1800" dirty="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Wingdings" panose="05000000000000000000" pitchFamily="2" charset="2"/>
              <a:buChar char="§"/>
            </a:pPr>
            <a:endParaRPr lang="en-US" sz="2750" dirty="0">
              <a:latin typeface="Tahoma"/>
              <a:cs typeface="Tahoma"/>
            </a:endParaRPr>
          </a:p>
          <a:p>
            <a:pPr marL="469265" indent="-457200">
              <a:lnSpc>
                <a:spcPct val="100000"/>
              </a:lnSpc>
              <a:buSzPct val="60000"/>
              <a:buFont typeface="+mj-lt"/>
              <a:buAutoNum type="arabicPeriod"/>
              <a:tabLst>
                <a:tab pos="354965" algn="l"/>
                <a:tab pos="355600" algn="l"/>
              </a:tabLst>
            </a:pPr>
            <a:r>
              <a:rPr lang="en-US" sz="2000" b="1" spc="-5" dirty="0">
                <a:latin typeface="Tahoma"/>
                <a:cs typeface="Tahoma"/>
              </a:rPr>
              <a:t>Commonly</a:t>
            </a:r>
            <a:r>
              <a:rPr lang="en-US" sz="2000" b="1" spc="-15" dirty="0">
                <a:latin typeface="Tahoma"/>
                <a:cs typeface="Tahoma"/>
              </a:rPr>
              <a:t> </a:t>
            </a:r>
            <a:r>
              <a:rPr lang="en-US" sz="2000" b="1" spc="-5" dirty="0">
                <a:latin typeface="Tahoma"/>
                <a:cs typeface="Tahoma"/>
              </a:rPr>
              <a:t>used</a:t>
            </a:r>
            <a:r>
              <a:rPr lang="en-US" sz="2000" b="1" spc="-30" dirty="0">
                <a:latin typeface="Tahoma"/>
                <a:cs typeface="Tahoma"/>
              </a:rPr>
              <a:t> </a:t>
            </a:r>
            <a:r>
              <a:rPr lang="en-US" sz="2000" b="1" spc="-5" dirty="0">
                <a:latin typeface="Tahoma"/>
                <a:cs typeface="Tahoma"/>
              </a:rPr>
              <a:t>parsers:</a:t>
            </a:r>
            <a:endParaRPr lang="en-US" sz="2000" dirty="0">
              <a:latin typeface="Tahoma"/>
              <a:cs typeface="Tahoma"/>
            </a:endParaRPr>
          </a:p>
          <a:p>
            <a:pPr marL="811530" lvl="1" indent="-342900">
              <a:lnSpc>
                <a:spcPct val="100000"/>
              </a:lnSpc>
              <a:spcBef>
                <a:spcPts val="430"/>
              </a:spcBef>
              <a:buSzPct val="55555"/>
              <a:buFont typeface="Wingdings" panose="05000000000000000000" pitchFamily="2" charset="2"/>
              <a:buChar char="§"/>
              <a:tabLst>
                <a:tab pos="756285" algn="l"/>
                <a:tab pos="756920" algn="l"/>
              </a:tabLst>
            </a:pPr>
            <a:r>
              <a:rPr lang="en-US" sz="1800" spc="-5" dirty="0">
                <a:latin typeface="Tahoma"/>
                <a:cs typeface="Tahoma"/>
              </a:rPr>
              <a:t>Crimson,</a:t>
            </a:r>
            <a:r>
              <a:rPr lang="en-US" sz="1800" spc="-10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Xerces,</a:t>
            </a:r>
            <a:r>
              <a:rPr lang="en-US" sz="1800" spc="5" dirty="0">
                <a:latin typeface="Tahoma"/>
                <a:cs typeface="Tahoma"/>
              </a:rPr>
              <a:t> </a:t>
            </a:r>
            <a:r>
              <a:rPr lang="en-US" sz="1800" spc="-5" dirty="0">
                <a:latin typeface="Tahoma"/>
                <a:cs typeface="Tahoma"/>
              </a:rPr>
              <a:t>Oracle</a:t>
            </a:r>
            <a:r>
              <a:rPr lang="en-US" sz="1800" spc="10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XML </a:t>
            </a:r>
            <a:r>
              <a:rPr lang="en-US" sz="1800" spc="-5" dirty="0">
                <a:latin typeface="Tahoma"/>
                <a:cs typeface="Tahoma"/>
              </a:rPr>
              <a:t>Parser, JAXP,</a:t>
            </a:r>
            <a:r>
              <a:rPr lang="en-US" sz="1800" spc="5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MSXML</a:t>
            </a:r>
          </a:p>
          <a:p>
            <a:pPr lvl="1">
              <a:lnSpc>
                <a:spcPct val="100000"/>
              </a:lnSpc>
              <a:spcBef>
                <a:spcPts val="45"/>
              </a:spcBef>
              <a:buFont typeface="Wingdings" panose="05000000000000000000" pitchFamily="2" charset="2"/>
              <a:buChar char="§"/>
            </a:pPr>
            <a:endParaRPr lang="en-US" sz="2750" dirty="0">
              <a:latin typeface="Tahoma"/>
              <a:cs typeface="Tahoma"/>
            </a:endParaRPr>
          </a:p>
          <a:p>
            <a:pPr marL="469265" indent="-457200">
              <a:lnSpc>
                <a:spcPct val="100000"/>
              </a:lnSpc>
              <a:buSzPct val="60000"/>
              <a:buFont typeface="+mj-lt"/>
              <a:buAutoNum type="arabicPeriod"/>
              <a:tabLst>
                <a:tab pos="354965" algn="l"/>
                <a:tab pos="355600" algn="l"/>
              </a:tabLst>
            </a:pPr>
            <a:r>
              <a:rPr lang="en-US" sz="2000" b="1" spc="-5" dirty="0">
                <a:latin typeface="Tahoma"/>
                <a:cs typeface="Tahoma"/>
              </a:rPr>
              <a:t>Type</a:t>
            </a:r>
            <a:r>
              <a:rPr lang="en-US" sz="2000" b="1" spc="-30" dirty="0">
                <a:latin typeface="Tahoma"/>
                <a:cs typeface="Tahoma"/>
              </a:rPr>
              <a:t> </a:t>
            </a:r>
            <a:r>
              <a:rPr lang="en-US" sz="2000" b="1" spc="-5" dirty="0">
                <a:latin typeface="Tahoma"/>
                <a:cs typeface="Tahoma"/>
              </a:rPr>
              <a:t>of</a:t>
            </a:r>
            <a:r>
              <a:rPr lang="en-US" sz="2000" b="1" spc="-20" dirty="0">
                <a:latin typeface="Tahoma"/>
                <a:cs typeface="Tahoma"/>
              </a:rPr>
              <a:t> </a:t>
            </a:r>
            <a:r>
              <a:rPr lang="en-US" sz="2000" b="1" spc="-5" dirty="0">
                <a:latin typeface="Tahoma"/>
                <a:cs typeface="Tahoma"/>
              </a:rPr>
              <a:t>parsers:</a:t>
            </a:r>
            <a:endParaRPr lang="en-US" sz="2000" dirty="0">
              <a:latin typeface="Tahoma"/>
              <a:cs typeface="Tahoma"/>
            </a:endParaRPr>
          </a:p>
          <a:p>
            <a:pPr marL="811530" lvl="1" indent="-342900">
              <a:lnSpc>
                <a:spcPct val="100000"/>
              </a:lnSpc>
              <a:spcBef>
                <a:spcPts val="425"/>
              </a:spcBef>
              <a:buSzPct val="55555"/>
              <a:buFont typeface="Wingdings" panose="05000000000000000000" pitchFamily="2" charset="2"/>
              <a:buChar char="§"/>
              <a:tabLst>
                <a:tab pos="756285" algn="l"/>
                <a:tab pos="756920" algn="l"/>
              </a:tabLst>
            </a:pPr>
            <a:r>
              <a:rPr lang="en-US" sz="1800" spc="-5" dirty="0">
                <a:latin typeface="Tahoma"/>
                <a:cs typeface="Tahoma"/>
              </a:rPr>
              <a:t>Non</a:t>
            </a:r>
            <a:r>
              <a:rPr lang="en-US" sz="1800" spc="-25" dirty="0">
                <a:latin typeface="Tahoma"/>
                <a:cs typeface="Tahoma"/>
              </a:rPr>
              <a:t> </a:t>
            </a:r>
            <a:r>
              <a:rPr lang="en-US" sz="1800" spc="-5" dirty="0">
                <a:latin typeface="Tahoma"/>
                <a:cs typeface="Tahoma"/>
              </a:rPr>
              <a:t>Validating </a:t>
            </a:r>
            <a:r>
              <a:rPr lang="en-US" sz="1800" dirty="0">
                <a:latin typeface="Tahoma"/>
                <a:cs typeface="Tahoma"/>
              </a:rPr>
              <a:t>parser</a:t>
            </a:r>
          </a:p>
          <a:p>
            <a:pPr marL="811530" lvl="1" indent="-342900">
              <a:lnSpc>
                <a:spcPct val="100000"/>
              </a:lnSpc>
              <a:spcBef>
                <a:spcPts val="434"/>
              </a:spcBef>
              <a:buSzPct val="55555"/>
              <a:buFont typeface="Wingdings" panose="05000000000000000000" pitchFamily="2" charset="2"/>
              <a:buChar char="§"/>
              <a:tabLst>
                <a:tab pos="756285" algn="l"/>
                <a:tab pos="756920" algn="l"/>
              </a:tabLst>
            </a:pPr>
            <a:r>
              <a:rPr lang="en-US" sz="1800" spc="-5" dirty="0">
                <a:latin typeface="Tahoma"/>
                <a:cs typeface="Tahoma"/>
              </a:rPr>
              <a:t>Validating</a:t>
            </a:r>
            <a:r>
              <a:rPr lang="en-US" sz="1800" spc="-15" dirty="0">
                <a:latin typeface="Tahoma"/>
                <a:cs typeface="Tahoma"/>
              </a:rPr>
              <a:t> </a:t>
            </a:r>
            <a:r>
              <a:rPr lang="en-US" sz="1800" dirty="0">
                <a:latin typeface="Tahoma"/>
                <a:cs typeface="Tahoma"/>
              </a:rPr>
              <a:t>parser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504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C0D71-EBF6-4B8C-B80F-E68B00210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Parsers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4D627-80A5-4D96-862A-4598A8067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7020" indent="-457200">
              <a:lnSpc>
                <a:spcPct val="100000"/>
              </a:lnSpc>
              <a:spcBef>
                <a:spcPts val="680"/>
              </a:spcBef>
              <a:buFont typeface="+mj-lt"/>
              <a:buAutoNum type="arabicPeriod"/>
            </a:pPr>
            <a:r>
              <a:rPr lang="en-US" sz="2000" b="1" spc="-5" dirty="0">
                <a:latin typeface="Tahoma"/>
                <a:cs typeface="Tahoma"/>
              </a:rPr>
              <a:t>Non</a:t>
            </a:r>
            <a:r>
              <a:rPr lang="en-US" sz="2000" b="1" spc="-15" dirty="0">
                <a:latin typeface="Tahoma"/>
                <a:cs typeface="Tahoma"/>
              </a:rPr>
              <a:t> </a:t>
            </a:r>
            <a:r>
              <a:rPr lang="en-US" sz="2000" b="1" spc="-5" dirty="0">
                <a:latin typeface="Tahoma"/>
                <a:cs typeface="Tahoma"/>
              </a:rPr>
              <a:t>Validating</a:t>
            </a:r>
            <a:r>
              <a:rPr lang="en-US" sz="2000" b="1" spc="-10" dirty="0">
                <a:latin typeface="Tahoma"/>
                <a:cs typeface="Tahoma"/>
              </a:rPr>
              <a:t> </a:t>
            </a:r>
            <a:r>
              <a:rPr lang="en-US" sz="2000" b="1" spc="-5" dirty="0">
                <a:latin typeface="Tahoma"/>
                <a:cs typeface="Tahoma"/>
              </a:rPr>
              <a:t>parser</a:t>
            </a:r>
            <a:endParaRPr lang="en-US" sz="2000" dirty="0">
              <a:latin typeface="Tahoma"/>
              <a:cs typeface="Tahoma"/>
            </a:endParaRPr>
          </a:p>
          <a:p>
            <a:pPr marL="354965" indent="-342900">
              <a:lnSpc>
                <a:spcPct val="100000"/>
              </a:lnSpc>
              <a:spcBef>
                <a:spcPts val="580"/>
              </a:spcBef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lang="en-US" sz="2000" spc="-5" dirty="0">
                <a:latin typeface="Tahoma"/>
                <a:cs typeface="Tahoma"/>
              </a:rPr>
              <a:t>It</a:t>
            </a:r>
            <a:r>
              <a:rPr lang="en-US" sz="2000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checks</a:t>
            </a:r>
            <a:r>
              <a:rPr lang="en-US" sz="2000" spc="15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the well-formedness</a:t>
            </a:r>
            <a:r>
              <a:rPr lang="en-US" sz="2000" spc="-1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of</a:t>
            </a:r>
            <a:r>
              <a:rPr lang="en-US" sz="2000" spc="-15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the document.</a:t>
            </a:r>
            <a:endParaRPr lang="en-US" sz="2000" dirty="0">
              <a:latin typeface="Tahoma"/>
              <a:cs typeface="Tahoma"/>
            </a:endParaRPr>
          </a:p>
          <a:p>
            <a:pPr marL="354965" marR="5080" indent="-342900">
              <a:lnSpc>
                <a:spcPct val="100000"/>
              </a:lnSpc>
              <a:spcBef>
                <a:spcPts val="575"/>
              </a:spcBef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lang="en-US" sz="2000" spc="-15" dirty="0">
                <a:latin typeface="Tahoma"/>
                <a:cs typeface="Tahoma"/>
              </a:rPr>
              <a:t>Reads </a:t>
            </a:r>
            <a:r>
              <a:rPr lang="en-US" sz="2000" dirty="0">
                <a:latin typeface="Tahoma"/>
                <a:cs typeface="Tahoma"/>
              </a:rPr>
              <a:t>the document and </a:t>
            </a:r>
            <a:r>
              <a:rPr lang="en-US" sz="2000" spc="-5" dirty="0">
                <a:latin typeface="Tahoma"/>
                <a:cs typeface="Tahoma"/>
              </a:rPr>
              <a:t>checks </a:t>
            </a:r>
            <a:r>
              <a:rPr lang="en-US" sz="2000" spc="-10" dirty="0">
                <a:latin typeface="Tahoma"/>
                <a:cs typeface="Tahoma"/>
              </a:rPr>
              <a:t>for </a:t>
            </a:r>
            <a:r>
              <a:rPr lang="en-US" sz="2000" dirty="0">
                <a:latin typeface="Tahoma"/>
                <a:cs typeface="Tahoma"/>
              </a:rPr>
              <a:t>its </a:t>
            </a:r>
            <a:r>
              <a:rPr lang="en-US" sz="2000" spc="-5" dirty="0">
                <a:latin typeface="Tahoma"/>
                <a:cs typeface="Tahoma"/>
              </a:rPr>
              <a:t>conformity </a:t>
            </a:r>
            <a:r>
              <a:rPr lang="en-US" sz="2000" spc="-735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with </a:t>
            </a:r>
            <a:r>
              <a:rPr lang="en-US" sz="2000" dirty="0">
                <a:latin typeface="Tahoma"/>
                <a:cs typeface="Tahoma"/>
              </a:rPr>
              <a:t>XML</a:t>
            </a:r>
            <a:r>
              <a:rPr lang="en-US" sz="2000" spc="-5" dirty="0">
                <a:latin typeface="Tahoma"/>
                <a:cs typeface="Tahoma"/>
              </a:rPr>
              <a:t> standards.</a:t>
            </a:r>
            <a:endParaRPr lang="en-US" sz="2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3333CC"/>
              </a:buClr>
              <a:buFont typeface="Wingdings"/>
              <a:buChar char=""/>
            </a:pPr>
            <a:endParaRPr lang="en-US" sz="3200" dirty="0">
              <a:latin typeface="Tahoma"/>
              <a:cs typeface="Tahoma"/>
            </a:endParaRPr>
          </a:p>
          <a:p>
            <a:pPr marL="287020" indent="-457200">
              <a:lnSpc>
                <a:spcPct val="100000"/>
              </a:lnSpc>
              <a:buFont typeface="+mj-lt"/>
              <a:buAutoNum type="arabicPeriod" startAt="2"/>
            </a:pPr>
            <a:r>
              <a:rPr lang="en-US" sz="2000" b="1" spc="-5" dirty="0">
                <a:latin typeface="Tahoma"/>
                <a:cs typeface="Tahoma"/>
              </a:rPr>
              <a:t>Validating</a:t>
            </a:r>
            <a:r>
              <a:rPr lang="en-US" sz="2000" b="1" spc="-25" dirty="0">
                <a:latin typeface="Tahoma"/>
                <a:cs typeface="Tahoma"/>
              </a:rPr>
              <a:t> </a:t>
            </a:r>
            <a:r>
              <a:rPr lang="en-US" sz="2000" b="1" spc="-5" dirty="0">
                <a:latin typeface="Tahoma"/>
                <a:cs typeface="Tahoma"/>
              </a:rPr>
              <a:t>parser</a:t>
            </a:r>
            <a:endParaRPr lang="en-US" sz="2000" dirty="0">
              <a:latin typeface="Tahoma"/>
              <a:cs typeface="Tahoma"/>
            </a:endParaRPr>
          </a:p>
          <a:p>
            <a:pPr marL="469265" indent="-457200">
              <a:lnSpc>
                <a:spcPct val="100000"/>
              </a:lnSpc>
              <a:spcBef>
                <a:spcPts val="575"/>
              </a:spcBef>
              <a:buSzPct val="60416"/>
              <a:buFont typeface="Wingdings" panose="05000000000000000000" pitchFamily="2" charset="2"/>
              <a:buChar char="§"/>
              <a:tabLst>
                <a:tab pos="354965" algn="l"/>
                <a:tab pos="355600" algn="l"/>
              </a:tabLst>
            </a:pPr>
            <a:r>
              <a:rPr lang="en-US" sz="2000" spc="-15" dirty="0">
                <a:latin typeface="Tahoma"/>
                <a:cs typeface="Tahoma"/>
              </a:rPr>
              <a:t>It checks the validity of the document using DTD</a:t>
            </a:r>
            <a:r>
              <a:rPr lang="en-US" sz="2000" spc="-30" dirty="0">
                <a:latin typeface="Tahoma"/>
                <a:cs typeface="Tahoma"/>
              </a:rPr>
              <a:t>.</a:t>
            </a:r>
            <a:endParaRPr lang="en-US" sz="2000" dirty="0">
              <a:latin typeface="Tahoma"/>
              <a:cs typeface="Tahom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486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D0CD8-9928-4E56-B97C-7080547DD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browsers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3B24D-7CB4-479D-98B4-17B288AF2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965" indent="-342900" algn="just">
              <a:lnSpc>
                <a:spcPct val="100000"/>
              </a:lnSpc>
              <a:spcBef>
                <a:spcPts val="100"/>
              </a:spcBef>
              <a:buSzPct val="60416"/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lang="en-US" sz="2400" spc="-5" dirty="0">
                <a:latin typeface="Tahoma"/>
                <a:cs typeface="Tahoma"/>
              </a:rPr>
              <a:t>Web browsers</a:t>
            </a:r>
            <a:r>
              <a:rPr lang="en-US" sz="2400" spc="5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can format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XML</a:t>
            </a:r>
            <a:r>
              <a:rPr lang="en-US" sz="2400" spc="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data and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display it </a:t>
            </a:r>
            <a:r>
              <a:rPr lang="en-US" sz="2400" spc="-5" dirty="0">
                <a:latin typeface="Tahoma"/>
                <a:cs typeface="Tahoma"/>
              </a:rPr>
              <a:t>to</a:t>
            </a:r>
            <a:endParaRPr lang="en-US" sz="2400" dirty="0">
              <a:latin typeface="Tahoma"/>
              <a:cs typeface="Tahoma"/>
            </a:endParaRPr>
          </a:p>
          <a:p>
            <a:pPr marL="172085" indent="0" algn="just">
              <a:lnSpc>
                <a:spcPct val="100000"/>
              </a:lnSpc>
              <a:spcBef>
                <a:spcPts val="5"/>
              </a:spcBef>
              <a:buNone/>
            </a:pPr>
            <a:r>
              <a:rPr lang="en-US" sz="2400" spc="-5" dirty="0">
                <a:latin typeface="Tahoma"/>
                <a:cs typeface="Tahoma"/>
              </a:rPr>
              <a:t>the</a:t>
            </a:r>
            <a:r>
              <a:rPr lang="en-US" sz="2400" spc="-5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user.</a:t>
            </a:r>
          </a:p>
          <a:p>
            <a:pPr marL="514985" indent="-342900" algn="just">
              <a:lnSpc>
                <a:spcPct val="100000"/>
              </a:lnSpc>
              <a:spcBef>
                <a:spcPts val="5"/>
              </a:spcBef>
              <a:buFont typeface="Wingdings" panose="05000000000000000000" pitchFamily="2" charset="2"/>
              <a:buChar char="q"/>
            </a:pPr>
            <a:endParaRPr lang="en-US" sz="2400" dirty="0">
              <a:latin typeface="Tahoma"/>
              <a:cs typeface="Tahoma"/>
            </a:endParaRPr>
          </a:p>
          <a:p>
            <a:pPr marL="354965" marR="313055" indent="-342900" algn="just">
              <a:lnSpc>
                <a:spcPct val="100000"/>
              </a:lnSpc>
              <a:spcBef>
                <a:spcPts val="575"/>
              </a:spcBef>
              <a:buSzPct val="60416"/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lang="en-US" sz="2400" dirty="0">
                <a:latin typeface="Tahoma"/>
                <a:cs typeface="Tahoma"/>
              </a:rPr>
              <a:t>Other programs like database, Musical </a:t>
            </a:r>
            <a:r>
              <a:rPr lang="en-US" sz="2400" spc="-5" dirty="0">
                <a:latin typeface="Tahoma"/>
                <a:cs typeface="Tahoma"/>
              </a:rPr>
              <a:t>Instrument </a:t>
            </a:r>
            <a:r>
              <a:rPr lang="en-US" sz="2400" spc="-740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Digital Interface </a:t>
            </a:r>
            <a:r>
              <a:rPr lang="en-US" sz="2400" dirty="0">
                <a:latin typeface="Tahoma"/>
                <a:cs typeface="Tahoma"/>
              </a:rPr>
              <a:t>(MIDI) program or a </a:t>
            </a:r>
            <a:r>
              <a:rPr lang="en-US" sz="2400" spc="-5" dirty="0">
                <a:latin typeface="Tahoma"/>
                <a:cs typeface="Tahoma"/>
              </a:rPr>
              <a:t>spreadsheet </a:t>
            </a:r>
            <a:r>
              <a:rPr lang="en-US" sz="2400" spc="-73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program</a:t>
            </a:r>
            <a:r>
              <a:rPr lang="en-US" sz="2400" spc="-4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may </a:t>
            </a:r>
            <a:r>
              <a:rPr lang="en-US" sz="2400" spc="-5" dirty="0">
                <a:latin typeface="Tahoma"/>
                <a:cs typeface="Tahoma"/>
              </a:rPr>
              <a:t>present</a:t>
            </a:r>
            <a:r>
              <a:rPr lang="en-US" sz="2400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XML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data</a:t>
            </a:r>
            <a:r>
              <a:rPr lang="en-US" sz="2400" spc="-5" dirty="0">
                <a:latin typeface="Tahoma"/>
                <a:cs typeface="Tahoma"/>
              </a:rPr>
              <a:t> accordingly.</a:t>
            </a:r>
            <a:endParaRPr lang="en-US"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 panose="05000000000000000000" pitchFamily="2" charset="2"/>
              <a:buChar char="q"/>
            </a:pPr>
            <a:endParaRPr lang="en-US" sz="3300" dirty="0">
              <a:latin typeface="Tahoma"/>
              <a:cs typeface="Tahoma"/>
            </a:endParaRPr>
          </a:p>
          <a:p>
            <a:pPr marL="354965" indent="-342900" algn="just">
              <a:lnSpc>
                <a:spcPct val="100000"/>
              </a:lnSpc>
              <a:buSzPct val="60416"/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lang="en-US" sz="2400" dirty="0">
                <a:latin typeface="Tahoma"/>
                <a:cs typeface="Tahoma"/>
              </a:rPr>
              <a:t>Commonly</a:t>
            </a:r>
            <a:r>
              <a:rPr lang="en-US" sz="2400" spc="-4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used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web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browsers:</a:t>
            </a:r>
            <a:endParaRPr lang="en-US" sz="2400" dirty="0">
              <a:latin typeface="Tahoma"/>
              <a:cs typeface="Tahoma"/>
            </a:endParaRPr>
          </a:p>
          <a:p>
            <a:pPr marL="468630" lvl="1" indent="0">
              <a:lnSpc>
                <a:spcPct val="100000"/>
              </a:lnSpc>
              <a:spcBef>
                <a:spcPts val="484"/>
              </a:spcBef>
              <a:buSzPct val="55000"/>
              <a:buNone/>
              <a:tabLst>
                <a:tab pos="756285" algn="l"/>
                <a:tab pos="756920" algn="l"/>
              </a:tabLst>
            </a:pPr>
            <a:r>
              <a:rPr lang="en-US" spc="-5" dirty="0">
                <a:latin typeface="Tahoma"/>
                <a:cs typeface="Tahoma"/>
              </a:rPr>
              <a:t>Netscape,</a:t>
            </a:r>
            <a:r>
              <a:rPr lang="en-US" spc="-30" dirty="0">
                <a:latin typeface="Tahoma"/>
                <a:cs typeface="Tahoma"/>
              </a:rPr>
              <a:t> </a:t>
            </a:r>
            <a:r>
              <a:rPr lang="en-US" spc="-5" dirty="0">
                <a:latin typeface="Tahoma"/>
                <a:cs typeface="Tahoma"/>
              </a:rPr>
              <a:t>Mozilla, Internet</a:t>
            </a:r>
            <a:r>
              <a:rPr lang="en-US" spc="5" dirty="0">
                <a:latin typeface="Tahoma"/>
                <a:cs typeface="Tahoma"/>
              </a:rPr>
              <a:t> </a:t>
            </a:r>
            <a:r>
              <a:rPr lang="en-US" spc="-5" dirty="0">
                <a:latin typeface="Tahoma"/>
                <a:cs typeface="Tahoma"/>
              </a:rPr>
              <a:t>Explorer,</a:t>
            </a:r>
            <a:r>
              <a:rPr lang="en-US" spc="-15" dirty="0">
                <a:latin typeface="Tahoma"/>
                <a:cs typeface="Tahoma"/>
              </a:rPr>
              <a:t> </a:t>
            </a:r>
            <a:r>
              <a:rPr lang="en-US" spc="-5" dirty="0">
                <a:latin typeface="Tahoma"/>
                <a:cs typeface="Tahoma"/>
              </a:rPr>
              <a:t>Firefox,</a:t>
            </a:r>
            <a:r>
              <a:rPr lang="en-US" spc="-20" dirty="0">
                <a:latin typeface="Tahoma"/>
                <a:cs typeface="Tahoma"/>
              </a:rPr>
              <a:t> </a:t>
            </a:r>
            <a:r>
              <a:rPr lang="en-US" spc="-5" dirty="0">
                <a:latin typeface="Tahoma"/>
                <a:cs typeface="Tahoma"/>
              </a:rPr>
              <a:t>Opera</a:t>
            </a:r>
            <a:endParaRPr lang="en-US" dirty="0">
              <a:latin typeface="Tahoma"/>
              <a:cs typeface="Tahom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301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D0CD8-9928-4E56-B97C-7080547DD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3B24D-7CB4-479D-98B4-17B288AF2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5600" indent="-342900">
              <a:lnSpc>
                <a:spcPct val="100000"/>
              </a:lnSpc>
              <a:spcBef>
                <a:spcPts val="585"/>
              </a:spcBef>
              <a:buSzPct val="60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lang="en-US" sz="2400" dirty="0">
                <a:latin typeface="Tahoma"/>
                <a:cs typeface="Tahoma"/>
              </a:rPr>
              <a:t>Used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for</a:t>
            </a:r>
            <a:r>
              <a:rPr lang="en-US" sz="2400" spc="10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the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people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to</a:t>
            </a:r>
            <a:r>
              <a:rPr lang="en-US" sz="2400" spc="5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give</a:t>
            </a:r>
            <a:r>
              <a:rPr lang="en-US" sz="2400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information</a:t>
            </a:r>
            <a:r>
              <a:rPr lang="en-US" sz="2400" spc="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about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the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code</a:t>
            </a:r>
            <a:endParaRPr lang="en-US" sz="24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SzPct val="60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lang="en-US" sz="2400" dirty="0">
                <a:latin typeface="Tahoma"/>
                <a:cs typeface="Tahoma"/>
              </a:rPr>
              <a:t>Usually</a:t>
            </a:r>
            <a:r>
              <a:rPr lang="en-US" sz="2400" spc="-2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made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for</a:t>
            </a:r>
            <a:r>
              <a:rPr lang="en-US" sz="2400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the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content</a:t>
            </a:r>
            <a:endParaRPr lang="en-US" sz="2400" dirty="0">
              <a:latin typeface="Tahoma"/>
              <a:cs typeface="Tahoma"/>
            </a:endParaRPr>
          </a:p>
          <a:p>
            <a:endParaRPr lang="en-US" dirty="0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278B4685-FF57-4763-A6EA-EC555E76FA8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3465" y="3144824"/>
            <a:ext cx="6852261" cy="32918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80029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A1138-B41C-4CE5-982C-AE93B5FAA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syntax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C65D41-54B1-4DD7-9DF4-5E486EF9DE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-6" b="8045"/>
          <a:stretch/>
        </p:blipFill>
        <p:spPr>
          <a:xfrm>
            <a:off x="2356323" y="2436825"/>
            <a:ext cx="7479354" cy="38684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6622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72564-08C9-4E67-9B8D-EEADEE7A3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Structure of well and non well formed document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190FD5F-4627-4F87-8F60-A5C09AD65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532" y="2463276"/>
            <a:ext cx="10344040" cy="3884361"/>
          </a:xfrm>
        </p:spPr>
        <p:txBody>
          <a:bodyPr>
            <a:norm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SzPct val="60416"/>
              <a:buFont typeface="Wingdings" panose="05000000000000000000" pitchFamily="2" charset="2"/>
              <a:buChar char="§"/>
              <a:tabLst>
                <a:tab pos="354965" algn="l"/>
                <a:tab pos="355600" algn="l"/>
              </a:tabLst>
            </a:pPr>
            <a:endParaRPr lang="en-US" sz="2000" dirty="0">
              <a:latin typeface="Tahoma"/>
              <a:cs typeface="Tahoma"/>
            </a:endParaRPr>
          </a:p>
          <a:p>
            <a:pPr marL="354965" indent="-342900">
              <a:lnSpc>
                <a:spcPct val="100000"/>
              </a:lnSpc>
              <a:spcBef>
                <a:spcPts val="100"/>
              </a:spcBef>
              <a:buSzPct val="60416"/>
              <a:buFont typeface="Wingdings" panose="05000000000000000000" pitchFamily="2" charset="2"/>
              <a:buChar char="§"/>
              <a:tabLst>
                <a:tab pos="354965" algn="l"/>
                <a:tab pos="355600" algn="l"/>
              </a:tabLst>
            </a:pPr>
            <a:endParaRPr lang="en-US" sz="2000" spc="-5" dirty="0">
              <a:latin typeface="Tahoma"/>
              <a:cs typeface="Tahoma"/>
            </a:endParaRPr>
          </a:p>
          <a:p>
            <a:pPr marL="354965" indent="-342900">
              <a:lnSpc>
                <a:spcPct val="100000"/>
              </a:lnSpc>
              <a:spcBef>
                <a:spcPts val="100"/>
              </a:spcBef>
              <a:buSzPct val="60416"/>
              <a:buFont typeface="Wingdings" panose="05000000000000000000" pitchFamily="2" charset="2"/>
              <a:buChar char="§"/>
              <a:tabLst>
                <a:tab pos="354965" algn="l"/>
                <a:tab pos="355600" algn="l"/>
              </a:tabLst>
            </a:pPr>
            <a:endParaRPr lang="en-US" sz="2000" spc="-5" dirty="0">
              <a:latin typeface="Tahoma"/>
              <a:cs typeface="Tahoma"/>
            </a:endParaRPr>
          </a:p>
          <a:p>
            <a:pPr marL="12065" marR="1003935" indent="0">
              <a:lnSpc>
                <a:spcPct val="100000"/>
              </a:lnSpc>
              <a:spcBef>
                <a:spcPts val="5"/>
              </a:spcBef>
              <a:buClr>
                <a:srgbClr val="3333CC"/>
              </a:buClr>
              <a:buSzPct val="60416"/>
              <a:buNone/>
              <a:tabLst>
                <a:tab pos="354965" algn="l"/>
                <a:tab pos="355600" algn="l"/>
              </a:tabLst>
            </a:pPr>
            <a:endParaRPr lang="en-US" sz="2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3333CC"/>
              </a:buClr>
              <a:buFont typeface="Wingdings"/>
              <a:buChar char=""/>
            </a:pPr>
            <a:endParaRPr lang="en-US" sz="3200" dirty="0">
              <a:latin typeface="Tahoma"/>
              <a:cs typeface="Tahoma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2ABE5EB-326E-4AAB-A7DB-C4F4EC03E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49711" y="2151875"/>
            <a:ext cx="3537603" cy="41957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245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45BFA-FE10-4941-B4C9-12CE5E735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Tags, prolog and root elements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1301FC20-01B2-4FB7-A749-A67F94FC5181}"/>
              </a:ext>
            </a:extLst>
          </p:cNvPr>
          <p:cNvSpPr txBox="1"/>
          <p:nvPr/>
        </p:nvSpPr>
        <p:spPr>
          <a:xfrm>
            <a:off x="1949302" y="3007665"/>
            <a:ext cx="7315200" cy="18774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192">
            <a:solidFill>
              <a:srgbClr val="000000"/>
            </a:solidFill>
          </a:ln>
        </p:spPr>
        <p:txBody>
          <a:bodyPr vert="horz" wrap="square" lIns="0" tIns="1524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200"/>
              </a:spcBef>
            </a:pPr>
            <a:r>
              <a:rPr sz="1600" spc="-5" dirty="0">
                <a:solidFill>
                  <a:schemeClr val="bg1"/>
                </a:solidFill>
                <a:latin typeface="Courier New"/>
                <a:cs typeface="Courier New"/>
              </a:rPr>
              <a:t>&lt;?xml</a:t>
            </a:r>
            <a:r>
              <a:rPr sz="1600" spc="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Courier New"/>
                <a:cs typeface="Courier New"/>
              </a:rPr>
              <a:t>version=”1.0”</a:t>
            </a:r>
            <a:r>
              <a:rPr sz="1600" spc="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Courier New"/>
                <a:cs typeface="Courier New"/>
              </a:rPr>
              <a:t>encoding=”iso-8859-1”</a:t>
            </a:r>
            <a:r>
              <a:rPr sz="1600" spc="5" dirty="0">
                <a:solidFill>
                  <a:schemeClr val="bg1"/>
                </a:solidFill>
                <a:latin typeface="Courier New"/>
                <a:cs typeface="Courier New"/>
              </a:rPr>
              <a:t> ?&gt;</a:t>
            </a:r>
            <a:endParaRPr sz="16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tabLst>
                <a:tab pos="457200" algn="l"/>
              </a:tabLst>
            </a:pPr>
            <a:r>
              <a:rPr sz="1600" spc="-5" dirty="0">
                <a:solidFill>
                  <a:schemeClr val="bg1"/>
                </a:solidFill>
                <a:latin typeface="Courier New"/>
                <a:cs typeface="Courier New"/>
              </a:rPr>
              <a:t>-	&lt;</a:t>
            </a:r>
            <a:r>
              <a:rPr sz="1600" spc="-10" dirty="0">
                <a:solidFill>
                  <a:schemeClr val="bg1"/>
                </a:solidFill>
                <a:latin typeface="Tahoma"/>
                <a:cs typeface="Tahoma"/>
              </a:rPr>
              <a:t>FlowerPlanet</a:t>
            </a:r>
            <a:r>
              <a:rPr sz="1600" spc="-5" dirty="0">
                <a:solidFill>
                  <a:schemeClr val="bg1"/>
                </a:solidFill>
                <a:latin typeface="Courier New"/>
                <a:cs typeface="Courier New"/>
              </a:rPr>
              <a:t>&gt;</a:t>
            </a:r>
            <a:endParaRPr sz="16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213360">
              <a:lnSpc>
                <a:spcPct val="100000"/>
              </a:lnSpc>
            </a:pPr>
            <a:r>
              <a:rPr sz="1600" spc="-5" dirty="0">
                <a:solidFill>
                  <a:schemeClr val="bg1"/>
                </a:solidFill>
                <a:latin typeface="Courier New"/>
                <a:cs typeface="Courier New"/>
              </a:rPr>
              <a:t>&lt;Name&gt;Rose&lt;/Name&gt;</a:t>
            </a:r>
            <a:endParaRPr sz="16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335280">
              <a:lnSpc>
                <a:spcPct val="100000"/>
              </a:lnSpc>
            </a:pPr>
            <a:r>
              <a:rPr sz="1600" spc="-5" dirty="0">
                <a:solidFill>
                  <a:schemeClr val="bg1"/>
                </a:solidFill>
                <a:latin typeface="Courier New"/>
                <a:cs typeface="Courier New"/>
              </a:rPr>
              <a:t>&lt;Price&gt;$1&lt;/Price&gt;</a:t>
            </a:r>
            <a:endParaRPr sz="16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335280">
              <a:lnSpc>
                <a:spcPct val="100000"/>
              </a:lnSpc>
            </a:pPr>
            <a:r>
              <a:rPr sz="1600" spc="-5" dirty="0">
                <a:solidFill>
                  <a:schemeClr val="bg1"/>
                </a:solidFill>
                <a:latin typeface="Courier New"/>
                <a:cs typeface="Courier New"/>
              </a:rPr>
              <a:t>&lt;Description&gt;Red in</a:t>
            </a:r>
            <a:r>
              <a:rPr sz="1600" spc="-1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Courier New"/>
                <a:cs typeface="Courier New"/>
              </a:rPr>
              <a:t>color&lt;/Description&gt;</a:t>
            </a:r>
            <a:endParaRPr sz="16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335280">
              <a:lnSpc>
                <a:spcPct val="100000"/>
              </a:lnSpc>
            </a:pPr>
            <a:r>
              <a:rPr sz="1600" spc="-5" dirty="0">
                <a:solidFill>
                  <a:schemeClr val="bg1"/>
                </a:solidFill>
                <a:latin typeface="Courier New"/>
                <a:cs typeface="Courier New"/>
              </a:rPr>
              <a:t>&lt;Number&gt;700&lt;/Number&gt;</a:t>
            </a:r>
            <a:endParaRPr sz="16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solidFill>
                  <a:schemeClr val="bg1"/>
                </a:solidFill>
                <a:latin typeface="Tahoma"/>
                <a:cs typeface="Tahoma"/>
              </a:rPr>
              <a:t>&lt;/FlowerPlanet&gt;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AD23371-C0D9-4533-987C-7F208734B09B}"/>
              </a:ext>
            </a:extLst>
          </p:cNvPr>
          <p:cNvSpPr txBox="1"/>
          <p:nvPr/>
        </p:nvSpPr>
        <p:spPr>
          <a:xfrm>
            <a:off x="1950063" y="2507031"/>
            <a:ext cx="1752600" cy="425450"/>
          </a:xfrm>
          <a:prstGeom prst="rect">
            <a:avLst/>
          </a:prstGeom>
          <a:solidFill>
            <a:srgbClr val="339966"/>
          </a:solidFill>
          <a:ln w="28955">
            <a:solidFill>
              <a:srgbClr val="000000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45"/>
              </a:spcBef>
            </a:pPr>
            <a:r>
              <a:rPr sz="2000" dirty="0">
                <a:solidFill>
                  <a:srgbClr val="FFFFFF"/>
                </a:solidFill>
                <a:latin typeface="Tahoma"/>
                <a:cs typeface="Tahoma"/>
              </a:rPr>
              <a:t>Code</a:t>
            </a:r>
            <a:r>
              <a:rPr sz="20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Snippet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29F96F1D-9F86-4889-AEBE-CCC5768DDAF8}"/>
              </a:ext>
            </a:extLst>
          </p:cNvPr>
          <p:cNvSpPr txBox="1"/>
          <p:nvPr/>
        </p:nvSpPr>
        <p:spPr>
          <a:xfrm>
            <a:off x="1949302" y="5141266"/>
            <a:ext cx="7315200" cy="10419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192">
            <a:solidFill>
              <a:srgbClr val="0000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91440">
              <a:lnSpc>
                <a:spcPts val="1850"/>
              </a:lnSpc>
              <a:spcBef>
                <a:spcPts val="425"/>
              </a:spcBef>
            </a:pPr>
            <a:r>
              <a:rPr sz="1600" spc="-10" dirty="0">
                <a:solidFill>
                  <a:schemeClr val="bg1"/>
                </a:solidFill>
                <a:latin typeface="Tahoma"/>
                <a:cs typeface="Tahoma"/>
              </a:rPr>
              <a:t>where,</a:t>
            </a:r>
            <a:endParaRPr sz="16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548640">
              <a:lnSpc>
                <a:spcPts val="1850"/>
              </a:lnSpc>
            </a:pPr>
            <a:r>
              <a:rPr sz="1600" spc="-5" dirty="0">
                <a:solidFill>
                  <a:schemeClr val="bg1"/>
                </a:solidFill>
                <a:latin typeface="Courier New"/>
                <a:cs typeface="Courier New"/>
              </a:rPr>
              <a:t>&lt;Name&gt;,</a:t>
            </a:r>
            <a:r>
              <a:rPr sz="1600" spc="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Courier New"/>
                <a:cs typeface="Courier New"/>
              </a:rPr>
              <a:t>&lt;Price&gt;,&lt;Description&gt;</a:t>
            </a:r>
            <a:r>
              <a:rPr sz="1600" spc="6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Tahoma"/>
                <a:cs typeface="Tahoma"/>
              </a:rPr>
              <a:t>and</a:t>
            </a:r>
            <a:r>
              <a:rPr sz="1600" spc="47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Courier New"/>
                <a:cs typeface="Courier New"/>
              </a:rPr>
              <a:t>&lt;Number&gt;</a:t>
            </a:r>
            <a:r>
              <a:rPr sz="1600" spc="3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Tahoma"/>
                <a:cs typeface="Tahoma"/>
              </a:rPr>
              <a:t>tags</a:t>
            </a:r>
            <a:r>
              <a:rPr sz="1600" spc="1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Tahoma"/>
                <a:cs typeface="Tahoma"/>
              </a:rPr>
              <a:t>are</a:t>
            </a:r>
            <a:endParaRPr sz="16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548640">
              <a:lnSpc>
                <a:spcPts val="1850"/>
              </a:lnSpc>
              <a:spcBef>
                <a:spcPts val="145"/>
              </a:spcBef>
            </a:pPr>
            <a:r>
              <a:rPr sz="1600" spc="-10" dirty="0">
                <a:solidFill>
                  <a:schemeClr val="bg1"/>
                </a:solidFill>
                <a:latin typeface="Tahoma"/>
                <a:cs typeface="Tahoma"/>
              </a:rPr>
              <a:t>elements</a:t>
            </a:r>
            <a:endParaRPr sz="1600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548640">
              <a:lnSpc>
                <a:spcPts val="1850"/>
              </a:lnSpc>
            </a:pPr>
            <a:r>
              <a:rPr sz="1600" spc="-5" dirty="0">
                <a:solidFill>
                  <a:schemeClr val="bg1"/>
                </a:solidFill>
                <a:latin typeface="Courier New"/>
                <a:cs typeface="Courier New"/>
              </a:rPr>
              <a:t>&lt;FlowerPlanet&gt;</a:t>
            </a:r>
            <a:r>
              <a:rPr sz="1600" spc="6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Tahoma"/>
                <a:cs typeface="Tahoma"/>
              </a:rPr>
              <a:t>and</a:t>
            </a:r>
            <a:r>
              <a:rPr sz="1600" spc="47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600" spc="-5" dirty="0">
                <a:solidFill>
                  <a:schemeClr val="bg1"/>
                </a:solidFill>
                <a:latin typeface="Courier New"/>
                <a:cs typeface="Courier New"/>
              </a:rPr>
              <a:t>&lt;/FlowerPlanet&gt;</a:t>
            </a:r>
            <a:r>
              <a:rPr sz="1600" spc="6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Tahoma"/>
                <a:cs typeface="Tahoma"/>
              </a:rPr>
              <a:t>are</a:t>
            </a:r>
            <a:r>
              <a:rPr sz="1600" spc="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Tahoma"/>
                <a:cs typeface="Tahoma"/>
              </a:rPr>
              <a:t>the</a:t>
            </a:r>
            <a:r>
              <a:rPr sz="1600" spc="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Tahoma"/>
                <a:cs typeface="Tahoma"/>
              </a:rPr>
              <a:t>root</a:t>
            </a:r>
            <a:r>
              <a:rPr sz="1600" spc="45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chemeClr val="bg1"/>
                </a:solidFill>
                <a:latin typeface="Tahoma"/>
                <a:cs typeface="Tahoma"/>
              </a:rPr>
              <a:t>elements</a:t>
            </a:r>
            <a:endParaRPr sz="1600" dirty="0">
              <a:solidFill>
                <a:schemeClr val="bg1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758404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DDCEC-6EBF-4323-B4F0-3248572F8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Tags, prolog and root elements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FEBB129-1DE3-49D0-8C6C-AE18FD536D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700" b="16891"/>
          <a:stretch/>
        </p:blipFill>
        <p:spPr>
          <a:xfrm>
            <a:off x="654553" y="2436667"/>
            <a:ext cx="7351764" cy="34963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hought Bubble: Cloud 10">
            <a:extLst>
              <a:ext uri="{FF2B5EF4-FFF2-40B4-BE49-F238E27FC236}">
                <a16:creationId xmlns:a16="http://schemas.microsoft.com/office/drawing/2014/main" id="{1F137F61-E54F-4BDD-AF2C-2976AB0B4446}"/>
              </a:ext>
            </a:extLst>
          </p:cNvPr>
          <p:cNvSpPr/>
          <p:nvPr/>
        </p:nvSpPr>
        <p:spPr>
          <a:xfrm>
            <a:off x="7804298" y="3165902"/>
            <a:ext cx="4313274" cy="3202999"/>
          </a:xfrm>
          <a:prstGeom prst="cloudCallout">
            <a:avLst>
              <a:gd name="adj1" fmla="val -52368"/>
              <a:gd name="adj2" fmla="val -48631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43075-38B8-46FC-8DC3-CD46BBE9597C}"/>
              </a:ext>
            </a:extLst>
          </p:cNvPr>
          <p:cNvSpPr txBox="1"/>
          <p:nvPr/>
        </p:nvSpPr>
        <p:spPr>
          <a:xfrm>
            <a:off x="8396177" y="3890238"/>
            <a:ext cx="35311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This is the XML optional preamble. version="1.0" means that this is the XML standard this file conforms to. encoding="utf-8" means that the file is encoded using the UTF-8 Unicode encoding</a:t>
            </a:r>
          </a:p>
        </p:txBody>
      </p:sp>
    </p:spTree>
    <p:extLst>
      <p:ext uri="{BB962C8B-B14F-4D97-AF65-F5344CB8AC3E}">
        <p14:creationId xmlns:p14="http://schemas.microsoft.com/office/powerpoint/2010/main" val="3688199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72564-08C9-4E67-9B8D-EEADEE7A3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/>
              <a:t>Xml Editors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190FD5F-4627-4F87-8F60-A5C09AD65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532" y="2463276"/>
            <a:ext cx="10344040" cy="3884361"/>
          </a:xfrm>
        </p:spPr>
        <p:txBody>
          <a:bodyPr>
            <a:normAutofit/>
          </a:bodyPr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SzPct val="60416"/>
              <a:buFont typeface="Wingdings" panose="05000000000000000000" pitchFamily="2" charset="2"/>
              <a:buChar char="§"/>
              <a:tabLst>
                <a:tab pos="354965" algn="l"/>
                <a:tab pos="355600" algn="l"/>
              </a:tabLst>
            </a:pPr>
            <a:endParaRPr lang="en-US" sz="2000" dirty="0">
              <a:latin typeface="Tahoma"/>
              <a:cs typeface="Tahoma"/>
            </a:endParaRPr>
          </a:p>
          <a:p>
            <a:pPr marL="354965" indent="-342900">
              <a:lnSpc>
                <a:spcPct val="100000"/>
              </a:lnSpc>
              <a:spcBef>
                <a:spcPts val="100"/>
              </a:spcBef>
              <a:buSzPct val="60416"/>
              <a:buFont typeface="Wingdings" panose="05000000000000000000" pitchFamily="2" charset="2"/>
              <a:buChar char="§"/>
              <a:tabLst>
                <a:tab pos="354965" algn="l"/>
                <a:tab pos="355600" algn="l"/>
              </a:tabLst>
            </a:pPr>
            <a:endParaRPr lang="en-US" sz="2000" spc="-5" dirty="0">
              <a:latin typeface="Tahoma"/>
              <a:cs typeface="Tahoma"/>
            </a:endParaRPr>
          </a:p>
          <a:p>
            <a:pPr marL="354965" indent="-342900">
              <a:lnSpc>
                <a:spcPct val="100000"/>
              </a:lnSpc>
              <a:spcBef>
                <a:spcPts val="100"/>
              </a:spcBef>
              <a:buSzPct val="60416"/>
              <a:buFont typeface="Wingdings" panose="05000000000000000000" pitchFamily="2" charset="2"/>
              <a:buChar char="§"/>
              <a:tabLst>
                <a:tab pos="354965" algn="l"/>
                <a:tab pos="355600" algn="l"/>
              </a:tabLst>
            </a:pPr>
            <a:endParaRPr lang="en-US" sz="2000" spc="-5" dirty="0">
              <a:latin typeface="Tahoma"/>
              <a:cs typeface="Tahoma"/>
            </a:endParaRPr>
          </a:p>
          <a:p>
            <a:pPr marL="12065" marR="1003935" indent="0">
              <a:lnSpc>
                <a:spcPct val="100000"/>
              </a:lnSpc>
              <a:spcBef>
                <a:spcPts val="5"/>
              </a:spcBef>
              <a:buClr>
                <a:srgbClr val="3333CC"/>
              </a:buClr>
              <a:buSzPct val="60416"/>
              <a:buNone/>
              <a:tabLst>
                <a:tab pos="354965" algn="l"/>
                <a:tab pos="355600" algn="l"/>
              </a:tabLst>
            </a:pPr>
            <a:endParaRPr lang="en-US" sz="2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3333CC"/>
              </a:buClr>
              <a:buFont typeface="Wingdings"/>
              <a:buChar char=""/>
            </a:pPr>
            <a:endParaRPr lang="en-US" sz="3200" dirty="0">
              <a:latin typeface="Tahoma"/>
              <a:cs typeface="Tahoma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32C1F3-D799-45ED-AE72-3822C3C4B89B}"/>
              </a:ext>
            </a:extLst>
          </p:cNvPr>
          <p:cNvSpPr/>
          <p:nvPr/>
        </p:nvSpPr>
        <p:spPr>
          <a:xfrm>
            <a:off x="1357423" y="2264756"/>
            <a:ext cx="661699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en-US" sz="2800" dirty="0"/>
              <a:t>The popularly used editors are: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en-US" sz="2800" dirty="0"/>
              <a:t>XMLwriter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en-US" sz="2800" dirty="0"/>
              <a:t>XML Spy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en-US" sz="2800" dirty="0"/>
              <a:t>XML Pro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en-US" sz="2800" dirty="0"/>
              <a:t>XMLmind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en-US" sz="2800" dirty="0"/>
              <a:t>XMetal</a:t>
            </a:r>
          </a:p>
        </p:txBody>
      </p:sp>
    </p:spTree>
    <p:extLst>
      <p:ext uri="{BB962C8B-B14F-4D97-AF65-F5344CB8AC3E}">
        <p14:creationId xmlns:p14="http://schemas.microsoft.com/office/powerpoint/2010/main" val="2075667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D0CD8-9928-4E56-B97C-7080547DD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</a:t>
            </a:r>
            <a:r>
              <a:rPr lang="en-US" spc="-35" dirty="0"/>
              <a:t> </a:t>
            </a:r>
            <a:r>
              <a:rPr lang="en-US" dirty="0"/>
              <a:t>an</a:t>
            </a:r>
            <a:r>
              <a:rPr lang="en-US" spc="-35" dirty="0"/>
              <a:t> </a:t>
            </a:r>
            <a:r>
              <a:rPr lang="en-US" dirty="0"/>
              <a:t>XML</a:t>
            </a:r>
            <a:r>
              <a:rPr lang="en-US" spc="-30" dirty="0"/>
              <a:t> </a:t>
            </a:r>
            <a:r>
              <a:rPr lang="en-US" dirty="0"/>
              <a:t>document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3B24D-7CB4-479D-98B4-17B288AF2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263" y="2367584"/>
            <a:ext cx="9784080" cy="4206240"/>
          </a:xfrm>
        </p:spPr>
        <p:txBody>
          <a:bodyPr/>
          <a:lstStyle/>
          <a:p>
            <a:pPr marL="582931" lvl="1" indent="0">
              <a:lnSpc>
                <a:spcPct val="100000"/>
              </a:lnSpc>
              <a:spcBef>
                <a:spcPts val="480"/>
              </a:spcBef>
              <a:spcAft>
                <a:spcPts val="200"/>
              </a:spcAft>
              <a:buNone/>
              <a:tabLst>
                <a:tab pos="1002665" algn="l"/>
                <a:tab pos="1003300" algn="l"/>
              </a:tabLst>
            </a:pPr>
            <a:endParaRPr lang="en-US" dirty="0">
              <a:latin typeface="Tahoma"/>
              <a:cs typeface="Tahoma"/>
            </a:endParaRPr>
          </a:p>
          <a:p>
            <a:pPr marL="469265" indent="-457200">
              <a:lnSpc>
                <a:spcPct val="100000"/>
              </a:lnSpc>
              <a:spcBef>
                <a:spcPts val="5"/>
              </a:spcBef>
              <a:buSzPct val="60416"/>
              <a:buFont typeface="Wingdings" panose="05000000000000000000" pitchFamily="2" charset="2"/>
              <a:buChar char="q"/>
              <a:tabLst>
                <a:tab pos="469265" algn="l"/>
                <a:tab pos="469900" algn="l"/>
              </a:tabLst>
            </a:pPr>
            <a:r>
              <a:rPr lang="en-US" sz="2400" dirty="0">
                <a:latin typeface="Tahoma"/>
                <a:cs typeface="Tahoma"/>
              </a:rPr>
              <a:t>The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steps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to</a:t>
            </a:r>
            <a:r>
              <a:rPr lang="en-US" sz="2400" spc="-1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build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an</a:t>
            </a:r>
            <a:r>
              <a:rPr lang="en-US" sz="2400" spc="-5" dirty="0">
                <a:latin typeface="Tahoma"/>
                <a:cs typeface="Tahoma"/>
              </a:rPr>
              <a:t> XML</a:t>
            </a:r>
            <a:r>
              <a:rPr lang="en-US" sz="2400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document</a:t>
            </a:r>
            <a:r>
              <a:rPr lang="en-US" sz="2400" spc="-20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are</a:t>
            </a:r>
            <a:r>
              <a:rPr lang="en-US" sz="2400" spc="-1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as</a:t>
            </a:r>
            <a:r>
              <a:rPr lang="en-US" sz="2400" spc="10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follows:</a:t>
            </a:r>
            <a:endParaRPr lang="en-US" sz="2400" dirty="0">
              <a:latin typeface="Tahoma"/>
              <a:cs typeface="Tahoma"/>
            </a:endParaRPr>
          </a:p>
          <a:p>
            <a:pPr marL="1040131" indent="-457200">
              <a:lnSpc>
                <a:spcPct val="100000"/>
              </a:lnSpc>
              <a:spcBef>
                <a:spcPts val="480"/>
              </a:spcBef>
              <a:buFont typeface="+mj-lt"/>
              <a:buAutoNum type="arabicPeriod"/>
              <a:tabLst>
                <a:tab pos="1002665" algn="l"/>
                <a:tab pos="1003300" algn="l"/>
              </a:tabLst>
            </a:pPr>
            <a:r>
              <a:rPr lang="en-US" sz="2000" dirty="0">
                <a:latin typeface="Tahoma"/>
                <a:cs typeface="Tahoma"/>
              </a:rPr>
              <a:t>Create</a:t>
            </a:r>
            <a:r>
              <a:rPr lang="en-US" sz="2000" spc="-2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an</a:t>
            </a:r>
            <a:r>
              <a:rPr lang="en-US" sz="2000" spc="-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XML</a:t>
            </a:r>
            <a:r>
              <a:rPr lang="en-US" sz="2000" spc="-2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document</a:t>
            </a:r>
            <a:r>
              <a:rPr lang="en-US" sz="2000" spc="-3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in</a:t>
            </a:r>
            <a:r>
              <a:rPr lang="en-US" sz="2000" spc="-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an</a:t>
            </a:r>
            <a:r>
              <a:rPr lang="en-US" sz="2000" spc="-20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editor</a:t>
            </a:r>
            <a:endParaRPr lang="en-US" sz="2000" dirty="0">
              <a:latin typeface="Tahoma"/>
              <a:cs typeface="Tahoma"/>
            </a:endParaRPr>
          </a:p>
          <a:p>
            <a:pPr marL="1040131" indent="-457200">
              <a:lnSpc>
                <a:spcPct val="100000"/>
              </a:lnSpc>
              <a:spcBef>
                <a:spcPts val="480"/>
              </a:spcBef>
              <a:buFont typeface="+mj-lt"/>
              <a:buAutoNum type="arabicPeriod"/>
              <a:tabLst>
                <a:tab pos="1002665" algn="l"/>
                <a:tab pos="1003300" algn="l"/>
              </a:tabLst>
            </a:pPr>
            <a:r>
              <a:rPr lang="en-US" sz="2000" spc="-5" dirty="0">
                <a:latin typeface="Tahoma"/>
                <a:cs typeface="Tahoma"/>
              </a:rPr>
              <a:t>Save</a:t>
            </a:r>
            <a:r>
              <a:rPr lang="en-US" sz="2000" spc="-30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the</a:t>
            </a:r>
            <a:r>
              <a:rPr lang="en-US" sz="2000" spc="-1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XML</a:t>
            </a:r>
            <a:r>
              <a:rPr lang="en-US" sz="2000" spc="-3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document</a:t>
            </a:r>
          </a:p>
          <a:p>
            <a:pPr marL="1040131" indent="-457200">
              <a:lnSpc>
                <a:spcPct val="100000"/>
              </a:lnSpc>
              <a:spcBef>
                <a:spcPts val="480"/>
              </a:spcBef>
              <a:buFont typeface="+mj-lt"/>
              <a:buAutoNum type="arabicPeriod"/>
              <a:tabLst>
                <a:tab pos="1002665" algn="l"/>
                <a:tab pos="1003300" algn="l"/>
              </a:tabLst>
            </a:pPr>
            <a:r>
              <a:rPr lang="en-US" sz="2000" dirty="0">
                <a:latin typeface="Tahoma"/>
                <a:cs typeface="Tahoma"/>
              </a:rPr>
              <a:t>Load</a:t>
            </a:r>
            <a:r>
              <a:rPr lang="en-US" sz="2000" spc="-30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the </a:t>
            </a:r>
            <a:r>
              <a:rPr lang="en-US" sz="2000" dirty="0">
                <a:latin typeface="Tahoma"/>
                <a:cs typeface="Tahoma"/>
              </a:rPr>
              <a:t>XML</a:t>
            </a:r>
            <a:r>
              <a:rPr lang="en-US" sz="2000" spc="-2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document</a:t>
            </a:r>
            <a:r>
              <a:rPr lang="en-US" sz="2000" spc="-3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in</a:t>
            </a:r>
            <a:r>
              <a:rPr lang="en-US" sz="2000" spc="-1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a</a:t>
            </a:r>
            <a:r>
              <a:rPr lang="en-US" sz="2000" spc="-20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browser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428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A8978-1092-4E10-8C81-0443C2E06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Task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CF6A7-93BF-4A8F-87C7-D4C05DF8B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491" y="2367584"/>
            <a:ext cx="9784080" cy="420624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Create an Employee File to store the following fields in XML.</a:t>
            </a:r>
          </a:p>
          <a:p>
            <a:pPr marL="228600" lvl="1" indent="0">
              <a:buNone/>
            </a:pPr>
            <a:r>
              <a:rPr lang="en-US" dirty="0"/>
              <a:t>         EMPNO,ENAME,DESIGNATION,SALARY AND DEPTNAME</a:t>
            </a:r>
          </a:p>
          <a:p>
            <a:pPr marL="228600" lvl="1" indent="0">
              <a:buNone/>
            </a:pPr>
            <a:endParaRPr lang="en-US" dirty="0"/>
          </a:p>
          <a:p>
            <a:pPr marL="228600" lvl="1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Create Department file that contains the information of all the departments present in an organization.</a:t>
            </a:r>
          </a:p>
          <a:p>
            <a:pPr marL="228600" lvl="1" indent="0">
              <a:buNone/>
            </a:pPr>
            <a:r>
              <a:rPr lang="en-US" dirty="0"/>
              <a:t>                     DeptNo, DeptName, Location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066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83EC-E0A1-410E-AEAD-C1B7CB8CB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 this student data in xml format</a:t>
            </a:r>
          </a:p>
        </p:txBody>
      </p:sp>
      <p:graphicFrame>
        <p:nvGraphicFramePr>
          <p:cNvPr id="4" name="Group 71">
            <a:extLst>
              <a:ext uri="{FF2B5EF4-FFF2-40B4-BE49-F238E27FC236}">
                <a16:creationId xmlns:a16="http://schemas.microsoft.com/office/drawing/2014/main" id="{1A9C65CF-0523-46C2-988E-081A35AF44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1923951"/>
              </p:ext>
            </p:extLst>
          </p:nvPr>
        </p:nvGraphicFramePr>
        <p:xfrm>
          <a:off x="2244478" y="2175178"/>
          <a:ext cx="7700962" cy="439864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16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5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17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1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79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sid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fname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lname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Y_of_B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David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Dave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1984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John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Jones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1983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John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Smith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1983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55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Mike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Green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1985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Ann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Webb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1980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57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Cathy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Brown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1981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60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Nick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Smith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1979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62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Sue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Moor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1976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64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George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Wolf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1978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Harry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Potter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1983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7193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65390-245F-4242-A633-114F8CA6B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xml code checker for movies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75EBC-D6EB-45ED-BEE1-25D91D5C9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check a xml code for movie visit :https://www.omdbapi.com/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487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48BC6-3DE6-4ADF-A499-6F7F9D6FB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FFD32-385F-4762-B9CF-D55A17EE2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Attributes provide </a:t>
            </a: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extra information about elements.</a:t>
            </a:r>
            <a:endParaRPr lang="en-US" dirty="0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Attributes are always placed inside the opening tag of an element.</a:t>
            </a:r>
            <a:endParaRPr lang="en-US" dirty="0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&lt;name id=“123" &gt; hamza &lt;/name&gt;</a:t>
            </a: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109728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sz="1800" dirty="0">
              <a:latin typeface="Arial"/>
              <a:ea typeface="Arial"/>
              <a:cs typeface="Arial"/>
              <a:sym typeface="Arial"/>
            </a:endParaRPr>
          </a:p>
          <a:p>
            <a:pPr marL="109728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b="1" dirty="0">
                <a:latin typeface="Arial"/>
                <a:ea typeface="Arial"/>
                <a:cs typeface="Arial"/>
                <a:sym typeface="Arial"/>
              </a:rPr>
              <a:t>Avoid Xml Attributes</a:t>
            </a: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Attributes cannot contain multiple values (element can)</a:t>
            </a: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Attribute cannot contain tree structure.</a:t>
            </a: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Attributes are not easily expandable.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000" dirty="0">
              <a:sym typeface="Arial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&lt;Address City = “</a:t>
            </a:r>
            <a:r>
              <a:rPr lang="en-US" sz="1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Khi</a:t>
            </a:r>
            <a:r>
              <a:rPr lang="en-US" sz="180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” Street = “2A” /&gt;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Use Child Elements instead.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&lt;Address&gt;</a:t>
            </a: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&lt;City&gt;&lt;/City&gt;</a:t>
            </a: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&lt;Street&gt;&lt;/Street&gt;</a:t>
            </a: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  <a:sym typeface="Arial"/>
            </a:endParaRP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&lt;/Address&gt;</a:t>
            </a:r>
            <a:endParaRPr 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909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BBBA4-06EB-4CAC-AD06-D3D0AD440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B968B-B972-4FF5-B0CA-7A7820C12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8" y="2011680"/>
            <a:ext cx="9784081" cy="4206240"/>
          </a:xfrm>
        </p:spPr>
        <p:txBody>
          <a:bodyPr/>
          <a:lstStyle/>
          <a:p>
            <a:pPr marL="11887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Sort of short code for a particular word that is to be repeated again and again. Created using &amp; before the word and ; after the word Some characters have a special meaning in XML, like the less than                            sign (&lt;) that defines the start of an XML tag.</a:t>
            </a:r>
            <a:endParaRPr lang="en-US" dirty="0"/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The following entities are predefined in XML: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457200" lvl="1" indent="-114300">
              <a:spcBef>
                <a:spcPts val="0"/>
              </a:spcBef>
              <a:spcAft>
                <a:spcPts val="0"/>
              </a:spcAft>
              <a:buClr>
                <a:srgbClr val="FFFF82"/>
              </a:buClr>
              <a:buSzPts val="1800"/>
              <a:buFont typeface="Trebuchet MS"/>
              <a:buChar char=" "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Trebuchet MS"/>
                <a:ea typeface="Trebuchet MS"/>
                <a:cs typeface="Trebuchet MS"/>
                <a:sym typeface="Trebuchet MS"/>
              </a:rPr>
              <a:t>&amp;amp;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for  </a:t>
            </a:r>
            <a:r>
              <a:rPr lang="en-US" sz="1800" dirty="0">
                <a:latin typeface="Trebuchet MS"/>
                <a:ea typeface="Trebuchet MS"/>
                <a:cs typeface="Trebuchet MS"/>
                <a:sym typeface="Trebuchet MS"/>
              </a:rPr>
              <a:t>&amp;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(almost always necessary)</a:t>
            </a:r>
            <a:endParaRPr lang="en-US" dirty="0"/>
          </a:p>
          <a:p>
            <a:pPr marL="457200" lvl="1" indent="-114300">
              <a:spcBef>
                <a:spcPts val="0"/>
              </a:spcBef>
              <a:spcAft>
                <a:spcPts val="0"/>
              </a:spcAft>
              <a:buClr>
                <a:srgbClr val="FFFF82"/>
              </a:buClr>
              <a:buSzPts val="1800"/>
              <a:buFont typeface="Trebuchet MS"/>
              <a:buChar char=" "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Trebuchet MS"/>
                <a:ea typeface="Trebuchet MS"/>
                <a:cs typeface="Trebuchet MS"/>
                <a:sym typeface="Trebuchet MS"/>
              </a:rPr>
              <a:t>&amp;</a:t>
            </a: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latin typeface="Trebuchet MS"/>
                <a:ea typeface="Trebuchet MS"/>
                <a:cs typeface="Trebuchet MS"/>
                <a:sym typeface="Trebuchet MS"/>
              </a:rPr>
              <a:t>lt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Trebuchet MS"/>
                <a:ea typeface="Trebuchet MS"/>
                <a:cs typeface="Trebuchet MS"/>
                <a:sym typeface="Trebuchet MS"/>
              </a:rPr>
              <a:t>;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for  </a:t>
            </a:r>
            <a:r>
              <a:rPr lang="en-US" sz="1800" dirty="0">
                <a:latin typeface="Trebuchet MS"/>
                <a:ea typeface="Trebuchet MS"/>
                <a:cs typeface="Trebuchet MS"/>
                <a:sym typeface="Trebuchet MS"/>
              </a:rPr>
              <a:t>&lt;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(almost always necessary)</a:t>
            </a:r>
            <a:endParaRPr lang="en-US" dirty="0"/>
          </a:p>
          <a:p>
            <a:pPr marL="457200" lvl="1" indent="-114300">
              <a:spcBef>
                <a:spcPts val="0"/>
              </a:spcBef>
              <a:spcAft>
                <a:spcPts val="0"/>
              </a:spcAft>
              <a:buClr>
                <a:srgbClr val="FFFF82"/>
              </a:buClr>
              <a:buSzPts val="1800"/>
              <a:buFont typeface="Trebuchet MS"/>
              <a:buChar char=" "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Trebuchet MS"/>
                <a:ea typeface="Trebuchet MS"/>
                <a:cs typeface="Trebuchet MS"/>
                <a:sym typeface="Trebuchet MS"/>
              </a:rPr>
              <a:t>&amp;</a:t>
            </a: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latin typeface="Trebuchet MS"/>
                <a:ea typeface="Trebuchet MS"/>
                <a:cs typeface="Trebuchet MS"/>
                <a:sym typeface="Trebuchet MS"/>
              </a:rPr>
              <a:t>gt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Trebuchet MS"/>
                <a:ea typeface="Trebuchet MS"/>
                <a:cs typeface="Trebuchet MS"/>
                <a:sym typeface="Trebuchet MS"/>
              </a:rPr>
              <a:t>;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for   </a:t>
            </a:r>
            <a:r>
              <a:rPr lang="en-US" sz="1800" dirty="0">
                <a:latin typeface="Trebuchet MS"/>
                <a:ea typeface="Trebuchet MS"/>
                <a:cs typeface="Trebuchet MS"/>
                <a:sym typeface="Trebuchet MS"/>
              </a:rPr>
              <a:t>&gt;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(not usually necessary)</a:t>
            </a:r>
            <a:endParaRPr lang="en-US" dirty="0"/>
          </a:p>
          <a:p>
            <a:pPr marL="457200" lvl="1" indent="-114300">
              <a:spcBef>
                <a:spcPts val="0"/>
              </a:spcBef>
              <a:spcAft>
                <a:spcPts val="0"/>
              </a:spcAft>
              <a:buClr>
                <a:srgbClr val="FFFF82"/>
              </a:buClr>
              <a:buSzPts val="1800"/>
              <a:buFont typeface="Trebuchet MS"/>
              <a:buChar char=" "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Trebuchet MS"/>
                <a:ea typeface="Trebuchet MS"/>
                <a:cs typeface="Trebuchet MS"/>
                <a:sym typeface="Trebuchet MS"/>
              </a:rPr>
              <a:t>&amp;</a:t>
            </a: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latin typeface="Trebuchet MS"/>
                <a:ea typeface="Trebuchet MS"/>
                <a:cs typeface="Trebuchet MS"/>
                <a:sym typeface="Trebuchet MS"/>
              </a:rPr>
              <a:t>quot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Trebuchet MS"/>
                <a:ea typeface="Trebuchet MS"/>
                <a:cs typeface="Trebuchet MS"/>
                <a:sym typeface="Trebuchet MS"/>
              </a:rPr>
              <a:t>; 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for   </a:t>
            </a:r>
            <a:r>
              <a:rPr lang="en-US" sz="1800" dirty="0">
                <a:latin typeface="Trebuchet MS"/>
                <a:ea typeface="Trebuchet MS"/>
                <a:cs typeface="Trebuchet MS"/>
                <a:sym typeface="Trebuchet MS"/>
              </a:rPr>
              <a:t>" 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(necessary inside double quotes)</a:t>
            </a:r>
            <a:endParaRPr lang="en-US" dirty="0"/>
          </a:p>
          <a:p>
            <a:pPr marL="457200" lvl="1" indent="-114300">
              <a:spcBef>
                <a:spcPts val="0"/>
              </a:spcBef>
              <a:spcAft>
                <a:spcPts val="0"/>
              </a:spcAft>
              <a:buClr>
                <a:srgbClr val="FFFF82"/>
              </a:buClr>
              <a:buSzPts val="1800"/>
              <a:buFont typeface="Trebuchet MS"/>
              <a:buChar char=" "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Trebuchet MS"/>
                <a:ea typeface="Trebuchet MS"/>
                <a:cs typeface="Trebuchet MS"/>
                <a:sym typeface="Trebuchet MS"/>
              </a:rPr>
              <a:t>&amp;</a:t>
            </a: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latin typeface="Trebuchet MS"/>
                <a:ea typeface="Trebuchet MS"/>
                <a:cs typeface="Trebuchet MS"/>
                <a:sym typeface="Trebuchet MS"/>
              </a:rPr>
              <a:t>apos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Trebuchet MS"/>
                <a:ea typeface="Trebuchet MS"/>
                <a:cs typeface="Trebuchet MS"/>
                <a:sym typeface="Trebuchet MS"/>
              </a:rPr>
              <a:t>;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for  </a:t>
            </a:r>
            <a:r>
              <a:rPr lang="en-US" sz="1800" dirty="0">
                <a:latin typeface="Trebuchet MS"/>
                <a:ea typeface="Trebuchet MS"/>
                <a:cs typeface="Trebuchet MS"/>
                <a:sym typeface="Trebuchet MS"/>
              </a:rPr>
              <a:t> '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   (necessary inside single quotes)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64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2D0BF-82E1-4461-B327-F0B818FE7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E33FE-3FFE-4151-8B0E-E98D69107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965" lvl="0" indent="-342265">
              <a:spcBef>
                <a:spcPts val="100"/>
              </a:spcBef>
              <a:spcAft>
                <a:spcPts val="0"/>
              </a:spcAft>
              <a:buClr>
                <a:srgbClr val="3333CC"/>
              </a:buClr>
              <a:buSzPts val="1087"/>
              <a:buFont typeface="Noto Sans Symbols"/>
              <a:buChar char="■"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Elements are distinguished by using namespaces.</a:t>
            </a:r>
          </a:p>
          <a:p>
            <a:pPr marL="354965" lvl="0" indent="-342265">
              <a:spcBef>
                <a:spcPts val="1710"/>
              </a:spcBef>
              <a:spcAft>
                <a:spcPts val="0"/>
              </a:spcAft>
              <a:buClr>
                <a:srgbClr val="3333CC"/>
              </a:buClr>
              <a:buSzPts val="1087"/>
              <a:buFont typeface="Noto Sans Symbols"/>
              <a:buChar char="■"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A namespace is a collection of names.</a:t>
            </a:r>
          </a:p>
          <a:p>
            <a:pPr marL="354965" lvl="0" indent="-342265">
              <a:spcBef>
                <a:spcPts val="1689"/>
              </a:spcBef>
              <a:spcAft>
                <a:spcPts val="0"/>
              </a:spcAft>
              <a:buClr>
                <a:srgbClr val="3333CC"/>
              </a:buClr>
              <a:buSzPts val="1087"/>
              <a:buFont typeface="Noto Sans Symbols"/>
              <a:buChar char="■"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Namespaces allow the browser to:</a:t>
            </a:r>
            <a:endParaRPr lang="en-US" dirty="0"/>
          </a:p>
          <a:p>
            <a:pPr marL="756285" lvl="1" indent="-287019">
              <a:spcBef>
                <a:spcPts val="1705"/>
              </a:spcBef>
              <a:spcAft>
                <a:spcPts val="0"/>
              </a:spcAft>
              <a:buClr>
                <a:srgbClr val="FF0000"/>
              </a:buClr>
              <a:buSzPts val="975"/>
              <a:buFont typeface="Noto Sans Symbols"/>
              <a:buChar char="■"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Combine documents from different sources</a:t>
            </a:r>
          </a:p>
          <a:p>
            <a:pPr marL="756285" lvl="1" indent="-287019">
              <a:spcBef>
                <a:spcPts val="1705"/>
              </a:spcBef>
              <a:spcAft>
                <a:spcPts val="0"/>
              </a:spcAft>
              <a:buClr>
                <a:srgbClr val="FF0000"/>
              </a:buClr>
              <a:buSzPts val="975"/>
              <a:buFont typeface="Noto Sans Symbols"/>
              <a:buChar char="■"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Identify the source of elements or attributes</a:t>
            </a:r>
          </a:p>
          <a:p>
            <a:endParaRPr lang="en-US" dirty="0"/>
          </a:p>
        </p:txBody>
      </p:sp>
      <p:sp>
        <p:nvSpPr>
          <p:cNvPr id="4" name="Google Shape;154;p11">
            <a:extLst>
              <a:ext uri="{FF2B5EF4-FFF2-40B4-BE49-F238E27FC236}">
                <a16:creationId xmlns:a16="http://schemas.microsoft.com/office/drawing/2014/main" id="{DCE7E14E-51BA-4F5C-9743-07BB98488F3B}"/>
              </a:ext>
            </a:extLst>
          </p:cNvPr>
          <p:cNvSpPr/>
          <p:nvPr/>
        </p:nvSpPr>
        <p:spPr>
          <a:xfrm>
            <a:off x="6848374" y="2174681"/>
            <a:ext cx="4866547" cy="207264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71430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2D0BF-82E1-4461-B327-F0B818FE7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Namespaces SYNTAX</a:t>
            </a:r>
          </a:p>
        </p:txBody>
      </p:sp>
      <p:sp>
        <p:nvSpPr>
          <p:cNvPr id="8" name="Google Shape;160;p12">
            <a:extLst>
              <a:ext uri="{FF2B5EF4-FFF2-40B4-BE49-F238E27FC236}">
                <a16:creationId xmlns:a16="http://schemas.microsoft.com/office/drawing/2014/main" id="{F00FF1B8-DAFB-4B64-9FB0-AEAA36DA05F4}"/>
              </a:ext>
            </a:extLst>
          </p:cNvPr>
          <p:cNvSpPr/>
          <p:nvPr/>
        </p:nvSpPr>
        <p:spPr>
          <a:xfrm>
            <a:off x="1898475" y="1589239"/>
            <a:ext cx="7620000" cy="22098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62;p12">
            <a:extLst>
              <a:ext uri="{FF2B5EF4-FFF2-40B4-BE49-F238E27FC236}">
                <a16:creationId xmlns:a16="http://schemas.microsoft.com/office/drawing/2014/main" id="{44D170A8-E21E-412D-8FC8-3F293DCF0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0869" y="3905844"/>
            <a:ext cx="9210261" cy="2725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 algn="ctr">
              <a:buNone/>
            </a:pPr>
            <a:r>
              <a:rPr lang="en-US" sz="3200" u="sng" dirty="0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dirty="0">
              <a:solidFill>
                <a:schemeClr val="tx2">
                  <a:lumMod val="75000"/>
                </a:schemeClr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spcBef>
                <a:spcPts val="180"/>
              </a:spcBef>
              <a:buNone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S:Student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xmlns:S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=” </a:t>
            </a:r>
            <a:r>
              <a:rPr lang="en-US" u="sng" dirty="0"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http://www.abc.com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”&gt;</a:t>
            </a:r>
            <a:endParaRPr dirty="0"/>
          </a:p>
          <a:p>
            <a:pPr marL="0" indent="0">
              <a:spcBef>
                <a:spcPts val="180"/>
              </a:spcBef>
              <a:buNone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S:First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&gt;John&lt;/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S:First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buClr>
                <a:schemeClr val="dk1"/>
              </a:buClr>
              <a:buSzPts val="1800"/>
              <a:buNone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S:Last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&gt;Dewey&lt;/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S:Last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spcBef>
                <a:spcPts val="5"/>
              </a:spcBef>
              <a:buClr>
                <a:schemeClr val="dk1"/>
              </a:buClr>
              <a:buSzPts val="1800"/>
              <a:buNone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S:Title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&gt;Student&lt;/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S:Title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buNone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S:Student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6760004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CA86A-0BDF-4DEA-8636-2455A3609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DTD DOCUMENT TYPE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2F034-08F1-482D-B36D-BC8DB9508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011680"/>
            <a:ext cx="9784080" cy="4206240"/>
          </a:xfrm>
        </p:spPr>
        <p:txBody>
          <a:bodyPr/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en-US" sz="1800" kern="0" dirty="0">
                <a:latin typeface="Arial"/>
                <a:ea typeface="Arial"/>
                <a:cs typeface="Arial"/>
                <a:sym typeface="Arial"/>
              </a:rPr>
              <a:t>A Document Type Definition (DTD) defines the legal building blocks of an XML document. It defines the document structure with a list of legal elements and attributes.</a:t>
            </a:r>
            <a:endParaRPr lang="en-US" sz="1400" kern="0" dirty="0">
              <a:latin typeface="Arial"/>
              <a:cs typeface="Arial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endParaRPr lang="en-US" sz="1800" kern="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en-US" sz="2000" b="1" kern="0" dirty="0">
                <a:latin typeface="Arial"/>
                <a:ea typeface="Arial"/>
                <a:cs typeface="Arial"/>
                <a:sym typeface="Arial"/>
              </a:rPr>
              <a:t>A DTD can be declared inline inside an XML document, or as an external reference</a:t>
            </a:r>
            <a:r>
              <a:rPr lang="en-US" sz="1800" kern="0" dirty="0">
                <a:latin typeface="Arial"/>
                <a:ea typeface="Arial"/>
                <a:cs typeface="Arial"/>
                <a:sym typeface="Arial"/>
              </a:rPr>
              <a:t>.</a:t>
            </a:r>
            <a:endParaRPr lang="en-US" sz="1400" kern="0" dirty="0">
              <a:latin typeface="Arial"/>
              <a:cs typeface="Arial"/>
              <a:sym typeface="Arial"/>
            </a:endParaRPr>
          </a:p>
          <a:p>
            <a:pPr marL="118871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endParaRPr lang="en-US" sz="1800" kern="0" dirty="0">
              <a:latin typeface="Arial"/>
              <a:ea typeface="Arial"/>
              <a:cs typeface="Arial"/>
              <a:sym typeface="Arial"/>
            </a:endParaRPr>
          </a:p>
          <a:p>
            <a:pPr marL="118871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b="1" kern="0" dirty="0">
                <a:latin typeface="Arial"/>
                <a:ea typeface="Arial"/>
                <a:cs typeface="Arial"/>
                <a:sym typeface="Arial"/>
              </a:rPr>
              <a:t>USE OF DTD</a:t>
            </a:r>
            <a:endParaRPr lang="en-US" sz="1400" kern="0" dirty="0">
              <a:latin typeface="Arial"/>
              <a:cs typeface="Arial"/>
              <a:sym typeface="Arial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kern="0" dirty="0">
                <a:latin typeface="Arial"/>
                <a:ea typeface="Arial"/>
                <a:cs typeface="Arial"/>
                <a:sym typeface="Arial"/>
              </a:rPr>
              <a:t>With a DTD, each of your XML files can carry a description of its own format.</a:t>
            </a:r>
            <a:endParaRPr lang="en-US" sz="1400" kern="0" dirty="0">
              <a:latin typeface="Arial"/>
              <a:cs typeface="Arial"/>
              <a:sym typeface="Arial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kern="0" dirty="0">
                <a:latin typeface="Arial"/>
                <a:ea typeface="Arial"/>
                <a:cs typeface="Arial"/>
                <a:sym typeface="Arial"/>
              </a:rPr>
              <a:t>With a DTD, independent groups of people can agree to use a standard DTD for interchanging data.</a:t>
            </a:r>
            <a:endParaRPr lang="en-US" sz="1400" kern="0" dirty="0">
              <a:latin typeface="Arial"/>
              <a:cs typeface="Arial"/>
              <a:sym typeface="Arial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kern="0" dirty="0">
                <a:latin typeface="Arial"/>
                <a:ea typeface="Arial"/>
                <a:cs typeface="Arial"/>
                <a:sym typeface="Arial"/>
              </a:rPr>
              <a:t>Your application can use a standard DTD to verify that the data you receive from the outside world is valid.</a:t>
            </a:r>
            <a:endParaRPr lang="en-US" sz="1400" kern="0" dirty="0">
              <a:latin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kern="0" dirty="0">
                <a:latin typeface="Arial"/>
                <a:ea typeface="Arial"/>
                <a:cs typeface="Arial"/>
                <a:sym typeface="Arial"/>
              </a:rPr>
              <a:t>You can also use a DTD to verify your own data.</a:t>
            </a:r>
            <a:endParaRPr lang="en-US" sz="1400" kern="0" dirty="0">
              <a:latin typeface="Arial"/>
              <a:cs typeface="Arial"/>
              <a:sym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4892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CA86A-0BDF-4DEA-8636-2455A3609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a DTD</a:t>
            </a:r>
          </a:p>
        </p:txBody>
      </p:sp>
      <p:pic>
        <p:nvPicPr>
          <p:cNvPr id="6" name="Google Shape;187;p16">
            <a:extLst>
              <a:ext uri="{FF2B5EF4-FFF2-40B4-BE49-F238E27FC236}">
                <a16:creationId xmlns:a16="http://schemas.microsoft.com/office/drawing/2014/main" id="{FDC60776-BFF7-45C1-9C54-243C409D9EE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18791" y="2541766"/>
            <a:ext cx="5715000" cy="3276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39998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F45E0-1C3D-4B5E-A53A-A8E33B6B9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DTD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EF489-486D-4F49-A767-5DB61899A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/>
                <a:ea typeface="Arial"/>
                <a:cs typeface="Arial"/>
                <a:sym typeface="Arial"/>
              </a:rPr>
              <a:t>If the DTD is declared inside the XML file, it should be wrapped in a DOCTYPE definition with the following syntax:</a:t>
            </a:r>
            <a:endParaRPr lang="en-US" dirty="0"/>
          </a:p>
          <a:p>
            <a:r>
              <a:rPr lang="en-US" dirty="0">
                <a:latin typeface="Arial"/>
                <a:ea typeface="Arial"/>
                <a:cs typeface="Arial"/>
                <a:sym typeface="Arial"/>
              </a:rPr>
              <a:t>&lt;!DOCTYPE root-element [element-declarations]&gt;</a:t>
            </a:r>
            <a:endParaRPr lang="en-US" dirty="0"/>
          </a:p>
          <a:p>
            <a:endParaRPr lang="en-US" dirty="0"/>
          </a:p>
        </p:txBody>
      </p:sp>
      <p:sp>
        <p:nvSpPr>
          <p:cNvPr id="4" name="Google Shape;194;p17">
            <a:extLst>
              <a:ext uri="{FF2B5EF4-FFF2-40B4-BE49-F238E27FC236}">
                <a16:creationId xmlns:a16="http://schemas.microsoft.com/office/drawing/2014/main" id="{1830FDC7-D37B-47F5-993B-67CD80CDBFC2}"/>
              </a:ext>
            </a:extLst>
          </p:cNvPr>
          <p:cNvSpPr/>
          <p:nvPr/>
        </p:nvSpPr>
        <p:spPr>
          <a:xfrm>
            <a:off x="2385391" y="3195099"/>
            <a:ext cx="6440557" cy="3378725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16318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59D34-C07F-4A6D-AF1A-31EF027D1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 IN DTD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7FFBE-E319-489B-84D8-C10665181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&lt;?xml version="1.0"?&gt;</a:t>
            </a:r>
            <a:br>
              <a:rPr lang="en-US" sz="24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&lt;!DOCTYPE note [</a:t>
            </a:r>
            <a:br>
              <a:rPr lang="en-US" sz="24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&lt;!ELEMENT note (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to,from,heading,body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)&gt;</a:t>
            </a:r>
            <a:br>
              <a:rPr lang="en-US" sz="24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&lt;!ELEMENT to (#PCDATA)&gt;</a:t>
            </a:r>
            <a:br>
              <a:rPr lang="en-US" sz="24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&lt;!ELEMENT from (#PCDATA)&gt;</a:t>
            </a:r>
            <a:br>
              <a:rPr lang="en-US" sz="24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&lt;!ELEMENT heading (#PCDATA)&gt;</a:t>
            </a:r>
            <a:br>
              <a:rPr lang="en-US" sz="24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&lt;!ELEMENT body (#PCDATA)&gt;</a:t>
            </a:r>
            <a:br>
              <a:rPr lang="en-US" sz="24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]&gt;</a:t>
            </a:r>
            <a:br>
              <a:rPr lang="en-US" sz="24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&lt;note&gt;</a:t>
            </a:r>
            <a:br>
              <a:rPr lang="en-US" sz="24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&lt;to&gt;</a:t>
            </a:r>
            <a:r>
              <a:rPr lang="en-US" sz="2400" dirty="0" err="1">
                <a:latin typeface="Arial"/>
                <a:ea typeface="Arial"/>
                <a:cs typeface="Arial"/>
                <a:sym typeface="Arial"/>
              </a:rPr>
              <a:t>Tove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&lt;/to&gt;</a:t>
            </a:r>
            <a:br>
              <a:rPr lang="en-US" sz="24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&lt;from&gt;Jani&lt;/from&gt;</a:t>
            </a:r>
            <a:br>
              <a:rPr lang="en-US" sz="24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&lt;heading&gt;Reminder&lt;/heading&gt;</a:t>
            </a:r>
            <a:br>
              <a:rPr lang="en-US" sz="24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&lt;body&gt;Don't forget me this weekend&lt;/body&gt;</a:t>
            </a:r>
            <a:br>
              <a:rPr lang="en-US" sz="24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&lt;/note&gt;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597E55-00B6-4D42-8A20-D17B316AA81C}"/>
              </a:ext>
            </a:extLst>
          </p:cNvPr>
          <p:cNvSpPr txBox="1"/>
          <p:nvPr/>
        </p:nvSpPr>
        <p:spPr>
          <a:xfrm>
            <a:off x="7248939" y="2268140"/>
            <a:ext cx="462500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!DOCTYPE note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 defines that the root element of this document is note</a:t>
            </a:r>
            <a:endParaRPr lang="en-US" dirty="0"/>
          </a:p>
          <a:p>
            <a:pPr lvl="0"/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!ELEMENT note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 defines that the note element contains four elements: "</a:t>
            </a:r>
            <a:r>
              <a:rPr lang="en-US" dirty="0" err="1">
                <a:latin typeface="Arial"/>
                <a:ea typeface="Arial"/>
                <a:cs typeface="Arial"/>
                <a:sym typeface="Arial"/>
              </a:rPr>
              <a:t>to,from,heading,body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"</a:t>
            </a:r>
            <a:endParaRPr lang="en-US" dirty="0"/>
          </a:p>
          <a:p>
            <a:pPr lvl="0"/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!ELEMENT to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 defines the to element  to be of type "#PCDATA"</a:t>
            </a:r>
            <a:endParaRPr lang="en-US" dirty="0"/>
          </a:p>
          <a:p>
            <a:pPr lvl="0"/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!ELEMENT from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 defines the from element to be of type "#PCDATA"</a:t>
            </a:r>
            <a:endParaRPr lang="en-US" dirty="0"/>
          </a:p>
          <a:p>
            <a:pPr lvl="0"/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!ELEMENT heading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 defines the heading element to be of type "#PCDATA"</a:t>
            </a:r>
            <a:endParaRPr lang="en-US" dirty="0"/>
          </a:p>
          <a:p>
            <a:pPr lvl="0"/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!ELEMENT body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 defines the body element to be of type "#PCDATA"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9544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CE8DE-DD29-4C9A-98E8-6A959AE79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PCDATA  &amp;  CDATA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9F2B-6D65-4DFB-AC3F-4DDA75C18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PCDATA</a:t>
            </a:r>
          </a:p>
          <a:p>
            <a:r>
              <a:rPr lang="en-US" dirty="0"/>
              <a:t>PCDATA means parsed character data.</a:t>
            </a:r>
          </a:p>
          <a:p>
            <a:r>
              <a:rPr lang="en-US" dirty="0"/>
              <a:t>PCDATA is text that WILL be parsed by a parser. The text will be examined by the parser for entities and markup.</a:t>
            </a:r>
          </a:p>
          <a:p>
            <a:r>
              <a:rPr lang="en-US" dirty="0"/>
              <a:t>Tags inside the text will be treated as markup and entities will be expanded.</a:t>
            </a:r>
          </a:p>
          <a:p>
            <a:r>
              <a:rPr lang="en-US" dirty="0"/>
              <a:t>However, parsed character data should not contain any &amp;, &lt;, or &gt; characters; these need to be represented by the &amp;amp; &amp;</a:t>
            </a:r>
            <a:r>
              <a:rPr lang="en-US" dirty="0" err="1"/>
              <a:t>lt</a:t>
            </a:r>
            <a:r>
              <a:rPr lang="en-US" dirty="0"/>
              <a:t>; and &amp;</a:t>
            </a:r>
            <a:r>
              <a:rPr lang="en-US" dirty="0" err="1"/>
              <a:t>gt</a:t>
            </a:r>
            <a:r>
              <a:rPr lang="en-US" dirty="0"/>
              <a:t>; entities, respectively.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CDATA</a:t>
            </a:r>
          </a:p>
          <a:p>
            <a:r>
              <a:rPr lang="en-US" dirty="0"/>
              <a:t>CDATA means character data.</a:t>
            </a:r>
          </a:p>
          <a:p>
            <a:r>
              <a:rPr lang="en-US" dirty="0"/>
              <a:t>CDATA is text that will NOT be parsed by a parser. Tags inside the text will NOT be treated as markup and entities will not be expanded.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4832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2AD07-A27D-455D-B7FD-104A11247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 IN DTD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7E8B0-C4D5-41AB-8C56-3D0CF8720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20" y="2011680"/>
            <a:ext cx="5847238" cy="2122998"/>
          </a:xfrm>
        </p:spPr>
        <p:txBody>
          <a:bodyPr>
            <a:normAutofit fontScale="25000" lnSpcReduction="20000"/>
          </a:bodyPr>
          <a:lstStyle/>
          <a:p>
            <a:r>
              <a:rPr lang="en-US" sz="5600" dirty="0"/>
              <a:t>Syntax</a:t>
            </a:r>
          </a:p>
          <a:p>
            <a:r>
              <a:rPr lang="en-US" sz="5600" dirty="0"/>
              <a:t>	&lt;!ATTLIST tag-name attribute-name type attribute-value&gt; </a:t>
            </a:r>
          </a:p>
          <a:p>
            <a:r>
              <a:rPr lang="en-US" sz="5600" dirty="0"/>
              <a:t>Example</a:t>
            </a:r>
          </a:p>
          <a:p>
            <a:r>
              <a:rPr lang="en-US" sz="5600" dirty="0"/>
              <a:t> ------In DTD--------------</a:t>
            </a:r>
          </a:p>
          <a:p>
            <a:r>
              <a:rPr lang="en-US" sz="5600" dirty="0"/>
              <a:t>&lt;!ATTLIST  name ID CDATA #REQUIRED</a:t>
            </a:r>
          </a:p>
          <a:p>
            <a:r>
              <a:rPr lang="en-US" sz="5600" dirty="0"/>
              <a:t>------In XML--------------</a:t>
            </a:r>
          </a:p>
          <a:p>
            <a:r>
              <a:rPr lang="en-US" sz="5600" dirty="0"/>
              <a:t>&lt;name ID=“1234&gt; hamza &lt;/name&gt;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597654-03BB-47CF-B886-BC035C0F4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182" y="2549772"/>
            <a:ext cx="3755461" cy="499915"/>
          </a:xfrm>
          <a:prstGeom prst="rect">
            <a:avLst/>
          </a:prstGeom>
        </p:spPr>
      </p:pic>
      <p:grpSp>
        <p:nvGrpSpPr>
          <p:cNvPr id="38" name="Google Shape;214;p20">
            <a:extLst>
              <a:ext uri="{FF2B5EF4-FFF2-40B4-BE49-F238E27FC236}">
                <a16:creationId xmlns:a16="http://schemas.microsoft.com/office/drawing/2014/main" id="{B4FF0C39-828F-4116-AB57-DB0B8414E2C8}"/>
              </a:ext>
            </a:extLst>
          </p:cNvPr>
          <p:cNvGrpSpPr/>
          <p:nvPr/>
        </p:nvGrpSpPr>
        <p:grpSpPr>
          <a:xfrm>
            <a:off x="5181600" y="3040129"/>
            <a:ext cx="6864626" cy="2711313"/>
            <a:chOff x="-3" y="-3"/>
            <a:chExt cx="2560" cy="2188"/>
          </a:xfrm>
        </p:grpSpPr>
        <p:grpSp>
          <p:nvGrpSpPr>
            <p:cNvPr id="39" name="Google Shape;215;p20">
              <a:extLst>
                <a:ext uri="{FF2B5EF4-FFF2-40B4-BE49-F238E27FC236}">
                  <a16:creationId xmlns:a16="http://schemas.microsoft.com/office/drawing/2014/main" id="{92017FFD-5348-4DDB-A95F-31DFE489CAF8}"/>
                </a:ext>
              </a:extLst>
            </p:cNvPr>
            <p:cNvGrpSpPr/>
            <p:nvPr/>
          </p:nvGrpSpPr>
          <p:grpSpPr>
            <a:xfrm>
              <a:off x="0" y="0"/>
              <a:ext cx="2554" cy="2182"/>
              <a:chOff x="0" y="0"/>
              <a:chExt cx="2554" cy="2182"/>
            </a:xfrm>
          </p:grpSpPr>
          <p:grpSp>
            <p:nvGrpSpPr>
              <p:cNvPr id="41" name="Google Shape;216;p20">
                <a:extLst>
                  <a:ext uri="{FF2B5EF4-FFF2-40B4-BE49-F238E27FC236}">
                    <a16:creationId xmlns:a16="http://schemas.microsoft.com/office/drawing/2014/main" id="{8E00167E-C091-4DEC-88E6-D109F78DD184}"/>
                  </a:ext>
                </a:extLst>
              </p:cNvPr>
              <p:cNvGrpSpPr/>
              <p:nvPr/>
            </p:nvGrpSpPr>
            <p:grpSpPr>
              <a:xfrm>
                <a:off x="0" y="0"/>
                <a:ext cx="702" cy="394"/>
                <a:chOff x="0" y="0"/>
                <a:chExt cx="702" cy="394"/>
              </a:xfrm>
            </p:grpSpPr>
            <p:sp>
              <p:nvSpPr>
                <p:cNvPr id="69" name="Google Shape;217;p20">
                  <a:extLst>
                    <a:ext uri="{FF2B5EF4-FFF2-40B4-BE49-F238E27FC236}">
                      <a16:creationId xmlns:a16="http://schemas.microsoft.com/office/drawing/2014/main" id="{82B6A6FB-42CA-4DFC-AB61-887D213CD4C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702" cy="39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 b="1" dirty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  </a:t>
                  </a:r>
                  <a:r>
                    <a:rPr lang="en-US" sz="2400" b="1" dirty="0"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Value</a:t>
                  </a:r>
                  <a:endParaRPr dirty="0"/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40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0" name="Google Shape;218;p20">
                  <a:extLst>
                    <a:ext uri="{FF2B5EF4-FFF2-40B4-BE49-F238E27FC236}">
                      <a16:creationId xmlns:a16="http://schemas.microsoft.com/office/drawing/2014/main" id="{5D2EF875-0FB3-4423-AC18-140C439CC0D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702" cy="394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" name="Google Shape;219;p20">
                <a:extLst>
                  <a:ext uri="{FF2B5EF4-FFF2-40B4-BE49-F238E27FC236}">
                    <a16:creationId xmlns:a16="http://schemas.microsoft.com/office/drawing/2014/main" id="{7E3CF3EE-908B-4272-9458-29FC0081C69E}"/>
                  </a:ext>
                </a:extLst>
              </p:cNvPr>
              <p:cNvGrpSpPr/>
              <p:nvPr/>
            </p:nvGrpSpPr>
            <p:grpSpPr>
              <a:xfrm>
                <a:off x="702" y="0"/>
                <a:ext cx="1852" cy="394"/>
                <a:chOff x="702" y="0"/>
                <a:chExt cx="1852" cy="394"/>
              </a:xfrm>
            </p:grpSpPr>
            <p:sp>
              <p:nvSpPr>
                <p:cNvPr id="67" name="Google Shape;220;p20">
                  <a:extLst>
                    <a:ext uri="{FF2B5EF4-FFF2-40B4-BE49-F238E27FC236}">
                      <a16:creationId xmlns:a16="http://schemas.microsoft.com/office/drawing/2014/main" id="{D2F4868A-A8B8-47DE-8D37-5BC9A8AF0B4F}"/>
                    </a:ext>
                  </a:extLst>
                </p:cNvPr>
                <p:cNvSpPr/>
                <p:nvPr/>
              </p:nvSpPr>
              <p:spPr>
                <a:xfrm>
                  <a:off x="702" y="0"/>
                  <a:ext cx="1852" cy="39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 b="1" dirty="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  </a:t>
                  </a:r>
                  <a:r>
                    <a:rPr lang="en-US" sz="2400" b="1" dirty="0"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Explanation</a:t>
                  </a:r>
                  <a:endParaRPr dirty="0"/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40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68" name="Google Shape;221;p20">
                  <a:extLst>
                    <a:ext uri="{FF2B5EF4-FFF2-40B4-BE49-F238E27FC236}">
                      <a16:creationId xmlns:a16="http://schemas.microsoft.com/office/drawing/2014/main" id="{9DE53349-FC1D-4C5F-B7DB-AD014B3DA20D}"/>
                    </a:ext>
                  </a:extLst>
                </p:cNvPr>
                <p:cNvSpPr/>
                <p:nvPr/>
              </p:nvSpPr>
              <p:spPr>
                <a:xfrm>
                  <a:off x="702" y="0"/>
                  <a:ext cx="1852" cy="394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" name="Google Shape;222;p20">
                <a:extLst>
                  <a:ext uri="{FF2B5EF4-FFF2-40B4-BE49-F238E27FC236}">
                    <a16:creationId xmlns:a16="http://schemas.microsoft.com/office/drawing/2014/main" id="{5408F979-9E17-4C4A-8189-26BAFD21F184}"/>
                  </a:ext>
                </a:extLst>
              </p:cNvPr>
              <p:cNvGrpSpPr/>
              <p:nvPr/>
            </p:nvGrpSpPr>
            <p:grpSpPr>
              <a:xfrm>
                <a:off x="0" y="394"/>
                <a:ext cx="702" cy="500"/>
                <a:chOff x="0" y="394"/>
                <a:chExt cx="702" cy="500"/>
              </a:xfrm>
            </p:grpSpPr>
            <p:sp>
              <p:nvSpPr>
                <p:cNvPr id="65" name="Google Shape;223;p20">
                  <a:extLst>
                    <a:ext uri="{FF2B5EF4-FFF2-40B4-BE49-F238E27FC236}">
                      <a16:creationId xmlns:a16="http://schemas.microsoft.com/office/drawing/2014/main" id="{3F69C6ED-13C9-4C48-8C74-5A8991D9BE8A}"/>
                    </a:ext>
                  </a:extLst>
                </p:cNvPr>
                <p:cNvSpPr/>
                <p:nvPr/>
              </p:nvSpPr>
              <p:spPr>
                <a:xfrm>
                  <a:off x="0" y="394"/>
                  <a:ext cx="702" cy="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 dirty="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900" dirty="0"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#DEFAULT </a:t>
                  </a:r>
                  <a:endParaRPr sz="1800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40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66" name="Google Shape;224;p20">
                  <a:extLst>
                    <a:ext uri="{FF2B5EF4-FFF2-40B4-BE49-F238E27FC236}">
                      <a16:creationId xmlns:a16="http://schemas.microsoft.com/office/drawing/2014/main" id="{976DFBFA-19FC-4D34-8D3D-ABC5B3B5F2DF}"/>
                    </a:ext>
                  </a:extLst>
                </p:cNvPr>
                <p:cNvSpPr/>
                <p:nvPr/>
              </p:nvSpPr>
              <p:spPr>
                <a:xfrm>
                  <a:off x="0" y="394"/>
                  <a:ext cx="702" cy="500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4" name="Google Shape;225;p20">
                <a:extLst>
                  <a:ext uri="{FF2B5EF4-FFF2-40B4-BE49-F238E27FC236}">
                    <a16:creationId xmlns:a16="http://schemas.microsoft.com/office/drawing/2014/main" id="{8278675C-5AAD-4595-95D8-3C1AB40B88E2}"/>
                  </a:ext>
                </a:extLst>
              </p:cNvPr>
              <p:cNvGrpSpPr/>
              <p:nvPr/>
            </p:nvGrpSpPr>
            <p:grpSpPr>
              <a:xfrm>
                <a:off x="702" y="391"/>
                <a:ext cx="1852" cy="503"/>
                <a:chOff x="702" y="391"/>
                <a:chExt cx="1852" cy="503"/>
              </a:xfrm>
            </p:grpSpPr>
            <p:sp>
              <p:nvSpPr>
                <p:cNvPr id="63" name="Google Shape;226;p20">
                  <a:extLst>
                    <a:ext uri="{FF2B5EF4-FFF2-40B4-BE49-F238E27FC236}">
                      <a16:creationId xmlns:a16="http://schemas.microsoft.com/office/drawing/2014/main" id="{5707CBE0-0CF9-4671-8EFA-9D733B95A751}"/>
                    </a:ext>
                  </a:extLst>
                </p:cNvPr>
                <p:cNvSpPr/>
                <p:nvPr/>
              </p:nvSpPr>
              <p:spPr>
                <a:xfrm>
                  <a:off x="702" y="391"/>
                  <a:ext cx="1852" cy="50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900" dirty="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 </a:t>
                  </a:r>
                  <a:endParaRPr dirty="0"/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900" dirty="0"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The attribute has a default value.</a:t>
                  </a:r>
                  <a:endParaRPr sz="1800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40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64" name="Google Shape;227;p20">
                  <a:extLst>
                    <a:ext uri="{FF2B5EF4-FFF2-40B4-BE49-F238E27FC236}">
                      <a16:creationId xmlns:a16="http://schemas.microsoft.com/office/drawing/2014/main" id="{18AB0E2C-39EE-4FF3-945E-F3D5D8AD78E2}"/>
                    </a:ext>
                  </a:extLst>
                </p:cNvPr>
                <p:cNvSpPr/>
                <p:nvPr/>
              </p:nvSpPr>
              <p:spPr>
                <a:xfrm>
                  <a:off x="702" y="394"/>
                  <a:ext cx="1852" cy="500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" name="Google Shape;228;p20">
                <a:extLst>
                  <a:ext uri="{FF2B5EF4-FFF2-40B4-BE49-F238E27FC236}">
                    <a16:creationId xmlns:a16="http://schemas.microsoft.com/office/drawing/2014/main" id="{EDAC1D5D-6FA5-49BF-A8A9-67C570CA8E76}"/>
                  </a:ext>
                </a:extLst>
              </p:cNvPr>
              <p:cNvGrpSpPr/>
              <p:nvPr/>
            </p:nvGrpSpPr>
            <p:grpSpPr>
              <a:xfrm>
                <a:off x="0" y="894"/>
                <a:ext cx="702" cy="500"/>
                <a:chOff x="0" y="894"/>
                <a:chExt cx="702" cy="500"/>
              </a:xfrm>
            </p:grpSpPr>
            <p:sp>
              <p:nvSpPr>
                <p:cNvPr id="61" name="Google Shape;229;p20">
                  <a:extLst>
                    <a:ext uri="{FF2B5EF4-FFF2-40B4-BE49-F238E27FC236}">
                      <a16:creationId xmlns:a16="http://schemas.microsoft.com/office/drawing/2014/main" id="{56AE707D-DB69-4D37-B6E7-5AFBBAF1E1CE}"/>
                    </a:ext>
                  </a:extLst>
                </p:cNvPr>
                <p:cNvSpPr/>
                <p:nvPr/>
              </p:nvSpPr>
              <p:spPr>
                <a:xfrm>
                  <a:off x="0" y="894"/>
                  <a:ext cx="702" cy="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 dirty="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 dirty="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900" dirty="0"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#REQUIRED</a:t>
                  </a:r>
                  <a:endParaRPr sz="1800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4000" dirty="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62" name="Google Shape;230;p20">
                  <a:extLst>
                    <a:ext uri="{FF2B5EF4-FFF2-40B4-BE49-F238E27FC236}">
                      <a16:creationId xmlns:a16="http://schemas.microsoft.com/office/drawing/2014/main" id="{28B3FA98-E005-4EF2-88AD-9D967999ED8B}"/>
                    </a:ext>
                  </a:extLst>
                </p:cNvPr>
                <p:cNvSpPr/>
                <p:nvPr/>
              </p:nvSpPr>
              <p:spPr>
                <a:xfrm>
                  <a:off x="0" y="894"/>
                  <a:ext cx="702" cy="500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6" name="Google Shape;231;p20">
                <a:extLst>
                  <a:ext uri="{FF2B5EF4-FFF2-40B4-BE49-F238E27FC236}">
                    <a16:creationId xmlns:a16="http://schemas.microsoft.com/office/drawing/2014/main" id="{23DD8606-C1CB-4EE9-82CF-5BABB2E073A6}"/>
                  </a:ext>
                </a:extLst>
              </p:cNvPr>
              <p:cNvGrpSpPr/>
              <p:nvPr/>
            </p:nvGrpSpPr>
            <p:grpSpPr>
              <a:xfrm>
                <a:off x="702" y="894"/>
                <a:ext cx="1852" cy="500"/>
                <a:chOff x="702" y="894"/>
                <a:chExt cx="1852" cy="500"/>
              </a:xfrm>
            </p:grpSpPr>
            <p:sp>
              <p:nvSpPr>
                <p:cNvPr id="59" name="Google Shape;232;p20">
                  <a:extLst>
                    <a:ext uri="{FF2B5EF4-FFF2-40B4-BE49-F238E27FC236}">
                      <a16:creationId xmlns:a16="http://schemas.microsoft.com/office/drawing/2014/main" id="{53B8D585-21F0-43F8-94C4-F5496EE9D98E}"/>
                    </a:ext>
                  </a:extLst>
                </p:cNvPr>
                <p:cNvSpPr/>
                <p:nvPr/>
              </p:nvSpPr>
              <p:spPr>
                <a:xfrm>
                  <a:off x="702" y="1000"/>
                  <a:ext cx="1758" cy="39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 dirty="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900" dirty="0"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The attribute value must be included in the element</a:t>
                  </a:r>
                  <a:r>
                    <a:rPr lang="en-US" sz="1900" dirty="0">
                      <a:solidFill>
                        <a:schemeClr val="dk1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.</a:t>
                  </a:r>
                  <a:endParaRPr sz="1800" dirty="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40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60" name="Google Shape;233;p20">
                  <a:extLst>
                    <a:ext uri="{FF2B5EF4-FFF2-40B4-BE49-F238E27FC236}">
                      <a16:creationId xmlns:a16="http://schemas.microsoft.com/office/drawing/2014/main" id="{C79D9FE5-2D5E-4AAF-A301-C803F0A555D2}"/>
                    </a:ext>
                  </a:extLst>
                </p:cNvPr>
                <p:cNvSpPr/>
                <p:nvPr/>
              </p:nvSpPr>
              <p:spPr>
                <a:xfrm>
                  <a:off x="702" y="894"/>
                  <a:ext cx="1852" cy="500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7" name="Google Shape;234;p20">
                <a:extLst>
                  <a:ext uri="{FF2B5EF4-FFF2-40B4-BE49-F238E27FC236}">
                    <a16:creationId xmlns:a16="http://schemas.microsoft.com/office/drawing/2014/main" id="{370A432B-A140-4A22-B1D9-4D81191B450F}"/>
                  </a:ext>
                </a:extLst>
              </p:cNvPr>
              <p:cNvGrpSpPr/>
              <p:nvPr/>
            </p:nvGrpSpPr>
            <p:grpSpPr>
              <a:xfrm>
                <a:off x="0" y="1394"/>
                <a:ext cx="702" cy="394"/>
                <a:chOff x="0" y="1394"/>
                <a:chExt cx="702" cy="394"/>
              </a:xfrm>
            </p:grpSpPr>
            <p:sp>
              <p:nvSpPr>
                <p:cNvPr id="57" name="Google Shape;235;p20">
                  <a:extLst>
                    <a:ext uri="{FF2B5EF4-FFF2-40B4-BE49-F238E27FC236}">
                      <a16:creationId xmlns:a16="http://schemas.microsoft.com/office/drawing/2014/main" id="{47243529-212F-4DED-934D-F9D444762760}"/>
                    </a:ext>
                  </a:extLst>
                </p:cNvPr>
                <p:cNvSpPr/>
                <p:nvPr/>
              </p:nvSpPr>
              <p:spPr>
                <a:xfrm>
                  <a:off x="0" y="1394"/>
                  <a:ext cx="702" cy="39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 dirty="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 dirty="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900" dirty="0"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#IMPLIED</a:t>
                  </a:r>
                  <a:endParaRPr sz="1800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4000" dirty="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58" name="Google Shape;236;p20">
                  <a:extLst>
                    <a:ext uri="{FF2B5EF4-FFF2-40B4-BE49-F238E27FC236}">
                      <a16:creationId xmlns:a16="http://schemas.microsoft.com/office/drawing/2014/main" id="{6433009F-9032-44C1-B4FD-D9B10D77B1D0}"/>
                    </a:ext>
                  </a:extLst>
                </p:cNvPr>
                <p:cNvSpPr/>
                <p:nvPr/>
              </p:nvSpPr>
              <p:spPr>
                <a:xfrm>
                  <a:off x="0" y="1394"/>
                  <a:ext cx="702" cy="394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8" name="Google Shape;237;p20">
                <a:extLst>
                  <a:ext uri="{FF2B5EF4-FFF2-40B4-BE49-F238E27FC236}">
                    <a16:creationId xmlns:a16="http://schemas.microsoft.com/office/drawing/2014/main" id="{4B00C9F6-E56F-49EF-B47A-DF209904C5CC}"/>
                  </a:ext>
                </a:extLst>
              </p:cNvPr>
              <p:cNvGrpSpPr/>
              <p:nvPr/>
            </p:nvGrpSpPr>
            <p:grpSpPr>
              <a:xfrm>
                <a:off x="702" y="1391"/>
                <a:ext cx="1852" cy="397"/>
                <a:chOff x="702" y="1391"/>
                <a:chExt cx="1852" cy="397"/>
              </a:xfrm>
            </p:grpSpPr>
            <p:sp>
              <p:nvSpPr>
                <p:cNvPr id="55" name="Google Shape;238;p20">
                  <a:extLst>
                    <a:ext uri="{FF2B5EF4-FFF2-40B4-BE49-F238E27FC236}">
                      <a16:creationId xmlns:a16="http://schemas.microsoft.com/office/drawing/2014/main" id="{C5838C3C-C0DA-4690-B251-2B0D42172089}"/>
                    </a:ext>
                  </a:extLst>
                </p:cNvPr>
                <p:cNvSpPr/>
                <p:nvPr/>
              </p:nvSpPr>
              <p:spPr>
                <a:xfrm>
                  <a:off x="702" y="1391"/>
                  <a:ext cx="1852" cy="3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 dirty="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 dirty="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900" dirty="0"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The attribute does not have to be included.</a:t>
                  </a:r>
                  <a:endParaRPr sz="1800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4000" dirty="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56" name="Google Shape;239;p20">
                  <a:extLst>
                    <a:ext uri="{FF2B5EF4-FFF2-40B4-BE49-F238E27FC236}">
                      <a16:creationId xmlns:a16="http://schemas.microsoft.com/office/drawing/2014/main" id="{D8802F5C-72D7-4A1C-B191-702E29E33CAA}"/>
                    </a:ext>
                  </a:extLst>
                </p:cNvPr>
                <p:cNvSpPr/>
                <p:nvPr/>
              </p:nvSpPr>
              <p:spPr>
                <a:xfrm>
                  <a:off x="702" y="1394"/>
                  <a:ext cx="1852" cy="394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9" name="Google Shape;240;p20">
                <a:extLst>
                  <a:ext uri="{FF2B5EF4-FFF2-40B4-BE49-F238E27FC236}">
                    <a16:creationId xmlns:a16="http://schemas.microsoft.com/office/drawing/2014/main" id="{F64A41A9-18AC-4D46-AE28-0C31373FFF5E}"/>
                  </a:ext>
                </a:extLst>
              </p:cNvPr>
              <p:cNvGrpSpPr/>
              <p:nvPr/>
            </p:nvGrpSpPr>
            <p:grpSpPr>
              <a:xfrm>
                <a:off x="0" y="1788"/>
                <a:ext cx="702" cy="394"/>
                <a:chOff x="0" y="1788"/>
                <a:chExt cx="702" cy="394"/>
              </a:xfrm>
            </p:grpSpPr>
            <p:sp>
              <p:nvSpPr>
                <p:cNvPr id="53" name="Google Shape;241;p20">
                  <a:extLst>
                    <a:ext uri="{FF2B5EF4-FFF2-40B4-BE49-F238E27FC236}">
                      <a16:creationId xmlns:a16="http://schemas.microsoft.com/office/drawing/2014/main" id="{93F574D9-D91B-4ABB-9FC6-3DCC26AAEB13}"/>
                    </a:ext>
                  </a:extLst>
                </p:cNvPr>
                <p:cNvSpPr/>
                <p:nvPr/>
              </p:nvSpPr>
              <p:spPr>
                <a:xfrm>
                  <a:off x="0" y="1788"/>
                  <a:ext cx="702" cy="39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 dirty="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 dirty="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900" dirty="0"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#FIXED </a:t>
                  </a:r>
                  <a:endParaRPr sz="1800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4000" dirty="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54" name="Google Shape;242;p20">
                  <a:extLst>
                    <a:ext uri="{FF2B5EF4-FFF2-40B4-BE49-F238E27FC236}">
                      <a16:creationId xmlns:a16="http://schemas.microsoft.com/office/drawing/2014/main" id="{7059BDD5-495C-420C-BB76-0E2B73B86389}"/>
                    </a:ext>
                  </a:extLst>
                </p:cNvPr>
                <p:cNvSpPr/>
                <p:nvPr/>
              </p:nvSpPr>
              <p:spPr>
                <a:xfrm>
                  <a:off x="0" y="1788"/>
                  <a:ext cx="702" cy="394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0" name="Google Shape;243;p20">
                <a:extLst>
                  <a:ext uri="{FF2B5EF4-FFF2-40B4-BE49-F238E27FC236}">
                    <a16:creationId xmlns:a16="http://schemas.microsoft.com/office/drawing/2014/main" id="{ED8C73AD-D913-4872-A1F8-C0A31E30C3CB}"/>
                  </a:ext>
                </a:extLst>
              </p:cNvPr>
              <p:cNvGrpSpPr/>
              <p:nvPr/>
            </p:nvGrpSpPr>
            <p:grpSpPr>
              <a:xfrm>
                <a:off x="702" y="1788"/>
                <a:ext cx="1852" cy="394"/>
                <a:chOff x="702" y="1788"/>
                <a:chExt cx="1852" cy="394"/>
              </a:xfrm>
            </p:grpSpPr>
            <p:sp>
              <p:nvSpPr>
                <p:cNvPr id="51" name="Google Shape;244;p20">
                  <a:extLst>
                    <a:ext uri="{FF2B5EF4-FFF2-40B4-BE49-F238E27FC236}">
                      <a16:creationId xmlns:a16="http://schemas.microsoft.com/office/drawing/2014/main" id="{7C537DEA-5DD1-4C59-801A-E4D514A5D61F}"/>
                    </a:ext>
                  </a:extLst>
                </p:cNvPr>
                <p:cNvSpPr/>
                <p:nvPr/>
              </p:nvSpPr>
              <p:spPr>
                <a:xfrm>
                  <a:off x="702" y="1788"/>
                  <a:ext cx="1852" cy="39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 dirty="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900" dirty="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900" dirty="0"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The attribute value is fixed.</a:t>
                  </a:r>
                  <a:endParaRPr sz="1800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4000" dirty="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52" name="Google Shape;245;p20">
                  <a:extLst>
                    <a:ext uri="{FF2B5EF4-FFF2-40B4-BE49-F238E27FC236}">
                      <a16:creationId xmlns:a16="http://schemas.microsoft.com/office/drawing/2014/main" id="{2F65E4C5-B7EA-4CEB-B53D-56499B6F7BC1}"/>
                    </a:ext>
                  </a:extLst>
                </p:cNvPr>
                <p:cNvSpPr/>
                <p:nvPr/>
              </p:nvSpPr>
              <p:spPr>
                <a:xfrm>
                  <a:off x="702" y="1788"/>
                  <a:ext cx="1852" cy="394"/>
                </a:xfrm>
                <a:prstGeom prst="rect">
                  <a:avLst/>
                </a:prstGeom>
                <a:noFill/>
                <a:ln w="9525" cap="flat" cmpd="sng">
                  <a:solidFill>
                    <a:srgbClr val="A0A0A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0" name="Google Shape;246;p20">
              <a:extLst>
                <a:ext uri="{FF2B5EF4-FFF2-40B4-BE49-F238E27FC236}">
                  <a16:creationId xmlns:a16="http://schemas.microsoft.com/office/drawing/2014/main" id="{E14F6148-9C87-47A6-B70D-1E9088EFA0FF}"/>
                </a:ext>
              </a:extLst>
            </p:cNvPr>
            <p:cNvSpPr/>
            <p:nvPr/>
          </p:nvSpPr>
          <p:spPr>
            <a:xfrm>
              <a:off x="-3" y="-3"/>
              <a:ext cx="2560" cy="2188"/>
            </a:xfrm>
            <a:prstGeom prst="rect">
              <a:avLst/>
            </a:prstGeom>
            <a:noFill/>
            <a:ln w="11100" cap="flat" cmpd="sng">
              <a:solidFill>
                <a:srgbClr val="A0A0A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69256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A0DFF-7F05-4FB2-910C-5FE85AD54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IN DTD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A460D-0ABF-4684-B265-18A8762E8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Entity Declaration</a:t>
            </a:r>
          </a:p>
          <a:p>
            <a:pPr marL="0" indent="0">
              <a:buNone/>
            </a:pPr>
            <a:r>
              <a:rPr lang="en-US" sz="2900" dirty="0"/>
              <a:t>Entities that have their contents within the XML document are called internal entities.</a:t>
            </a:r>
          </a:p>
          <a:p>
            <a:pPr marL="0" indent="0">
              <a:buNone/>
            </a:pPr>
            <a:r>
              <a:rPr lang="en-US" sz="2900" dirty="0"/>
              <a:t>Syntax</a:t>
            </a:r>
          </a:p>
          <a:p>
            <a:pPr marL="0" indent="0">
              <a:buNone/>
            </a:pPr>
            <a:r>
              <a:rPr lang="en-US" sz="2900" dirty="0"/>
              <a:t>	</a:t>
            </a:r>
            <a:r>
              <a:rPr lang="en-US" sz="29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&lt;!ENTITY entity-name "entity-value"&gt; </a:t>
            </a:r>
          </a:p>
          <a:p>
            <a:pPr marL="0" indent="0">
              <a:buNone/>
            </a:pPr>
            <a:r>
              <a:rPr lang="en-US" sz="2900" dirty="0"/>
              <a:t>Example</a:t>
            </a:r>
          </a:p>
          <a:p>
            <a:pPr marL="0" indent="0">
              <a:buNone/>
            </a:pPr>
            <a:endParaRPr lang="en-US" sz="2900" dirty="0"/>
          </a:p>
          <a:p>
            <a:pPr marL="0" indent="0">
              <a:buNone/>
            </a:pPr>
            <a:r>
              <a:rPr lang="en-US" sz="2900" dirty="0"/>
              <a:t> ------In DTD--------------</a:t>
            </a:r>
          </a:p>
          <a:p>
            <a:pPr marL="0" indent="0">
              <a:buNone/>
            </a:pPr>
            <a:r>
              <a:rPr lang="en-US" sz="29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&lt;!ENTITY  writer  “IQBAL"&gt;</a:t>
            </a:r>
          </a:p>
          <a:p>
            <a:pPr marL="0" indent="0">
              <a:buNone/>
            </a:pPr>
            <a:r>
              <a:rPr lang="en-US" sz="29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&lt;!ENTITY copyright "Copyright Aptech Ltd."&gt;</a:t>
            </a:r>
          </a:p>
          <a:p>
            <a:pPr marL="0" indent="0">
              <a:buNone/>
            </a:pPr>
            <a:endParaRPr lang="en-US" sz="2900" dirty="0"/>
          </a:p>
          <a:p>
            <a:pPr marL="0" indent="0">
              <a:buNone/>
            </a:pPr>
            <a:r>
              <a:rPr lang="en-US" sz="2900" dirty="0"/>
              <a:t> ------In XML--------------</a:t>
            </a:r>
          </a:p>
          <a:p>
            <a:pPr marL="0" indent="0">
              <a:buNone/>
            </a:pPr>
            <a:r>
              <a:rPr lang="en-US" sz="29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&lt;author&gt;&amp;writer;&amp;copyright;&lt;/author&gt;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4426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85246-281B-4430-9091-1141D2746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DTD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CFD78-6617-4361-B848-545656D39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DTD is declared in an external file, it should be wrapped in a DOCTYPE definition with the following syntax:</a:t>
            </a:r>
          </a:p>
          <a:p>
            <a:r>
              <a:rPr lang="en-US" dirty="0"/>
              <a:t>&lt;!DOCTYPE root-element SYSTEM "filename"&gt;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en-US" sz="2800" b="1" kern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.XML FILE</a:t>
            </a:r>
            <a:endParaRPr lang="en-US" sz="1400" kern="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  <a:cs typeface="Arial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None/>
            </a:pPr>
            <a:r>
              <a:rPr lang="en-US" sz="1800" kern="0" dirty="0">
                <a:latin typeface="Arial"/>
                <a:ea typeface="Arial"/>
                <a:cs typeface="Arial"/>
                <a:sym typeface="Arial"/>
              </a:rPr>
              <a:t>&lt;?xml version="1.0"?&gt;</a:t>
            </a:r>
            <a:br>
              <a:rPr lang="en-US" sz="1800" kern="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1800" kern="0" dirty="0">
                <a:latin typeface="Arial"/>
                <a:ea typeface="Arial"/>
                <a:cs typeface="Arial"/>
                <a:sym typeface="Arial"/>
              </a:rPr>
              <a:t>&lt;!DOCTYPE note SYSTEM "note.dtd"&gt;</a:t>
            </a:r>
            <a:br>
              <a:rPr lang="en-US" sz="1800" kern="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1800" kern="0" dirty="0">
                <a:latin typeface="Arial"/>
                <a:ea typeface="Arial"/>
                <a:cs typeface="Arial"/>
                <a:sym typeface="Arial"/>
              </a:rPr>
              <a:t>&lt;note&gt;</a:t>
            </a:r>
            <a:br>
              <a:rPr lang="en-US" sz="1800" kern="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1800" kern="0" dirty="0">
                <a:latin typeface="Arial"/>
                <a:ea typeface="Arial"/>
                <a:cs typeface="Arial"/>
                <a:sym typeface="Arial"/>
              </a:rPr>
              <a:t>  &lt;to&gt;</a:t>
            </a:r>
            <a:r>
              <a:rPr lang="en-US" sz="1800" kern="0" dirty="0" err="1">
                <a:latin typeface="Arial"/>
                <a:ea typeface="Arial"/>
                <a:cs typeface="Arial"/>
                <a:sym typeface="Arial"/>
              </a:rPr>
              <a:t>Tove</a:t>
            </a:r>
            <a:r>
              <a:rPr lang="en-US" sz="1800" kern="0" dirty="0">
                <a:latin typeface="Arial"/>
                <a:ea typeface="Arial"/>
                <a:cs typeface="Arial"/>
                <a:sym typeface="Arial"/>
              </a:rPr>
              <a:t>&lt;/to&gt;</a:t>
            </a:r>
            <a:br>
              <a:rPr lang="en-US" sz="1800" kern="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1800" kern="0" dirty="0">
                <a:latin typeface="Arial"/>
                <a:ea typeface="Arial"/>
                <a:cs typeface="Arial"/>
                <a:sym typeface="Arial"/>
              </a:rPr>
              <a:t>  &lt;from&gt;Jani&lt;/from&gt;</a:t>
            </a:r>
            <a:br>
              <a:rPr lang="en-US" sz="1800" kern="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1800" kern="0" dirty="0">
                <a:latin typeface="Arial"/>
                <a:ea typeface="Arial"/>
                <a:cs typeface="Arial"/>
                <a:sym typeface="Arial"/>
              </a:rPr>
              <a:t>  &lt;heading&gt;Reminder&lt;/heading&gt;</a:t>
            </a:r>
            <a:br>
              <a:rPr lang="en-US" sz="1800" kern="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1800" kern="0" dirty="0">
                <a:latin typeface="Arial"/>
                <a:ea typeface="Arial"/>
                <a:cs typeface="Arial"/>
                <a:sym typeface="Arial"/>
              </a:rPr>
              <a:t>  &lt;body&gt;Don't forget me this weekend!&lt;/body&gt;</a:t>
            </a:r>
            <a:br>
              <a:rPr lang="en-US" sz="1800" kern="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1800" kern="0" dirty="0">
                <a:latin typeface="Arial"/>
                <a:ea typeface="Arial"/>
                <a:cs typeface="Arial"/>
                <a:sym typeface="Arial"/>
              </a:rPr>
              <a:t>&lt;/note&gt;</a:t>
            </a:r>
            <a:endParaRPr lang="en-US" sz="1400" kern="0" dirty="0">
              <a:latin typeface="Arial"/>
              <a:cs typeface="Arial"/>
              <a:sym typeface="Arial"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744BE3-B74D-4E24-864E-35408D97D906}"/>
              </a:ext>
            </a:extLst>
          </p:cNvPr>
          <p:cNvSpPr txBox="1"/>
          <p:nvPr/>
        </p:nvSpPr>
        <p:spPr>
          <a:xfrm>
            <a:off x="6891131" y="3246783"/>
            <a:ext cx="385732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.DTD FILE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en-US" dirty="0">
                <a:latin typeface="Arial"/>
                <a:ea typeface="Arial"/>
                <a:cs typeface="Arial"/>
                <a:sym typeface="Arial"/>
              </a:rPr>
              <a:t>&lt;!ELEMENT note (</a:t>
            </a:r>
            <a:r>
              <a:rPr lang="en-US" dirty="0" err="1">
                <a:latin typeface="Arial"/>
                <a:ea typeface="Arial"/>
                <a:cs typeface="Arial"/>
                <a:sym typeface="Arial"/>
              </a:rPr>
              <a:t>to,from,heading,body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)&gt;</a:t>
            </a:r>
            <a:br>
              <a:rPr lang="en-US" dirty="0">
                <a:latin typeface="Arial"/>
                <a:ea typeface="Arial"/>
                <a:cs typeface="Arial"/>
                <a:sym typeface="Arial"/>
              </a:rPr>
            </a:br>
            <a:r>
              <a:rPr lang="en-US" dirty="0">
                <a:latin typeface="Arial"/>
                <a:ea typeface="Arial"/>
                <a:cs typeface="Arial"/>
                <a:sym typeface="Arial"/>
              </a:rPr>
              <a:t>&lt;!ELEMENT to (#PCDATA)&gt;</a:t>
            </a:r>
            <a:br>
              <a:rPr lang="en-US" dirty="0">
                <a:latin typeface="Arial"/>
                <a:ea typeface="Arial"/>
                <a:cs typeface="Arial"/>
                <a:sym typeface="Arial"/>
              </a:rPr>
            </a:br>
            <a:r>
              <a:rPr lang="en-US" dirty="0">
                <a:latin typeface="Arial"/>
                <a:ea typeface="Arial"/>
                <a:cs typeface="Arial"/>
                <a:sym typeface="Arial"/>
              </a:rPr>
              <a:t>&lt;!ELEMENT from (#PCDATA)&gt;</a:t>
            </a:r>
            <a:br>
              <a:rPr lang="en-US" dirty="0">
                <a:latin typeface="Arial"/>
                <a:ea typeface="Arial"/>
                <a:cs typeface="Arial"/>
                <a:sym typeface="Arial"/>
              </a:rPr>
            </a:br>
            <a:r>
              <a:rPr lang="en-US" dirty="0">
                <a:latin typeface="Arial"/>
                <a:ea typeface="Arial"/>
                <a:cs typeface="Arial"/>
                <a:sym typeface="Arial"/>
              </a:rPr>
              <a:t>&lt;!ELEMENT heading (#PCDATA)&gt;</a:t>
            </a:r>
            <a:br>
              <a:rPr lang="en-US" dirty="0">
                <a:latin typeface="Arial"/>
                <a:ea typeface="Arial"/>
                <a:cs typeface="Arial"/>
                <a:sym typeface="Arial"/>
              </a:rPr>
            </a:br>
            <a:r>
              <a:rPr lang="en-US" dirty="0">
                <a:latin typeface="Arial"/>
                <a:ea typeface="Arial"/>
                <a:cs typeface="Arial"/>
                <a:sym typeface="Arial"/>
              </a:rPr>
              <a:t>&lt;!ELEMENT body (#PCDATA)&gt;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6607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C7A51-FA1E-41A6-80D1-222E2B396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Nodes Quantifiers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1350F-F27A-4043-9A00-4DE71964D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asterisk (*) - The element may appear zero or more times</a:t>
            </a:r>
          </a:p>
          <a:p>
            <a:r>
              <a:rPr lang="en-US" dirty="0"/>
              <a:t>question mark (?) - The element may appear zero or one time, only</a:t>
            </a:r>
          </a:p>
          <a:p>
            <a:r>
              <a:rPr lang="en-US" dirty="0"/>
              <a:t> plus sign (+) - The element appears at least once if not more times</a:t>
            </a:r>
          </a:p>
        </p:txBody>
      </p:sp>
    </p:spTree>
    <p:extLst>
      <p:ext uri="{BB962C8B-B14F-4D97-AF65-F5344CB8AC3E}">
        <p14:creationId xmlns:p14="http://schemas.microsoft.com/office/powerpoint/2010/main" val="9605761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93D44-A3C2-4ED7-AFF2-91729800F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FE846-C588-496C-B2F7-62C987D49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1987825"/>
            <a:ext cx="9784080" cy="4585999"/>
          </a:xfrm>
        </p:spPr>
        <p:txBody>
          <a:bodyPr>
            <a:normAutofit lnSpcReduction="10000"/>
          </a:bodyPr>
          <a:lstStyle/>
          <a:p>
            <a:r>
              <a:rPr lang="en-US" sz="1600" dirty="0"/>
              <a:t>It is an XML-based alternative to DTD.</a:t>
            </a:r>
          </a:p>
          <a:p>
            <a:r>
              <a:rPr lang="en-US" sz="1600" dirty="0"/>
              <a:t>An XML schema describes the structure of an XML document.</a:t>
            </a:r>
          </a:p>
          <a:p>
            <a:r>
              <a:rPr lang="en-US" sz="1600" dirty="0"/>
              <a:t>The XML Schema language is also referred to as XML Schema Definition (XSD).</a:t>
            </a:r>
          </a:p>
          <a:p>
            <a:pPr marL="0" indent="0">
              <a:buNone/>
            </a:pPr>
            <a:r>
              <a:rPr lang="en-US" sz="1600" b="1" dirty="0"/>
              <a:t>An XML Schema:</a:t>
            </a:r>
          </a:p>
          <a:p>
            <a:r>
              <a:rPr lang="en-US" sz="1600" dirty="0"/>
              <a:t>defines elements that can appear in a document</a:t>
            </a:r>
          </a:p>
          <a:p>
            <a:r>
              <a:rPr lang="en-US" sz="1600" dirty="0"/>
              <a:t>defines attributes that can appear in a document</a:t>
            </a:r>
          </a:p>
          <a:p>
            <a:r>
              <a:rPr lang="en-US" sz="1600" dirty="0"/>
              <a:t>defines which elements are child elements</a:t>
            </a:r>
          </a:p>
          <a:p>
            <a:r>
              <a:rPr lang="en-US" sz="1600" dirty="0"/>
              <a:t>defines the order of child elements</a:t>
            </a:r>
          </a:p>
          <a:p>
            <a:r>
              <a:rPr lang="en-US" sz="1600" dirty="0"/>
              <a:t>defines the number of child elements</a:t>
            </a:r>
          </a:p>
          <a:p>
            <a:r>
              <a:rPr lang="en-US" sz="1600" dirty="0"/>
              <a:t>defines whether an element is empty or can include text</a:t>
            </a:r>
          </a:p>
          <a:p>
            <a:r>
              <a:rPr lang="en-US" sz="1600" dirty="0"/>
              <a:t>defines data types for elements and attributes</a:t>
            </a:r>
          </a:p>
          <a:p>
            <a:r>
              <a:rPr lang="en-US" sz="1600" dirty="0"/>
              <a:t>defines default and fixed values for elements and attributes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77505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89021-8E26-4016-83C3-9A3730BA5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DTD V/S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3D7C7-407E-436A-8345-5D8BAB0DF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011679"/>
            <a:ext cx="9784080" cy="446863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XML Schemas are the Successors of DTDs</a:t>
            </a:r>
            <a:br>
              <a:rPr lang="en-US" b="1" dirty="0"/>
            </a:br>
            <a:r>
              <a:rPr lang="en-US" b="1" dirty="0"/>
              <a:t>Main reasons:</a:t>
            </a:r>
          </a:p>
          <a:p>
            <a:r>
              <a:rPr lang="en-US" dirty="0"/>
              <a:t>DTDs do not have built-in datatypes.</a:t>
            </a:r>
          </a:p>
          <a:p>
            <a:r>
              <a:rPr lang="en-US" dirty="0"/>
              <a:t>DTDs do not support user-derived datatypes.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XML Schemas Support Data Types</a:t>
            </a:r>
          </a:p>
          <a:p>
            <a:r>
              <a:rPr lang="en-US" dirty="0"/>
              <a:t>One of the greatest strength of XML Schemas is the support for data types.</a:t>
            </a:r>
          </a:p>
          <a:p>
            <a:r>
              <a:rPr lang="en-US" dirty="0"/>
              <a:t>With support for data types:</a:t>
            </a:r>
          </a:p>
          <a:p>
            <a:r>
              <a:rPr lang="en-US" dirty="0"/>
              <a:t>It is easier to describe allowable document content</a:t>
            </a:r>
          </a:p>
          <a:p>
            <a:r>
              <a:rPr lang="en-US" dirty="0"/>
              <a:t>It is easier to validate the correctness of data</a:t>
            </a:r>
          </a:p>
          <a:p>
            <a:r>
              <a:rPr lang="en-US" dirty="0"/>
              <a:t>It is easier to work with data from a database</a:t>
            </a:r>
          </a:p>
          <a:p>
            <a:r>
              <a:rPr lang="en-US" dirty="0"/>
              <a:t>It is easier to define data facets (restrictions on data)</a:t>
            </a:r>
          </a:p>
          <a:p>
            <a:r>
              <a:rPr lang="en-US" dirty="0"/>
              <a:t>It is easier to define data patterns (data formats)</a:t>
            </a:r>
          </a:p>
          <a:p>
            <a:r>
              <a:rPr lang="en-US" dirty="0"/>
              <a:t>It is easier to convert data between different data types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8621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D9855-BD21-4AA2-B183-1FC65829F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16D99-8B49-4C25-B6A2-DA889CC44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8" y="2011680"/>
            <a:ext cx="9902403" cy="456214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Defining a Simple type Element</a:t>
            </a:r>
          </a:p>
          <a:p>
            <a:r>
              <a:rPr lang="en-US" dirty="0"/>
              <a:t>The syntax for defining a simple element is: </a:t>
            </a:r>
          </a:p>
          <a:p>
            <a:r>
              <a:rPr lang="en-US" dirty="0"/>
              <a:t>&lt;</a:t>
            </a:r>
            <a:r>
              <a:rPr lang="en-US" dirty="0" err="1"/>
              <a:t>xs:element</a:t>
            </a:r>
            <a:r>
              <a:rPr lang="en-US" dirty="0"/>
              <a:t> name="</a:t>
            </a:r>
            <a:r>
              <a:rPr lang="en-US" dirty="0" err="1"/>
              <a:t>abc</a:t>
            </a:r>
            <a:r>
              <a:rPr lang="en-US" dirty="0"/>
              <a:t>" type="</a:t>
            </a:r>
            <a:r>
              <a:rPr lang="en-US" dirty="0" err="1"/>
              <a:t>xyz</a:t>
            </a:r>
            <a:r>
              <a:rPr lang="en-US" dirty="0"/>
              <a:t>"/&gt; </a:t>
            </a:r>
          </a:p>
          <a:p>
            <a:r>
              <a:rPr lang="en-US" dirty="0"/>
              <a:t>where </a:t>
            </a:r>
            <a:r>
              <a:rPr lang="en-US" dirty="0" err="1"/>
              <a:t>abc</a:t>
            </a:r>
            <a:r>
              <a:rPr lang="en-US" dirty="0"/>
              <a:t> is the name of the element and </a:t>
            </a:r>
            <a:r>
              <a:rPr lang="en-US" dirty="0" err="1"/>
              <a:t>xyz</a:t>
            </a:r>
            <a:r>
              <a:rPr lang="en-US" dirty="0"/>
              <a:t> is the data type of the element.</a:t>
            </a:r>
          </a:p>
          <a:p>
            <a:endParaRPr lang="en-US" dirty="0"/>
          </a:p>
          <a:p>
            <a:r>
              <a:rPr lang="en-US" dirty="0"/>
              <a:t>Data types</a:t>
            </a:r>
          </a:p>
          <a:p>
            <a:r>
              <a:rPr lang="en-US" dirty="0"/>
              <a:t>XML Schema has a lot of built-in data types. The most common types are:</a:t>
            </a:r>
          </a:p>
          <a:p>
            <a:r>
              <a:rPr lang="en-US" dirty="0" err="1"/>
              <a:t>xs:string</a:t>
            </a:r>
            <a:endParaRPr lang="en-US" dirty="0"/>
          </a:p>
          <a:p>
            <a:r>
              <a:rPr lang="en-US" dirty="0" err="1"/>
              <a:t>xs:decimal</a:t>
            </a:r>
            <a:endParaRPr lang="en-US" dirty="0"/>
          </a:p>
          <a:p>
            <a:r>
              <a:rPr lang="en-US" dirty="0" err="1"/>
              <a:t>xs:integer</a:t>
            </a:r>
            <a:endParaRPr lang="en-US" dirty="0"/>
          </a:p>
          <a:p>
            <a:r>
              <a:rPr lang="en-US" dirty="0" err="1"/>
              <a:t>xs:boolean</a:t>
            </a:r>
            <a:endParaRPr lang="en-US" dirty="0"/>
          </a:p>
          <a:p>
            <a:r>
              <a:rPr lang="en-US" dirty="0" err="1"/>
              <a:t>xs:date</a:t>
            </a:r>
            <a:endParaRPr lang="en-US" dirty="0"/>
          </a:p>
          <a:p>
            <a:r>
              <a:rPr lang="en-US" dirty="0" err="1"/>
              <a:t>xs:time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B84F01-AF46-41D1-A90D-300813EA9A3D}"/>
              </a:ext>
            </a:extLst>
          </p:cNvPr>
          <p:cNvSpPr txBox="1"/>
          <p:nvPr/>
        </p:nvSpPr>
        <p:spPr>
          <a:xfrm>
            <a:off x="7938053" y="2223714"/>
            <a:ext cx="3657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728" lvl="0">
              <a:buClr>
                <a:schemeClr val="dk1"/>
              </a:buClr>
              <a:buSzPts val="1800"/>
            </a:pPr>
            <a:r>
              <a:rPr lang="de-DE" b="1" dirty="0">
                <a:latin typeface="Arial"/>
                <a:ea typeface="Arial"/>
                <a:cs typeface="Arial"/>
                <a:sym typeface="Arial"/>
              </a:rPr>
              <a:t>The &lt;schema&gt; Element</a:t>
            </a:r>
            <a:endParaRPr lang="de-DE" dirty="0">
              <a:latin typeface="Arial"/>
              <a:ea typeface="Arial"/>
              <a:cs typeface="Arial"/>
              <a:sym typeface="Arial"/>
            </a:endParaRPr>
          </a:p>
          <a:p>
            <a:pPr marL="109728" lvl="0">
              <a:buClr>
                <a:schemeClr val="dk1"/>
              </a:buClr>
              <a:buSzPts val="1800"/>
            </a:pPr>
            <a:r>
              <a:rPr lang="de-DE" dirty="0">
                <a:latin typeface="Arial"/>
                <a:ea typeface="Arial"/>
                <a:cs typeface="Arial"/>
                <a:sym typeface="Arial"/>
              </a:rPr>
              <a:t>&lt;?xml version="1.0"?&gt;</a:t>
            </a:r>
            <a:br>
              <a:rPr lang="de-DE" dirty="0">
                <a:latin typeface="Arial"/>
                <a:ea typeface="Arial"/>
                <a:cs typeface="Arial"/>
                <a:sym typeface="Arial"/>
              </a:rPr>
            </a:br>
            <a:r>
              <a:rPr lang="de-DE" dirty="0">
                <a:latin typeface="Arial"/>
                <a:ea typeface="Arial"/>
                <a:cs typeface="Arial"/>
                <a:sym typeface="Arial"/>
              </a:rPr>
              <a:t>&lt;xs:schema&gt;</a:t>
            </a:r>
            <a:br>
              <a:rPr lang="de-DE" dirty="0">
                <a:latin typeface="Arial"/>
                <a:ea typeface="Arial"/>
                <a:cs typeface="Arial"/>
                <a:sym typeface="Arial"/>
              </a:rPr>
            </a:br>
            <a:r>
              <a:rPr lang="de-DE" dirty="0">
                <a:latin typeface="Arial"/>
                <a:ea typeface="Arial"/>
                <a:cs typeface="Arial"/>
                <a:sym typeface="Arial"/>
              </a:rPr>
              <a:t>...</a:t>
            </a:r>
            <a:br>
              <a:rPr lang="de-DE" dirty="0">
                <a:latin typeface="Arial"/>
                <a:ea typeface="Arial"/>
                <a:cs typeface="Arial"/>
                <a:sym typeface="Arial"/>
              </a:rPr>
            </a:br>
            <a:r>
              <a:rPr lang="de-DE" dirty="0">
                <a:latin typeface="Arial"/>
                <a:ea typeface="Arial"/>
                <a:cs typeface="Arial"/>
                <a:sym typeface="Arial"/>
              </a:rPr>
              <a:t>...</a:t>
            </a:r>
            <a:br>
              <a:rPr lang="de-DE" dirty="0">
                <a:latin typeface="Arial"/>
                <a:ea typeface="Arial"/>
                <a:cs typeface="Arial"/>
                <a:sym typeface="Arial"/>
              </a:rPr>
            </a:br>
            <a:r>
              <a:rPr lang="de-DE" dirty="0">
                <a:latin typeface="Arial"/>
                <a:ea typeface="Arial"/>
                <a:cs typeface="Arial"/>
                <a:sym typeface="Arial"/>
              </a:rPr>
              <a:t>&lt;/xs:schema&gt;</a:t>
            </a:r>
          </a:p>
        </p:txBody>
      </p:sp>
    </p:spTree>
    <p:extLst>
      <p:ext uri="{BB962C8B-B14F-4D97-AF65-F5344CB8AC3E}">
        <p14:creationId xmlns:p14="http://schemas.microsoft.com/office/powerpoint/2010/main" val="34839646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D9AA5-B76D-475B-A3A1-F1E9EA563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D63CC-2643-48BC-AAB6-A83BC7861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011680"/>
            <a:ext cx="9784080" cy="42062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XML elements:</a:t>
            </a:r>
          </a:p>
          <a:p>
            <a:pPr marL="0" indent="0">
              <a:buNone/>
            </a:pPr>
            <a:r>
              <a:rPr lang="en-US" dirty="0"/>
              <a:t>&lt;name&gt;</a:t>
            </a:r>
            <a:r>
              <a:rPr lang="en-US" dirty="0" err="1"/>
              <a:t>huda</a:t>
            </a:r>
            <a:r>
              <a:rPr lang="en-US" dirty="0"/>
              <a:t>&lt;/name&gt;</a:t>
            </a:r>
          </a:p>
          <a:p>
            <a:pPr marL="0" indent="0">
              <a:buNone/>
            </a:pPr>
            <a:r>
              <a:rPr lang="en-US" dirty="0"/>
              <a:t>&lt;age&gt;36&lt;/age&gt;</a:t>
            </a:r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birthDate</a:t>
            </a:r>
            <a:r>
              <a:rPr lang="en-US" dirty="0"/>
              <a:t>&gt;1970-03-27&lt;/ </a:t>
            </a:r>
            <a:r>
              <a:rPr lang="en-US" dirty="0" err="1"/>
              <a:t>birthDate</a:t>
            </a:r>
            <a:r>
              <a:rPr lang="en-US" dirty="0"/>
              <a:t> &gt;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Corresponding element definitions:</a:t>
            </a:r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xs:element</a:t>
            </a:r>
            <a:r>
              <a:rPr lang="en-US" dirty="0"/>
              <a:t> name="name" type="</a:t>
            </a:r>
            <a:r>
              <a:rPr lang="en-US" dirty="0" err="1"/>
              <a:t>xs:string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xs:element</a:t>
            </a:r>
            <a:r>
              <a:rPr lang="en-US" dirty="0"/>
              <a:t> name="age" type="</a:t>
            </a:r>
            <a:r>
              <a:rPr lang="en-US" dirty="0" err="1"/>
              <a:t>xs:integer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xs:element</a:t>
            </a:r>
            <a:r>
              <a:rPr lang="en-US" dirty="0"/>
              <a:t> name=" </a:t>
            </a:r>
            <a:r>
              <a:rPr lang="en-US" dirty="0" err="1"/>
              <a:t>birthDate</a:t>
            </a:r>
            <a:r>
              <a:rPr lang="en-US" dirty="0"/>
              <a:t> " type="</a:t>
            </a:r>
            <a:r>
              <a:rPr lang="en-US" dirty="0" err="1"/>
              <a:t>xs:date</a:t>
            </a:r>
            <a:r>
              <a:rPr lang="en-US" dirty="0"/>
              <a:t>"/&gt;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2458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82D58-11AD-472D-8889-E43245FC2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Values for Simple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D9C0-B526-4F77-8C1D-F6C1784A1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Simple elements may have a default value OR a fixed value specified.</a:t>
            </a:r>
          </a:p>
          <a:p>
            <a:endParaRPr lang="en-US" dirty="0"/>
          </a:p>
          <a:p>
            <a:r>
              <a:rPr lang="en-US" dirty="0"/>
              <a:t>Default:</a:t>
            </a:r>
            <a:br>
              <a:rPr lang="en-US" dirty="0"/>
            </a:br>
            <a:r>
              <a:rPr lang="en-US" dirty="0"/>
              <a:t>A default value is automatically assigned to the element when no other value is specified.</a:t>
            </a:r>
            <a:br>
              <a:rPr lang="en-US" dirty="0"/>
            </a:b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&lt;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xs:element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name="color" type="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xs:string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“ default="red"/&gt; </a:t>
            </a:r>
          </a:p>
          <a:p>
            <a:endParaRPr lang="en-US" dirty="0"/>
          </a:p>
          <a:p>
            <a:r>
              <a:rPr lang="en-US" dirty="0"/>
              <a:t>Fixed</a:t>
            </a:r>
            <a:br>
              <a:rPr lang="en-US" dirty="0"/>
            </a:br>
            <a:r>
              <a:rPr lang="en-US" dirty="0"/>
              <a:t>A fixed value is also automatically assigned to the element, and you cannot specify another value.</a:t>
            </a:r>
            <a:br>
              <a:rPr lang="en-US" dirty="0"/>
            </a:br>
            <a:r>
              <a:rPr lang="en-US" dirty="0"/>
              <a:t>In the following example the fixed value is "red":</a:t>
            </a:r>
            <a:br>
              <a:rPr lang="en-US" dirty="0"/>
            </a:b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&lt;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xs:element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name="color" type="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xs:string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" fixed="red"/&gt; 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478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9DB47-79CA-4CC8-B487-2B9BBA2AA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67DCF-530C-4174-A05C-5F249FDDB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1792936"/>
            <a:ext cx="10114438" cy="5065064"/>
          </a:xfrm>
        </p:spPr>
        <p:txBody>
          <a:bodyPr>
            <a:normAutofit fontScale="92500" lnSpcReduction="10000"/>
          </a:bodyPr>
          <a:lstStyle/>
          <a:p>
            <a:r>
              <a:rPr lang="en-US" sz="1600" dirty="0"/>
              <a:t>Defining a Attribute</a:t>
            </a:r>
          </a:p>
          <a:p>
            <a:r>
              <a:rPr lang="en-US" sz="1600" dirty="0"/>
              <a:t>The syntax for defining a attribute is: </a:t>
            </a:r>
          </a:p>
          <a:p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&lt;</a:t>
            </a:r>
            <a:r>
              <a:rPr lang="en-US" sz="16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xs:attribute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 name="xxx" type="</a:t>
            </a:r>
            <a:r>
              <a:rPr lang="en-US" sz="16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yyy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"/&gt;</a:t>
            </a:r>
          </a:p>
          <a:p>
            <a:r>
              <a:rPr lang="en-US" sz="1600" dirty="0"/>
              <a:t>where xxx is the name of the attribute and </a:t>
            </a:r>
            <a:r>
              <a:rPr lang="en-US" sz="1600" dirty="0" err="1"/>
              <a:t>yyy</a:t>
            </a:r>
            <a:r>
              <a:rPr lang="en-US" sz="1600" dirty="0"/>
              <a:t> specifies the data type of the attribute..</a:t>
            </a:r>
          </a:p>
          <a:p>
            <a:r>
              <a:rPr lang="en-US" sz="1600" dirty="0"/>
              <a:t>XML Attribute:</a:t>
            </a:r>
          </a:p>
          <a:p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&lt;</a:t>
            </a:r>
            <a:r>
              <a:rPr lang="en-US" sz="16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lastname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 </a:t>
            </a:r>
            <a:r>
              <a:rPr lang="en-US" sz="16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lang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="EN"&gt;Smith&lt;/</a:t>
            </a:r>
            <a:r>
              <a:rPr lang="en-US" sz="16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lastname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&gt;</a:t>
            </a:r>
          </a:p>
          <a:p>
            <a:r>
              <a:rPr lang="en-US" sz="1600" dirty="0"/>
              <a:t>Corresponding Attribute definitions:</a:t>
            </a:r>
          </a:p>
          <a:p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&lt;</a:t>
            </a:r>
            <a:r>
              <a:rPr lang="en-US" sz="16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xs:attribute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 name="</a:t>
            </a:r>
            <a:r>
              <a:rPr lang="en-US" sz="16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lang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" type="</a:t>
            </a:r>
            <a:r>
              <a:rPr lang="en-US" sz="16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xs:string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"/&gt;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ATTRIBUTES CAN BE DEFAULT OR FIXED AS WELL AS OPTIONAL AND REQUIRED</a:t>
            </a:r>
          </a:p>
          <a:p>
            <a:r>
              <a:rPr lang="en-US" sz="1600" dirty="0"/>
              <a:t>Optional and Required Attributes</a:t>
            </a:r>
            <a:br>
              <a:rPr lang="en-US" sz="1600" dirty="0"/>
            </a:br>
            <a:r>
              <a:rPr lang="en-US" sz="1600" dirty="0" err="1"/>
              <a:t>Attributes</a:t>
            </a:r>
            <a:r>
              <a:rPr lang="en-US" sz="1600" dirty="0"/>
              <a:t> are optional by default. To specify that the attribute is required, use the "use" attribute:</a:t>
            </a:r>
            <a:br>
              <a:rPr lang="en-US" sz="1600" dirty="0"/>
            </a:br>
            <a:r>
              <a:rPr lang="en-US" sz="1600" dirty="0"/>
              <a:t>&lt;</a:t>
            </a:r>
            <a:r>
              <a:rPr lang="en-US" sz="1600" dirty="0" err="1"/>
              <a:t>xs:attribute</a:t>
            </a:r>
            <a:r>
              <a:rPr lang="en-US" sz="1600" dirty="0"/>
              <a:t> name="</a:t>
            </a:r>
            <a:r>
              <a:rPr lang="en-US" sz="1600" dirty="0" err="1"/>
              <a:t>lang</a:t>
            </a:r>
            <a:r>
              <a:rPr lang="en-US" sz="1600" dirty="0"/>
              <a:t>" type="</a:t>
            </a:r>
            <a:r>
              <a:rPr lang="en-US" sz="1600" dirty="0" err="1"/>
              <a:t>xs:string</a:t>
            </a:r>
            <a:r>
              <a:rPr lang="en-US" sz="1600" dirty="0"/>
              <a:t>" use="required"/&gt;</a:t>
            </a:r>
            <a:br>
              <a:rPr lang="en-US" sz="1600" dirty="0"/>
            </a:br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510076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D8E6A-3814-4FC1-8E12-19D9AF40F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Complex-type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AD662-37CF-498C-9DD1-942A7B68B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Complex-type elements have attributes, child elements, or some combination of the two. </a:t>
            </a:r>
          </a:p>
          <a:p>
            <a:r>
              <a:rPr lang="en-US" dirty="0"/>
              <a:t>For example, the Name and </a:t>
            </a:r>
            <a:r>
              <a:rPr lang="en-US" dirty="0" err="1"/>
              <a:t>HomePage</a:t>
            </a:r>
            <a:r>
              <a:rPr lang="en-US" dirty="0"/>
              <a:t> elements below are both complex-type elements</a:t>
            </a:r>
          </a:p>
          <a:p>
            <a:endParaRPr lang="en-US" dirty="0"/>
          </a:p>
        </p:txBody>
      </p:sp>
      <p:sp>
        <p:nvSpPr>
          <p:cNvPr id="4" name="Google Shape;341;p34">
            <a:extLst>
              <a:ext uri="{FF2B5EF4-FFF2-40B4-BE49-F238E27FC236}">
                <a16:creationId xmlns:a16="http://schemas.microsoft.com/office/drawing/2014/main" id="{3125B4CD-1A4E-4BB8-ABAB-A8E0DBF5F78C}"/>
              </a:ext>
            </a:extLst>
          </p:cNvPr>
          <p:cNvSpPr/>
          <p:nvPr/>
        </p:nvSpPr>
        <p:spPr>
          <a:xfrm>
            <a:off x="5652052" y="3356776"/>
            <a:ext cx="5867400" cy="2308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&lt;?xml version="1.0"?&gt;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&lt;Person&gt;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&lt;Name&gt; 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&lt;FirstName&gt;Mark&lt;/FirstName&gt;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LastName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&gt;Twain&lt;/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LastName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&lt;/Name&gt;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HomePage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URL="http://www.marktwain.com"/&gt;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&lt;/Person&gt;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0B4BEF-B5BA-4D28-B307-03682A5C1AD5}"/>
              </a:ext>
            </a:extLst>
          </p:cNvPr>
          <p:cNvSpPr/>
          <p:nvPr/>
        </p:nvSpPr>
        <p:spPr>
          <a:xfrm>
            <a:off x="834887" y="4972287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&lt;</a:t>
            </a:r>
            <a:r>
              <a:rPr lang="en-US" dirty="0" err="1"/>
              <a:t>xs:element</a:t>
            </a:r>
            <a:r>
              <a:rPr lang="en-US" dirty="0"/>
              <a:t> name="</a:t>
            </a:r>
            <a:r>
              <a:rPr lang="en-US" dirty="0" err="1"/>
              <a:t>ElementName</a:t>
            </a:r>
            <a:r>
              <a:rPr lang="en-US" dirty="0"/>
              <a:t>"&gt; </a:t>
            </a:r>
          </a:p>
          <a:p>
            <a:r>
              <a:rPr lang="en-US" dirty="0"/>
              <a:t>		&lt;</a:t>
            </a:r>
            <a:r>
              <a:rPr lang="en-US" dirty="0" err="1"/>
              <a:t>xs:complexType</a:t>
            </a:r>
            <a:r>
              <a:rPr lang="en-US" dirty="0"/>
              <a:t>&gt; </a:t>
            </a:r>
          </a:p>
          <a:p>
            <a:r>
              <a:rPr lang="en-US" dirty="0"/>
              <a:t>			&lt;!--Content Model Goes Here--&gt; </a:t>
            </a:r>
          </a:p>
          <a:p>
            <a:r>
              <a:rPr lang="en-US" dirty="0"/>
              <a:t>		&lt;/</a:t>
            </a:r>
            <a:r>
              <a:rPr lang="en-US" dirty="0" err="1"/>
              <a:t>xs:complexType</a:t>
            </a:r>
            <a:r>
              <a:rPr lang="en-US" dirty="0"/>
              <a:t>&gt; </a:t>
            </a:r>
          </a:p>
          <a:p>
            <a:r>
              <a:rPr lang="en-US" dirty="0"/>
              <a:t>&lt;/</a:t>
            </a:r>
            <a:r>
              <a:rPr lang="en-US" dirty="0" err="1"/>
              <a:t>xs:element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1426273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2067B-275D-4390-80EB-C05746E9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There are four kinds of complex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4B6A3-E83B-4108-A009-68942EBAC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011680"/>
            <a:ext cx="9784080" cy="4562144"/>
          </a:xfrm>
        </p:spPr>
        <p:txBody>
          <a:bodyPr>
            <a:normAutofit/>
          </a:bodyPr>
          <a:lstStyle/>
          <a:p>
            <a:r>
              <a:rPr lang="en-US" dirty="0"/>
              <a:t>There are four kinds of complex elements:</a:t>
            </a:r>
          </a:p>
          <a:p>
            <a:r>
              <a:rPr lang="en-US" dirty="0"/>
              <a:t>empty elements</a:t>
            </a:r>
          </a:p>
          <a:p>
            <a:r>
              <a:rPr lang="en-US" dirty="0"/>
              <a:t>elements that contain only other elements</a:t>
            </a:r>
          </a:p>
          <a:p>
            <a:r>
              <a:rPr lang="en-US" dirty="0"/>
              <a:t>elements that contain only text</a:t>
            </a:r>
          </a:p>
          <a:p>
            <a:r>
              <a:rPr lang="en-US" dirty="0"/>
              <a:t>elements that contain both other elements and text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1879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3AC92-D761-442F-AB67-841713968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1.Empty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FD9FE-3091-4202-8229-5F69193A5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XML</a:t>
            </a:r>
          </a:p>
          <a:p>
            <a:r>
              <a:rPr lang="en-US" dirty="0"/>
              <a:t>&lt;product </a:t>
            </a:r>
            <a:r>
              <a:rPr lang="en-US" dirty="0" err="1"/>
              <a:t>prodid</a:t>
            </a:r>
            <a:r>
              <a:rPr lang="en-US" dirty="0"/>
              <a:t>="1345" /&gt;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XSD</a:t>
            </a:r>
          </a:p>
          <a:p>
            <a:r>
              <a:rPr lang="en-US" dirty="0"/>
              <a:t>&lt;</a:t>
            </a:r>
            <a:r>
              <a:rPr lang="en-US" dirty="0" err="1"/>
              <a:t>xs:element</a:t>
            </a:r>
            <a:r>
              <a:rPr lang="en-US" dirty="0"/>
              <a:t> name="product"&gt;</a:t>
            </a:r>
            <a:br>
              <a:rPr lang="en-US" dirty="0"/>
            </a:br>
            <a:r>
              <a:rPr lang="en-US" dirty="0"/>
              <a:t>  &lt;</a:t>
            </a:r>
            <a:r>
              <a:rPr lang="en-US" dirty="0" err="1"/>
              <a:t>xs:complexType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    &lt;</a:t>
            </a:r>
            <a:r>
              <a:rPr lang="en-US" dirty="0" err="1"/>
              <a:t>xs:attribute</a:t>
            </a:r>
            <a:r>
              <a:rPr lang="en-US" dirty="0"/>
              <a:t> name="</a:t>
            </a:r>
            <a:r>
              <a:rPr lang="en-US" dirty="0" err="1"/>
              <a:t>prodid</a:t>
            </a:r>
            <a:r>
              <a:rPr lang="en-US" dirty="0"/>
              <a:t>" type="</a:t>
            </a:r>
            <a:r>
              <a:rPr lang="en-US" dirty="0" err="1"/>
              <a:t>xs:positiveInteger</a:t>
            </a:r>
            <a:r>
              <a:rPr lang="en-US" dirty="0"/>
              <a:t>"/&gt;</a:t>
            </a:r>
            <a:br>
              <a:rPr lang="en-US" dirty="0"/>
            </a:br>
            <a:r>
              <a:rPr lang="en-US" dirty="0"/>
              <a:t>  &lt;/</a:t>
            </a:r>
            <a:r>
              <a:rPr lang="en-US" dirty="0" err="1"/>
              <a:t>xs:complexType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&lt;/</a:t>
            </a:r>
            <a:r>
              <a:rPr lang="en-US" dirty="0" err="1"/>
              <a:t>xs:element</a:t>
            </a:r>
            <a:r>
              <a:rPr lang="en-US" dirty="0"/>
              <a:t>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9218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E19D6-5D88-4873-9DA2-2A77D15ED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2.Containing Elements Only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E0019-5239-4D29-BDFB-F70BFD8AF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1961322"/>
            <a:ext cx="10260212" cy="461250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6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XML</a:t>
            </a:r>
          </a:p>
          <a:p>
            <a:pPr marL="0" indent="0">
              <a:buNone/>
            </a:pPr>
            <a:r>
              <a:rPr lang="en-US" sz="6400" dirty="0"/>
              <a:t>&lt;person&gt;</a:t>
            </a:r>
            <a:br>
              <a:rPr lang="en-US" sz="6400" dirty="0"/>
            </a:br>
            <a:r>
              <a:rPr lang="en-US" sz="6400" dirty="0"/>
              <a:t>  &lt;</a:t>
            </a:r>
            <a:r>
              <a:rPr lang="en-US" sz="6400" dirty="0" err="1"/>
              <a:t>firstname</a:t>
            </a:r>
            <a:r>
              <a:rPr lang="en-US" sz="6400" dirty="0"/>
              <a:t>&gt;John&lt;/</a:t>
            </a:r>
            <a:r>
              <a:rPr lang="en-US" sz="6400" dirty="0" err="1"/>
              <a:t>firstname</a:t>
            </a:r>
            <a:r>
              <a:rPr lang="en-US" sz="6400" dirty="0"/>
              <a:t>&gt;</a:t>
            </a:r>
            <a:br>
              <a:rPr lang="en-US" sz="6400" dirty="0"/>
            </a:br>
            <a:r>
              <a:rPr lang="en-US" sz="6400" dirty="0"/>
              <a:t>  &lt;</a:t>
            </a:r>
            <a:r>
              <a:rPr lang="en-US" sz="6400" dirty="0" err="1"/>
              <a:t>lastname</a:t>
            </a:r>
            <a:r>
              <a:rPr lang="en-US" sz="6400" dirty="0"/>
              <a:t>&gt;Smith&lt;/</a:t>
            </a:r>
            <a:r>
              <a:rPr lang="en-US" sz="6400" dirty="0" err="1"/>
              <a:t>lastname</a:t>
            </a:r>
            <a:r>
              <a:rPr lang="en-US" sz="6400" dirty="0"/>
              <a:t>&gt;</a:t>
            </a:r>
            <a:br>
              <a:rPr lang="en-US" sz="6400" dirty="0"/>
            </a:br>
            <a:r>
              <a:rPr lang="en-US" sz="6400" dirty="0"/>
              <a:t>&lt;/person&gt;</a:t>
            </a:r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r>
              <a:rPr lang="en-US" sz="6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XSD</a:t>
            </a:r>
          </a:p>
          <a:p>
            <a:pPr marL="0" indent="0">
              <a:buNone/>
            </a:pPr>
            <a:r>
              <a:rPr lang="en-US" sz="6400" dirty="0"/>
              <a:t>&lt;</a:t>
            </a:r>
            <a:r>
              <a:rPr lang="en-US" sz="6400" dirty="0" err="1"/>
              <a:t>xs:element</a:t>
            </a:r>
            <a:r>
              <a:rPr lang="en-US" sz="6400" dirty="0"/>
              <a:t> name="person"&gt;</a:t>
            </a:r>
            <a:br>
              <a:rPr lang="en-US" sz="6400" dirty="0"/>
            </a:br>
            <a:r>
              <a:rPr lang="en-US" sz="6400" dirty="0"/>
              <a:t>  &lt;</a:t>
            </a:r>
            <a:r>
              <a:rPr lang="en-US" sz="6400" dirty="0" err="1"/>
              <a:t>xs:complexType</a:t>
            </a:r>
            <a:r>
              <a:rPr lang="en-US" sz="6400" dirty="0"/>
              <a:t>&gt;</a:t>
            </a:r>
            <a:br>
              <a:rPr lang="en-US" sz="6400" dirty="0"/>
            </a:br>
            <a:r>
              <a:rPr lang="en-US" sz="6400" dirty="0"/>
              <a:t>    &lt;</a:t>
            </a:r>
            <a:r>
              <a:rPr lang="en-US" sz="6400" dirty="0" err="1"/>
              <a:t>xs:sequence</a:t>
            </a:r>
            <a:r>
              <a:rPr lang="en-US" sz="6400" dirty="0"/>
              <a:t>&gt;</a:t>
            </a:r>
            <a:br>
              <a:rPr lang="en-US" sz="6400" dirty="0"/>
            </a:br>
            <a:r>
              <a:rPr lang="en-US" sz="6400" dirty="0"/>
              <a:t>      &lt;</a:t>
            </a:r>
            <a:r>
              <a:rPr lang="en-US" sz="6400" dirty="0" err="1"/>
              <a:t>xs:element</a:t>
            </a:r>
            <a:r>
              <a:rPr lang="en-US" sz="6400" dirty="0"/>
              <a:t> name="</a:t>
            </a:r>
            <a:r>
              <a:rPr lang="en-US" sz="6400" dirty="0" err="1"/>
              <a:t>firstname</a:t>
            </a:r>
            <a:r>
              <a:rPr lang="en-US" sz="6400" dirty="0"/>
              <a:t>" type="</a:t>
            </a:r>
            <a:r>
              <a:rPr lang="en-US" sz="6400" dirty="0" err="1"/>
              <a:t>xs:string</a:t>
            </a:r>
            <a:r>
              <a:rPr lang="en-US" sz="6400" dirty="0"/>
              <a:t>"/&gt;</a:t>
            </a:r>
            <a:br>
              <a:rPr lang="en-US" sz="6400" dirty="0"/>
            </a:br>
            <a:r>
              <a:rPr lang="en-US" sz="6400" dirty="0"/>
              <a:t>      &lt;</a:t>
            </a:r>
            <a:r>
              <a:rPr lang="en-US" sz="6400" dirty="0" err="1"/>
              <a:t>xs:element</a:t>
            </a:r>
            <a:r>
              <a:rPr lang="en-US" sz="6400" dirty="0"/>
              <a:t> name="</a:t>
            </a:r>
            <a:r>
              <a:rPr lang="en-US" sz="6400" dirty="0" err="1"/>
              <a:t>lastname</a:t>
            </a:r>
            <a:r>
              <a:rPr lang="en-US" sz="6400" dirty="0"/>
              <a:t>" type="</a:t>
            </a:r>
            <a:r>
              <a:rPr lang="en-US" sz="6400" dirty="0" err="1"/>
              <a:t>xs:string</a:t>
            </a:r>
            <a:r>
              <a:rPr lang="en-US" sz="6400" dirty="0"/>
              <a:t>"/&gt;</a:t>
            </a:r>
            <a:br>
              <a:rPr lang="en-US" sz="6400" dirty="0"/>
            </a:br>
            <a:r>
              <a:rPr lang="en-US" sz="6400" dirty="0"/>
              <a:t>    &lt;/</a:t>
            </a:r>
            <a:r>
              <a:rPr lang="en-US" sz="6400" dirty="0" err="1"/>
              <a:t>xs:sequence</a:t>
            </a:r>
            <a:r>
              <a:rPr lang="en-US" sz="6400" dirty="0"/>
              <a:t>&gt;</a:t>
            </a:r>
            <a:br>
              <a:rPr lang="en-US" sz="6400" dirty="0"/>
            </a:br>
            <a:r>
              <a:rPr lang="en-US" sz="6400" dirty="0"/>
              <a:t>  &lt;/</a:t>
            </a:r>
            <a:r>
              <a:rPr lang="en-US" sz="6400" dirty="0" err="1"/>
              <a:t>xs:complexType</a:t>
            </a:r>
            <a:r>
              <a:rPr lang="en-US" sz="6400" dirty="0"/>
              <a:t>&gt;</a:t>
            </a:r>
            <a:br>
              <a:rPr lang="en-US" sz="6400" dirty="0"/>
            </a:br>
            <a:r>
              <a:rPr lang="en-US" sz="6400" dirty="0"/>
              <a:t>&lt;/</a:t>
            </a:r>
            <a:r>
              <a:rPr lang="en-US" sz="6400" dirty="0" err="1"/>
              <a:t>xs:element</a:t>
            </a:r>
            <a:r>
              <a:rPr lang="en-US" sz="6400" dirty="0"/>
              <a:t>&gt;</a:t>
            </a:r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r>
              <a:rPr lang="en-US" sz="6400" dirty="0"/>
              <a:t>Note:  &lt;</a:t>
            </a:r>
            <a:r>
              <a:rPr lang="en-US" sz="6400" dirty="0" err="1"/>
              <a:t>xs:sequence</a:t>
            </a:r>
            <a:r>
              <a:rPr lang="en-US" sz="6400" dirty="0"/>
              <a:t>&gt; tag means that the elements defined ("</a:t>
            </a:r>
            <a:r>
              <a:rPr lang="en-US" sz="6400" dirty="0" err="1"/>
              <a:t>firstname</a:t>
            </a:r>
            <a:r>
              <a:rPr lang="en-US" sz="6400" dirty="0"/>
              <a:t>" and "</a:t>
            </a:r>
            <a:r>
              <a:rPr lang="en-US" sz="6400" dirty="0" err="1"/>
              <a:t>lastname</a:t>
            </a:r>
            <a:r>
              <a:rPr lang="en-US" sz="6400" dirty="0"/>
              <a:t>") must appear in that order inside a "person" element.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933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4F5C2-4318-4EC4-B2F2-FDBA74E62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3.Containing Text-Only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E4B7B-CE62-4D0F-967C-1DF0C5B7C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XML</a:t>
            </a:r>
          </a:p>
          <a:p>
            <a:pPr marL="0" indent="0">
              <a:buNone/>
            </a:pPr>
            <a:r>
              <a:rPr lang="en-US" dirty="0"/>
              <a:t>&lt;shoesize country="</a:t>
            </a:r>
            <a:r>
              <a:rPr lang="en-US" dirty="0" err="1"/>
              <a:t>france</a:t>
            </a:r>
            <a:r>
              <a:rPr lang="en-US" dirty="0"/>
              <a:t>"&gt;35&lt;/shoesize&gt;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XSD</a:t>
            </a:r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xs:element</a:t>
            </a:r>
            <a:r>
              <a:rPr lang="en-US" dirty="0"/>
              <a:t> name="shoesize"&gt;</a:t>
            </a:r>
            <a:br>
              <a:rPr lang="en-US" dirty="0"/>
            </a:br>
            <a:r>
              <a:rPr lang="en-US" dirty="0"/>
              <a:t>  &lt;</a:t>
            </a:r>
            <a:r>
              <a:rPr lang="en-US" dirty="0" err="1"/>
              <a:t>xs:complexType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    &lt;</a:t>
            </a:r>
            <a:r>
              <a:rPr lang="en-US" dirty="0" err="1"/>
              <a:t>xs:simpleContent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      &lt;</a:t>
            </a:r>
            <a:r>
              <a:rPr lang="en-US" dirty="0" err="1"/>
              <a:t>xs:extension</a:t>
            </a:r>
            <a:r>
              <a:rPr lang="en-US" dirty="0"/>
              <a:t> base="</a:t>
            </a:r>
            <a:r>
              <a:rPr lang="en-US" dirty="0" err="1"/>
              <a:t>xs:integer</a:t>
            </a:r>
            <a:r>
              <a:rPr lang="en-US" dirty="0"/>
              <a:t>"&gt;</a:t>
            </a:r>
            <a:br>
              <a:rPr lang="en-US" dirty="0"/>
            </a:br>
            <a:r>
              <a:rPr lang="en-US" dirty="0"/>
              <a:t>        &lt;</a:t>
            </a:r>
            <a:r>
              <a:rPr lang="en-US" dirty="0" err="1"/>
              <a:t>xs:attribute</a:t>
            </a:r>
            <a:r>
              <a:rPr lang="en-US" dirty="0"/>
              <a:t> name="country" type="</a:t>
            </a:r>
            <a:r>
              <a:rPr lang="en-US" dirty="0" err="1"/>
              <a:t>xs:string</a:t>
            </a:r>
            <a:r>
              <a:rPr lang="en-US" dirty="0"/>
              <a:t>" /&gt;</a:t>
            </a:r>
            <a:br>
              <a:rPr lang="en-US" dirty="0"/>
            </a:br>
            <a:r>
              <a:rPr lang="en-US" dirty="0"/>
              <a:t>      &lt;/</a:t>
            </a:r>
            <a:r>
              <a:rPr lang="en-US" dirty="0" err="1"/>
              <a:t>xs:extension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    &lt;/</a:t>
            </a:r>
            <a:r>
              <a:rPr lang="en-US" dirty="0" err="1"/>
              <a:t>xs:simpleContent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  &lt;/</a:t>
            </a:r>
            <a:r>
              <a:rPr lang="en-US" dirty="0" err="1"/>
              <a:t>xs:complexType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&lt;/</a:t>
            </a:r>
            <a:r>
              <a:rPr lang="en-US" dirty="0" err="1"/>
              <a:t>xs:element</a:t>
            </a:r>
            <a:r>
              <a:rPr lang="en-US" dirty="0"/>
              <a:t>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5757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38168-C944-4B75-A203-C3FADB8F5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 Containing both other elements and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A3338-64FE-4287-B53E-A0191F9E6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8" y="2011680"/>
            <a:ext cx="9942159" cy="456214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XML</a:t>
            </a:r>
          </a:p>
          <a:p>
            <a:pPr marL="0" indent="0">
              <a:buNone/>
            </a:pPr>
            <a:r>
              <a:rPr lang="en-US" sz="1600" dirty="0"/>
              <a:t>&lt;letter&gt;</a:t>
            </a:r>
            <a:br>
              <a:rPr lang="en-US" sz="1600" dirty="0"/>
            </a:br>
            <a:r>
              <a:rPr lang="en-US" sz="1600" dirty="0"/>
              <a:t>  Dear Mr.&lt;name&gt;John Smith&lt;/name&gt;.</a:t>
            </a:r>
            <a:br>
              <a:rPr lang="en-US" sz="1600" dirty="0"/>
            </a:br>
            <a:r>
              <a:rPr lang="en-US" sz="1600" dirty="0"/>
              <a:t>  Your order &lt;</a:t>
            </a:r>
            <a:r>
              <a:rPr lang="en-US" sz="1600" dirty="0" err="1"/>
              <a:t>orderid</a:t>
            </a:r>
            <a:r>
              <a:rPr lang="en-US" sz="1600" dirty="0"/>
              <a:t>&gt;1032&lt;/</a:t>
            </a:r>
            <a:r>
              <a:rPr lang="en-US" sz="1600" dirty="0" err="1"/>
              <a:t>orderid</a:t>
            </a:r>
            <a:r>
              <a:rPr lang="en-US" sz="1600" dirty="0"/>
              <a:t>&gt;</a:t>
            </a:r>
            <a:br>
              <a:rPr lang="en-US" sz="1600" dirty="0"/>
            </a:br>
            <a:r>
              <a:rPr lang="en-US" sz="1600" dirty="0"/>
              <a:t>  will be shipped on &lt;</a:t>
            </a:r>
            <a:r>
              <a:rPr lang="en-US" sz="1600" dirty="0" err="1"/>
              <a:t>shipdate</a:t>
            </a:r>
            <a:r>
              <a:rPr lang="en-US" sz="1600" dirty="0"/>
              <a:t>&gt;2001-07-13&lt;/</a:t>
            </a:r>
            <a:r>
              <a:rPr lang="en-US" sz="1600" dirty="0" err="1"/>
              <a:t>shipdate</a:t>
            </a:r>
            <a:r>
              <a:rPr lang="en-US" sz="1600" dirty="0"/>
              <a:t>&gt;.</a:t>
            </a:r>
            <a:br>
              <a:rPr lang="en-US" sz="1600" dirty="0"/>
            </a:br>
            <a:r>
              <a:rPr lang="en-US" sz="1600" dirty="0"/>
              <a:t>&lt;/letter&gt;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XSD</a:t>
            </a:r>
          </a:p>
          <a:p>
            <a:pPr marL="0" indent="0">
              <a:buNone/>
            </a:pPr>
            <a:r>
              <a:rPr lang="en-US" sz="1600" dirty="0"/>
              <a:t>&lt;</a:t>
            </a:r>
            <a:r>
              <a:rPr lang="en-US" sz="1600" dirty="0" err="1"/>
              <a:t>xs:element</a:t>
            </a:r>
            <a:r>
              <a:rPr lang="en-US" sz="1600" dirty="0"/>
              <a:t> name="letter"&gt;</a:t>
            </a:r>
            <a:br>
              <a:rPr lang="en-US" sz="1600" dirty="0"/>
            </a:br>
            <a:r>
              <a:rPr lang="en-US" sz="1600" dirty="0"/>
              <a:t>  &lt;</a:t>
            </a:r>
            <a:r>
              <a:rPr lang="en-US" sz="1600" dirty="0" err="1"/>
              <a:t>xs:complexType</a:t>
            </a:r>
            <a:r>
              <a:rPr lang="en-US" sz="1600" dirty="0"/>
              <a:t> mixed="true"&gt;</a:t>
            </a:r>
            <a:br>
              <a:rPr lang="en-US" sz="1600" dirty="0"/>
            </a:br>
            <a:r>
              <a:rPr lang="en-US" sz="1600" dirty="0"/>
              <a:t>    &lt;</a:t>
            </a:r>
            <a:r>
              <a:rPr lang="en-US" sz="1600" dirty="0" err="1"/>
              <a:t>xs:sequence</a:t>
            </a:r>
            <a:r>
              <a:rPr lang="en-US" sz="1600" dirty="0"/>
              <a:t>&gt;</a:t>
            </a:r>
            <a:br>
              <a:rPr lang="en-US" sz="1600" dirty="0"/>
            </a:br>
            <a:r>
              <a:rPr lang="en-US" sz="1600" dirty="0"/>
              <a:t>      &lt;</a:t>
            </a:r>
            <a:r>
              <a:rPr lang="en-US" sz="1600" dirty="0" err="1"/>
              <a:t>xs:element</a:t>
            </a:r>
            <a:r>
              <a:rPr lang="en-US" sz="1600" dirty="0"/>
              <a:t> name="name" type="</a:t>
            </a:r>
            <a:r>
              <a:rPr lang="en-US" sz="1600" dirty="0" err="1"/>
              <a:t>xs:string</a:t>
            </a:r>
            <a:r>
              <a:rPr lang="en-US" sz="1600" dirty="0"/>
              <a:t>"/&gt;</a:t>
            </a:r>
            <a:br>
              <a:rPr lang="en-US" sz="1600" dirty="0"/>
            </a:br>
            <a:r>
              <a:rPr lang="en-US" sz="1600" dirty="0"/>
              <a:t>      &lt;</a:t>
            </a:r>
            <a:r>
              <a:rPr lang="en-US" sz="1600" dirty="0" err="1"/>
              <a:t>xs:element</a:t>
            </a:r>
            <a:r>
              <a:rPr lang="en-US" sz="1600" dirty="0"/>
              <a:t> name="</a:t>
            </a:r>
            <a:r>
              <a:rPr lang="en-US" sz="1600" dirty="0" err="1"/>
              <a:t>orderid</a:t>
            </a:r>
            <a:r>
              <a:rPr lang="en-US" sz="1600" dirty="0"/>
              <a:t>" type="</a:t>
            </a:r>
            <a:r>
              <a:rPr lang="en-US" sz="1600" dirty="0" err="1"/>
              <a:t>xs:positiveInteger</a:t>
            </a:r>
            <a:r>
              <a:rPr lang="en-US" sz="1600" dirty="0"/>
              <a:t>"/&gt;</a:t>
            </a:r>
            <a:br>
              <a:rPr lang="en-US" sz="1600" dirty="0"/>
            </a:br>
            <a:r>
              <a:rPr lang="en-US" sz="1600" dirty="0"/>
              <a:t>      &lt;</a:t>
            </a:r>
            <a:r>
              <a:rPr lang="en-US" sz="1600" dirty="0" err="1"/>
              <a:t>xs:element</a:t>
            </a:r>
            <a:r>
              <a:rPr lang="en-US" sz="1600" dirty="0"/>
              <a:t> name="</a:t>
            </a:r>
            <a:r>
              <a:rPr lang="en-US" sz="1600" dirty="0" err="1"/>
              <a:t>shipdate</a:t>
            </a:r>
            <a:r>
              <a:rPr lang="en-US" sz="1600" dirty="0"/>
              <a:t>" type="</a:t>
            </a:r>
            <a:r>
              <a:rPr lang="en-US" sz="1600" dirty="0" err="1"/>
              <a:t>xs:date</a:t>
            </a:r>
            <a:r>
              <a:rPr lang="en-US" sz="1600" dirty="0"/>
              <a:t>"/&gt;</a:t>
            </a:r>
            <a:br>
              <a:rPr lang="en-US" sz="1600" dirty="0"/>
            </a:br>
            <a:r>
              <a:rPr lang="en-US" sz="1600" dirty="0"/>
              <a:t>    &lt;/</a:t>
            </a:r>
            <a:r>
              <a:rPr lang="en-US" sz="1600" dirty="0" err="1"/>
              <a:t>xs:sequence</a:t>
            </a:r>
            <a:r>
              <a:rPr lang="en-US" sz="1600" dirty="0"/>
              <a:t>&gt;</a:t>
            </a:r>
            <a:br>
              <a:rPr lang="en-US" sz="1600" dirty="0"/>
            </a:br>
            <a:r>
              <a:rPr lang="en-US" sz="1600" dirty="0"/>
              <a:t>  &lt;/</a:t>
            </a:r>
            <a:r>
              <a:rPr lang="en-US" sz="1600" dirty="0" err="1"/>
              <a:t>xs:complexType</a:t>
            </a:r>
            <a:r>
              <a:rPr lang="en-US" sz="1600" dirty="0"/>
              <a:t>&gt;</a:t>
            </a:r>
            <a:br>
              <a:rPr lang="en-US" sz="1600" dirty="0"/>
            </a:br>
            <a:r>
              <a:rPr lang="en-US" sz="1600" dirty="0"/>
              <a:t>&lt;/</a:t>
            </a:r>
            <a:r>
              <a:rPr lang="en-US" sz="1600" dirty="0" err="1"/>
              <a:t>xs:element</a:t>
            </a:r>
            <a:r>
              <a:rPr lang="en-US" sz="1600" dirty="0"/>
              <a:t>&gt;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Note:  To enable character data to appear between the child-elements of "letter", the mixed attribute must be set to "true"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390413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81F07-556A-474C-9F1A-F3E754334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Restrictions for Datatypes</a:t>
            </a:r>
          </a:p>
        </p:txBody>
      </p:sp>
      <p:pic>
        <p:nvPicPr>
          <p:cNvPr id="4" name="Google Shape;332;p33">
            <a:extLst>
              <a:ext uri="{FF2B5EF4-FFF2-40B4-BE49-F238E27FC236}">
                <a16:creationId xmlns:a16="http://schemas.microsoft.com/office/drawing/2014/main" id="{5696CBA7-E76F-4393-BCDD-FD9330AED136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 t="19316" b="16941"/>
          <a:stretch/>
        </p:blipFill>
        <p:spPr>
          <a:xfrm>
            <a:off x="1576933" y="2978137"/>
            <a:ext cx="9036052" cy="2523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32;p33">
            <a:extLst>
              <a:ext uri="{FF2B5EF4-FFF2-40B4-BE49-F238E27FC236}">
                <a16:creationId xmlns:a16="http://schemas.microsoft.com/office/drawing/2014/main" id="{39EC1610-DD1E-4957-A828-02BC0742C3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89048"/>
          <a:stretch/>
        </p:blipFill>
        <p:spPr>
          <a:xfrm>
            <a:off x="1576933" y="2365223"/>
            <a:ext cx="9036052" cy="6129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81071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59549-4061-481A-AA6D-0028AA6B0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XSD Restrictions</a:t>
            </a:r>
          </a:p>
        </p:txBody>
      </p:sp>
      <p:sp>
        <p:nvSpPr>
          <p:cNvPr id="5" name="Google Shape;312;p30">
            <a:extLst>
              <a:ext uri="{FF2B5EF4-FFF2-40B4-BE49-F238E27FC236}">
                <a16:creationId xmlns:a16="http://schemas.microsoft.com/office/drawing/2014/main" id="{7B5F5842-6555-4284-BDA2-14A3E166291D}"/>
              </a:ext>
            </a:extLst>
          </p:cNvPr>
          <p:cNvSpPr/>
          <p:nvPr/>
        </p:nvSpPr>
        <p:spPr>
          <a:xfrm>
            <a:off x="1312912" y="3394986"/>
            <a:ext cx="4572000" cy="258532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xs:element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name="age"&gt;</a:t>
            </a:r>
            <a:b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&lt;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xs:simpleType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 &lt;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xs:restriction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base="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xs:integer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"&gt;</a:t>
            </a:r>
            <a:b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 &lt;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xs:minInclusive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value="0"/&gt;</a:t>
            </a:r>
            <a:b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 &lt;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xs:maxInclusive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value="120"/&gt;</a:t>
            </a:r>
            <a:b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 &lt;/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xs:restriction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&lt;/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xs:simpleType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xs:element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</a:b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314;p30">
            <a:extLst>
              <a:ext uri="{FF2B5EF4-FFF2-40B4-BE49-F238E27FC236}">
                <a16:creationId xmlns:a16="http://schemas.microsoft.com/office/drawing/2014/main" id="{796A8789-C6A1-4BDE-8104-A7B39FB9E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236" y="2862733"/>
            <a:ext cx="9783763" cy="424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Restrictions on Values</a:t>
            </a:r>
            <a:endParaRPr sz="18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1;p30">
            <a:extLst>
              <a:ext uri="{FF2B5EF4-FFF2-40B4-BE49-F238E27FC236}">
                <a16:creationId xmlns:a16="http://schemas.microsoft.com/office/drawing/2014/main" id="{82F9D0D5-CCB6-4DA5-94B6-58058D68B2F6}"/>
              </a:ext>
            </a:extLst>
          </p:cNvPr>
          <p:cNvSpPr/>
          <p:nvPr/>
        </p:nvSpPr>
        <p:spPr>
          <a:xfrm>
            <a:off x="1100353" y="1847070"/>
            <a:ext cx="769909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09728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XSD Restrictions/Facets</a:t>
            </a:r>
            <a:endParaRPr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109728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Restrictions are used to define acceptable values for XML elements or attributes. Restrictions on XML elements are called facets.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69448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59549-4061-481A-AA6D-0028AA6B0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XSD Restrictions</a:t>
            </a:r>
          </a:p>
        </p:txBody>
      </p:sp>
      <p:sp>
        <p:nvSpPr>
          <p:cNvPr id="7" name="Google Shape;311;p30">
            <a:extLst>
              <a:ext uri="{FF2B5EF4-FFF2-40B4-BE49-F238E27FC236}">
                <a16:creationId xmlns:a16="http://schemas.microsoft.com/office/drawing/2014/main" id="{82F9D0D5-CCB6-4DA5-94B6-58058D68B2F6}"/>
              </a:ext>
            </a:extLst>
          </p:cNvPr>
          <p:cNvSpPr/>
          <p:nvPr/>
        </p:nvSpPr>
        <p:spPr>
          <a:xfrm>
            <a:off x="1100352" y="1847070"/>
            <a:ext cx="10336273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Restrictions on a Set of Values</a:t>
            </a:r>
            <a:b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dirty="0">
                <a:latin typeface="Georgia"/>
                <a:ea typeface="Georgia"/>
                <a:cs typeface="Georgia"/>
                <a:sym typeface="Georgia"/>
              </a:rPr>
              <a:t>The example below defines an element called "car" with a restriction. The only acceptable values are: Audi, Golf, BMW:</a:t>
            </a:r>
            <a:endParaRPr lang="en-US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320;p31">
            <a:extLst>
              <a:ext uri="{FF2B5EF4-FFF2-40B4-BE49-F238E27FC236}">
                <a16:creationId xmlns:a16="http://schemas.microsoft.com/office/drawing/2014/main" id="{8997004E-C570-422A-BEF0-1912B431AB18}"/>
              </a:ext>
            </a:extLst>
          </p:cNvPr>
          <p:cNvSpPr/>
          <p:nvPr/>
        </p:nvSpPr>
        <p:spPr>
          <a:xfrm>
            <a:off x="1202919" y="3152576"/>
            <a:ext cx="4572000" cy="28623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&lt;xs:element name="car"&gt;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&lt;xs:simpleType&gt;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 &lt;xs:restriction base="xs:string"&gt;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 &lt;xs:enumeration value="Audi"/&gt;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 &lt;xs:enumeration value="Golf"/&gt;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 &lt;xs:enumeration value="BMW"/&gt;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 &lt;/xs:restriction&gt;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&lt;/xs:simpleType&gt;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&lt;/xs:element&gt;</a:t>
            </a:r>
            <a:br>
              <a:rPr lang="en-US" sz="18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86386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59549-4061-481A-AA6D-0028AA6B0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XSD Restrictions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20A0F1-1E9E-416C-B377-BC56D55EC1D4}"/>
              </a:ext>
            </a:extLst>
          </p:cNvPr>
          <p:cNvSpPr/>
          <p:nvPr/>
        </p:nvSpPr>
        <p:spPr>
          <a:xfrm>
            <a:off x="1202919" y="2091394"/>
            <a:ext cx="26269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b="1" u="sng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Examples</a:t>
            </a:r>
            <a:endParaRPr lang="en-US" sz="1200" b="1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325;p32">
            <a:extLst>
              <a:ext uri="{FF2B5EF4-FFF2-40B4-BE49-F238E27FC236}">
                <a16:creationId xmlns:a16="http://schemas.microsoft.com/office/drawing/2014/main" id="{9BEB60D1-E47F-45BC-AC31-B52926C296A2}"/>
              </a:ext>
            </a:extLst>
          </p:cNvPr>
          <p:cNvSpPr/>
          <p:nvPr/>
        </p:nvSpPr>
        <p:spPr>
          <a:xfrm>
            <a:off x="1202919" y="2556090"/>
            <a:ext cx="4572000" cy="24006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EXAMPLE 1:</a:t>
            </a:r>
            <a:endParaRPr dirty="0">
              <a:solidFill>
                <a:schemeClr val="bg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xs:element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name="password"&gt;</a:t>
            </a:r>
            <a:b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&lt;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xs:simpleType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 &lt;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xs:restriction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base="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xs:string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"&gt;</a:t>
            </a:r>
            <a:b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 &lt;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xs:length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value="8"/&gt;</a:t>
            </a:r>
            <a:b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 &lt;/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xs:restriction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&lt;/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xs:simpleType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xs:element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endParaRPr dirty="0"/>
          </a:p>
        </p:txBody>
      </p:sp>
      <p:sp>
        <p:nvSpPr>
          <p:cNvPr id="9" name="Google Shape;326;p32">
            <a:extLst>
              <a:ext uri="{FF2B5EF4-FFF2-40B4-BE49-F238E27FC236}">
                <a16:creationId xmlns:a16="http://schemas.microsoft.com/office/drawing/2014/main" id="{EDC5B29C-7513-4CC4-830F-D16E284C803B}"/>
              </a:ext>
            </a:extLst>
          </p:cNvPr>
          <p:cNvSpPr/>
          <p:nvPr/>
        </p:nvSpPr>
        <p:spPr>
          <a:xfrm>
            <a:off x="7209182" y="3806177"/>
            <a:ext cx="4293705" cy="26776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EXAMPLE 2:</a:t>
            </a:r>
            <a:endParaRPr dirty="0">
              <a:solidFill>
                <a:schemeClr val="bg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xs:element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name="password"&gt;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xs:simpleType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 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xs:restriction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base="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xs:string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 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xs:minLength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value="5"/&gt;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 &lt;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xs:maxLength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value="8"/&gt;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 &lt;/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xs:restriction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&lt;/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xs:simpleType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xs:element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79311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CD981-F407-45C5-8450-4DCB78784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XSL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81E48-0F58-4C62-8F7B-2AD85932A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XSL extensible Stylesheet Language is a styling language for XML.</a:t>
            </a:r>
            <a:endParaRPr lang="en-US" dirty="0"/>
          </a:p>
          <a:p>
            <a:pPr marL="28575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(Also XSLT extensible Stylesheet Language Transformations) </a:t>
            </a:r>
            <a:endParaRPr lang="en-US" dirty="0"/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E08D56-3525-41CA-8412-AA587AD8CCB7}"/>
              </a:ext>
            </a:extLst>
          </p:cNvPr>
          <p:cNvSpPr/>
          <p:nvPr/>
        </p:nvSpPr>
        <p:spPr>
          <a:xfrm>
            <a:off x="1202919" y="3121680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XSL Transformations (XSLT)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XML language for transforming XML documents.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XML Path Language (XPath)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language for navigating the XML document.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XSL Formatting Objects (XSL-FO)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XML language for formatting XML documents.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76F30C-FCDC-4830-BB32-A318CF080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487" y="3273287"/>
            <a:ext cx="2832652" cy="283265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B5A50B2-ECED-471C-A3DF-9001499E0D96}"/>
              </a:ext>
            </a:extLst>
          </p:cNvPr>
          <p:cNvSpPr/>
          <p:nvPr/>
        </p:nvSpPr>
        <p:spPr>
          <a:xfrm>
            <a:off x="1202919" y="509649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In the transformation process, XSLT uses XPath to define parts of the source document that should match one or more predefined templates. When a match is found, XSLT will transform the matching part of the source document into the result document.</a:t>
            </a:r>
          </a:p>
        </p:txBody>
      </p:sp>
    </p:spTree>
    <p:extLst>
      <p:ext uri="{BB962C8B-B14F-4D97-AF65-F5344CB8AC3E}">
        <p14:creationId xmlns:p14="http://schemas.microsoft.com/office/powerpoint/2010/main" val="17984011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A0C8E-9013-4E18-AFEA-E71EC9B6D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CSS and XSL</a:t>
            </a:r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7CCD103B-89D0-4273-A9D5-F7E7516014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1533552"/>
              </p:ext>
            </p:extLst>
          </p:nvPr>
        </p:nvGraphicFramePr>
        <p:xfrm>
          <a:off x="2634560" y="2584174"/>
          <a:ext cx="6390170" cy="3025888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3559018">
                  <a:extLst>
                    <a:ext uri="{9D8B030D-6E8A-4147-A177-3AD203B41FA5}">
                      <a16:colId xmlns:a16="http://schemas.microsoft.com/office/drawing/2014/main" val="207037642"/>
                    </a:ext>
                  </a:extLst>
                </a:gridCol>
                <a:gridCol w="2831152">
                  <a:extLst>
                    <a:ext uri="{9D8B030D-6E8A-4147-A177-3AD203B41FA5}">
                      <a16:colId xmlns:a16="http://schemas.microsoft.com/office/drawing/2014/main" val="2867727409"/>
                    </a:ext>
                  </a:extLst>
                </a:gridCol>
              </a:tblGrid>
              <a:tr h="5757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XSL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736330"/>
                  </a:ext>
                </a:extLst>
              </a:tr>
              <a:tr h="1225076">
                <a:tc>
                  <a:txBody>
                    <a:bodyPr/>
                    <a:lstStyle/>
                    <a:p>
                      <a:r>
                        <a:rPr lang="en-US" dirty="0"/>
                        <a:t>Stylesheet language to create a style </a:t>
                      </a:r>
                    </a:p>
                    <a:p>
                      <a:r>
                        <a:rPr lang="en-US" dirty="0"/>
                        <a:t>For HTML and XML documents 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Stylesheet language to create a style for XML documents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190659"/>
                  </a:ext>
                </a:extLst>
              </a:tr>
              <a:tr h="1225076">
                <a:tc>
                  <a:txBody>
                    <a:bodyPr/>
                    <a:lstStyle/>
                    <a:p>
                      <a:r>
                        <a:rPr lang="en-US" dirty="0"/>
                        <a:t>Determines the visual appearance of a page , but does not alter the structure of the source document.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 a means of transforming XML documents.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628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99853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F18E5-0D3B-42D9-A0BE-8F41081B6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</a:t>
            </a:r>
          </a:p>
        </p:txBody>
      </p:sp>
      <p:sp>
        <p:nvSpPr>
          <p:cNvPr id="7" name="Google Shape;382;p41">
            <a:extLst>
              <a:ext uri="{FF2B5EF4-FFF2-40B4-BE49-F238E27FC236}">
                <a16:creationId xmlns:a16="http://schemas.microsoft.com/office/drawing/2014/main" id="{C37C17A9-4827-4C05-9966-66102A961DC6}"/>
              </a:ext>
            </a:extLst>
          </p:cNvPr>
          <p:cNvSpPr/>
          <p:nvPr/>
        </p:nvSpPr>
        <p:spPr>
          <a:xfrm>
            <a:off x="1325095" y="2549410"/>
            <a:ext cx="6826956" cy="34162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xsl:stylesheet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version="1.0"</a:t>
            </a:r>
            <a:endParaRPr dirty="0"/>
          </a:p>
          <a:p>
            <a:pPr>
              <a:buClr>
                <a:schemeClr val="dk1"/>
              </a:buClr>
              <a:buSzPts val="2400"/>
            </a:pP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xmlns:xsl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="http://www.w3.org/1999/XSL/Transform"&gt;</a:t>
            </a:r>
            <a:endParaRPr dirty="0"/>
          </a:p>
          <a:p>
            <a:pPr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xsl:template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match="/"&gt;</a:t>
            </a:r>
            <a:endParaRPr dirty="0"/>
          </a:p>
          <a:p>
            <a:pPr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&lt;html&gt;</a:t>
            </a:r>
            <a:endParaRPr dirty="0"/>
          </a:p>
          <a:p>
            <a:pPr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……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&lt;/html&gt;</a:t>
            </a:r>
            <a:endParaRPr dirty="0"/>
          </a:p>
          <a:p>
            <a:pPr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xsl:template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dirty="0"/>
          </a:p>
          <a:p>
            <a:pPr>
              <a:buClr>
                <a:schemeClr val="dk1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24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xsl:stylesheet</a:t>
            </a: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13547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D3B25-F9C7-41BD-8DAB-2205473E1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</a:t>
            </a:r>
            <a:r>
              <a:rPr lang="en-US" dirty="0" err="1"/>
              <a:t>xsl:value-of</a:t>
            </a:r>
            <a:r>
              <a:rPr lang="en-US" dirty="0"/>
              <a:t>&gt; 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449FE-46D5-452A-98E7-A2CA31E00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173" y="2004971"/>
            <a:ext cx="2796209" cy="150876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&lt;</a:t>
            </a:r>
            <a:r>
              <a:rPr lang="en-US" dirty="0" err="1"/>
              <a:t>xsl:value-of</a:t>
            </a:r>
            <a:r>
              <a:rPr lang="en-US" dirty="0"/>
              <a:t>&gt; element can be used to extract the value of an XML element and add it to the output stream of the transformation:</a:t>
            </a:r>
          </a:p>
          <a:p>
            <a:endParaRPr lang="en-US" dirty="0"/>
          </a:p>
        </p:txBody>
      </p:sp>
      <p:sp>
        <p:nvSpPr>
          <p:cNvPr id="5" name="Google Shape;395;p43">
            <a:extLst>
              <a:ext uri="{FF2B5EF4-FFF2-40B4-BE49-F238E27FC236}">
                <a16:creationId xmlns:a16="http://schemas.microsoft.com/office/drawing/2014/main" id="{F01AFFDF-C283-45C2-B615-5E7CB2DB3A05}"/>
              </a:ext>
            </a:extLst>
          </p:cNvPr>
          <p:cNvSpPr txBox="1"/>
          <p:nvPr/>
        </p:nvSpPr>
        <p:spPr>
          <a:xfrm>
            <a:off x="4041914" y="2004971"/>
            <a:ext cx="4492487" cy="41346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indent="-342900">
              <a:buClr>
                <a:schemeClr val="dk1"/>
              </a:buClr>
              <a:buSzPct val="100000"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&lt;?xml version="1.0" encoding="ISO-8859-1"?&gt;</a:t>
            </a:r>
            <a:endParaRPr sz="700" dirty="0"/>
          </a:p>
          <a:p>
            <a:pPr marL="342900" indent="-342900">
              <a:spcBef>
                <a:spcPts val="304"/>
              </a:spcBef>
              <a:buClr>
                <a:schemeClr val="dk1"/>
              </a:buClr>
              <a:buSzPct val="100000"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&lt;!-- Edited by </a:t>
            </a:r>
            <a:r>
              <a:rPr lang="en-US" sz="11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XMLSpy</a:t>
            </a: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® --&gt;</a:t>
            </a:r>
            <a:endParaRPr sz="700" dirty="0"/>
          </a:p>
          <a:p>
            <a:pPr marL="342900" indent="-342900">
              <a:spcBef>
                <a:spcPts val="304"/>
              </a:spcBef>
              <a:buClr>
                <a:schemeClr val="dk1"/>
              </a:buClr>
              <a:buSzPct val="100000"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1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xsl:stylesheet</a:t>
            </a: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version="1.0"</a:t>
            </a:r>
            <a:endParaRPr sz="700" dirty="0"/>
          </a:p>
          <a:p>
            <a:pPr marL="342900" indent="-342900">
              <a:spcBef>
                <a:spcPts val="304"/>
              </a:spcBef>
              <a:buClr>
                <a:schemeClr val="dk1"/>
              </a:buClr>
              <a:buSzPct val="100000"/>
            </a:pPr>
            <a:r>
              <a:rPr lang="en-US" sz="11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xmlns:xsl</a:t>
            </a: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="http://www.w3.org/1999/XSL/Transform"&gt;</a:t>
            </a:r>
            <a:endParaRPr sz="700" dirty="0"/>
          </a:p>
          <a:p>
            <a:pPr marL="342900" indent="-342900">
              <a:spcBef>
                <a:spcPts val="304"/>
              </a:spcBef>
              <a:buClr>
                <a:schemeClr val="dk1"/>
              </a:buClr>
              <a:buSzPct val="100000"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1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xsl:template</a:t>
            </a: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match="/"&gt;</a:t>
            </a:r>
            <a:endParaRPr sz="700" dirty="0"/>
          </a:p>
          <a:p>
            <a:pPr marL="342900" indent="-342900">
              <a:spcBef>
                <a:spcPts val="304"/>
              </a:spcBef>
              <a:buClr>
                <a:schemeClr val="dk1"/>
              </a:buClr>
              <a:buSzPct val="100000"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&lt;html&gt;</a:t>
            </a:r>
            <a:endParaRPr sz="700" dirty="0"/>
          </a:p>
          <a:p>
            <a:pPr marL="342900" indent="-342900">
              <a:spcBef>
                <a:spcPts val="304"/>
              </a:spcBef>
              <a:buClr>
                <a:schemeClr val="dk1"/>
              </a:buClr>
              <a:buSzPct val="100000"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&lt;body&gt;</a:t>
            </a:r>
            <a:endParaRPr sz="700" dirty="0"/>
          </a:p>
          <a:p>
            <a:pPr marL="342900" indent="-342900">
              <a:spcBef>
                <a:spcPts val="304"/>
              </a:spcBef>
              <a:buClr>
                <a:schemeClr val="dk1"/>
              </a:buClr>
              <a:buSzPct val="100000"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&lt;h2&gt;My CD Collection&lt;/h2&gt;</a:t>
            </a:r>
            <a:endParaRPr sz="700" dirty="0"/>
          </a:p>
          <a:p>
            <a:pPr marL="342900" indent="-342900">
              <a:spcBef>
                <a:spcPts val="304"/>
              </a:spcBef>
              <a:buClr>
                <a:schemeClr val="dk1"/>
              </a:buClr>
              <a:buSzPct val="100000"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&lt;table border="1"&gt;</a:t>
            </a:r>
            <a:endParaRPr sz="700" dirty="0"/>
          </a:p>
          <a:p>
            <a:pPr marL="342900" indent="-342900">
              <a:spcBef>
                <a:spcPts val="304"/>
              </a:spcBef>
              <a:buClr>
                <a:schemeClr val="dk1"/>
              </a:buClr>
              <a:buSzPct val="100000"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&lt;tr </a:t>
            </a:r>
            <a:r>
              <a:rPr lang="en-US" sz="11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bgcolor</a:t>
            </a: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="#9acd32"&gt;</a:t>
            </a:r>
            <a:endParaRPr sz="700" dirty="0"/>
          </a:p>
          <a:p>
            <a:pPr marL="342900" indent="-342900">
              <a:spcBef>
                <a:spcPts val="304"/>
              </a:spcBef>
              <a:buClr>
                <a:schemeClr val="dk1"/>
              </a:buClr>
              <a:buSzPct val="100000"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&lt;</a:t>
            </a:r>
            <a:r>
              <a:rPr lang="en-US" sz="11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&gt;Title&lt;/</a:t>
            </a:r>
            <a:r>
              <a:rPr lang="en-US" sz="11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700" dirty="0"/>
          </a:p>
          <a:p>
            <a:pPr marL="342900" indent="-342900">
              <a:spcBef>
                <a:spcPts val="304"/>
              </a:spcBef>
              <a:buClr>
                <a:schemeClr val="dk1"/>
              </a:buClr>
              <a:buSzPct val="100000"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&lt;</a:t>
            </a:r>
            <a:r>
              <a:rPr lang="en-US" sz="11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&gt;Artist&lt;/</a:t>
            </a:r>
            <a:r>
              <a:rPr lang="en-US" sz="11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700" dirty="0"/>
          </a:p>
          <a:p>
            <a:pPr marL="342900" indent="-342900">
              <a:spcBef>
                <a:spcPts val="304"/>
              </a:spcBef>
              <a:buClr>
                <a:schemeClr val="dk1"/>
              </a:buClr>
              <a:buSzPct val="100000"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&lt;/tr&gt;</a:t>
            </a:r>
            <a:endParaRPr sz="700" dirty="0"/>
          </a:p>
          <a:p>
            <a:pPr marL="342900" indent="-342900">
              <a:spcBef>
                <a:spcPts val="304"/>
              </a:spcBef>
              <a:buClr>
                <a:schemeClr val="dk1"/>
              </a:buClr>
              <a:buSzPct val="100000"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&lt;tr&gt;</a:t>
            </a:r>
            <a:endParaRPr sz="700" dirty="0"/>
          </a:p>
          <a:p>
            <a:pPr marL="342900" indent="-342900">
              <a:spcBef>
                <a:spcPts val="304"/>
              </a:spcBef>
              <a:buClr>
                <a:schemeClr val="dk1"/>
              </a:buClr>
              <a:buSzPct val="100000"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&lt;td&gt;&lt;</a:t>
            </a:r>
            <a:r>
              <a:rPr lang="en-US" sz="11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xsl:value-of</a:t>
            </a: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select="catalog/cd/title"/&gt;&lt;/td&gt;</a:t>
            </a:r>
            <a:endParaRPr sz="700" dirty="0"/>
          </a:p>
          <a:p>
            <a:pPr marL="342900" indent="-342900">
              <a:spcBef>
                <a:spcPts val="304"/>
              </a:spcBef>
              <a:buClr>
                <a:schemeClr val="dk1"/>
              </a:buClr>
              <a:buSzPct val="100000"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&lt;td&gt;&lt;</a:t>
            </a:r>
            <a:r>
              <a:rPr lang="en-US" sz="11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xsl:value-of</a:t>
            </a: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select="catalog/cd/artist"/&gt; &lt;/td&gt;</a:t>
            </a:r>
            <a:endParaRPr sz="700" dirty="0"/>
          </a:p>
          <a:p>
            <a:pPr marL="342900" indent="-342900">
              <a:spcBef>
                <a:spcPts val="304"/>
              </a:spcBef>
              <a:buClr>
                <a:schemeClr val="dk1"/>
              </a:buClr>
              <a:buSzPct val="100000"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&lt;/tr&gt;</a:t>
            </a:r>
            <a:endParaRPr sz="700" dirty="0"/>
          </a:p>
          <a:p>
            <a:pPr marL="342900" indent="-342900">
              <a:spcBef>
                <a:spcPts val="304"/>
              </a:spcBef>
              <a:buClr>
                <a:schemeClr val="dk1"/>
              </a:buClr>
              <a:buSzPct val="100000"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&lt;/table&gt;</a:t>
            </a:r>
            <a:endParaRPr sz="700" dirty="0"/>
          </a:p>
          <a:p>
            <a:pPr marL="342900" indent="-342900">
              <a:spcBef>
                <a:spcPts val="304"/>
              </a:spcBef>
              <a:buClr>
                <a:schemeClr val="dk1"/>
              </a:buClr>
              <a:buSzPct val="100000"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&lt;/body&gt;</a:t>
            </a:r>
            <a:endParaRPr sz="700" dirty="0"/>
          </a:p>
          <a:p>
            <a:pPr marL="342900" indent="-342900">
              <a:spcBef>
                <a:spcPts val="304"/>
              </a:spcBef>
              <a:buClr>
                <a:schemeClr val="dk1"/>
              </a:buClr>
              <a:buSzPct val="100000"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&lt;/html&gt;</a:t>
            </a:r>
            <a:endParaRPr sz="700" dirty="0"/>
          </a:p>
          <a:p>
            <a:pPr marL="342900" indent="-342900">
              <a:spcBef>
                <a:spcPts val="304"/>
              </a:spcBef>
              <a:buClr>
                <a:schemeClr val="dk1"/>
              </a:buClr>
              <a:buSzPct val="100000"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11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xsl:template</a:t>
            </a: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700" dirty="0"/>
          </a:p>
          <a:p>
            <a:pPr marL="342900" indent="-342900">
              <a:spcBef>
                <a:spcPts val="304"/>
              </a:spcBef>
              <a:buClr>
                <a:schemeClr val="dk1"/>
              </a:buClr>
              <a:buSzPct val="100000"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11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xsl:stylesheet</a:t>
            </a: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700" dirty="0"/>
          </a:p>
        </p:txBody>
      </p:sp>
      <p:pic>
        <p:nvPicPr>
          <p:cNvPr id="6" name="Google Shape;396;p43">
            <a:extLst>
              <a:ext uri="{FF2B5EF4-FFF2-40B4-BE49-F238E27FC236}">
                <a16:creationId xmlns:a16="http://schemas.microsoft.com/office/drawing/2014/main" id="{0C8B4914-8E3A-49E9-B5DD-1A90DA74DE0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24194" b="24572"/>
          <a:stretch/>
        </p:blipFill>
        <p:spPr>
          <a:xfrm>
            <a:off x="8958471" y="2004971"/>
            <a:ext cx="2173356" cy="15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397;p43">
            <a:extLst>
              <a:ext uri="{FF2B5EF4-FFF2-40B4-BE49-F238E27FC236}">
                <a16:creationId xmlns:a16="http://schemas.microsoft.com/office/drawing/2014/main" id="{54C0BFFB-4CB8-45AB-9D32-AED5C46F6CE5}"/>
              </a:ext>
            </a:extLst>
          </p:cNvPr>
          <p:cNvSpPr txBox="1"/>
          <p:nvPr/>
        </p:nvSpPr>
        <p:spPr>
          <a:xfrm>
            <a:off x="8958471" y="3661410"/>
            <a:ext cx="2971800" cy="2031325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attribute in the example above, contains an XPath expression. An XPath expression works like navigating a file system; a forward slash (/) selects subdirectories.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60575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2AD0B-85DE-47A7-B462-B41F081DD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</a:t>
            </a:r>
            <a:r>
              <a:rPr lang="en-US" dirty="0" err="1"/>
              <a:t>xsl:for-each</a:t>
            </a:r>
            <a:r>
              <a:rPr lang="en-US" dirty="0"/>
              <a:t>&gt; Element: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20E30-F65E-4F62-8B22-1E612F04A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011680"/>
            <a:ext cx="3475098" cy="4206240"/>
          </a:xfrm>
        </p:spPr>
        <p:txBody>
          <a:bodyPr/>
          <a:lstStyle/>
          <a:p>
            <a:r>
              <a:rPr lang="en-US" dirty="0"/>
              <a:t>The XSL &lt;</a:t>
            </a:r>
            <a:r>
              <a:rPr lang="en-US" dirty="0" err="1"/>
              <a:t>xsl:for-each</a:t>
            </a:r>
            <a:r>
              <a:rPr lang="en-US" dirty="0"/>
              <a:t>&gt; element can be used to select every XML element of a specified node-set:</a:t>
            </a:r>
          </a:p>
          <a:p>
            <a:endParaRPr lang="en-US" dirty="0"/>
          </a:p>
        </p:txBody>
      </p:sp>
      <p:sp>
        <p:nvSpPr>
          <p:cNvPr id="4" name="Google Shape;403;p44">
            <a:extLst>
              <a:ext uri="{FF2B5EF4-FFF2-40B4-BE49-F238E27FC236}">
                <a16:creationId xmlns:a16="http://schemas.microsoft.com/office/drawing/2014/main" id="{7216F8B0-9C81-4E60-9582-413C76CE503E}"/>
              </a:ext>
            </a:extLst>
          </p:cNvPr>
          <p:cNvSpPr/>
          <p:nvPr/>
        </p:nvSpPr>
        <p:spPr>
          <a:xfrm>
            <a:off x="5367130" y="2067339"/>
            <a:ext cx="5459895" cy="43703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600"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&lt;?xml version="1.0" encoding="ISO-8859-1"?&gt;</a:t>
            </a:r>
            <a:endParaRPr sz="1400" dirty="0"/>
          </a:p>
          <a:p>
            <a:pPr>
              <a:buClr>
                <a:schemeClr val="dk1"/>
              </a:buClr>
              <a:buSzPts val="1600"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1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:stylesheet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version="1.0”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xmlns:xsl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="http://www.w3.org/1999/XSL/Transform"&gt;</a:t>
            </a:r>
            <a:b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xsl:template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match="/"&gt;</a:t>
            </a:r>
            <a:b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&lt;html&gt;</a:t>
            </a:r>
            <a:b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&lt;body&gt;</a:t>
            </a:r>
            <a:b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	&lt;h2&gt;My CD Collection&lt;/h2&gt;</a:t>
            </a:r>
            <a:b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  &lt;table border="1"&gt;</a:t>
            </a:r>
            <a:b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		 &lt;tr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bgcolor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="#9acd32"&gt;</a:t>
            </a:r>
            <a:b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			   &lt;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&gt;Title&lt;/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			 &lt;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&gt;Artist&lt;/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		  &lt;/tr&gt;</a:t>
            </a:r>
            <a:b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 		</a:t>
            </a:r>
            <a:r>
              <a:rPr lang="en-US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2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xsl:for-each</a:t>
            </a:r>
            <a:r>
              <a:rPr lang="en-US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select="catalog/cd"&gt;</a:t>
            </a:r>
            <a:b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		  &lt;tr&gt;</a:t>
            </a:r>
            <a:b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		 &lt;td&gt;&lt;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xsl:value-of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select="title"/&gt;&lt;/td&gt;</a:t>
            </a:r>
            <a:b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		  &lt;td&gt;&lt;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xsl:value-of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select="artist"/&gt;&lt;/td&gt;</a:t>
            </a:r>
            <a:b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 		&lt;/tr&gt;</a:t>
            </a:r>
            <a:b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	 	</a:t>
            </a:r>
            <a:r>
              <a:rPr lang="en-US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12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xsl:for-each</a:t>
            </a:r>
            <a:r>
              <a:rPr lang="en-US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	 &lt;/table&gt;</a:t>
            </a:r>
            <a:b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&lt;/body&gt;</a:t>
            </a:r>
            <a:b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&lt;/html&gt;</a:t>
            </a:r>
            <a:b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xsl:template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400" dirty="0"/>
          </a:p>
          <a:p>
            <a:pPr>
              <a:buClr>
                <a:schemeClr val="dk1"/>
              </a:buClr>
              <a:buSzPts val="1600"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xsl:stylesheet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28969758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D566B-201E-4300-BD02-5DF0DF5C6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</a:t>
            </a:r>
            <a:r>
              <a:rPr lang="en-US" dirty="0" err="1"/>
              <a:t>xsl:if</a:t>
            </a:r>
            <a:r>
              <a:rPr lang="en-US" dirty="0"/>
              <a:t>&gt; 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53B67-FD94-439C-AB71-152EC61D5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put a conditional if test against the content of the XML file, add an &lt;</a:t>
            </a:r>
            <a:r>
              <a:rPr lang="en-US" dirty="0" err="1"/>
              <a:t>xsl:if</a:t>
            </a:r>
            <a:r>
              <a:rPr lang="en-US" dirty="0"/>
              <a:t>&gt; element to the XSL document.</a:t>
            </a:r>
          </a:p>
          <a:p>
            <a:endParaRPr lang="en-US" dirty="0"/>
          </a:p>
        </p:txBody>
      </p:sp>
      <p:sp>
        <p:nvSpPr>
          <p:cNvPr id="4" name="Google Shape;416;p46">
            <a:extLst>
              <a:ext uri="{FF2B5EF4-FFF2-40B4-BE49-F238E27FC236}">
                <a16:creationId xmlns:a16="http://schemas.microsoft.com/office/drawing/2014/main" id="{4DCF6B77-B34E-4DAE-A45B-3795970F7804}"/>
              </a:ext>
            </a:extLst>
          </p:cNvPr>
          <p:cNvSpPr/>
          <p:nvPr/>
        </p:nvSpPr>
        <p:spPr>
          <a:xfrm>
            <a:off x="1522959" y="2960638"/>
            <a:ext cx="4572000" cy="2308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XSLT &lt;</a:t>
            </a:r>
            <a:r>
              <a:rPr lang="en-US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xsl:if</a:t>
            </a: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Element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chemeClr val="dk1"/>
              </a:buClr>
              <a:buSzPts val="1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put a conditional if test against the content of the XML file, add an &lt;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xsl:if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element to the XSL document.</a:t>
            </a:r>
            <a:endParaRPr dirty="0"/>
          </a:p>
          <a:p>
            <a:pPr>
              <a:buClr>
                <a:schemeClr val="dk1"/>
              </a:buClr>
              <a:buSzPts val="1800"/>
            </a:pP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chemeClr val="dk1"/>
              </a:buClr>
              <a:buSzPts val="18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&lt;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xsl:if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test="</a:t>
            </a:r>
            <a:r>
              <a:rPr lang="en-US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expression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"&gt;</a:t>
            </a:r>
            <a:b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...some output if the expression is true...</a:t>
            </a:r>
            <a:b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xsl:if</a:t>
            </a: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endParaRPr dirty="0"/>
          </a:p>
        </p:txBody>
      </p:sp>
      <p:sp>
        <p:nvSpPr>
          <p:cNvPr id="5" name="Google Shape;417;p46">
            <a:extLst>
              <a:ext uri="{FF2B5EF4-FFF2-40B4-BE49-F238E27FC236}">
                <a16:creationId xmlns:a16="http://schemas.microsoft.com/office/drawing/2014/main" id="{1E419EA9-E4AC-47C5-8117-719CA9D36074}"/>
              </a:ext>
            </a:extLst>
          </p:cNvPr>
          <p:cNvSpPr/>
          <p:nvPr/>
        </p:nvSpPr>
        <p:spPr>
          <a:xfrm>
            <a:off x="6414999" y="3885742"/>
            <a:ext cx="5416826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Filtering the Output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chemeClr val="dk1"/>
              </a:buClr>
              <a:buSzPts val="1800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We can also filter the output from the XML file by adding a criterion to the select attribute.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chemeClr val="dk1"/>
              </a:buClr>
              <a:buSzPts val="1800"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Legal filter operators are:</a:t>
            </a:r>
            <a:endParaRPr/>
          </a:p>
          <a:p>
            <a:r>
              <a:rPr lang="en-US">
                <a:latin typeface="Arial"/>
                <a:ea typeface="Arial"/>
                <a:cs typeface="Arial"/>
                <a:sym typeface="Arial"/>
              </a:rPr>
              <a:t>=  (equal)</a:t>
            </a:r>
            <a:endParaRPr/>
          </a:p>
          <a:p>
            <a:r>
              <a:rPr lang="en-US">
                <a:latin typeface="Arial"/>
                <a:ea typeface="Arial"/>
                <a:cs typeface="Arial"/>
                <a:sym typeface="Arial"/>
              </a:rPr>
              <a:t>!= (not equal)</a:t>
            </a:r>
            <a:endParaRPr/>
          </a:p>
          <a:p>
            <a:r>
              <a:rPr lang="en-US">
                <a:latin typeface="Arial"/>
                <a:ea typeface="Arial"/>
                <a:cs typeface="Arial"/>
                <a:sym typeface="Arial"/>
              </a:rPr>
              <a:t>&amp;lt; less than</a:t>
            </a:r>
            <a:endParaRPr/>
          </a:p>
          <a:p>
            <a:r>
              <a:rPr lang="en-US">
                <a:latin typeface="Arial"/>
                <a:ea typeface="Arial"/>
                <a:cs typeface="Arial"/>
                <a:sym typeface="Arial"/>
              </a:rPr>
              <a:t>&amp;gt; greater than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767113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F163-39C3-4A66-BB1F-459C54C5B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</a:t>
            </a:r>
            <a:r>
              <a:rPr lang="en-US" dirty="0" err="1"/>
              <a:t>xsl:choose</a:t>
            </a:r>
            <a:r>
              <a:rPr lang="en-US" dirty="0"/>
              <a:t>&gt; element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49B35-1E43-4D6B-916B-2FB6BC148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used in conjunction with &lt;</a:t>
            </a:r>
            <a:r>
              <a:rPr lang="en-US" dirty="0" err="1"/>
              <a:t>xsl:when</a:t>
            </a:r>
            <a:r>
              <a:rPr lang="en-US" dirty="0"/>
              <a:t>&gt; and &lt;</a:t>
            </a:r>
            <a:r>
              <a:rPr lang="en-US" dirty="0" err="1"/>
              <a:t>xsl:otherwise</a:t>
            </a:r>
            <a:r>
              <a:rPr lang="en-US" dirty="0"/>
              <a:t>&gt; to express multiple conditional tests.</a:t>
            </a:r>
          </a:p>
          <a:p>
            <a:endParaRPr lang="en-US" dirty="0"/>
          </a:p>
        </p:txBody>
      </p:sp>
      <p:sp>
        <p:nvSpPr>
          <p:cNvPr id="5" name="Google Shape;423;p47">
            <a:extLst>
              <a:ext uri="{FF2B5EF4-FFF2-40B4-BE49-F238E27FC236}">
                <a16:creationId xmlns:a16="http://schemas.microsoft.com/office/drawing/2014/main" id="{31B0509B-1C5D-4C8D-AB9B-BC5D67F27FA0}"/>
              </a:ext>
            </a:extLst>
          </p:cNvPr>
          <p:cNvSpPr/>
          <p:nvPr/>
        </p:nvSpPr>
        <p:spPr>
          <a:xfrm>
            <a:off x="1202919" y="2893974"/>
            <a:ext cx="4572000" cy="32932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600"/>
            </a:pPr>
            <a:r>
              <a:rPr lang="en-US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XSLT &lt;</a:t>
            </a:r>
            <a:r>
              <a:rPr lang="en-US" sz="16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xsl:choose</a:t>
            </a:r>
            <a:r>
              <a:rPr lang="en-US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Element</a:t>
            </a:r>
            <a:br>
              <a:rPr lang="en-US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chemeClr val="dk1"/>
              </a:buClr>
              <a:buSzPts val="1600"/>
            </a:pP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6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xsl:choose</a:t>
            </a: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dirty="0"/>
          </a:p>
          <a:p>
            <a:pPr>
              <a:buClr>
                <a:schemeClr val="dk1"/>
              </a:buClr>
              <a:buSzPts val="1600"/>
            </a:pPr>
            <a:b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&lt;</a:t>
            </a:r>
            <a:r>
              <a:rPr lang="en-US" sz="16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xsl:when</a:t>
            </a: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test="</a:t>
            </a:r>
            <a:r>
              <a:rPr lang="en-US" sz="16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expression</a:t>
            </a: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"&gt;</a:t>
            </a:r>
            <a:b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 ... some output ...</a:t>
            </a:r>
            <a:b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&lt;/</a:t>
            </a:r>
            <a:r>
              <a:rPr lang="en-US" sz="16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xsl:when</a:t>
            </a: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dirty="0"/>
          </a:p>
          <a:p>
            <a:pPr>
              <a:buClr>
                <a:schemeClr val="dk1"/>
              </a:buClr>
              <a:buSzPts val="1600"/>
            </a:pPr>
            <a:b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&lt;</a:t>
            </a:r>
            <a:r>
              <a:rPr lang="en-US" sz="16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xsl:otherwise</a:t>
            </a: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 ... some output ....</a:t>
            </a:r>
            <a:b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&lt;/</a:t>
            </a:r>
            <a:r>
              <a:rPr lang="en-US" sz="16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xsl:otherwise</a:t>
            </a: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dirty="0"/>
          </a:p>
          <a:p>
            <a:pPr>
              <a:buClr>
                <a:schemeClr val="dk1"/>
              </a:buClr>
              <a:buSzPts val="1600"/>
            </a:pP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chemeClr val="dk1"/>
              </a:buClr>
              <a:buSzPts val="1600"/>
            </a:pP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16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xsl:choose</a:t>
            </a: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endParaRPr dirty="0"/>
          </a:p>
        </p:txBody>
      </p:sp>
      <p:sp>
        <p:nvSpPr>
          <p:cNvPr id="6" name="Google Shape;424;p47">
            <a:extLst>
              <a:ext uri="{FF2B5EF4-FFF2-40B4-BE49-F238E27FC236}">
                <a16:creationId xmlns:a16="http://schemas.microsoft.com/office/drawing/2014/main" id="{DE56E40B-B0A9-4A33-AD2B-7DFD72173B4C}"/>
              </a:ext>
            </a:extLst>
          </p:cNvPr>
          <p:cNvSpPr/>
          <p:nvPr/>
        </p:nvSpPr>
        <p:spPr>
          <a:xfrm>
            <a:off x="5977677" y="2893974"/>
            <a:ext cx="5606774" cy="332394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lang="en-US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1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xsl:for-each</a:t>
            </a:r>
            <a:r>
              <a:rPr lang="en-US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select="catalog/cd"&gt;</a:t>
            </a:r>
            <a:b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     &lt;tr&gt;</a:t>
            </a:r>
            <a:b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    	&lt;td&gt;</a:t>
            </a:r>
            <a:endParaRPr sz="1200" dirty="0"/>
          </a:p>
          <a:p>
            <a:pPr>
              <a:buClr>
                <a:schemeClr val="dk1"/>
              </a:buClr>
              <a:buSzPts val="1600"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&lt;</a:t>
            </a:r>
            <a:r>
              <a:rPr lang="en-US" sz="11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xsl:value-of</a:t>
            </a: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select="title"/&gt;</a:t>
            </a:r>
            <a:endParaRPr sz="1200" dirty="0"/>
          </a:p>
          <a:p>
            <a:pPr>
              <a:buClr>
                <a:schemeClr val="dk1"/>
              </a:buClr>
              <a:buSzPts val="1600"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&lt;/td&gt;</a:t>
            </a:r>
            <a:b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 </a:t>
            </a:r>
            <a:r>
              <a:rPr lang="en-US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   &lt;</a:t>
            </a:r>
            <a:r>
              <a:rPr lang="en-US" sz="11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xsl:choose</a:t>
            </a:r>
            <a:r>
              <a:rPr lang="en-US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    </a:t>
            </a:r>
            <a:r>
              <a:rPr lang="en-US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1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xsl:when</a:t>
            </a:r>
            <a:r>
              <a:rPr lang="en-US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test="price &amp;</a:t>
            </a:r>
            <a:r>
              <a:rPr lang="en-US" sz="11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gt</a:t>
            </a:r>
            <a:r>
              <a:rPr lang="en-US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 10"&gt;</a:t>
            </a:r>
            <a:b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    	&lt;td </a:t>
            </a:r>
            <a:r>
              <a:rPr lang="en-US" sz="11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bgcolor</a:t>
            </a: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="#ff00ff"&gt;</a:t>
            </a:r>
            <a:b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  		 &lt;</a:t>
            </a:r>
            <a:r>
              <a:rPr lang="en-US" sz="11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xsl:value-of</a:t>
            </a: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select="artist"/&gt;</a:t>
            </a:r>
            <a:endParaRPr sz="1200" dirty="0"/>
          </a:p>
          <a:p>
            <a:pPr>
              <a:buClr>
                <a:schemeClr val="dk1"/>
              </a:buClr>
              <a:buSzPts val="1600"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&lt;/td&gt;</a:t>
            </a:r>
            <a:b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	</a:t>
            </a:r>
            <a:r>
              <a:rPr lang="en-US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&lt;/</a:t>
            </a:r>
            <a:r>
              <a:rPr lang="en-US" sz="11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xsl:when</a:t>
            </a:r>
            <a:r>
              <a:rPr lang="en-US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      </a:t>
            </a:r>
            <a:r>
              <a:rPr lang="en-US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11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xsl:otherwise</a:t>
            </a:r>
            <a:r>
              <a:rPr lang="en-US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   	&lt;td&gt;</a:t>
            </a:r>
            <a:endParaRPr sz="1200" dirty="0"/>
          </a:p>
          <a:p>
            <a:pPr>
              <a:buClr>
                <a:schemeClr val="dk1"/>
              </a:buClr>
              <a:buSzPts val="1600"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&lt;</a:t>
            </a:r>
            <a:r>
              <a:rPr lang="en-US" sz="11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xsl:value-of</a:t>
            </a: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select="artist"/&gt;</a:t>
            </a:r>
            <a:endParaRPr sz="1200" dirty="0"/>
          </a:p>
          <a:p>
            <a:pPr>
              <a:buClr>
                <a:schemeClr val="dk1"/>
              </a:buClr>
              <a:buSzPts val="1600"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&lt;/td&gt;</a:t>
            </a:r>
            <a:b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 </a:t>
            </a:r>
            <a:r>
              <a:rPr lang="en-US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    &lt;/</a:t>
            </a:r>
            <a:r>
              <a:rPr lang="en-US" sz="11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xsl:otherwise</a:t>
            </a:r>
            <a:r>
              <a:rPr lang="en-US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   </a:t>
            </a:r>
            <a:r>
              <a:rPr lang="en-US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&lt;/</a:t>
            </a:r>
            <a:r>
              <a:rPr lang="en-US" sz="11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xsl:choose</a:t>
            </a:r>
            <a:r>
              <a:rPr lang="en-US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b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       &lt;/tr&gt;</a:t>
            </a:r>
            <a:b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11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xsl:for-each</a:t>
            </a:r>
            <a:r>
              <a:rPr lang="en-US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35539090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3604" y="200024"/>
            <a:ext cx="6048375" cy="5334000"/>
          </a:xfrm>
          <a:prstGeom prst="rect">
            <a:avLst/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431" name="Google Shape;431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55002" y="1323975"/>
            <a:ext cx="5857555" cy="5534025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sp>
        <p:nvSpPr>
          <p:cNvPr id="432" name="Google Shape;432;p48"/>
          <p:cNvSpPr/>
          <p:nvPr/>
        </p:nvSpPr>
        <p:spPr>
          <a:xfrm>
            <a:off x="8686800" y="1323975"/>
            <a:ext cx="1822174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5400" b="1" dirty="0">
                <a:solidFill>
                  <a:srgbClr val="39639D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5400" b="1" dirty="0" err="1">
                <a:solidFill>
                  <a:srgbClr val="39639D"/>
                </a:solidFill>
                <a:latin typeface="Arial"/>
                <a:ea typeface="Arial"/>
                <a:cs typeface="Arial"/>
                <a:sym typeface="Arial"/>
              </a:rPr>
              <a:t>xslt</a:t>
            </a:r>
            <a:endParaRPr sz="5400" b="1" dirty="0">
              <a:solidFill>
                <a:srgbClr val="39639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8"/>
          <p:cNvSpPr/>
          <p:nvPr/>
        </p:nvSpPr>
        <p:spPr>
          <a:xfrm>
            <a:off x="3577771" y="0"/>
            <a:ext cx="25908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5400" b="1">
                <a:solidFill>
                  <a:srgbClr val="39639D"/>
                </a:solidFill>
                <a:latin typeface="Arial"/>
                <a:ea typeface="Arial"/>
                <a:cs typeface="Arial"/>
                <a:sym typeface="Arial"/>
              </a:rPr>
              <a:t>.xml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1" y="76200"/>
            <a:ext cx="4084933" cy="64008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9"/>
          <p:cNvSpPr/>
          <p:nvPr/>
        </p:nvSpPr>
        <p:spPr>
          <a:xfrm>
            <a:off x="3429001" y="762000"/>
            <a:ext cx="2666999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5400" b="1" dirty="0">
                <a:latin typeface="Arial"/>
                <a:ea typeface="Arial"/>
                <a:cs typeface="Arial"/>
                <a:sym typeface="Arial"/>
              </a:rPr>
              <a:t>Output</a:t>
            </a:r>
            <a:endParaRPr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0"/>
          <p:cNvSpPr txBox="1"/>
          <p:nvPr/>
        </p:nvSpPr>
        <p:spPr>
          <a:xfrm>
            <a:off x="1600200" y="83288"/>
            <a:ext cx="4267200" cy="838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indent="-170180" algn="ctr">
              <a:buClr>
                <a:schemeClr val="dk1"/>
              </a:buClr>
              <a:buSzPct val="100000"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indent="-342900" algn="ctr">
              <a:spcBef>
                <a:spcPts val="544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Cdcatalog.xml</a:t>
            </a:r>
            <a:endParaRPr/>
          </a:p>
        </p:txBody>
      </p:sp>
      <p:sp>
        <p:nvSpPr>
          <p:cNvPr id="445" name="Google Shape;445;p50"/>
          <p:cNvSpPr txBox="1"/>
          <p:nvPr/>
        </p:nvSpPr>
        <p:spPr>
          <a:xfrm>
            <a:off x="5943601" y="83288"/>
            <a:ext cx="4117975" cy="838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indent="-170180" algn="ctr">
              <a:buClr>
                <a:schemeClr val="dk1"/>
              </a:buClr>
              <a:buSzPct val="100000"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indent="-342900" algn="ctr">
              <a:spcBef>
                <a:spcPts val="544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Cdcatalog.xsl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50"/>
          <p:cNvSpPr txBox="1"/>
          <p:nvPr/>
        </p:nvSpPr>
        <p:spPr>
          <a:xfrm>
            <a:off x="1676400" y="1066800"/>
            <a:ext cx="4192588" cy="4883888"/>
          </a:xfrm>
          <a:prstGeom prst="rect">
            <a:avLst/>
          </a:prstGeom>
          <a:solidFill>
            <a:schemeClr val="tx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Clr>
                <a:schemeClr val="lt1"/>
              </a:buClr>
              <a:buSzPts val="1600"/>
            </a:pPr>
            <a:r>
              <a:rPr lang="en-US" sz="16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&lt;?xml version="1.0" encoding="ISO-8859-1"?&gt;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320"/>
              </a:spcBef>
              <a:buClr>
                <a:schemeClr val="lt1"/>
              </a:buClr>
              <a:buSzPts val="1600"/>
            </a:pPr>
            <a:r>
              <a:rPr lang="en-US" sz="16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&lt;?xml-stylesheet type="text/</a:t>
            </a:r>
            <a:r>
              <a:rPr lang="en-US" sz="1600" dirty="0" err="1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xsl</a:t>
            </a:r>
            <a:r>
              <a:rPr lang="en-US" sz="16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en-US" sz="1600" dirty="0" err="1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href</a:t>
            </a:r>
            <a:r>
              <a:rPr lang="en-US" sz="16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="cdcatalog.xsl"?&gt;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320"/>
              </a:spcBef>
              <a:buClr>
                <a:schemeClr val="lt1"/>
              </a:buClr>
              <a:buSzPts val="1600"/>
            </a:pPr>
            <a:r>
              <a:rPr lang="en-US" sz="16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&lt;catalog&gt;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320"/>
              </a:spcBef>
              <a:buClr>
                <a:schemeClr val="lt1"/>
              </a:buClr>
              <a:buSzPts val="1600"/>
            </a:pPr>
            <a:r>
              <a:rPr lang="en-US" sz="16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	&lt;cd&gt;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320"/>
              </a:spcBef>
              <a:buClr>
                <a:schemeClr val="lt1"/>
              </a:buClr>
              <a:buSzPts val="1600"/>
            </a:pPr>
            <a:r>
              <a:rPr lang="en-US" sz="16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		&lt;title&gt;Empire Burlesque&lt;/title&gt;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320"/>
              </a:spcBef>
              <a:buClr>
                <a:schemeClr val="lt1"/>
              </a:buClr>
              <a:buSzPts val="1600"/>
            </a:pPr>
            <a:r>
              <a:rPr lang="en-US" sz="16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		&lt;artist&gt;Bob Dylan&lt;/artist&gt;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320"/>
              </a:spcBef>
              <a:buClr>
                <a:schemeClr val="lt1"/>
              </a:buClr>
              <a:buSzPts val="1600"/>
            </a:pPr>
            <a:r>
              <a:rPr lang="en-US" sz="16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		&lt;country&gt;USA&lt;/country&gt;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320"/>
              </a:spcBef>
              <a:buClr>
                <a:schemeClr val="lt1"/>
              </a:buClr>
              <a:buSzPts val="1600"/>
            </a:pPr>
            <a:r>
              <a:rPr lang="en-US" sz="16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		&lt;company&gt;Columbia&lt;/company&gt;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320"/>
              </a:spcBef>
              <a:buClr>
                <a:schemeClr val="lt1"/>
              </a:buClr>
              <a:buSzPts val="1600"/>
            </a:pPr>
            <a:r>
              <a:rPr lang="en-US" sz="16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		&lt;price&gt;10.90&lt;/price&gt;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320"/>
              </a:spcBef>
              <a:buClr>
                <a:schemeClr val="lt1"/>
              </a:buClr>
              <a:buSzPts val="1600"/>
            </a:pPr>
            <a:r>
              <a:rPr lang="en-US" sz="16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		&lt;year&gt;1985&lt;/year&gt;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320"/>
              </a:spcBef>
              <a:buClr>
                <a:schemeClr val="lt1"/>
              </a:buClr>
              <a:buSzPts val="1600"/>
            </a:pPr>
            <a:r>
              <a:rPr lang="en-US" sz="16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	&lt;/cd&gt;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320"/>
              </a:spcBef>
              <a:buClr>
                <a:schemeClr val="lt1"/>
              </a:buClr>
              <a:buSzPts val="1600"/>
            </a:pPr>
            <a:r>
              <a:rPr lang="en-US" sz="16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	.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320"/>
              </a:spcBef>
              <a:buClr>
                <a:schemeClr val="lt1"/>
              </a:buClr>
              <a:buSzPts val="1600"/>
            </a:pPr>
            <a:r>
              <a:rPr lang="en-US" sz="16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	.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320"/>
              </a:spcBef>
              <a:buClr>
                <a:schemeClr val="lt1"/>
              </a:buClr>
              <a:buSzPts val="1600"/>
            </a:pPr>
            <a:r>
              <a:rPr lang="en-US" sz="16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	.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320"/>
              </a:spcBef>
              <a:buClr>
                <a:schemeClr val="lt1"/>
              </a:buClr>
              <a:buSzPts val="1600"/>
            </a:pPr>
            <a:r>
              <a:rPr lang="en-US" sz="16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&lt;/catalog&gt;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447" name="Google Shape;447;p50"/>
          <p:cNvSpPr txBox="1"/>
          <p:nvPr/>
        </p:nvSpPr>
        <p:spPr>
          <a:xfrm>
            <a:off x="6019801" y="1055370"/>
            <a:ext cx="4041775" cy="4883888"/>
          </a:xfrm>
          <a:prstGeom prst="rect">
            <a:avLst/>
          </a:prstGeom>
          <a:solidFill>
            <a:schemeClr val="tx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/>
          <a:p>
            <a:pPr marL="342900" indent="-342900">
              <a:buClr>
                <a:schemeClr val="lt1"/>
              </a:buClr>
              <a:buSzPct val="100000"/>
            </a:pP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&lt;?xml version="1.0" encoding="ISO-8859-1"?&gt;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256"/>
              </a:spcBef>
              <a:buClr>
                <a:schemeClr val="lt1"/>
              </a:buClr>
              <a:buSzPct val="100000"/>
            </a:pP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&lt;!-- Edited by </a:t>
            </a:r>
            <a:r>
              <a:rPr lang="en-US" sz="3200" dirty="0" err="1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XMLSpy</a:t>
            </a: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® --&gt;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256"/>
              </a:spcBef>
              <a:buClr>
                <a:schemeClr val="lt1"/>
              </a:buClr>
              <a:buSzPct val="100000"/>
            </a:pP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200" dirty="0" err="1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xsl:stylesheet</a:t>
            </a: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version="1.0"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256"/>
              </a:spcBef>
              <a:buClr>
                <a:schemeClr val="lt1"/>
              </a:buClr>
              <a:buSzPct val="100000"/>
            </a:pPr>
            <a:r>
              <a:rPr lang="en-US" sz="3200" dirty="0" err="1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xmlns:xsl</a:t>
            </a: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="http://www.w3.org/1999/XSL/Transform"&gt;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256"/>
              </a:spcBef>
              <a:buClr>
                <a:schemeClr val="lt1"/>
              </a:buClr>
              <a:buSzPct val="100000"/>
            </a:pP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lang="en-US" sz="3200" dirty="0" err="1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xsl:template</a:t>
            </a: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match="/"&gt;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256"/>
              </a:spcBef>
              <a:buClr>
                <a:schemeClr val="lt1"/>
              </a:buClr>
              <a:buSzPct val="100000"/>
            </a:pP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 &lt;html&gt;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256"/>
              </a:spcBef>
              <a:buClr>
                <a:schemeClr val="lt1"/>
              </a:buClr>
              <a:buSzPct val="100000"/>
            </a:pP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 &lt;body&gt;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256"/>
              </a:spcBef>
              <a:buClr>
                <a:schemeClr val="lt1"/>
              </a:buClr>
              <a:buSzPct val="100000"/>
            </a:pP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   &lt;h2&gt;My CD Collection&lt;/h2&gt;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256"/>
              </a:spcBef>
              <a:buClr>
                <a:schemeClr val="lt1"/>
              </a:buClr>
              <a:buSzPct val="100000"/>
            </a:pP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   &lt;table border="1"&gt;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256"/>
              </a:spcBef>
              <a:buClr>
                <a:schemeClr val="lt1"/>
              </a:buClr>
              <a:buSzPct val="100000"/>
            </a:pP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     &lt;tr </a:t>
            </a:r>
            <a:r>
              <a:rPr lang="en-US" sz="3200" dirty="0" err="1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bgcolor</a:t>
            </a: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="#9acd32"&gt;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256"/>
              </a:spcBef>
              <a:buClr>
                <a:schemeClr val="lt1"/>
              </a:buClr>
              <a:buSzPct val="100000"/>
            </a:pP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       &lt;</a:t>
            </a:r>
            <a:r>
              <a:rPr lang="en-US" sz="3200" dirty="0" err="1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&gt;Title&lt;/</a:t>
            </a:r>
            <a:r>
              <a:rPr lang="en-US" sz="3200" dirty="0" err="1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256"/>
              </a:spcBef>
              <a:buClr>
                <a:schemeClr val="lt1"/>
              </a:buClr>
              <a:buSzPct val="100000"/>
            </a:pP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       &lt;</a:t>
            </a:r>
            <a:r>
              <a:rPr lang="en-US" sz="3200" dirty="0" err="1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&gt;Artist&lt;/</a:t>
            </a:r>
            <a:r>
              <a:rPr lang="en-US" sz="3200" dirty="0" err="1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256"/>
              </a:spcBef>
              <a:buClr>
                <a:schemeClr val="lt1"/>
              </a:buClr>
              <a:buSzPct val="100000"/>
            </a:pP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     &lt;/tr&gt;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256"/>
              </a:spcBef>
              <a:buClr>
                <a:schemeClr val="lt1"/>
              </a:buClr>
              <a:buSzPct val="100000"/>
            </a:pP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     &lt;tr&gt;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256"/>
              </a:spcBef>
              <a:buClr>
                <a:schemeClr val="lt1"/>
              </a:buClr>
              <a:buSzPct val="100000"/>
            </a:pP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       &lt;td&gt;.&lt;/td&gt;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256"/>
              </a:spcBef>
              <a:buClr>
                <a:schemeClr val="lt1"/>
              </a:buClr>
              <a:buSzPct val="100000"/>
            </a:pP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       &lt;td&gt;.&lt;/td&gt;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256"/>
              </a:spcBef>
              <a:buClr>
                <a:schemeClr val="lt1"/>
              </a:buClr>
              <a:buSzPct val="100000"/>
            </a:pP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     &lt;/tr&gt;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256"/>
              </a:spcBef>
              <a:buClr>
                <a:schemeClr val="lt1"/>
              </a:buClr>
              <a:buSzPct val="100000"/>
            </a:pP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   &lt;/table&gt;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256"/>
              </a:spcBef>
              <a:buClr>
                <a:schemeClr val="lt1"/>
              </a:buClr>
              <a:buSzPct val="100000"/>
            </a:pP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 &lt;/body&gt;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256"/>
              </a:spcBef>
              <a:buClr>
                <a:schemeClr val="lt1"/>
              </a:buClr>
              <a:buSzPct val="100000"/>
            </a:pP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 &lt;/html&gt;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256"/>
              </a:spcBef>
              <a:buClr>
                <a:schemeClr val="lt1"/>
              </a:buClr>
              <a:buSzPct val="100000"/>
            </a:pP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200" dirty="0" err="1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xsl:template</a:t>
            </a: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342900">
              <a:spcBef>
                <a:spcPts val="256"/>
              </a:spcBef>
              <a:buClr>
                <a:schemeClr val="lt1"/>
              </a:buClr>
              <a:buSzPct val="100000"/>
            </a:pP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lang="en-US" sz="3200" dirty="0" err="1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xsl:stylesheet</a:t>
            </a:r>
            <a:r>
              <a:rPr lang="en-US" sz="3200" dirty="0">
                <a:solidFill>
                  <a:schemeClr val="tx2">
                    <a:lumMod val="2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dirty="0">
              <a:solidFill>
                <a:schemeClr val="tx2">
                  <a:lumMod val="25000"/>
                </a:schemeClr>
              </a:solidFill>
            </a:endParaRPr>
          </a:p>
          <a:p>
            <a:pPr marL="342900" indent="-261620">
              <a:spcBef>
                <a:spcPts val="256"/>
              </a:spcBef>
              <a:buClr>
                <a:schemeClr val="lt1"/>
              </a:buClr>
              <a:buSzPct val="100000"/>
            </a:pPr>
            <a:endParaRPr sz="3200" dirty="0">
              <a:solidFill>
                <a:schemeClr val="tx2">
                  <a:lumMod val="2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8" name="Google Shape;448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99039" y="4810303"/>
            <a:ext cx="2983905" cy="1961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814</TotalTime>
  <Words>2474</Words>
  <Application>Microsoft Office PowerPoint</Application>
  <PresentationFormat>Widescreen</PresentationFormat>
  <Paragraphs>538</Paragraphs>
  <Slides>56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7" baseType="lpstr">
      <vt:lpstr>Arial</vt:lpstr>
      <vt:lpstr>Calibri</vt:lpstr>
      <vt:lpstr>Cambria</vt:lpstr>
      <vt:lpstr>Courier New</vt:lpstr>
      <vt:lpstr>Georgia</vt:lpstr>
      <vt:lpstr>Noto Sans Symbols</vt:lpstr>
      <vt:lpstr>Tahoma</vt:lpstr>
      <vt:lpstr>Times New Roman</vt:lpstr>
      <vt:lpstr>Trebuchet MS</vt:lpstr>
      <vt:lpstr>Wingdings</vt:lpstr>
      <vt:lpstr>Banded</vt:lpstr>
      <vt:lpstr>xml</vt:lpstr>
      <vt:lpstr>What is an XML?</vt:lpstr>
      <vt:lpstr>XML Markup</vt:lpstr>
      <vt:lpstr>Difference btw html and xml</vt:lpstr>
      <vt:lpstr>Parsers</vt:lpstr>
      <vt:lpstr>Parsers</vt:lpstr>
      <vt:lpstr>browsers</vt:lpstr>
      <vt:lpstr>Comments</vt:lpstr>
      <vt:lpstr>Example syntax</vt:lpstr>
      <vt:lpstr>Structure of well and non well formed document</vt:lpstr>
      <vt:lpstr>Tags, prolog and root elements</vt:lpstr>
      <vt:lpstr>Tags, prolog and root elements</vt:lpstr>
      <vt:lpstr>Xml Editors</vt:lpstr>
      <vt:lpstr>Creating an XML document</vt:lpstr>
      <vt:lpstr>Task </vt:lpstr>
      <vt:lpstr>Print this student data in xml format</vt:lpstr>
      <vt:lpstr>Online xml code checker for movies</vt:lpstr>
      <vt:lpstr>attributes</vt:lpstr>
      <vt:lpstr>entities</vt:lpstr>
      <vt:lpstr>namespaces</vt:lpstr>
      <vt:lpstr>Namespaces SYNTAX</vt:lpstr>
      <vt:lpstr>  DTD DOCUMENT TYPE DEFINITION</vt:lpstr>
      <vt:lpstr>Structure of a DTD</vt:lpstr>
      <vt:lpstr>Internal DTD Declaration</vt:lpstr>
      <vt:lpstr>ELEMENT IN DTD</vt:lpstr>
      <vt:lpstr>PCDATA  &amp;  CDATA</vt:lpstr>
      <vt:lpstr>ATTRIBUTE IN DTD</vt:lpstr>
      <vt:lpstr>ENTITY IN DTD</vt:lpstr>
      <vt:lpstr>External DTD Declaration</vt:lpstr>
      <vt:lpstr>Nodes Quantifiers</vt:lpstr>
      <vt:lpstr>SCHEMA</vt:lpstr>
      <vt:lpstr>DTD V/S SCHEMA</vt:lpstr>
      <vt:lpstr>SYNTAX</vt:lpstr>
      <vt:lpstr>Simple Example</vt:lpstr>
      <vt:lpstr>Values for Simple Elements</vt:lpstr>
      <vt:lpstr>Attributes</vt:lpstr>
      <vt:lpstr>Complex-type</vt:lpstr>
      <vt:lpstr>There are four kinds of complex elements</vt:lpstr>
      <vt:lpstr>1.Empty Elements</vt:lpstr>
      <vt:lpstr>2.Containing Elements Only</vt:lpstr>
      <vt:lpstr>3.Containing Text-Only</vt:lpstr>
      <vt:lpstr>4. Containing both other elements and text</vt:lpstr>
      <vt:lpstr>Restrictions for Datatypes</vt:lpstr>
      <vt:lpstr>XSD Restrictions</vt:lpstr>
      <vt:lpstr>XSD Restrictions</vt:lpstr>
      <vt:lpstr>XSD Restrictions</vt:lpstr>
      <vt:lpstr>XSL</vt:lpstr>
      <vt:lpstr>Difference Between CSS and XSL</vt:lpstr>
      <vt:lpstr>Syntax</vt:lpstr>
      <vt:lpstr>&lt;xsl:value-of&gt; Element</vt:lpstr>
      <vt:lpstr>&lt;xsl:for-each&gt; Element: </vt:lpstr>
      <vt:lpstr>&lt;xsl:if&gt; Element</vt:lpstr>
      <vt:lpstr>&lt;xsl:choose&gt; element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xml</dc:title>
  <dc:creator>Fariha Shafiq</dc:creator>
  <cp:lastModifiedBy>Fariha Shafiq</cp:lastModifiedBy>
  <cp:revision>51</cp:revision>
  <dcterms:created xsi:type="dcterms:W3CDTF">2023-09-05T11:21:46Z</dcterms:created>
  <dcterms:modified xsi:type="dcterms:W3CDTF">2025-03-25T10:11:56Z</dcterms:modified>
</cp:coreProperties>
</file>