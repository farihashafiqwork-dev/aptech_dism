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8" r:id="rId31"/>
    <p:sldId id="285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hZTJlwZVTlWY5Yd83h5kK10Xb8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0559BA-6069-487B-983D-0EE4040203D5}">
  <a:tblStyle styleId="{E30559BA-6069-487B-983D-0EE4040203D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F4"/>
          </a:solidFill>
        </a:fill>
      </a:tcStyle>
    </a:wholeTbl>
    <a:band1H>
      <a:tcTxStyle/>
      <a:tcStyle>
        <a:tcBdr/>
        <a:fill>
          <a:solidFill>
            <a:srgbClr val="CCDF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F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728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XML Naming Rules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XML elements must follow these naming rules: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Names can contain letters, numbers, and other characters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Names cannot start with a number or punctuation character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Names can be started with Underscore _ character.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Names cannot start with the letters xml (or XML, or Xml, etc)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Names cannot contain space.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an XML element or attribute has a data type defined, it puts restrictions on the element's or attribute's content.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XML element is of type "xs:date" and contains a string like "Hello World", the element will not validate.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XML Schemas, you can also add your own restrictions to your XML elements and attributes.</a:t>
            </a:r>
            <a:endParaRPr/>
          </a:p>
        </p:txBody>
      </p:sp>
      <p:sp>
        <p:nvSpPr>
          <p:cNvPr id="309" name="Google Shape;309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&lt;xs:element name="product"&gt;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&lt;xs:complexType&gt;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&lt;xs:complexContent&gt;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&lt;xs:restriction base="xs:integer"&gt;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&lt;xs:attribute name="prodid" type="xs:positiveInteger"/&gt;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&lt;/xs:restriction&gt;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&lt;/xs:complexContent&gt;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&lt;/xs:complexType&gt;</a:t>
            </a: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&lt;/xs:element&gt;</a:t>
            </a:r>
            <a:endParaRPr/>
          </a:p>
        </p:txBody>
      </p:sp>
      <p:sp>
        <p:nvSpPr>
          <p:cNvPr id="345" name="Google Shape;34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52" descr="C:\Users\Syed Liaquat Ali\Desktop\Electronics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47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2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9"/>
          <p:cNvSpPr txBox="1"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body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0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abc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74000">
              <a:srgbClr val="9AD7E7"/>
            </a:gs>
            <a:gs pos="83000">
              <a:srgbClr val="9AD7E7"/>
            </a:gs>
            <a:gs pos="100000">
              <a:srgbClr val="BBE4EF"/>
            </a:gs>
          </a:gsLst>
          <a:lin ang="1800000" scaled="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2971800" y="2667000"/>
            <a:ext cx="589776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 sz="19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1524000" y="964180"/>
            <a:ext cx="7315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 </a:t>
            </a: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markup language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 a computer language that uses tags to define elements within a document</a:t>
            </a:r>
            <a:r>
              <a:rPr lang="en-US" sz="18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498209" y="1651361"/>
            <a:ext cx="7467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called </a:t>
            </a: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extensible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 it has customized tags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2590800" y="2206198"/>
            <a:ext cx="49272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ADCC"/>
                </a:solidFill>
                <a:latin typeface="Arial"/>
                <a:ea typeface="Arial"/>
                <a:cs typeface="Arial"/>
                <a:sym typeface="Arial"/>
              </a:rPr>
              <a:t>Difference between HTML AND XML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371599" y="46181"/>
            <a:ext cx="801155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XML </a:t>
            </a:r>
            <a:r>
              <a:rPr lang="en-US" sz="3600" b="1" dirty="0" err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eXtensible</a:t>
            </a:r>
            <a:r>
              <a:rPr lang="en-US" sz="3600" b="1" dirty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Markup Language</a:t>
            </a:r>
            <a:endParaRPr sz="1200" dirty="0"/>
          </a:p>
        </p:txBody>
      </p:sp>
      <p:graphicFrame>
        <p:nvGraphicFramePr>
          <p:cNvPr id="98" name="Google Shape;98;p2"/>
          <p:cNvGraphicFramePr/>
          <p:nvPr/>
        </p:nvGraphicFramePr>
        <p:xfrm>
          <a:off x="2006404" y="2726570"/>
          <a:ext cx="6096000" cy="3455045"/>
        </p:xfrm>
        <a:graphic>
          <a:graphicData uri="http://schemas.openxmlformats.org/drawingml/2006/table">
            <a:tbl>
              <a:tblPr firstRow="1" bandRow="1">
                <a:noFill/>
                <a:tableStyleId>{E30559BA-6069-487B-983D-0EE4040203D5}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HTML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XML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To structure or design a webpage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To exchange data or structure data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Uses predefined tags.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Uses user defined tags, does not have predefined tags.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 Case Sensitive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Case Sensitive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No Concept of error generation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Well formed else error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Not Strict language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Strict language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Extension 🡪 .html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Extension🡪.xml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5027443" cy="351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8600" y="3277668"/>
            <a:ext cx="4617934" cy="3285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0"/>
            <a:ext cx="5427654" cy="37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27171"/>
            <a:ext cx="4419600" cy="301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1504781" y="18757"/>
            <a:ext cx="762632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data exchange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great things about XML is that it can allow easy sharing of data between different applications - even if these applications are written in different languages and reside on different platforms.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u="sng" dirty="0">
              <a:solidFill>
                <a:srgbClr val="78310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Self-describing data</a:t>
            </a:r>
            <a:endParaRPr dirty="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Provide an easy to use and standardized way to store self-describing data (self-describing data is data that describes both its content and its structure).</a:t>
            </a:r>
            <a:endParaRPr dirty="0"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846748"/>
            <a:ext cx="5415490" cy="3347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0866" y="4935799"/>
            <a:ext cx="4333134" cy="1903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1600200" y="1074509"/>
            <a:ext cx="75438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XML Declaration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declaration statement is the first line of every XML document.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simply states what version of XML you are using and the type of encoding you are using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u="sng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u="sng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Structure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&lt;root&gt;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&lt;child&gt;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subchild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&gt;.....&lt;/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subchild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&lt;/child&gt;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&lt;/root&gt;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in XML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&lt;!– this is comment section--&gt;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247900" y="2286000"/>
            <a:ext cx="4648200" cy="338554"/>
          </a:xfrm>
          <a:prstGeom prst="rect">
            <a:avLst/>
          </a:prstGeom>
          <a:solidFill>
            <a:srgbClr val="1FAD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 encoding=“UTF-8"?&gt;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964519" y="316721"/>
            <a:ext cx="17540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Syntax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1520125" y="304800"/>
            <a:ext cx="7620000" cy="557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Key Points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XML specification was created by the World Wide Web Consortium (W3C), the body that sets standards for the web.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is a software- and hardware-independent tool for carrying information.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DTD or XML Schemas are used to define the XML document structure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Elements Must be Properly Nested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Documents Must Have a Root Element(only one)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Attribute Values Must be Quoted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Elements Must have an Opening and Closing Tag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Well-formed of XML Document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Well-formed-ness refers to the standards that are to be followed by the XML documents. Well-formedness makes XML processors and browsers read XML documents. A document is well- formed, if it fulfills the following rules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tags should be valid</a:t>
            </a:r>
            <a:endParaRPr dirty="0"/>
          </a:p>
          <a:p>
            <a:pPr marL="457200" marR="0" lvl="1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Tags can begin with letter, an underscore or a colon.</a:t>
            </a:r>
            <a:endParaRPr dirty="0"/>
          </a:p>
          <a:p>
            <a:pPr marL="457200" marR="0" lvl="1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Tags can contain combination of letters, numbers, periods, colons, underscores, or hyphens.</a:t>
            </a:r>
            <a:endParaRPr dirty="0"/>
          </a:p>
          <a:p>
            <a:pPr marL="457200" marR="0" lvl="1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Tags should not contain whitespace.</a:t>
            </a:r>
            <a:endParaRPr dirty="0"/>
          </a:p>
          <a:p>
            <a:pPr marL="457200" marR="0" lvl="1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Tags should not start with reserved words like xml.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1447800" y="50760"/>
            <a:ext cx="7696200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Key Terminologies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800" b="1" u="sng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(Unicode) Character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An XML document is a string of characters. Almost every legal Unicode character may appear in an XML document.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 and Application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The processor analyzes the markup and passes structured information to an application. (parsing)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Markup and Content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All strings which constitute markup either begin with the character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F5666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end with a </a:t>
            </a:r>
            <a:r>
              <a:rPr lang="en-US" sz="1800">
                <a:solidFill>
                  <a:srgbClr val="0F5666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Strings of characters which are not markup are content.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markup construct that begins with &lt; and ends with &gt;.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logical document component either begins with a start-tag and ends with a matching end-tag or consists only of an empty-element tag.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information that is not a part of the data.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&lt;name Id= “123”&gt; Shahzaib &lt;/name&gt;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1524000" y="762000"/>
            <a:ext cx="7010400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provide 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information about elements.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are always placed inside the opening tag of an element.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&lt;name id=“123" &gt; hamza &lt;/name</a:t>
            </a:r>
            <a:endParaRPr dirty="0"/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 Xml Attributes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cannot contain multiple values (element can)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cannot contain tree structure.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are not easily expandable.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&lt;Address City = “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Street = “2A” /&gt;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Child Elements instead.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&lt;Address&gt;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&lt;City&gt;&lt;/City&gt;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&lt;Street&gt;&lt;/Street&gt;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&lt;/Address&gt;</a:t>
            </a:r>
            <a:endParaRPr dirty="0"/>
          </a:p>
        </p:txBody>
      </p:sp>
      <p:sp>
        <p:nvSpPr>
          <p:cNvPr id="141" name="Google Shape;141;p9"/>
          <p:cNvSpPr/>
          <p:nvPr/>
        </p:nvSpPr>
        <p:spPr>
          <a:xfrm>
            <a:off x="3657600" y="3517"/>
            <a:ext cx="243207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Attribute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/>
          <p:nvPr/>
        </p:nvSpPr>
        <p:spPr>
          <a:xfrm>
            <a:off x="1524000" y="457200"/>
            <a:ext cx="70866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8871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Erica One"/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Entities</a:t>
            </a:r>
            <a:endParaRPr dirty="0"/>
          </a:p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of short code for a particular word that is to be repeated again and again. Created using </a:t>
            </a:r>
            <a:r>
              <a:rPr lang="en-US" sz="1800" dirty="0">
                <a:solidFill>
                  <a:srgbClr val="062228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before the word and </a:t>
            </a:r>
            <a:r>
              <a:rPr lang="en-US" sz="1800" dirty="0">
                <a:solidFill>
                  <a:srgbClr val="062228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after the word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characters have a special meaning in XML, like the less than sign (&lt;) that defines the start of an XML tag.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following entities are predefined in XML: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2133600" y="2630984"/>
            <a:ext cx="563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-114300" algn="l" rtl="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&amp;amp;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(almost always necessary)</a:t>
            </a:r>
            <a:endParaRPr dirty="0"/>
          </a:p>
          <a:p>
            <a:pPr marL="457200" marR="0" lvl="1" indent="-114300" algn="l" rtl="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b="0" i="0" u="none" strike="noStrike" cap="none" dirty="0" err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lt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&lt;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(almost always necessary)</a:t>
            </a:r>
            <a:endParaRPr dirty="0"/>
          </a:p>
          <a:p>
            <a:pPr marL="457200" marR="0" lvl="1" indent="-114300" algn="l" rtl="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b="0" i="0" u="none" strike="noStrike" cap="none" dirty="0" err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gt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&gt;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(not usually necessary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457200" marR="0" lvl="1" indent="-114300" algn="l" rtl="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b="0" i="0" u="none" strike="noStrike" cap="none" dirty="0" err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quot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"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(necessary inside double quotes)</a:t>
            </a:r>
            <a:endParaRPr dirty="0"/>
          </a:p>
          <a:p>
            <a:pPr marL="457200" marR="0" lvl="1" indent="-114300" algn="l" rtl="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b="0" i="0" u="none" strike="noStrike" cap="none" dirty="0" err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apos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'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(necessary inside single quotes)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3947481" y="-45698"/>
            <a:ext cx="267893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Namespaces</a:t>
            </a:r>
            <a:endParaRPr/>
          </a:p>
        </p:txBody>
      </p:sp>
      <p:sp>
        <p:nvSpPr>
          <p:cNvPr id="153" name="Google Shape;153;p11"/>
          <p:cNvSpPr txBox="1"/>
          <p:nvPr/>
        </p:nvSpPr>
        <p:spPr>
          <a:xfrm>
            <a:off x="1576442" y="483690"/>
            <a:ext cx="7551145" cy="283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Duplicate Element Names</a:t>
            </a: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allows developers to create their own elements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attributes for their own projects.</a:t>
            </a:r>
            <a:endParaRPr/>
          </a:p>
          <a:p>
            <a:pPr marL="0" marR="360045" lvl="0" indent="0" algn="l" rtl="0">
              <a:spcBef>
                <a:spcPts val="615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 has to ensure the uniqueness of the  element names and attributes in a document.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0" lvl="0" indent="-342265" algn="l" rtl="0">
              <a:spcBef>
                <a:spcPts val="100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conflicts are inevitable from different developers.</a:t>
            </a:r>
            <a:endParaRPr/>
          </a:p>
          <a:p>
            <a:pPr marL="354965" marR="5080" lvl="0" indent="-342265" algn="l" rtl="0">
              <a:spcBef>
                <a:spcPts val="575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difficult for the browser to distinguish a  conflicting element.</a:t>
            </a:r>
            <a:endParaRPr/>
          </a:p>
          <a:p>
            <a:pPr marL="0" marR="360045" lvl="0" indent="69055" algn="l" rtl="0">
              <a:spcBef>
                <a:spcPts val="615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360045" lvl="0" indent="69055" algn="l" rtl="0">
              <a:spcBef>
                <a:spcPts val="615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277452" y="4785360"/>
            <a:ext cx="4866547" cy="20726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1433418" y="2532725"/>
            <a:ext cx="7707063" cy="2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Namespaces</a:t>
            </a:r>
            <a:endParaRPr dirty="0"/>
          </a:p>
          <a:p>
            <a:pPr marL="354965" marR="0" lvl="0" indent="-342265" algn="l" rtl="0">
              <a:spcBef>
                <a:spcPts val="100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are distinguished by using namespaces.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0" lvl="0" indent="-342265" algn="l" rtl="0">
              <a:spcBef>
                <a:spcPts val="1710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namespace is a collection of names.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0" lvl="0" indent="-342265" algn="l" rtl="0">
              <a:spcBef>
                <a:spcPts val="1689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Namespaces allow the browser to:</a:t>
            </a:r>
            <a:endParaRPr dirty="0"/>
          </a:p>
          <a:p>
            <a:pPr marL="756285" marR="0" lvl="1" indent="-287019" algn="l" rtl="0">
              <a:spcBef>
                <a:spcPts val="1705"/>
              </a:spcBef>
              <a:spcAft>
                <a:spcPts val="0"/>
              </a:spcAft>
              <a:buClr>
                <a:srgbClr val="FF0000"/>
              </a:buClr>
              <a:buSzPts val="975"/>
              <a:buFont typeface="Noto Sans Symbols"/>
              <a:buChar char="■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documents from different sources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019" algn="l" rtl="0">
              <a:spcBef>
                <a:spcPts val="1705"/>
              </a:spcBef>
              <a:spcAft>
                <a:spcPts val="0"/>
              </a:spcAft>
              <a:buClr>
                <a:srgbClr val="FF0000"/>
              </a:buClr>
              <a:buSzPts val="975"/>
              <a:buFont typeface="Noto Sans Symbols"/>
              <a:buChar char="■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the source of elements or attributes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1487658" y="595326"/>
            <a:ext cx="7620000" cy="2209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429000" y="0"/>
            <a:ext cx="350637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dirty="0"/>
          </a:p>
        </p:txBody>
      </p:sp>
      <p:sp>
        <p:nvSpPr>
          <p:cNvPr id="162" name="Google Shape;162;p12"/>
          <p:cNvSpPr/>
          <p:nvPr/>
        </p:nvSpPr>
        <p:spPr>
          <a:xfrm>
            <a:off x="1600200" y="2885889"/>
            <a:ext cx="7620000" cy="202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S:Student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xmlns:S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=” </a:t>
            </a:r>
            <a:r>
              <a:rPr lang="en-US" sz="1800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http://www.abc.com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”&gt;</a:t>
            </a:r>
            <a:endParaRPr dirty="0"/>
          </a:p>
          <a:p>
            <a:pPr marL="0" marR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S:First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&gt;John&lt;/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S:First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924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S:Last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&gt;Dewey&lt;/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S:Last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9248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S:Title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&gt;Student&lt;/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S:Title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S:Student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1676400" y="914400"/>
            <a:ext cx="7162800" cy="355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4965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840"/>
              <a:buFont typeface="Noto Sans Symbols"/>
              <a:buChar char="■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Namespaces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218440" lvl="1" indent="-287019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770"/>
              <a:buFont typeface="Noto Sans Symbols"/>
              <a:buChar char="■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Namespaces distinguish between elements and attributes  with the same name from different XML applications.</a:t>
            </a:r>
            <a:endParaRPr/>
          </a:p>
          <a:p>
            <a:pPr marL="756285" marR="509905" lvl="1" indent="-287019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770"/>
              <a:buFont typeface="Noto Sans Symbols"/>
              <a:buChar char="■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collection of names that can be used as element  names or attribute names in XML document.</a:t>
            </a:r>
            <a:endParaRPr/>
          </a:p>
          <a:p>
            <a:pPr marL="756285" marR="535940" lvl="1" indent="-287019" algn="l" rtl="0">
              <a:spcBef>
                <a:spcPts val="484"/>
              </a:spcBef>
              <a:spcAft>
                <a:spcPts val="0"/>
              </a:spcAft>
              <a:buClr>
                <a:srgbClr val="FF0000"/>
              </a:buClr>
              <a:buSzPts val="770"/>
              <a:buFont typeface="Noto Sans Symbols"/>
              <a:buChar char="■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namespaces provide a globally unique name for a  element or attribute to avoid name collisions.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0" lvl="0" indent="-342265" algn="l" rtl="0"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840"/>
              <a:buFont typeface="Noto Sans Symbols"/>
              <a:buChar char="■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with Namespaces syntax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019" algn="l" rtl="0"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770"/>
              <a:buFont typeface="Noto Sans Symbols"/>
              <a:buChar char="■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Namespaces are declared by an </a:t>
            </a:r>
            <a:r>
              <a:rPr lang="en-US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xmlns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whose</a:t>
            </a:r>
            <a:endParaRPr/>
          </a:p>
          <a:p>
            <a:pPr marL="756285" marR="0" lvl="0" indent="0" algn="l" rtl="0"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is the URI of the namespace.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019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770"/>
              <a:buFont typeface="Noto Sans Symbols"/>
              <a:buChar char="■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attribute name has no prefix, it has no namespace.</a:t>
            </a:r>
            <a:endParaRPr/>
          </a:p>
          <a:p>
            <a:pPr marL="756285" marR="5080" lvl="1" indent="-287019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770"/>
              <a:buFont typeface="Noto Sans Symbols"/>
              <a:buChar char="■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default namespace is used by an element and its child  elements if the element does not have a namespace prefix.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3700094" y="152400"/>
            <a:ext cx="24975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4" descr="C:\Users\Syed Liaquat Ali\Desktop\Electronics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478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87003">
            <a:off x="2096879" y="862384"/>
            <a:ext cx="6930351" cy="2674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4973" y="2199587"/>
            <a:ext cx="5465152" cy="2977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43175" y="5008978"/>
            <a:ext cx="60769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1305951" y="152400"/>
            <a:ext cx="77724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DTD Document Type Definition </a:t>
            </a:r>
            <a:endParaRPr dirty="0"/>
          </a:p>
        </p:txBody>
      </p:sp>
      <p:sp>
        <p:nvSpPr>
          <p:cNvPr id="182" name="Google Shape;182;p15"/>
          <p:cNvSpPr/>
          <p:nvPr/>
        </p:nvSpPr>
        <p:spPr>
          <a:xfrm>
            <a:off x="1458351" y="990600"/>
            <a:ext cx="7467600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Document Type Definition (DTD) defines the legal building blocks of an XML document. It defines the document structure with a list of legal elements and attributes.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DTD can be declared inline inside an XML document, or as an external reference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OF DTD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 DTD, each of your XML files can carry a description of its own format.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 DTD, independent groups of people can agree to use a standard DTD for interchanging data.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application can use a standard DTD to verify that the data you receive from the outside world is valid.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also use a DTD to verify your own data.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1219200"/>
            <a:ext cx="57150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/>
          <p:nvPr/>
        </p:nvSpPr>
        <p:spPr>
          <a:xfrm>
            <a:off x="1805354" y="152400"/>
            <a:ext cx="7338646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E1EA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Structure of a DTD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/>
          <p:nvPr/>
        </p:nvSpPr>
        <p:spPr>
          <a:xfrm>
            <a:off x="1600200" y="1752600"/>
            <a:ext cx="7315200" cy="388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1600200" y="152400"/>
            <a:ext cx="7514492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8871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Internal DTD Declaration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DTD is declared inside the XML file, it should be wrapped in a DOCTYPE definition with the following syntax: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root-element [element-declarations]&gt;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1524000" y="152400"/>
            <a:ext cx="7315200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ELEMENT IN DTD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note [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note (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to,from,heading,body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to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from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heading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body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&lt;note&gt;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&lt;to&gt;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Tove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&lt;/to&gt;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&lt;from&gt;Jani&lt;/from&gt;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&lt;heading&gt;Reminder&lt;/heading&gt;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&lt;body&gt;Don't forget me this weekend&lt;/body&gt;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&lt;/note&gt;</a:t>
            </a:r>
            <a:endParaRPr dirty="0"/>
          </a:p>
        </p:txBody>
      </p:sp>
      <p:sp>
        <p:nvSpPr>
          <p:cNvPr id="201" name="Google Shape;201;p18"/>
          <p:cNvSpPr/>
          <p:nvPr/>
        </p:nvSpPr>
        <p:spPr>
          <a:xfrm>
            <a:off x="1447800" y="4571190"/>
            <a:ext cx="73914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!DOCTYPE note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defines that the root element of this document is note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!ELEMENT note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defines that the note element contains four elements: 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to,from,heading,body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!ELEMENT to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defines the to element  to be of type "#PCDATA"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!ELEMENT from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defines the from element to be of type "#PCDATA"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!ELEMENT heading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defines the heading element to be of type "#PCDATA"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!ELEMENT body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defines the body element to be of type "#PCDATA"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1600200" y="152400"/>
            <a:ext cx="6248400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rgbClr val="BEE1EA"/>
              </a:buClr>
              <a:buSzPts val="4500"/>
              <a:buFont typeface="Arial"/>
              <a:buNone/>
            </a:pPr>
            <a:r>
              <a:rPr lang="en-US" sz="45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PCDATA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PCDATA means parsed character data.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PCDATA is text that WILL be parsed by a parser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text will be examined by the parser for entities and markup.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Tags inside the text will be treated as markup and entities will be expanded.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parsed character data should not contain any &amp;, &lt;, or &gt; characters; these need to be represented by the &amp;amp; &amp;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and &amp;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entities, respectively.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600200" y="3429000"/>
            <a:ext cx="7010400" cy="18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rgbClr val="BEE1EA"/>
              </a:buClr>
              <a:buSzPts val="4500"/>
              <a:buFont typeface="Arial"/>
              <a:buNone/>
            </a:pPr>
            <a:r>
              <a:rPr lang="en-US" sz="4500" b="1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CDATA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CDATA means character data.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CDATA is text that will NOT be parsed by a parser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Tags inside the text will NOT be treated as markup and entities will not be expanded.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1143000" y="152400"/>
            <a:ext cx="7315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ATTRIBUTE IN DTD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948490" y="3483939"/>
            <a:ext cx="37042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8B8E3"/>
                </a:solidFill>
                <a:latin typeface="Arial"/>
                <a:ea typeface="Arial"/>
                <a:cs typeface="Arial"/>
                <a:sym typeface="Arial"/>
              </a:rPr>
              <a:t>Attribute (Attribute-Default-Value)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1676400" y="4191000"/>
            <a:ext cx="7315199" cy="2286000"/>
            <a:chOff x="-3" y="-3"/>
            <a:chExt cx="2560" cy="2188"/>
          </a:xfrm>
        </p:grpSpPr>
        <p:grpSp>
          <p:nvGrpSpPr>
            <p:cNvPr id="215" name="Google Shape;215;p20"/>
            <p:cNvGrpSpPr/>
            <p:nvPr/>
          </p:nvGrpSpPr>
          <p:grpSpPr>
            <a:xfrm>
              <a:off x="0" y="0"/>
              <a:ext cx="2554" cy="2182"/>
              <a:chOff x="0" y="0"/>
              <a:chExt cx="2554" cy="2182"/>
            </a:xfrm>
          </p:grpSpPr>
          <p:grpSp>
            <p:nvGrpSpPr>
              <p:cNvPr id="216" name="Google Shape;216;p20"/>
              <p:cNvGrpSpPr/>
              <p:nvPr/>
            </p:nvGrpSpPr>
            <p:grpSpPr>
              <a:xfrm>
                <a:off x="0" y="0"/>
                <a:ext cx="702" cy="394"/>
                <a:chOff x="0" y="0"/>
                <a:chExt cx="702" cy="394"/>
              </a:xfrm>
            </p:grpSpPr>
            <p:sp>
              <p:nvSpPr>
                <p:cNvPr id="217" name="Google Shape;217;p20"/>
                <p:cNvSpPr/>
                <p:nvPr/>
              </p:nvSpPr>
              <p:spPr>
                <a:xfrm>
                  <a:off x="0" y="0"/>
                  <a:ext cx="70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Value</a:t>
                  </a:r>
                  <a:endParaRPr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18" name="Google Shape;218;p20"/>
                <p:cNvSpPr/>
                <p:nvPr/>
              </p:nvSpPr>
              <p:spPr>
                <a:xfrm>
                  <a:off x="0" y="0"/>
                  <a:ext cx="70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9" name="Google Shape;219;p20"/>
              <p:cNvGrpSpPr/>
              <p:nvPr/>
            </p:nvGrpSpPr>
            <p:grpSpPr>
              <a:xfrm>
                <a:off x="702" y="0"/>
                <a:ext cx="1852" cy="394"/>
                <a:chOff x="702" y="0"/>
                <a:chExt cx="1852" cy="394"/>
              </a:xfrm>
            </p:grpSpPr>
            <p:sp>
              <p:nvSpPr>
                <p:cNvPr id="220" name="Google Shape;220;p20"/>
                <p:cNvSpPr/>
                <p:nvPr/>
              </p:nvSpPr>
              <p:spPr>
                <a:xfrm>
                  <a:off x="702" y="0"/>
                  <a:ext cx="185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Explanation</a:t>
                  </a:r>
                  <a:endParaRPr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21" name="Google Shape;221;p20"/>
                <p:cNvSpPr/>
                <p:nvPr/>
              </p:nvSpPr>
              <p:spPr>
                <a:xfrm>
                  <a:off x="702" y="0"/>
                  <a:ext cx="185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2" name="Google Shape;222;p20"/>
              <p:cNvGrpSpPr/>
              <p:nvPr/>
            </p:nvGrpSpPr>
            <p:grpSpPr>
              <a:xfrm>
                <a:off x="0" y="394"/>
                <a:ext cx="702" cy="500"/>
                <a:chOff x="0" y="394"/>
                <a:chExt cx="702" cy="500"/>
              </a:xfrm>
            </p:grpSpPr>
            <p:sp>
              <p:nvSpPr>
                <p:cNvPr id="223" name="Google Shape;223;p20"/>
                <p:cNvSpPr/>
                <p:nvPr/>
              </p:nvSpPr>
              <p:spPr>
                <a:xfrm>
                  <a:off x="0" y="394"/>
                  <a:ext cx="702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#DEFAULT </a:t>
                  </a:r>
                  <a:endParaRPr sz="18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24" name="Google Shape;224;p20"/>
                <p:cNvSpPr/>
                <p:nvPr/>
              </p:nvSpPr>
              <p:spPr>
                <a:xfrm>
                  <a:off x="0" y="394"/>
                  <a:ext cx="70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5" name="Google Shape;225;p20"/>
              <p:cNvGrpSpPr/>
              <p:nvPr/>
            </p:nvGrpSpPr>
            <p:grpSpPr>
              <a:xfrm>
                <a:off x="702" y="394"/>
                <a:ext cx="1852" cy="500"/>
                <a:chOff x="702" y="394"/>
                <a:chExt cx="1852" cy="500"/>
              </a:xfrm>
            </p:grpSpPr>
            <p:sp>
              <p:nvSpPr>
                <p:cNvPr id="226" name="Google Shape;226;p20"/>
                <p:cNvSpPr/>
                <p:nvPr/>
              </p:nvSpPr>
              <p:spPr>
                <a:xfrm>
                  <a:off x="702" y="394"/>
                  <a:ext cx="1852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</a:t>
                  </a:r>
                  <a:endParaRPr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has a default value.</a:t>
                  </a:r>
                  <a:endParaRPr sz="18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27" name="Google Shape;227;p20"/>
                <p:cNvSpPr/>
                <p:nvPr/>
              </p:nvSpPr>
              <p:spPr>
                <a:xfrm>
                  <a:off x="702" y="394"/>
                  <a:ext cx="185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8" name="Google Shape;228;p20"/>
              <p:cNvGrpSpPr/>
              <p:nvPr/>
            </p:nvGrpSpPr>
            <p:grpSpPr>
              <a:xfrm>
                <a:off x="0" y="894"/>
                <a:ext cx="702" cy="500"/>
                <a:chOff x="0" y="894"/>
                <a:chExt cx="702" cy="500"/>
              </a:xfrm>
            </p:grpSpPr>
            <p:sp>
              <p:nvSpPr>
                <p:cNvPr id="229" name="Google Shape;229;p20"/>
                <p:cNvSpPr/>
                <p:nvPr/>
              </p:nvSpPr>
              <p:spPr>
                <a:xfrm>
                  <a:off x="0" y="894"/>
                  <a:ext cx="702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#REQUIRED</a:t>
                  </a:r>
                  <a:endParaRPr sz="1800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30" name="Google Shape;230;p20"/>
                <p:cNvSpPr/>
                <p:nvPr/>
              </p:nvSpPr>
              <p:spPr>
                <a:xfrm>
                  <a:off x="0" y="894"/>
                  <a:ext cx="70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1" name="Google Shape;231;p20"/>
              <p:cNvGrpSpPr/>
              <p:nvPr/>
            </p:nvGrpSpPr>
            <p:grpSpPr>
              <a:xfrm>
                <a:off x="702" y="894"/>
                <a:ext cx="1852" cy="500"/>
                <a:chOff x="702" y="894"/>
                <a:chExt cx="1852" cy="500"/>
              </a:xfrm>
            </p:grpSpPr>
            <p:sp>
              <p:nvSpPr>
                <p:cNvPr id="232" name="Google Shape;232;p20"/>
                <p:cNvSpPr/>
                <p:nvPr/>
              </p:nvSpPr>
              <p:spPr>
                <a:xfrm>
                  <a:off x="702" y="894"/>
                  <a:ext cx="1852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value must be included in the element.</a:t>
                  </a:r>
                  <a:endParaRPr sz="18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33" name="Google Shape;233;p20"/>
                <p:cNvSpPr/>
                <p:nvPr/>
              </p:nvSpPr>
              <p:spPr>
                <a:xfrm>
                  <a:off x="702" y="894"/>
                  <a:ext cx="185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" name="Google Shape;234;p20"/>
              <p:cNvGrpSpPr/>
              <p:nvPr/>
            </p:nvGrpSpPr>
            <p:grpSpPr>
              <a:xfrm>
                <a:off x="0" y="1394"/>
                <a:ext cx="702" cy="394"/>
                <a:chOff x="0" y="1394"/>
                <a:chExt cx="702" cy="394"/>
              </a:xfrm>
            </p:grpSpPr>
            <p:sp>
              <p:nvSpPr>
                <p:cNvPr id="235" name="Google Shape;235;p20"/>
                <p:cNvSpPr/>
                <p:nvPr/>
              </p:nvSpPr>
              <p:spPr>
                <a:xfrm>
                  <a:off x="0" y="1394"/>
                  <a:ext cx="70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#IMPLIED</a:t>
                  </a:r>
                  <a:endParaRPr sz="1800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36" name="Google Shape;236;p20"/>
                <p:cNvSpPr/>
                <p:nvPr/>
              </p:nvSpPr>
              <p:spPr>
                <a:xfrm>
                  <a:off x="0" y="1394"/>
                  <a:ext cx="70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7" name="Google Shape;237;p20"/>
              <p:cNvGrpSpPr/>
              <p:nvPr/>
            </p:nvGrpSpPr>
            <p:grpSpPr>
              <a:xfrm>
                <a:off x="702" y="1394"/>
                <a:ext cx="1852" cy="394"/>
                <a:chOff x="702" y="1394"/>
                <a:chExt cx="1852" cy="394"/>
              </a:xfrm>
            </p:grpSpPr>
            <p:sp>
              <p:nvSpPr>
                <p:cNvPr id="238" name="Google Shape;238;p20"/>
                <p:cNvSpPr/>
                <p:nvPr/>
              </p:nvSpPr>
              <p:spPr>
                <a:xfrm>
                  <a:off x="702" y="1394"/>
                  <a:ext cx="185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does not have to be included.</a:t>
                  </a:r>
                  <a:endParaRPr sz="18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39" name="Google Shape;239;p20"/>
                <p:cNvSpPr/>
                <p:nvPr/>
              </p:nvSpPr>
              <p:spPr>
                <a:xfrm>
                  <a:off x="702" y="1394"/>
                  <a:ext cx="185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0" name="Google Shape;240;p20"/>
              <p:cNvGrpSpPr/>
              <p:nvPr/>
            </p:nvGrpSpPr>
            <p:grpSpPr>
              <a:xfrm>
                <a:off x="0" y="1788"/>
                <a:ext cx="702" cy="394"/>
                <a:chOff x="0" y="1788"/>
                <a:chExt cx="702" cy="394"/>
              </a:xfrm>
            </p:grpSpPr>
            <p:sp>
              <p:nvSpPr>
                <p:cNvPr id="241" name="Google Shape;241;p20"/>
                <p:cNvSpPr/>
                <p:nvPr/>
              </p:nvSpPr>
              <p:spPr>
                <a:xfrm>
                  <a:off x="0" y="1788"/>
                  <a:ext cx="70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#FIXED </a:t>
                  </a:r>
                  <a:endParaRPr sz="18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42" name="Google Shape;242;p20"/>
                <p:cNvSpPr/>
                <p:nvPr/>
              </p:nvSpPr>
              <p:spPr>
                <a:xfrm>
                  <a:off x="0" y="1788"/>
                  <a:ext cx="70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" name="Google Shape;243;p20"/>
              <p:cNvGrpSpPr/>
              <p:nvPr/>
            </p:nvGrpSpPr>
            <p:grpSpPr>
              <a:xfrm>
                <a:off x="702" y="1788"/>
                <a:ext cx="1852" cy="394"/>
                <a:chOff x="702" y="1788"/>
                <a:chExt cx="1852" cy="394"/>
              </a:xfrm>
            </p:grpSpPr>
            <p:sp>
              <p:nvSpPr>
                <p:cNvPr id="244" name="Google Shape;244;p20"/>
                <p:cNvSpPr/>
                <p:nvPr/>
              </p:nvSpPr>
              <p:spPr>
                <a:xfrm>
                  <a:off x="702" y="1788"/>
                  <a:ext cx="185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value is fixed.</a:t>
                  </a:r>
                  <a:endParaRPr sz="1800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45" name="Google Shape;245;p20"/>
                <p:cNvSpPr/>
                <p:nvPr/>
              </p:nvSpPr>
              <p:spPr>
                <a:xfrm>
                  <a:off x="702" y="1788"/>
                  <a:ext cx="185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46" name="Google Shape;246;p20"/>
            <p:cNvSpPr/>
            <p:nvPr/>
          </p:nvSpPr>
          <p:spPr>
            <a:xfrm>
              <a:off x="-3" y="-3"/>
              <a:ext cx="2560" cy="2188"/>
            </a:xfrm>
            <a:prstGeom prst="rect">
              <a:avLst/>
            </a:prstGeom>
            <a:noFill/>
            <a:ln w="11100" cap="flat" cmpd="sng">
              <a:solidFill>
                <a:srgbClr val="A0A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20"/>
          <p:cNvSpPr/>
          <p:nvPr/>
        </p:nvSpPr>
        <p:spPr>
          <a:xfrm>
            <a:off x="1604486" y="666640"/>
            <a:ext cx="7387113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&lt;!ATTLIST tag-name attribute-name type attribute-value&gt;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------In DTD--------------</a:t>
            </a:r>
            <a:endParaRPr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&lt;!ATTLIST  name ID CDATA #REQUIRED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------In XML--------------</a:t>
            </a:r>
            <a:endParaRPr dirty="0"/>
          </a:p>
          <a:p>
            <a:pPr marL="0" marR="0" lvl="0" indent="0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 ID=“1234&gt; hamza &lt;/name&gt;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1618957" y="980420"/>
            <a:ext cx="6858000" cy="513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 Declaration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Entities that have their contents within the XML document are called internal entities.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&lt;!ENTITY entity-name "entity-value"&gt;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------In DTD--------------</a:t>
            </a:r>
            <a:endParaRPr dirty="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&lt;!ENTITY  writer  “IQBAL"&gt;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&lt;!ENTITY copyright "Copyright Aptech Ltd."&gt;</a:t>
            </a:r>
            <a:endParaRPr dirty="0"/>
          </a:p>
          <a:p>
            <a:pPr marL="0" marR="0" lvl="0" indent="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------In XML--------------</a:t>
            </a:r>
            <a:endParaRPr dirty="0"/>
          </a:p>
          <a:p>
            <a:pPr marL="0" marR="0" lvl="0" indent="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&lt;author&gt;&amp;writer;&amp;copyright;&lt;/author&gt;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3352800" y="457200"/>
            <a:ext cx="269977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ENTITY IN DTD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1581443" y="146173"/>
            <a:ext cx="717804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8871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External DTD Declaration</a:t>
            </a:r>
            <a:endParaRPr dirty="0"/>
          </a:p>
          <a:p>
            <a:pPr marL="118871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u="sng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DTD is declared in an external file, it should be wrapped in a DOCTYPE definition with the following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root-element SYSTEM "filename"&gt;</a:t>
            </a:r>
            <a:endParaRPr dirty="0"/>
          </a:p>
        </p:txBody>
      </p:sp>
      <p:sp>
        <p:nvSpPr>
          <p:cNvPr id="259" name="Google Shape;259;p22"/>
          <p:cNvSpPr/>
          <p:nvPr/>
        </p:nvSpPr>
        <p:spPr>
          <a:xfrm>
            <a:off x="1571206" y="2054388"/>
            <a:ext cx="7178039" cy="273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.XML FILE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note SYSTEM "note.dtd"&gt;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&lt;note&gt;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&lt;to&gt;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Tove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&lt;/to&gt;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&lt;from&gt;Jani&lt;/from&gt;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&lt;heading&gt;Reminder&lt;/heading&gt;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&lt;body&gt;Don't forget me this weekend!&lt;/body&gt;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&lt;/note&gt;</a:t>
            </a:r>
            <a:endParaRPr dirty="0"/>
          </a:p>
        </p:txBody>
      </p:sp>
      <p:sp>
        <p:nvSpPr>
          <p:cNvPr id="260" name="Google Shape;260;p22"/>
          <p:cNvSpPr/>
          <p:nvPr/>
        </p:nvSpPr>
        <p:spPr>
          <a:xfrm>
            <a:off x="1524000" y="4724400"/>
            <a:ext cx="6964681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.DTD FILE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note (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to,from,heading,body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to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from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heading (#PCDATA)&gt;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&lt;!ELEMENT body (#PCDATA)&gt;</a:t>
            </a:r>
            <a:endParaRPr dirty="0"/>
          </a:p>
        </p:txBody>
      </p:sp>
      <p:sp>
        <p:nvSpPr>
          <p:cNvPr id="261" name="Google Shape;261;p22"/>
          <p:cNvSpPr/>
          <p:nvPr/>
        </p:nvSpPr>
        <p:spPr>
          <a:xfrm>
            <a:off x="4164353" y="1718578"/>
            <a:ext cx="16839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/>
          <p:nvPr/>
        </p:nvSpPr>
        <p:spPr>
          <a:xfrm>
            <a:off x="1676400" y="2819400"/>
            <a:ext cx="7315200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DTD - XML Building Blocks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Building Blocks of XML Documents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PCDATA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1562100" y="228600"/>
            <a:ext cx="60198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Erica One"/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Nodes Quantifiers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asterisk (*) - The element may appear zero or more times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 mark (?) - The element may appear zero or one time, only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plus sign (+) - The element appears at least once if not more times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/>
          <p:nvPr/>
        </p:nvSpPr>
        <p:spPr>
          <a:xfrm>
            <a:off x="1533378" y="673388"/>
            <a:ext cx="7467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an XML-based alternative to DTD.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XML schema describes the structure of an XML document.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XML Schema language is also referred to as XML Schema Definition (XSD).</a:t>
            </a:r>
            <a:endParaRPr dirty="0"/>
          </a:p>
        </p:txBody>
      </p:sp>
      <p:sp>
        <p:nvSpPr>
          <p:cNvPr id="273" name="Google Shape;273;p24"/>
          <p:cNvSpPr/>
          <p:nvPr/>
        </p:nvSpPr>
        <p:spPr>
          <a:xfrm>
            <a:off x="1534550" y="2121962"/>
            <a:ext cx="74676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XML Schema: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elements that can appear in a document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attributes that can appear in a document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which elements are child elements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the order of child elements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the number of child elements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whether an element is empty or can include text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data types for elements and attributes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default and fixed values for elements and attributes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684577" y="88613"/>
            <a:ext cx="177484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SCHEMA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1665848" y="885735"/>
            <a:ext cx="608544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Schemas are the Successors of DTDs</a:t>
            </a:r>
            <a:b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reasons: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DTDs do not have built-in datatypes.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DTDs do not support user-derived datatypes.</a:t>
            </a:r>
            <a:endParaRPr dirty="0"/>
          </a:p>
        </p:txBody>
      </p:sp>
      <p:sp>
        <p:nvSpPr>
          <p:cNvPr id="280" name="Google Shape;280;p25"/>
          <p:cNvSpPr/>
          <p:nvPr/>
        </p:nvSpPr>
        <p:spPr>
          <a:xfrm>
            <a:off x="1665849" y="3109943"/>
            <a:ext cx="7338646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Schemas Support Data Types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greatest strength of XML Schemas is the support for data types.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support for data types: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easier to describe allowable document content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easier to validate the correctness of data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easier to work with data from a database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easier to define data facets (restrictions on data)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easier to define data patterns (data formats)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easier to convert data between different data types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124200" y="101025"/>
            <a:ext cx="5029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DTD V/S SCHEMA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1600200" y="4724400"/>
            <a:ext cx="4572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&lt;schema&gt; Element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xs:schema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xs:schema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1600199" y="609324"/>
            <a:ext cx="824718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Defining a Simple type Element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syntax for defining a simple element is: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name="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" type="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xyz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"/&gt;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name of the element and 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xyz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data type of the element.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Schema has a lot of built-in data types. The most common types are:</a:t>
            </a:r>
            <a:endParaRPr i="1" dirty="0"/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endParaRPr sz="18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xs:decimal</a:t>
            </a:r>
            <a:endParaRPr sz="18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</a:t>
            </a:r>
            <a:r>
              <a:rPr lang="en-US" sz="1800" dirty="0" err="1">
                <a:solidFill>
                  <a:schemeClr val="dk1"/>
                </a:solidFill>
              </a:rPr>
              <a:t>integer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</a:t>
            </a:r>
            <a:r>
              <a:rPr lang="en-US" sz="1800" dirty="0" err="1">
                <a:solidFill>
                  <a:schemeClr val="dk1"/>
                </a:solidFill>
              </a:rPr>
              <a:t>boolean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xs:date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xs:time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3709876" y="13727"/>
            <a:ext cx="33239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/>
          <p:nvPr/>
        </p:nvSpPr>
        <p:spPr>
          <a:xfrm>
            <a:off x="1538068" y="43375"/>
            <a:ext cx="7391400" cy="320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Simple Example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XML elements: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huda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&lt;/name&gt;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&lt;age&gt;36&lt;/age&gt;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birthDate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&gt;1970-03-27&lt;/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birthDate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Corresponding element definitions: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name="name" 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name="age" 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xs:integer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name=" 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birthDate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 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xs:date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 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2236360" y="152400"/>
            <a:ext cx="467128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Values for Simple Elements</a:t>
            </a:r>
            <a:endParaRPr dirty="0"/>
          </a:p>
        </p:txBody>
      </p:sp>
      <p:sp>
        <p:nvSpPr>
          <p:cNvPr id="299" name="Google Shape;299;p28"/>
          <p:cNvSpPr/>
          <p:nvPr/>
        </p:nvSpPr>
        <p:spPr>
          <a:xfrm>
            <a:off x="1676400" y="711962"/>
            <a:ext cx="7239000" cy="38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elements may have a default value OR a fixed value specified.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Default: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default value is automatically assigned to the element when no other value is specified.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name="color" type="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“ default="red"/&gt;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B4490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br>
              <a:rPr lang="en-US" sz="1600" dirty="0">
                <a:solidFill>
                  <a:srgbClr val="B4490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fixed value is also automatically assigned to the element, and you cannot specify another value.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following example the fixed value is "red":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name="color" type="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" fixed="red"/&gt; 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/>
          <p:nvPr/>
        </p:nvSpPr>
        <p:spPr>
          <a:xfrm>
            <a:off x="3660308" y="152400"/>
            <a:ext cx="182338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1676400" y="700238"/>
            <a:ext cx="7391400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Defining a Attribute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syntax for defining a attribute is: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xs:attribute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 name="xxx" type="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yyy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xxx is the name of the attribute and 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yyy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specifies the data type of the attribute..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XML Attribute: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="EN"&gt;Smith&lt;/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Corresponding Attribute definitions: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xs:attribute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 CAN BE DEFAULT OR FIXED AS WELL AS OPTIONAL AND REQUIRED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Optional and Required Attributes</a:t>
            </a:r>
            <a:b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Attributes</a:t>
            </a:r>
            <a:r>
              <a:rPr lang="en-US" sz="1800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are optional by default. To specify that the attribute is required, use the "use" attribute:</a:t>
            </a:r>
            <a:br>
              <a:rPr lang="en-US" sz="1800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xs:attribute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name="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" type="</a:t>
            </a:r>
            <a:r>
              <a:rPr lang="en-US" sz="1800" b="1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" use="required"/&gt;</a:t>
            </a:r>
            <a:br>
              <a:rPr lang="en-US" sz="1800" dirty="0">
                <a:solidFill>
                  <a:srgbClr val="B4490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3"/>
          <p:cNvPicPr preferRelativeResize="0"/>
          <p:nvPr/>
        </p:nvPicPr>
        <p:blipFill rotWithShape="1">
          <a:blip r:embed="rId3">
            <a:alphaModFix/>
          </a:blip>
          <a:srcRect t="19316" b="16941"/>
          <a:stretch/>
        </p:blipFill>
        <p:spPr>
          <a:xfrm>
            <a:off x="107948" y="1806222"/>
            <a:ext cx="9036052" cy="356728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3"/>
          <p:cNvSpPr/>
          <p:nvPr/>
        </p:nvSpPr>
        <p:spPr>
          <a:xfrm>
            <a:off x="2209800" y="238452"/>
            <a:ext cx="44197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Restrictions for Datatypes</a:t>
            </a:r>
            <a:endParaRPr/>
          </a:p>
        </p:txBody>
      </p:sp>
      <p:pic>
        <p:nvPicPr>
          <p:cNvPr id="4" name="Google Shape;332;p33">
            <a:extLst>
              <a:ext uri="{FF2B5EF4-FFF2-40B4-BE49-F238E27FC236}">
                <a16:creationId xmlns:a16="http://schemas.microsoft.com/office/drawing/2014/main" id="{5E5A9138-C44B-40BB-AEE1-71DA2846F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048"/>
          <a:stretch/>
        </p:blipFill>
        <p:spPr>
          <a:xfrm>
            <a:off x="107948" y="1193308"/>
            <a:ext cx="9036052" cy="612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/>
          <p:nvPr/>
        </p:nvSpPr>
        <p:spPr>
          <a:xfrm>
            <a:off x="1444910" y="635761"/>
            <a:ext cx="769909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XSD Restrictions/Facets</a:t>
            </a:r>
            <a:endParaRPr/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Restrictions are used to define acceptable values for XML elements or attributes. Restrictions on XML elements are called facets.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1676400" y="2136338"/>
            <a:ext cx="4572000" cy="2585323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&lt;xs:element name="age"&gt;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&lt;xs:restriction base="xs:integer"&gt;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&lt;xs:minInclusive value="0"/&gt;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&lt;xs:maxInclusive value="120"/&gt;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&lt;/xs:restriction&gt;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&lt;/xs:simpleType&gt;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&lt;/xs:element&gt;</a:t>
            </a:r>
            <a:br>
              <a:rPr lang="en-US" sz="1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3124745" y="145366"/>
            <a:ext cx="28945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XSD Restrictions</a:t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1581373" y="1638529"/>
            <a:ext cx="40316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Restrictions on Values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/>
          <p:nvPr/>
        </p:nvSpPr>
        <p:spPr>
          <a:xfrm>
            <a:off x="1676400" y="228600"/>
            <a:ext cx="7315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Restrictions on a Set of Values</a:t>
            </a:r>
            <a:b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example below defines an element called "car" with a restriction. The only acceptable values are: Audi, Golf, BMW: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1676400" y="1244263"/>
            <a:ext cx="4572000" cy="2862322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&lt;xs:element name="car"&gt;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&lt;xs:restriction base="xs:string"&gt;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&lt;xs:enumeration value="Audi"/&gt;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&lt;xs:enumeration value="Golf"/&gt;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&lt;xs:enumeration value="BMW"/&gt;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&lt;/xs:restriction&gt;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&lt;/xs:simpleType&gt;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&lt;/xs:element&gt;</a:t>
            </a:r>
            <a:br>
              <a:rPr lang="en-US" sz="1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"/>
          <p:cNvSpPr/>
          <p:nvPr/>
        </p:nvSpPr>
        <p:spPr>
          <a:xfrm>
            <a:off x="1599028" y="621273"/>
            <a:ext cx="4572000" cy="2400657"/>
          </a:xfrm>
          <a:prstGeom prst="rect">
            <a:avLst/>
          </a:prstGeom>
          <a:solidFill>
            <a:srgbClr val="B5E8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EXAMPLE 1: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&lt;xs:element name="password"&gt;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&lt;xs:restriction base="xs:string"&gt;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&lt;xs:length value="8"/&gt;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&lt;/xs:restriction&gt;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&lt;/xs:simpleType&gt;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&lt;/xs:element&gt; </a:t>
            </a:r>
            <a:endParaRPr/>
          </a:p>
        </p:txBody>
      </p:sp>
      <p:sp>
        <p:nvSpPr>
          <p:cNvPr id="326" name="Google Shape;326;p32"/>
          <p:cNvSpPr/>
          <p:nvPr/>
        </p:nvSpPr>
        <p:spPr>
          <a:xfrm>
            <a:off x="4267200" y="3651404"/>
            <a:ext cx="4572000" cy="2677656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EXAMPLE 2: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&lt;xs:element name="password"&gt;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&lt;xs:simpleType&gt;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&lt;xs:restriction base="xs:string"&gt;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 &lt;xs:minLength value="5"/&gt;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 &lt;xs:maxLength value="8"/&gt;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&lt;/xs:restriction&gt;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&lt;/xs:simpleType&gt;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&lt;/xs:element&gt; </a:t>
            </a:r>
            <a:endParaRPr/>
          </a:p>
        </p:txBody>
      </p:sp>
      <p:sp>
        <p:nvSpPr>
          <p:cNvPr id="327" name="Google Shape;327;p32"/>
          <p:cNvSpPr/>
          <p:nvPr/>
        </p:nvSpPr>
        <p:spPr>
          <a:xfrm>
            <a:off x="3885028" y="0"/>
            <a:ext cx="18085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/>
          <p:nvPr/>
        </p:nvSpPr>
        <p:spPr>
          <a:xfrm>
            <a:off x="1600200" y="228600"/>
            <a:ext cx="7543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Complex-type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4"/>
          <p:cNvSpPr/>
          <p:nvPr/>
        </p:nvSpPr>
        <p:spPr>
          <a:xfrm>
            <a:off x="1676400" y="4603862"/>
            <a:ext cx="7391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&lt;!--Content Model Goes Here--&gt;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</p:txBody>
      </p:sp>
      <p:sp>
        <p:nvSpPr>
          <p:cNvPr id="340" name="Google Shape;340;p34"/>
          <p:cNvSpPr/>
          <p:nvPr/>
        </p:nvSpPr>
        <p:spPr>
          <a:xfrm>
            <a:off x="1600200" y="757682"/>
            <a:ext cx="75438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Complex-type elements have </a:t>
            </a:r>
            <a:r>
              <a:rPr lang="en-US" sz="18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child elements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some combination of the two.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 the Name and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HomePage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elements below are both complex-type elements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2286000" y="1958011"/>
            <a:ext cx="5867400" cy="2308324"/>
          </a:xfrm>
          <a:prstGeom prst="rect">
            <a:avLst/>
          </a:prstGeom>
          <a:solidFill>
            <a:srgbClr val="B5E8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&lt;Person&gt;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&lt;Name&gt; 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&lt;FirstName&gt;Mark&lt;/FirstName&gt;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&gt;Twain&lt;/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&lt;/Name&gt;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HomePage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URL="http://www.marktwain.com"/&gt;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&lt;/Person&gt;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/>
          <p:nvPr/>
        </p:nvSpPr>
        <p:spPr>
          <a:xfrm>
            <a:off x="1524000" y="304800"/>
            <a:ext cx="7620000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four kinds of complex elements: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four kinds of complex elements: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empty elements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contain only other elements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contain only text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contain both other elements and text</a:t>
            </a:r>
            <a:endParaRPr dirty="0"/>
          </a:p>
        </p:txBody>
      </p:sp>
      <p:sp>
        <p:nvSpPr>
          <p:cNvPr id="348" name="Google Shape;348;p35"/>
          <p:cNvSpPr/>
          <p:nvPr/>
        </p:nvSpPr>
        <p:spPr>
          <a:xfrm>
            <a:off x="1487714" y="2286000"/>
            <a:ext cx="739140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1.Empty Elements</a:t>
            </a:r>
            <a:endParaRPr sz="2400" b="1" dirty="0">
              <a:solidFill>
                <a:srgbClr val="39639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&lt;product 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prodid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="1345" /&gt;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XSD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name="product"&gt;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xs:attribute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prodid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xs:positiveInteger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/>
          <p:nvPr/>
        </p:nvSpPr>
        <p:spPr>
          <a:xfrm>
            <a:off x="1676400" y="228600"/>
            <a:ext cx="7239000" cy="637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rgbClr val="BEE1EA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2.Containing Elements Only</a:t>
            </a:r>
            <a:endParaRPr dirty="0"/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&lt;person&gt;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&gt;John&lt;/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&gt;Smith&lt;/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&lt;/person&gt;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XSD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name="person"&gt;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xs:sequence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xs:sequence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xs:sequence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tag means that the elements defined ("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and 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") must appear in that order inside a "person" element.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"/>
          <p:cNvSpPr/>
          <p:nvPr/>
        </p:nvSpPr>
        <p:spPr>
          <a:xfrm>
            <a:off x="1676400" y="304800"/>
            <a:ext cx="74676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rgbClr val="BEE1EA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3.Containing Text-Only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&lt;shoesize country="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"&gt;35&lt;/shoesize&gt;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XSD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name="shoesize"&gt;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xs:simpleContent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xs:extension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base="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xs:integer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xs:attribute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name="country"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xs:extension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xs:simpleContent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/>
          <p:nvPr/>
        </p:nvSpPr>
        <p:spPr>
          <a:xfrm>
            <a:off x="1524000" y="152400"/>
            <a:ext cx="7620000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rgbClr val="BEE1EA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BEE1EA"/>
                </a:solidFill>
                <a:latin typeface="Arial"/>
                <a:ea typeface="Arial"/>
                <a:cs typeface="Arial"/>
                <a:sym typeface="Arial"/>
              </a:rPr>
              <a:t>4. Containing both other elements and text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&lt;letter&gt;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Dear Mr.&lt;name&gt;John Smith&lt;/name&gt;.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Your order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orderid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&gt;1032&lt;/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orderid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will be shipped on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shipdate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&gt;2001-07-13&lt;/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shipdate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&gt;.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&lt;/letter&gt;</a:t>
            </a:r>
            <a:endParaRPr dirty="0"/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XSD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name="letter"&gt;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mixed="true"&gt;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xs:sequence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name="name"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orderid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xs:positiveInteger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name="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shipdate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 type="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xs:date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xs:sequence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xs:complexType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 To enable character data to appear between the child-elements of "letter", the mixed attribute must be set to "true"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"/>
          <p:cNvSpPr/>
          <p:nvPr/>
        </p:nvSpPr>
        <p:spPr>
          <a:xfrm>
            <a:off x="1600200" y="228600"/>
            <a:ext cx="73152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XSL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 extensible Stylesheet Language is a styling language for XML.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(Also XSLT extensible Stylesheet Language Transformations) </a:t>
            </a:r>
            <a:endParaRPr dirty="0"/>
          </a:p>
        </p:txBody>
      </p:sp>
      <p:pic>
        <p:nvPicPr>
          <p:cNvPr id="369" name="Google Shape;36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6996" y="1616835"/>
            <a:ext cx="6210300" cy="404083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/>
          <p:nvPr/>
        </p:nvSpPr>
        <p:spPr>
          <a:xfrm>
            <a:off x="2286000" y="5657671"/>
            <a:ext cx="70104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transformation process, XSLT uses XPath to define parts of the source document that should match one or more predefined templates. When a match is found, XSLT will transform the matching part of the source document into the result document.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/>
          <p:nvPr/>
        </p:nvSpPr>
        <p:spPr>
          <a:xfrm>
            <a:off x="1645355" y="869244"/>
            <a:ext cx="69605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Difference Between CSS and XSL</a:t>
            </a:r>
            <a:endParaRPr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C816EC1-AE5D-4DDC-B0A0-ECD4E9B11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369632"/>
              </p:ext>
            </p:extLst>
          </p:nvPr>
        </p:nvGraphicFramePr>
        <p:xfrm>
          <a:off x="1885245" y="1724378"/>
          <a:ext cx="6096000" cy="2441223"/>
        </p:xfrm>
        <a:graphic>
          <a:graphicData uri="http://schemas.openxmlformats.org/drawingml/2006/table">
            <a:tbl>
              <a:tblPr firstRow="1" bandRow="1">
                <a:tableStyleId>{E30559BA-6069-487B-983D-0EE4040203D5}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70376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67727409"/>
                    </a:ext>
                  </a:extLst>
                </a:gridCol>
              </a:tblGrid>
              <a:tr h="5586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736330"/>
                  </a:ext>
                </a:extLst>
              </a:tr>
              <a:tr h="780579">
                <a:tc>
                  <a:txBody>
                    <a:bodyPr/>
                    <a:lstStyle/>
                    <a:p>
                      <a:r>
                        <a:rPr lang="en-US" dirty="0"/>
                        <a:t>Stylesheet language to create a style </a:t>
                      </a:r>
                    </a:p>
                    <a:p>
                      <a:r>
                        <a:rPr lang="en-US" dirty="0"/>
                        <a:t>For HTML and XML documents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Stylesheet language to create a style for XML documents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90659"/>
                  </a:ext>
                </a:extLst>
              </a:tr>
              <a:tr h="1101994">
                <a:tc>
                  <a:txBody>
                    <a:bodyPr/>
                    <a:lstStyle/>
                    <a:p>
                      <a:r>
                        <a:rPr lang="en-US" dirty="0"/>
                        <a:t>Determines the visual appearance of a page , but does not alter the structure of the source document.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a means of transforming XML documents.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289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"/>
          <p:cNvSpPr/>
          <p:nvPr/>
        </p:nvSpPr>
        <p:spPr>
          <a:xfrm>
            <a:off x="4232631" y="534670"/>
            <a:ext cx="17540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 dirty="0">
                <a:solidFill>
                  <a:srgbClr val="002060"/>
                </a:solidFill>
                <a:latin typeface="Erica One"/>
                <a:ea typeface="Erica One"/>
                <a:cs typeface="Erica One"/>
                <a:sym typeface="Erica One"/>
              </a:rPr>
              <a:t>Syntax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1"/>
          <p:cNvSpPr/>
          <p:nvPr/>
        </p:nvSpPr>
        <p:spPr>
          <a:xfrm>
            <a:off x="1696156" y="1422974"/>
            <a:ext cx="6826956" cy="3416279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version="1.0"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xmlns:xsl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="http://www.w3.org/1999/XSL/Transform"&gt;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match="/"&gt;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&lt;html&gt;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……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"/>
          <p:cNvSpPr txBox="1"/>
          <p:nvPr/>
        </p:nvSpPr>
        <p:spPr>
          <a:xfrm>
            <a:off x="304800" y="1578429"/>
            <a:ext cx="4876800" cy="5261428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&lt;!-- Edited by XMLSpy® --&gt;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&lt;xsl:stylesheet version="1.0"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xmlns:xsl="http://www.w3.org/1999/XSL/Transform"&gt;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&lt;xsl:template match="/"&gt;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&lt;html&gt;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&lt;body&gt;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&lt;h2&gt;My CD Collection&lt;/h2&gt;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&lt;table border="1"&gt;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&lt;tr bgcolor="#9acd32"&gt;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&lt;th&gt;Title&lt;/th&gt;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&lt;th&gt;Artist&lt;/th&gt;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&lt;tr&gt;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&lt;td&gt;&lt;xsl:value-of select="catalog/cd/title"/&gt;&lt;/td&gt;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&lt;td&gt;&lt;xsl:value-of select="catalog/cd/artist"/&gt; &lt;/td&gt;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&lt;/table&gt;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&lt;/body&gt;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&lt;/html&gt;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&lt;/xsl:template&gt;</a:t>
            </a:r>
            <a:endParaRPr/>
          </a:p>
          <a:p>
            <a:pPr marL="342900" marR="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&lt;/xsl:stylesheet&gt;</a:t>
            </a:r>
            <a:endParaRPr/>
          </a:p>
        </p:txBody>
      </p:sp>
      <p:pic>
        <p:nvPicPr>
          <p:cNvPr id="396" name="Google Shape;39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4987" y="1752600"/>
            <a:ext cx="286702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 txBox="1"/>
          <p:nvPr/>
        </p:nvSpPr>
        <p:spPr>
          <a:xfrm>
            <a:off x="5562600" y="3429000"/>
            <a:ext cx="2971800" cy="2031325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attribute in the example above, contains an XPath expression. An XPath expression works like navigating a file system; a forward slash (/) selects subdirectories.</a:t>
            </a:r>
            <a:endParaRPr/>
          </a:p>
        </p:txBody>
      </p:sp>
      <p:sp>
        <p:nvSpPr>
          <p:cNvPr id="398" name="Google Shape;398;p43"/>
          <p:cNvSpPr/>
          <p:nvPr/>
        </p:nvSpPr>
        <p:spPr>
          <a:xfrm>
            <a:off x="1524000" y="10886"/>
            <a:ext cx="761999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&lt;xsl:value-of&gt;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&lt;xsl:value-of&gt; element can be used to extract the value of an XML element and add it to the output stream of the transformation:</a:t>
            </a:r>
            <a:endParaRPr sz="18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/>
          <p:nvPr/>
        </p:nvSpPr>
        <p:spPr>
          <a:xfrm>
            <a:off x="1754414" y="1354217"/>
            <a:ext cx="7159171" cy="5509200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&lt;xsl:stylesheet version="1.0” xmlns:xsl="http://www.w3.org/1999/XSL/Transform"&gt;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&lt;xsl:template match="/"&gt;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&lt;html&gt;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&lt;body&gt;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	&lt;h2&gt;My CD Collection&lt;/h2&gt;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  &lt;table border="1"&gt;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		 &lt;tr bgcolor="#9acd32"&gt;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			   &lt;th&gt;Title&lt;/th&gt;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	 &lt;th&gt;Artist&lt;/th&gt;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		  &lt;/tr&gt;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&lt;xsl:for-each select="catalog/cd"&gt;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		  &lt;tr&gt;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 &lt;td&gt;&lt;xsl:value-of select="title"/&gt;&lt;/td&gt;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		  &lt;td&gt;&lt;xsl:value-of select="artist"/&gt;&lt;/td&gt;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&lt;/tr&gt;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	 	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&lt;/xsl:for-each&gt;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	 &lt;/table&gt;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&lt;/body&gt;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&lt;/html&gt;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&lt;/xsl:template&gt;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&lt;/xsl:stylesheet&gt; </a:t>
            </a:r>
            <a:endParaRPr/>
          </a:p>
        </p:txBody>
      </p:sp>
      <p:sp>
        <p:nvSpPr>
          <p:cNvPr id="404" name="Google Shape;404;p44"/>
          <p:cNvSpPr/>
          <p:nvPr/>
        </p:nvSpPr>
        <p:spPr>
          <a:xfrm>
            <a:off x="1524000" y="0"/>
            <a:ext cx="7620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&lt;xsl:for-each&gt; Element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XSL &lt;xsl:for-each&gt; element can be used to select every XML element of a specified node-set: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/>
          <p:nvPr/>
        </p:nvSpPr>
        <p:spPr>
          <a:xfrm>
            <a:off x="914400" y="990600"/>
            <a:ext cx="8001000" cy="5755422"/>
          </a:xfrm>
          <a:prstGeom prst="rect">
            <a:avLst/>
          </a:prstGeom>
          <a:solidFill>
            <a:srgbClr val="A4DCE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&lt;xsl:stylesheet version="1.0” xmlns:xsl="http://www.w3.org/1999/XSL/Transform"&gt;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&lt;xsl:template match="/"&gt;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&lt;html&gt;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	 &lt;body&gt;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  	&lt;h2&gt;My CD Collection&lt;/h2&gt;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 	 &lt;table border="1"&gt;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	&lt;tr bgcolor="#9acd32"&gt;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		 &lt;th&gt;Title&lt;/th&gt;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		 &lt;th&gt;Artist&lt;/th&gt;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	 		&lt;/tr&gt;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	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&lt;xsl:for-each select="catalog/cd"&gt;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 		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&lt;xsl:sort select="artist"/&gt;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 		&lt;tr&gt;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	 	 	&lt;td&gt;&lt;xsl:value-of select="title"/&gt;&lt;/td&gt;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	 		 &lt;td&gt;&lt;xsl:value-of select="artist"/&gt;&lt;/td&gt;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	 &lt;/tr&gt;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	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&lt;/xsl:for-each&gt;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  	&lt;/table&gt;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	&lt;/body&gt;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&lt;/html&gt;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&lt;/xsl:template&gt;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&lt;/xsl:stylesheet&gt; </a:t>
            </a:r>
            <a:endParaRPr/>
          </a:p>
        </p:txBody>
      </p:sp>
      <p:sp>
        <p:nvSpPr>
          <p:cNvPr id="410" name="Google Shape;410;p45"/>
          <p:cNvSpPr/>
          <p:nvPr/>
        </p:nvSpPr>
        <p:spPr>
          <a:xfrm>
            <a:off x="1394460" y="56138"/>
            <a:ext cx="77724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XSLT &lt;xsl:sort&gt;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&lt;xsl:sort&gt; element is used to sort the output.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6"/>
          <p:cNvSpPr/>
          <p:nvPr/>
        </p:nvSpPr>
        <p:spPr>
          <a:xfrm>
            <a:off x="1371600" y="21771"/>
            <a:ext cx="7620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&lt;xsl:if&gt;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put a conditional if test against the content of the XML file, add an &lt;xsl:if&gt; element to the XSL document.</a:t>
            </a:r>
            <a:endParaRPr/>
          </a:p>
        </p:txBody>
      </p:sp>
      <p:sp>
        <p:nvSpPr>
          <p:cNvPr id="416" name="Google Shape;416;p46"/>
          <p:cNvSpPr/>
          <p:nvPr/>
        </p:nvSpPr>
        <p:spPr>
          <a:xfrm>
            <a:off x="381000" y="1371600"/>
            <a:ext cx="4572000" cy="2308324"/>
          </a:xfrm>
          <a:prstGeom prst="rect">
            <a:avLst/>
          </a:prstGeom>
          <a:solidFill>
            <a:srgbClr val="B5E8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XSLT &lt;xsl:if&gt; Element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put a conditional if test against the content of the XML file, add an &lt;xsl:if&gt; element to the XSL document.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&lt;xsl:if test="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...some output if the expression is true...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&lt;/xsl:if&gt; </a:t>
            </a:r>
            <a:endParaRPr/>
          </a:p>
        </p:txBody>
      </p:sp>
      <p:sp>
        <p:nvSpPr>
          <p:cNvPr id="417" name="Google Shape;417;p46"/>
          <p:cNvSpPr/>
          <p:nvPr/>
        </p:nvSpPr>
        <p:spPr>
          <a:xfrm>
            <a:off x="2971800" y="4267200"/>
            <a:ext cx="63246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Filtering the Output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also filter the output from the XML file by adding a criterion to the select attribute.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Legal filter operators are: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  (equal)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!= (not equal)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&amp;lt; less than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&amp;gt; greater than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/>
          <p:nvPr/>
        </p:nvSpPr>
        <p:spPr>
          <a:xfrm>
            <a:off x="1600200" y="76200"/>
            <a:ext cx="73152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&lt;xsl:choose&gt; element </a:t>
            </a:r>
            <a:endParaRPr sz="2800" u="sng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used in conjunction with &lt;xsl:when&gt; and &lt;xsl:otherwise&gt; to express multiple conditional tests.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-14514" y="1752600"/>
            <a:ext cx="4572000" cy="3293209"/>
          </a:xfrm>
          <a:prstGeom prst="rect">
            <a:avLst/>
          </a:prstGeom>
          <a:solidFill>
            <a:srgbClr val="B5E8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XSLT &lt;xsl:choose&gt; Element</a:t>
            </a:r>
            <a:b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&lt;xsl:choose&gt;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&lt;xsl:when test="</a:t>
            </a:r>
            <a:r>
              <a:rPr lang="en-US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... some output ...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&lt;/xsl:when&gt;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&lt;xsl:otherwise&gt;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... some output ....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&lt;/xsl:otherwise&gt;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&lt;/xsl:choose&gt; </a:t>
            </a:r>
            <a:endParaRPr/>
          </a:p>
        </p:txBody>
      </p:sp>
      <p:sp>
        <p:nvSpPr>
          <p:cNvPr id="424" name="Google Shape;424;p47"/>
          <p:cNvSpPr/>
          <p:nvPr/>
        </p:nvSpPr>
        <p:spPr>
          <a:xfrm>
            <a:off x="3073400" y="1447800"/>
            <a:ext cx="5842000" cy="5293757"/>
          </a:xfrm>
          <a:prstGeom prst="rect">
            <a:avLst/>
          </a:prstGeom>
          <a:solidFill>
            <a:srgbClr val="D0EDF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&lt;xsl:for-each select="catalog/cd"&gt;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     &lt;tr&gt;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    	&lt;td&gt;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&lt;xsl:value-of select="title"/&gt;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   &lt;xsl:choose&gt;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   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&lt;xsl:when test="price &amp;gt; 10"&gt;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  	&lt;td bgcolor="#ff00ff"&gt;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		 &lt;xsl:value-of select="artist"/&gt;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	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&lt;/xsl:when&gt;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     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&lt;xsl:otherwise&gt;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	&lt;td&gt;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&lt;xsl:value-of select="artist"/&gt;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&lt;/td&gt;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    &lt;/xsl:otherwise&gt;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&lt;/xsl:choose&gt;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      &lt;/tr&gt;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&lt;/xsl:for-each&gt;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951" y="200025"/>
            <a:ext cx="6048375" cy="5334000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31" name="Google Shape;431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2987" y="1323975"/>
            <a:ext cx="5438775" cy="553402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432" name="Google Shape;432;p48"/>
          <p:cNvSpPr/>
          <p:nvPr/>
        </p:nvSpPr>
        <p:spPr>
          <a:xfrm>
            <a:off x="7162800" y="1323975"/>
            <a:ext cx="13674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.xslt</a:t>
            </a:r>
            <a:endParaRPr sz="5400" b="1">
              <a:solidFill>
                <a:srgbClr val="3963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2053771" y="0"/>
            <a:ext cx="2590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.xml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800" y="76200"/>
            <a:ext cx="4084933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9"/>
          <p:cNvSpPr/>
          <p:nvPr/>
        </p:nvSpPr>
        <p:spPr>
          <a:xfrm>
            <a:off x="1905000" y="762000"/>
            <a:ext cx="224933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0"/>
          <p:cNvSpPr txBox="1"/>
          <p:nvPr/>
        </p:nvSpPr>
        <p:spPr>
          <a:xfrm>
            <a:off x="76200" y="83288"/>
            <a:ext cx="4267200" cy="838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17018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Cdcatalog.xml</a:t>
            </a:r>
            <a:endParaRPr/>
          </a:p>
        </p:txBody>
      </p:sp>
      <p:sp>
        <p:nvSpPr>
          <p:cNvPr id="445" name="Google Shape;445;p50"/>
          <p:cNvSpPr txBox="1"/>
          <p:nvPr/>
        </p:nvSpPr>
        <p:spPr>
          <a:xfrm>
            <a:off x="4419600" y="83288"/>
            <a:ext cx="4117975" cy="838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17018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Cdcatalog.xsl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0"/>
          <p:cNvSpPr txBox="1"/>
          <p:nvPr/>
        </p:nvSpPr>
        <p:spPr>
          <a:xfrm>
            <a:off x="152400" y="1066800"/>
            <a:ext cx="4192588" cy="4883888"/>
          </a:xfrm>
          <a:prstGeom prst="rect">
            <a:avLst/>
          </a:prstGeom>
          <a:gradFill>
            <a:gsLst>
              <a:gs pos="0">
                <a:schemeClr val="dk1"/>
              </a:gs>
              <a:gs pos="80000">
                <a:schemeClr val="dk1"/>
              </a:gs>
              <a:gs pos="100000">
                <a:schemeClr val="dk1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&lt;?xml-stylesheet type="text/xsl" href="cdcatalog.xsl"?&gt;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&lt;catalog&gt;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&lt;cd&gt;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&lt;title&gt;Empire Burlesque&lt;/title&gt;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&lt;artist&gt;Bob Dylan&lt;/artist&gt;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&lt;country&gt;USA&lt;/country&gt;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&lt;company&gt;Columbia&lt;/company&gt;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&lt;price&gt;10.90&lt;/price&gt;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&lt;year&gt;1985&lt;/year&gt;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&lt;/cd&gt;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&lt;/catalog&gt;</a:t>
            </a:r>
            <a:endParaRPr/>
          </a:p>
        </p:txBody>
      </p:sp>
      <p:sp>
        <p:nvSpPr>
          <p:cNvPr id="447" name="Google Shape;447;p50"/>
          <p:cNvSpPr txBox="1"/>
          <p:nvPr/>
        </p:nvSpPr>
        <p:spPr>
          <a:xfrm>
            <a:off x="4495800" y="1055370"/>
            <a:ext cx="4041775" cy="4883888"/>
          </a:xfrm>
          <a:prstGeom prst="rect">
            <a:avLst/>
          </a:prstGeom>
          <a:gradFill>
            <a:gsLst>
              <a:gs pos="0">
                <a:schemeClr val="dk1"/>
              </a:gs>
              <a:gs pos="80000">
                <a:schemeClr val="dk1"/>
              </a:gs>
              <a:gs pos="100000">
                <a:schemeClr val="dk1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&lt;!-- Edited by XMLSpy® --&gt;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&lt;xsl:stylesheet version="1.0"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xmlns:xsl="http://www.w3.org/1999/XSL/Transform"&gt;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&lt;xsl:template match="/"&gt;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&lt;html&gt;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&lt;body&gt;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&lt;h2&gt;My CD Collection&lt;/h2&gt;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&lt;table border="1"&gt;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&lt;tr bgcolor="#9acd32"&gt;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&lt;th&gt;Title&lt;/th&gt;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&lt;th&gt;Artist&lt;/th&gt;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&lt;tr&gt;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&lt;td&gt;.&lt;/td&gt;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&lt;td&gt;.&lt;/td&gt;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&lt;/table&gt;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&lt;/body&gt;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&lt;/html&gt;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&lt;/xsl:template&gt;</a:t>
            </a:r>
            <a:endParaRPr/>
          </a:p>
          <a:p>
            <a:pPr marL="342900" marR="0" lvl="0" indent="-34290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&lt;/xsl:stylesheet&gt;</a:t>
            </a:r>
            <a:endParaRPr/>
          </a:p>
          <a:p>
            <a:pPr marL="342900" marR="0" lvl="0" indent="-261620" algn="l" rtl="0">
              <a:spcBef>
                <a:spcPts val="256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5038" y="4810303"/>
            <a:ext cx="2983905" cy="1961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2623</Words>
  <Application>Microsoft Office PowerPoint</Application>
  <PresentationFormat>On-screen Show (4:3)</PresentationFormat>
  <Paragraphs>497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Calibri</vt:lpstr>
      <vt:lpstr>Courier New</vt:lpstr>
      <vt:lpstr>Erica One</vt:lpstr>
      <vt:lpstr>Georgia</vt:lpstr>
      <vt:lpstr>Noto Sans Symbols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Liaquat Ali</dc:creator>
  <cp:lastModifiedBy>Fariha Shafiq</cp:lastModifiedBy>
  <cp:revision>24</cp:revision>
  <dcterms:created xsi:type="dcterms:W3CDTF">2016-05-11T05:45:45Z</dcterms:created>
  <dcterms:modified xsi:type="dcterms:W3CDTF">2025-03-22T10:19:31Z</dcterms:modified>
</cp:coreProperties>
</file>