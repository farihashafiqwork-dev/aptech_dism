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4.jpg" ContentType="image/jpg"/>
  <Override PartName="/ppt/media/image5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98" r:id="rId1"/>
  </p:sldMasterIdLst>
  <p:notesMasterIdLst>
    <p:notesMasterId r:id="rId30"/>
  </p:notesMasterIdLst>
  <p:handoutMasterIdLst>
    <p:handoutMasterId r:id="rId31"/>
  </p:handoutMasterIdLst>
  <p:sldIdLst>
    <p:sldId id="259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C2E9C57-3744-4DD9-BDAD-69E577D23F1B}">
          <p14:sldIdLst>
            <p14:sldId id="259"/>
            <p14:sldId id="258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9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6568693-47F6-45AB-84B4-99741BCB5974}" styleName="Table_0">
    <a:wholeTbl>
      <a:tcTxStyle>
        <a:schemeClr val="dk1"/>
      </a:tcTxStyle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>
          <a:top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bottom>
        </a:tcBdr>
      </a:tcStyle>
    </a:band1H>
    <a:band2H>
      <a:tcStyle>
        <a:tcBdr/>
      </a:tcStyle>
    </a:band2H>
    <a:band1V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1V>
    <a:band2V>
      <a:tcStyle>
        <a:tcBdr>
          <a:lef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a:top>
        </a:tcBdr>
      </a:tcStyle>
    </a:lastRow>
    <a:seCell>
      <a:tcStyle>
        <a:tcBdr/>
      </a:tcStyle>
    </a:seCell>
    <a:swCell>
      <a:tcStyle>
        <a:tcBdr/>
      </a:tcStyle>
    </a:swCell>
    <a:firstRow>
      <a:tcTxStyle b="on">
        <a:schemeClr val="lt1"/>
      </a:tcTxStyle>
      <a:tcStyle>
        <a:tcBdr/>
        <a:fill>
          <a:solidFill>
            <a:schemeClr val="accent6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6" autoAdjust="0"/>
    <p:restoredTop sz="94660"/>
  </p:normalViewPr>
  <p:slideViewPr>
    <p:cSldViewPr snapToGrid="0">
      <p:cViewPr varScale="1">
        <p:scale>
          <a:sx n="68" d="100"/>
          <a:sy n="68" d="100"/>
        </p:scale>
        <p:origin x="582" y="72"/>
      </p:cViewPr>
      <p:guideLst>
        <p:guide orient="horz" pos="2160"/>
        <p:guide pos="292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9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3/18/2020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09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2pPr>
            <a:lvl3pPr marR="0" lvl="2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3pPr>
            <a:lvl4pPr marR="0" lvl="3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4pPr>
            <a:lvl5pPr marR="0" lvl="4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2pPr>
            <a:lvl3pPr marR="0" lvl="2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3pPr>
            <a:lvl4pPr marR="0" lvl="3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4pPr>
            <a:lvl5pPr marR="0" lvl="4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2pPr>
            <a:lvl3pPr marR="0" lvl="2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3pPr>
            <a:lvl4pPr marR="0" lvl="3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4pPr>
            <a:lvl5pPr marR="0" lvl="4" algn="l" rtl="0">
              <a:lnSpc>
                <a:spcPct val="70000"/>
              </a:lnSpc>
              <a:spcBef>
                <a:spcPts val="70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3339373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956048"/>
            <a:ext cx="2990088" cy="914400"/>
          </a:xfrm>
          <a:noFill/>
        </p:spPr>
        <p:txBody>
          <a:bodyPr wrap="square" rtlCol="0">
            <a:spAutoFit/>
          </a:bodyPr>
          <a:lstStyle>
            <a:lvl1pPr>
              <a:defRPr lang="en-US" sz="4200" dirty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6E5624D-E8C3-4C1C-A49E-8F28E7FA3CD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2109087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9121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724628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79413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3435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744278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455825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45788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9722A4-B7DD-4972-B8CF-0A4F6863DCF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469081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17322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22712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783305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38194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58224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175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69797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653711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294142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866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660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ebworldmaps.com/" TargetMode="Externa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603717" y="494236"/>
            <a:ext cx="5132296" cy="2628792"/>
          </a:xfrm>
        </p:spPr>
        <p:txBody>
          <a:bodyPr/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b="1" spc="-185" dirty="0">
                <a:latin typeface="Trebuchet MS"/>
                <a:cs typeface="Trebuchet MS"/>
              </a:rPr>
              <a:t>Working </a:t>
            </a:r>
            <a:r>
              <a:rPr lang="en-US" sz="4000" b="1" spc="-204" dirty="0">
                <a:latin typeface="Trebuchet MS"/>
                <a:cs typeface="Trebuchet MS"/>
              </a:rPr>
              <a:t>with</a:t>
            </a:r>
            <a:r>
              <a:rPr lang="en-US" sz="4000" b="1" spc="-440" dirty="0">
                <a:latin typeface="Trebuchet MS"/>
                <a:cs typeface="Trebuchet MS"/>
              </a:rPr>
              <a:t> </a:t>
            </a:r>
            <a:r>
              <a:rPr lang="en-US" sz="4000" b="1" spc="-215" dirty="0">
                <a:latin typeface="Trebuchet MS"/>
                <a:cs typeface="Trebuchet MS"/>
              </a:rPr>
              <a:t>Cookies</a:t>
            </a:r>
            <a:endParaRPr lang="en-US" sz="40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68967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55238"/>
            <a:ext cx="3824393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5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958342"/>
            <a:ext cx="7733030" cy="33909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55600" marR="386080" indent="-342900">
              <a:lnSpc>
                <a:spcPts val="3470"/>
              </a:lnSpc>
              <a:spcBef>
                <a:spcPts val="12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800" spc="-175" dirty="0">
                <a:latin typeface="Arial"/>
                <a:cs typeface="Arial"/>
              </a:rPr>
              <a:t>Web </a:t>
            </a:r>
            <a:r>
              <a:rPr sz="2800" spc="-130" dirty="0">
                <a:latin typeface="Arial"/>
                <a:cs typeface="Arial"/>
              </a:rPr>
              <a:t>sites </a:t>
            </a:r>
            <a:r>
              <a:rPr sz="2800" spc="-95" dirty="0">
                <a:latin typeface="Arial"/>
                <a:cs typeface="Arial"/>
              </a:rPr>
              <a:t>store </a:t>
            </a:r>
            <a:r>
              <a:rPr sz="2800" spc="-135" dirty="0">
                <a:latin typeface="Arial"/>
                <a:cs typeface="Arial"/>
              </a:rPr>
              <a:t>user </a:t>
            </a:r>
            <a:r>
              <a:rPr sz="2800" spc="-45" dirty="0">
                <a:latin typeface="Arial"/>
                <a:cs typeface="Arial"/>
              </a:rPr>
              <a:t>information </a:t>
            </a:r>
            <a:r>
              <a:rPr sz="2800" spc="-35" dirty="0">
                <a:latin typeface="Arial"/>
                <a:cs typeface="Arial"/>
              </a:rPr>
              <a:t>in </a:t>
            </a:r>
            <a:r>
              <a:rPr sz="2800" spc="-170" dirty="0">
                <a:latin typeface="Arial"/>
                <a:cs typeface="Arial"/>
              </a:rPr>
              <a:t>databases</a:t>
            </a:r>
            <a:r>
              <a:rPr sz="2800" spc="-280" dirty="0">
                <a:latin typeface="Arial"/>
                <a:cs typeface="Arial"/>
              </a:rPr>
              <a:t> </a:t>
            </a:r>
            <a:r>
              <a:rPr sz="2800" spc="25" dirty="0">
                <a:latin typeface="Arial"/>
                <a:cs typeface="Arial"/>
              </a:rPr>
              <a:t>to  </a:t>
            </a:r>
            <a:r>
              <a:rPr sz="2800" spc="-75" dirty="0">
                <a:latin typeface="Arial"/>
                <a:cs typeface="Arial"/>
              </a:rPr>
              <a:t>maintain </a:t>
            </a:r>
            <a:r>
              <a:rPr sz="2800" spc="-220" dirty="0">
                <a:latin typeface="Arial"/>
                <a:cs typeface="Arial"/>
              </a:rPr>
              <a:t>a </a:t>
            </a:r>
            <a:r>
              <a:rPr sz="2800" spc="-85" dirty="0">
                <a:latin typeface="Arial"/>
                <a:cs typeface="Arial"/>
              </a:rPr>
              <a:t>track </a:t>
            </a:r>
            <a:r>
              <a:rPr sz="2800" spc="-10" dirty="0">
                <a:latin typeface="Arial"/>
                <a:cs typeface="Arial"/>
              </a:rPr>
              <a:t>of their</a:t>
            </a:r>
            <a:r>
              <a:rPr sz="2800" spc="-290" dirty="0">
                <a:latin typeface="Arial"/>
                <a:cs typeface="Arial"/>
              </a:rPr>
              <a:t> </a:t>
            </a:r>
            <a:r>
              <a:rPr sz="2800" spc="-95" dirty="0">
                <a:latin typeface="Arial"/>
                <a:cs typeface="Arial"/>
              </a:rPr>
              <a:t>visits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1F487C"/>
              </a:buClr>
              <a:buFont typeface="Wingdings"/>
              <a:buChar char=""/>
            </a:pPr>
            <a:endParaRPr sz="41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800" spc="-185" dirty="0">
                <a:latin typeface="Arial"/>
                <a:cs typeface="Arial"/>
              </a:rPr>
              <a:t>Cookies </a:t>
            </a:r>
            <a:r>
              <a:rPr sz="2800" spc="-120" dirty="0">
                <a:latin typeface="Arial"/>
                <a:cs typeface="Arial"/>
              </a:rPr>
              <a:t>enable </a:t>
            </a:r>
            <a:r>
              <a:rPr sz="2800" spc="-175" dirty="0">
                <a:latin typeface="Arial"/>
                <a:cs typeface="Arial"/>
              </a:rPr>
              <a:t>Web </a:t>
            </a:r>
            <a:r>
              <a:rPr sz="2800" spc="-130" dirty="0">
                <a:latin typeface="Arial"/>
                <a:cs typeface="Arial"/>
              </a:rPr>
              <a:t>sites </a:t>
            </a:r>
            <a:r>
              <a:rPr sz="2800" spc="25" dirty="0">
                <a:latin typeface="Arial"/>
                <a:cs typeface="Arial"/>
              </a:rPr>
              <a:t>to </a:t>
            </a:r>
            <a:r>
              <a:rPr sz="2800" spc="-95" dirty="0">
                <a:latin typeface="Arial"/>
                <a:cs typeface="Arial"/>
              </a:rPr>
              <a:t>store </a:t>
            </a:r>
            <a:r>
              <a:rPr sz="2800" spc="-135" dirty="0">
                <a:latin typeface="Arial"/>
                <a:cs typeface="Arial"/>
              </a:rPr>
              <a:t>user</a:t>
            </a:r>
            <a:r>
              <a:rPr sz="2800" spc="-235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information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1F487C"/>
              </a:buClr>
              <a:buFont typeface="Wingdings"/>
              <a:buChar char=""/>
            </a:pPr>
            <a:endParaRPr sz="4050">
              <a:latin typeface="Times New Roman"/>
              <a:cs typeface="Times New Roman"/>
            </a:endParaRPr>
          </a:p>
          <a:p>
            <a:pPr marL="355600" marR="210820" indent="-342900">
              <a:lnSpc>
                <a:spcPct val="100000"/>
              </a:lnSpc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800" spc="-380" dirty="0">
                <a:latin typeface="Arial"/>
                <a:cs typeface="Arial"/>
              </a:rPr>
              <a:t>PHP </a:t>
            </a:r>
            <a:r>
              <a:rPr sz="2800" spc="-100" dirty="0">
                <a:latin typeface="Arial"/>
                <a:cs typeface="Arial"/>
              </a:rPr>
              <a:t>supports </a:t>
            </a:r>
            <a:r>
              <a:rPr sz="2800" spc="-130" dirty="0">
                <a:latin typeface="Arial"/>
                <a:cs typeface="Arial"/>
              </a:rPr>
              <a:t>Hyper </a:t>
            </a:r>
            <a:r>
              <a:rPr sz="2800" spc="-210" dirty="0">
                <a:latin typeface="Arial"/>
                <a:cs typeface="Arial"/>
              </a:rPr>
              <a:t>Text </a:t>
            </a:r>
            <a:r>
              <a:rPr sz="2800" spc="-165" dirty="0">
                <a:latin typeface="Arial"/>
                <a:cs typeface="Arial"/>
              </a:rPr>
              <a:t>Transfer </a:t>
            </a:r>
            <a:r>
              <a:rPr sz="2800" spc="-100" dirty="0">
                <a:latin typeface="Arial"/>
                <a:cs typeface="Arial"/>
              </a:rPr>
              <a:t>Protocol </a:t>
            </a:r>
            <a:r>
              <a:rPr sz="2800" spc="-260" dirty="0">
                <a:latin typeface="Arial"/>
                <a:cs typeface="Arial"/>
              </a:rPr>
              <a:t>(HTTP)  </a:t>
            </a:r>
            <a:r>
              <a:rPr sz="2800" spc="-145" dirty="0">
                <a:latin typeface="Arial"/>
                <a:cs typeface="Arial"/>
              </a:rPr>
              <a:t>cookies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35128"/>
            <a:ext cx="8145145" cy="5003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lang="en-US" sz="3200" cap="all" spc="-30" dirty="0">
                <a:solidFill>
                  <a:srgbClr val="8FA751"/>
                </a:solidFill>
                <a:ea typeface="+mj-ea"/>
                <a:cs typeface="+mj-cs"/>
              </a:rPr>
              <a:t>W</a:t>
            </a:r>
            <a:r>
              <a:rPr lang="en-US" sz="3200" cap="all" spc="-155" dirty="0">
                <a:solidFill>
                  <a:srgbClr val="8FA751"/>
                </a:solidFill>
                <a:ea typeface="+mj-ea"/>
                <a:cs typeface="+mj-cs"/>
              </a:rPr>
              <a:t>e</a:t>
            </a:r>
            <a:r>
              <a:rPr lang="en-US" sz="3200" cap="all" spc="-150" dirty="0">
                <a:solidFill>
                  <a:srgbClr val="8FA751"/>
                </a:solidFill>
                <a:ea typeface="+mj-ea"/>
                <a:cs typeface="+mj-cs"/>
              </a:rPr>
              <a:t>b</a:t>
            </a:r>
            <a:r>
              <a:rPr lang="en-US" sz="3200" cap="all" spc="-200" dirty="0">
                <a:solidFill>
                  <a:srgbClr val="8FA751"/>
                </a:solidFill>
                <a:ea typeface="+mj-ea"/>
                <a:cs typeface="+mj-cs"/>
              </a:rPr>
              <a:t> </a:t>
            </a:r>
            <a:r>
              <a:rPr lang="en-US" sz="3200" cap="all" spc="-190" dirty="0">
                <a:solidFill>
                  <a:srgbClr val="8FA751"/>
                </a:solidFill>
                <a:ea typeface="+mj-ea"/>
                <a:cs typeface="+mj-cs"/>
              </a:rPr>
              <a:t>P</a:t>
            </a:r>
            <a:r>
              <a:rPr lang="en-US" sz="3200" cap="all" spc="-90" dirty="0">
                <a:solidFill>
                  <a:srgbClr val="8FA751"/>
                </a:solidFill>
                <a:ea typeface="+mj-ea"/>
                <a:cs typeface="+mj-cs"/>
              </a:rPr>
              <a:t>a</a:t>
            </a:r>
            <a:r>
              <a:rPr lang="en-US" sz="3200" cap="all" spc="-100" dirty="0">
                <a:solidFill>
                  <a:srgbClr val="8FA751"/>
                </a:solidFill>
                <a:ea typeface="+mj-ea"/>
                <a:cs typeface="+mj-cs"/>
              </a:rPr>
              <a:t>g</a:t>
            </a:r>
            <a:r>
              <a:rPr lang="en-US" sz="3200" cap="all" spc="-155" dirty="0">
                <a:solidFill>
                  <a:srgbClr val="8FA751"/>
                </a:solidFill>
                <a:ea typeface="+mj-ea"/>
                <a:cs typeface="+mj-cs"/>
              </a:rPr>
              <a:t>e</a:t>
            </a:r>
            <a:r>
              <a:rPr lang="en-US" sz="3200" cap="all" spc="-114" dirty="0">
                <a:solidFill>
                  <a:srgbClr val="8FA751"/>
                </a:solidFill>
                <a:ea typeface="+mj-ea"/>
                <a:cs typeface="+mj-cs"/>
              </a:rPr>
              <a:t>s</a:t>
            </a:r>
            <a:r>
              <a:rPr sz="2500" b="1" spc="-130" dirty="0">
                <a:solidFill>
                  <a:schemeClr val="tx1"/>
                </a:solidFill>
                <a:latin typeface="Trebuchet MS"/>
                <a:cs typeface="Trebuchet MS"/>
              </a:rPr>
              <a:t>	</a:t>
            </a:r>
            <a:endParaRPr sz="2500" dirty="0">
              <a:solidFill>
                <a:schemeClr val="tx1"/>
              </a:solidFill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75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431800" marR="450850" indent="-342900">
              <a:lnSpc>
                <a:spcPct val="100000"/>
              </a:lnSpc>
              <a:buClr>
                <a:srgbClr val="1F487C"/>
              </a:buClr>
              <a:buSzPct val="50000"/>
              <a:buFont typeface="Wingdings"/>
              <a:buChar char=""/>
              <a:tabLst>
                <a:tab pos="431165" algn="l"/>
                <a:tab pos="431800" algn="l"/>
              </a:tabLst>
            </a:pPr>
            <a:r>
              <a:rPr sz="2400" spc="-254" dirty="0">
                <a:solidFill>
                  <a:schemeClr val="tx1"/>
                </a:solidFill>
                <a:latin typeface="Arial"/>
                <a:cs typeface="Arial"/>
              </a:rPr>
              <a:t>Uses </a:t>
            </a:r>
            <a:r>
              <a:rPr sz="2400" spc="-345" dirty="0">
                <a:solidFill>
                  <a:schemeClr val="tx1"/>
                </a:solidFill>
                <a:latin typeface="Arial"/>
                <a:cs typeface="Arial"/>
              </a:rPr>
              <a:t>HTTP </a:t>
            </a:r>
            <a:r>
              <a:rPr sz="2400" spc="-60" dirty="0">
                <a:solidFill>
                  <a:schemeClr val="tx1"/>
                </a:solidFill>
                <a:latin typeface="Arial"/>
                <a:cs typeface="Arial"/>
              </a:rPr>
              <a:t>protocol </a:t>
            </a:r>
            <a:r>
              <a:rPr sz="2400" spc="-10" dirty="0">
                <a:solidFill>
                  <a:schemeClr val="tx1"/>
                </a:solidFill>
                <a:latin typeface="Arial"/>
                <a:cs typeface="Arial"/>
              </a:rPr>
              <a:t>for </a:t>
            </a:r>
            <a:r>
              <a:rPr sz="2400" spc="-145" dirty="0">
                <a:solidFill>
                  <a:schemeClr val="tx1"/>
                </a:solidFill>
                <a:latin typeface="Arial"/>
                <a:cs typeface="Arial"/>
              </a:rPr>
              <a:t>sending </a:t>
            </a:r>
            <a:r>
              <a:rPr sz="2400" spc="-45" dirty="0">
                <a:solidFill>
                  <a:schemeClr val="tx1"/>
                </a:solidFill>
                <a:latin typeface="Arial"/>
                <a:cs typeface="Arial"/>
              </a:rPr>
              <a:t>information </a:t>
            </a:r>
            <a:r>
              <a:rPr sz="2400" spc="25" dirty="0">
                <a:solidFill>
                  <a:schemeClr val="tx1"/>
                </a:solidFill>
                <a:latin typeface="Arial"/>
                <a:cs typeface="Arial"/>
              </a:rPr>
              <a:t>to </a:t>
            </a:r>
            <a:r>
              <a:rPr sz="2400" spc="-35" dirty="0">
                <a:solidFill>
                  <a:schemeClr val="tx1"/>
                </a:solidFill>
                <a:latin typeface="Arial"/>
                <a:cs typeface="Arial"/>
              </a:rPr>
              <a:t>the  </a:t>
            </a:r>
            <a:r>
              <a:rPr sz="2400" spc="-120" dirty="0">
                <a:solidFill>
                  <a:schemeClr val="tx1"/>
                </a:solidFill>
                <a:latin typeface="Arial"/>
                <a:cs typeface="Arial"/>
              </a:rPr>
              <a:t>server</a:t>
            </a:r>
            <a:endParaRPr sz="2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889000" marR="121920" lvl="1" indent="-342900" algn="just">
              <a:lnSpc>
                <a:spcPct val="100000"/>
              </a:lnSpc>
              <a:spcBef>
                <a:spcPts val="6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889635" algn="l"/>
              </a:tabLst>
            </a:pPr>
            <a:r>
              <a:rPr sz="2000" spc="-295" dirty="0">
                <a:solidFill>
                  <a:schemeClr val="tx1"/>
                </a:solidFill>
                <a:latin typeface="Arial"/>
                <a:cs typeface="Arial"/>
              </a:rPr>
              <a:t>HTTP </a:t>
            </a:r>
            <a:r>
              <a:rPr sz="2000" spc="-125" dirty="0">
                <a:solidFill>
                  <a:schemeClr val="tx1"/>
                </a:solidFill>
                <a:latin typeface="Arial"/>
                <a:cs typeface="Arial"/>
              </a:rPr>
              <a:t>is </a:t>
            </a:r>
            <a:r>
              <a:rPr sz="2000" spc="-190" dirty="0">
                <a:solidFill>
                  <a:schemeClr val="tx1"/>
                </a:solidFill>
                <a:latin typeface="Arial"/>
                <a:cs typeface="Arial"/>
              </a:rPr>
              <a:t>a </a:t>
            </a:r>
            <a:r>
              <a:rPr sz="2000" spc="-120" dirty="0">
                <a:solidFill>
                  <a:schemeClr val="tx1"/>
                </a:solidFill>
                <a:latin typeface="Arial"/>
                <a:cs typeface="Arial"/>
              </a:rPr>
              <a:t>stateless </a:t>
            </a:r>
            <a:r>
              <a:rPr sz="2000" spc="-55" dirty="0">
                <a:solidFill>
                  <a:schemeClr val="tx1"/>
                </a:solidFill>
                <a:latin typeface="Arial"/>
                <a:cs typeface="Arial"/>
              </a:rPr>
              <a:t>protocol, </a:t>
            </a:r>
            <a:r>
              <a:rPr sz="2000" spc="-160" dirty="0">
                <a:solidFill>
                  <a:schemeClr val="tx1"/>
                </a:solidFill>
                <a:latin typeface="Arial"/>
                <a:cs typeface="Arial"/>
              </a:rPr>
              <a:t>because 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the </a:t>
            </a:r>
            <a:r>
              <a:rPr sz="2000" spc="-90" dirty="0">
                <a:solidFill>
                  <a:schemeClr val="tx1"/>
                </a:solidFill>
                <a:latin typeface="Arial"/>
                <a:cs typeface="Arial"/>
              </a:rPr>
              <a:t>execution </a:t>
            </a:r>
            <a:r>
              <a:rPr sz="2000" spc="-5" dirty="0">
                <a:solidFill>
                  <a:schemeClr val="tx1"/>
                </a:solidFill>
                <a:latin typeface="Arial"/>
                <a:cs typeface="Arial"/>
              </a:rPr>
              <a:t>of 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the  </a:t>
            </a:r>
            <a:r>
              <a:rPr sz="2000" spc="-45" dirty="0">
                <a:solidFill>
                  <a:schemeClr val="tx1"/>
                </a:solidFill>
                <a:latin typeface="Arial"/>
                <a:cs typeface="Arial"/>
              </a:rPr>
              <a:t>current </a:t>
            </a:r>
            <a:r>
              <a:rPr sz="2000" spc="-114" dirty="0">
                <a:solidFill>
                  <a:schemeClr val="tx1"/>
                </a:solidFill>
                <a:latin typeface="Arial"/>
                <a:cs typeface="Arial"/>
              </a:rPr>
              <a:t>command </a:t>
            </a:r>
            <a:r>
              <a:rPr sz="2000" spc="-125" dirty="0">
                <a:solidFill>
                  <a:schemeClr val="tx1"/>
                </a:solidFill>
                <a:latin typeface="Arial"/>
                <a:cs typeface="Arial"/>
              </a:rPr>
              <a:t>is </a:t>
            </a:r>
            <a:r>
              <a:rPr sz="2000" spc="-80" dirty="0">
                <a:solidFill>
                  <a:schemeClr val="tx1"/>
                </a:solidFill>
                <a:latin typeface="Arial"/>
                <a:cs typeface="Arial"/>
              </a:rPr>
              <a:t>completed </a:t>
            </a:r>
            <a:r>
              <a:rPr sz="2000" spc="5" dirty="0">
                <a:solidFill>
                  <a:schemeClr val="tx1"/>
                </a:solidFill>
                <a:latin typeface="Arial"/>
                <a:cs typeface="Arial"/>
              </a:rPr>
              <a:t>without 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the</a:t>
            </a:r>
            <a:r>
              <a:rPr sz="2000" spc="-5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95" dirty="0">
                <a:solidFill>
                  <a:schemeClr val="tx1"/>
                </a:solidFill>
                <a:latin typeface="Arial"/>
                <a:cs typeface="Arial"/>
              </a:rPr>
              <a:t>knowledge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of  </a:t>
            </a:r>
            <a:r>
              <a:rPr sz="2000" spc="-135" dirty="0">
                <a:solidFill>
                  <a:schemeClr val="tx1"/>
                </a:solidFill>
                <a:latin typeface="Arial"/>
                <a:cs typeface="Arial"/>
              </a:rPr>
              <a:t>commands </a:t>
            </a:r>
            <a:r>
              <a:rPr sz="2000" spc="-5" dirty="0">
                <a:solidFill>
                  <a:schemeClr val="tx1"/>
                </a:solidFill>
                <a:latin typeface="Arial"/>
                <a:cs typeface="Arial"/>
              </a:rPr>
              <a:t>that </a:t>
            </a:r>
            <a:r>
              <a:rPr sz="2000" spc="-155" dirty="0">
                <a:solidFill>
                  <a:schemeClr val="tx1"/>
                </a:solidFill>
                <a:latin typeface="Arial"/>
                <a:cs typeface="Arial"/>
              </a:rPr>
              <a:t>came </a:t>
            </a:r>
            <a:r>
              <a:rPr sz="2000" spc="-75" dirty="0">
                <a:solidFill>
                  <a:schemeClr val="tx1"/>
                </a:solidFill>
                <a:latin typeface="Arial"/>
                <a:cs typeface="Arial"/>
              </a:rPr>
              <a:t>before</a:t>
            </a:r>
            <a:r>
              <a:rPr sz="2000" spc="-24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75" dirty="0">
                <a:solidFill>
                  <a:schemeClr val="tx1"/>
                </a:solidFill>
                <a:latin typeface="Arial"/>
                <a:cs typeface="Arial"/>
              </a:rPr>
              <a:t>it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31800" indent="-342900">
              <a:lnSpc>
                <a:spcPct val="100000"/>
              </a:lnSpc>
              <a:spcBef>
                <a:spcPts val="64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431165" algn="l"/>
                <a:tab pos="431800" algn="l"/>
              </a:tabLst>
            </a:pPr>
            <a:r>
              <a:rPr sz="2400" spc="-140" dirty="0">
                <a:solidFill>
                  <a:schemeClr val="tx1"/>
                </a:solidFill>
                <a:latin typeface="Arial"/>
                <a:cs typeface="Arial"/>
              </a:rPr>
              <a:t>Are </a:t>
            </a:r>
            <a:r>
              <a:rPr sz="2400" spc="-5" dirty="0">
                <a:solidFill>
                  <a:schemeClr val="tx1"/>
                </a:solidFill>
                <a:latin typeface="Arial"/>
                <a:cs typeface="Arial"/>
              </a:rPr>
              <a:t>of </a:t>
            </a:r>
            <a:r>
              <a:rPr sz="2400" spc="10" dirty="0">
                <a:solidFill>
                  <a:schemeClr val="tx1"/>
                </a:solidFill>
                <a:latin typeface="Arial"/>
                <a:cs typeface="Arial"/>
              </a:rPr>
              <a:t>two</a:t>
            </a:r>
            <a:r>
              <a:rPr sz="2400" spc="-30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95" dirty="0">
                <a:solidFill>
                  <a:schemeClr val="tx1"/>
                </a:solidFill>
                <a:latin typeface="Arial"/>
                <a:cs typeface="Arial"/>
              </a:rPr>
              <a:t>types:</a:t>
            </a:r>
            <a:endParaRPr sz="2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832485" lvl="1" indent="-286385">
              <a:lnSpc>
                <a:spcPct val="100000"/>
              </a:lnSpc>
              <a:spcBef>
                <a:spcPts val="6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832485" algn="l"/>
                <a:tab pos="833119" algn="l"/>
              </a:tabLst>
            </a:pPr>
            <a:r>
              <a:rPr sz="2000" spc="-110" dirty="0">
                <a:solidFill>
                  <a:schemeClr val="tx1"/>
                </a:solidFill>
                <a:latin typeface="Arial"/>
                <a:cs typeface="Arial"/>
              </a:rPr>
              <a:t>Static </a:t>
            </a:r>
            <a:r>
              <a:rPr sz="2000" spc="-145" dirty="0">
                <a:solidFill>
                  <a:schemeClr val="tx1"/>
                </a:solidFill>
                <a:latin typeface="Arial"/>
                <a:cs typeface="Arial"/>
              </a:rPr>
              <a:t>Web</a:t>
            </a:r>
            <a:r>
              <a:rPr sz="2000" spc="-1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85" dirty="0">
                <a:solidFill>
                  <a:schemeClr val="tx1"/>
                </a:solidFill>
                <a:latin typeface="Arial"/>
                <a:cs typeface="Arial"/>
              </a:rPr>
              <a:t>pages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832485" lvl="1" indent="-286385">
              <a:lnSpc>
                <a:spcPct val="100000"/>
              </a:lnSpc>
              <a:spcBef>
                <a:spcPts val="58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832485" algn="l"/>
                <a:tab pos="833119" algn="l"/>
              </a:tabLst>
            </a:pPr>
            <a:r>
              <a:rPr sz="2000" spc="-130" dirty="0">
                <a:solidFill>
                  <a:schemeClr val="tx1"/>
                </a:solidFill>
                <a:latin typeface="Arial"/>
                <a:cs typeface="Arial"/>
              </a:rPr>
              <a:t>Dynamic </a:t>
            </a:r>
            <a:r>
              <a:rPr sz="2000" spc="-145" dirty="0">
                <a:solidFill>
                  <a:schemeClr val="tx1"/>
                </a:solidFill>
                <a:latin typeface="Arial"/>
                <a:cs typeface="Arial"/>
              </a:rPr>
              <a:t>Web </a:t>
            </a:r>
            <a:r>
              <a:rPr sz="2000" spc="-185" dirty="0">
                <a:solidFill>
                  <a:schemeClr val="tx1"/>
                </a:solidFill>
                <a:latin typeface="Arial"/>
                <a:cs typeface="Arial"/>
              </a:rPr>
              <a:t>pages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431800" indent="-342900">
              <a:lnSpc>
                <a:spcPct val="100000"/>
              </a:lnSpc>
              <a:spcBef>
                <a:spcPts val="64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431165" algn="l"/>
                <a:tab pos="431800" algn="l"/>
              </a:tabLst>
            </a:pPr>
            <a:r>
              <a:rPr sz="2400" spc="-125" dirty="0">
                <a:solidFill>
                  <a:schemeClr val="tx1"/>
                </a:solidFill>
                <a:latin typeface="Arial"/>
                <a:cs typeface="Arial"/>
              </a:rPr>
              <a:t>Static </a:t>
            </a:r>
            <a:r>
              <a:rPr sz="2400" spc="-170" dirty="0">
                <a:solidFill>
                  <a:schemeClr val="tx1"/>
                </a:solidFill>
                <a:latin typeface="Arial"/>
                <a:cs typeface="Arial"/>
              </a:rPr>
              <a:t>Web</a:t>
            </a:r>
            <a:r>
              <a:rPr sz="2400" spc="-1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400" spc="-210" dirty="0">
                <a:solidFill>
                  <a:schemeClr val="tx1"/>
                </a:solidFill>
                <a:latin typeface="Arial"/>
                <a:cs typeface="Arial"/>
              </a:rPr>
              <a:t>pages</a:t>
            </a:r>
            <a:endParaRPr sz="24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832485" marR="5080" indent="-287020">
              <a:lnSpc>
                <a:spcPct val="100000"/>
              </a:lnSpc>
              <a:spcBef>
                <a:spcPts val="610"/>
              </a:spcBef>
              <a:tabLst>
                <a:tab pos="832485" algn="l"/>
              </a:tabLst>
            </a:pPr>
            <a:r>
              <a:rPr sz="1100" spc="375" dirty="0">
                <a:solidFill>
                  <a:schemeClr val="tx1"/>
                </a:solidFill>
                <a:latin typeface="Arial"/>
                <a:cs typeface="Arial"/>
              </a:rPr>
              <a:t>	</a:t>
            </a:r>
            <a:r>
              <a:rPr sz="2000" spc="-145" dirty="0">
                <a:solidFill>
                  <a:schemeClr val="tx1"/>
                </a:solidFill>
                <a:latin typeface="Arial"/>
                <a:cs typeface="Arial"/>
              </a:rPr>
              <a:t>Web </a:t>
            </a:r>
            <a:r>
              <a:rPr sz="2000" spc="-85" dirty="0">
                <a:solidFill>
                  <a:schemeClr val="tx1"/>
                </a:solidFill>
                <a:latin typeface="Arial"/>
                <a:cs typeface="Arial"/>
              </a:rPr>
              <a:t>browser </a:t>
            </a:r>
            <a:r>
              <a:rPr sz="2000" spc="-105" dirty="0">
                <a:solidFill>
                  <a:schemeClr val="tx1"/>
                </a:solidFill>
                <a:latin typeface="Arial"/>
                <a:cs typeface="Arial"/>
              </a:rPr>
              <a:t>requests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for </a:t>
            </a:r>
            <a:r>
              <a:rPr sz="2000" spc="-190" dirty="0">
                <a:solidFill>
                  <a:schemeClr val="tx1"/>
                </a:solidFill>
                <a:latin typeface="Arial"/>
                <a:cs typeface="Arial"/>
              </a:rPr>
              <a:t>a </a:t>
            </a:r>
            <a:r>
              <a:rPr sz="2000" spc="-160" dirty="0">
                <a:solidFill>
                  <a:schemeClr val="tx1"/>
                </a:solidFill>
                <a:latin typeface="Arial"/>
                <a:cs typeface="Arial"/>
              </a:rPr>
              <a:t>page </a:t>
            </a:r>
            <a:r>
              <a:rPr sz="2000" spc="-114" dirty="0">
                <a:solidFill>
                  <a:schemeClr val="tx1"/>
                </a:solidFill>
                <a:latin typeface="Arial"/>
                <a:cs typeface="Arial"/>
              </a:rPr>
              <a:t>and 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the </a:t>
            </a:r>
            <a:r>
              <a:rPr sz="2000" spc="-105" dirty="0">
                <a:solidFill>
                  <a:schemeClr val="tx1"/>
                </a:solidFill>
                <a:latin typeface="Arial"/>
                <a:cs typeface="Arial"/>
              </a:rPr>
              <a:t>server</a:t>
            </a:r>
            <a:r>
              <a:rPr sz="2000" spc="-30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00" dirty="0">
                <a:solidFill>
                  <a:schemeClr val="tx1"/>
                </a:solidFill>
                <a:latin typeface="Arial"/>
                <a:cs typeface="Arial"/>
              </a:rPr>
              <a:t>completes  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the </a:t>
            </a:r>
            <a:r>
              <a:rPr sz="2000" spc="-85" dirty="0">
                <a:solidFill>
                  <a:schemeClr val="tx1"/>
                </a:solidFill>
                <a:latin typeface="Arial"/>
                <a:cs typeface="Arial"/>
              </a:rPr>
              <a:t>request </a:t>
            </a:r>
            <a:r>
              <a:rPr sz="2000" spc="-105" dirty="0">
                <a:solidFill>
                  <a:schemeClr val="tx1"/>
                </a:solidFill>
                <a:latin typeface="Arial"/>
                <a:cs typeface="Arial"/>
              </a:rPr>
              <a:t>by </a:t>
            </a:r>
            <a:r>
              <a:rPr sz="2000" spc="-125" dirty="0">
                <a:solidFill>
                  <a:schemeClr val="tx1"/>
                </a:solidFill>
                <a:latin typeface="Arial"/>
                <a:cs typeface="Arial"/>
              </a:rPr>
              <a:t>sending 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the </a:t>
            </a:r>
            <a:r>
              <a:rPr sz="2000" spc="-60" dirty="0">
                <a:solidFill>
                  <a:schemeClr val="tx1"/>
                </a:solidFill>
                <a:latin typeface="Arial"/>
                <a:cs typeface="Arial"/>
              </a:rPr>
              <a:t>required</a:t>
            </a:r>
            <a:r>
              <a:rPr sz="2000" spc="-38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5" dirty="0">
                <a:solidFill>
                  <a:schemeClr val="tx1"/>
                </a:solidFill>
                <a:latin typeface="Arial"/>
                <a:cs typeface="Arial"/>
              </a:rPr>
              <a:t>file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46100">
              <a:lnSpc>
                <a:spcPct val="100000"/>
              </a:lnSpc>
              <a:spcBef>
                <a:spcPts val="575"/>
              </a:spcBef>
              <a:tabLst>
                <a:tab pos="832485" algn="l"/>
              </a:tabLst>
            </a:pPr>
            <a:r>
              <a:rPr sz="1100" spc="375" dirty="0">
                <a:solidFill>
                  <a:schemeClr val="tx1"/>
                </a:solidFill>
                <a:latin typeface="Arial"/>
                <a:cs typeface="Arial"/>
              </a:rPr>
              <a:t>	</a:t>
            </a:r>
            <a:r>
              <a:rPr sz="2000" spc="-190" dirty="0">
                <a:solidFill>
                  <a:schemeClr val="tx1"/>
                </a:solidFill>
                <a:latin typeface="Arial"/>
                <a:cs typeface="Arial"/>
              </a:rPr>
              <a:t>Does </a:t>
            </a:r>
            <a:r>
              <a:rPr sz="2000" spc="-10" dirty="0">
                <a:solidFill>
                  <a:schemeClr val="tx1"/>
                </a:solidFill>
                <a:latin typeface="Arial"/>
                <a:cs typeface="Arial"/>
              </a:rPr>
              <a:t>not </a:t>
            </a:r>
            <a:r>
              <a:rPr sz="2000" spc="-90" dirty="0">
                <a:solidFill>
                  <a:schemeClr val="tx1"/>
                </a:solidFill>
                <a:latin typeface="Arial"/>
                <a:cs typeface="Arial"/>
              </a:rPr>
              <a:t>involve </a:t>
            </a:r>
            <a:r>
              <a:rPr sz="2000" spc="-145" dirty="0">
                <a:solidFill>
                  <a:schemeClr val="tx1"/>
                </a:solidFill>
                <a:latin typeface="Arial"/>
                <a:cs typeface="Arial"/>
              </a:rPr>
              <a:t>any </a:t>
            </a:r>
            <a:r>
              <a:rPr sz="2000" spc="-45" dirty="0">
                <a:solidFill>
                  <a:schemeClr val="tx1"/>
                </a:solidFill>
                <a:latin typeface="Arial"/>
                <a:cs typeface="Arial"/>
              </a:rPr>
              <a:t>interaction </a:t>
            </a:r>
            <a:r>
              <a:rPr sz="2000" spc="15" dirty="0">
                <a:solidFill>
                  <a:schemeClr val="tx1"/>
                </a:solidFill>
                <a:latin typeface="Arial"/>
                <a:cs typeface="Arial"/>
              </a:rPr>
              <a:t>with </a:t>
            </a:r>
            <a:r>
              <a:rPr sz="2000" spc="-30" dirty="0">
                <a:solidFill>
                  <a:schemeClr val="tx1"/>
                </a:solidFill>
                <a:latin typeface="Arial"/>
                <a:cs typeface="Arial"/>
              </a:rPr>
              <a:t>the</a:t>
            </a:r>
            <a:r>
              <a:rPr sz="2000" spc="-45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2000" spc="-114" dirty="0">
                <a:solidFill>
                  <a:schemeClr val="tx1"/>
                </a:solidFill>
                <a:latin typeface="Arial"/>
                <a:cs typeface="Arial"/>
              </a:rPr>
              <a:t>user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768947" y="2025748"/>
            <a:ext cx="2863923" cy="17983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55238"/>
            <a:ext cx="776097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30" dirty="0"/>
              <a:t>W</a:t>
            </a:r>
            <a:r>
              <a:rPr spc="-155" dirty="0"/>
              <a:t>e</a:t>
            </a:r>
            <a:r>
              <a:rPr spc="-150" dirty="0"/>
              <a:t>b</a:t>
            </a:r>
            <a:r>
              <a:rPr spc="-200" dirty="0"/>
              <a:t> </a:t>
            </a:r>
            <a:r>
              <a:rPr spc="-190" dirty="0"/>
              <a:t>P</a:t>
            </a:r>
            <a:r>
              <a:rPr spc="-90" dirty="0"/>
              <a:t>a</a:t>
            </a:r>
            <a:r>
              <a:rPr spc="-100" dirty="0"/>
              <a:t>g</a:t>
            </a:r>
            <a:r>
              <a:rPr spc="-155" dirty="0"/>
              <a:t>e</a:t>
            </a:r>
            <a:r>
              <a:rPr spc="-114" dirty="0"/>
              <a:t>s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153670" y="602196"/>
            <a:ext cx="7914640" cy="17408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155" dirty="0">
                <a:latin typeface="Arial"/>
                <a:cs typeface="Arial"/>
              </a:rPr>
              <a:t>Dynamic </a:t>
            </a:r>
            <a:r>
              <a:rPr sz="2400" spc="-175" dirty="0">
                <a:latin typeface="Arial"/>
                <a:cs typeface="Arial"/>
              </a:rPr>
              <a:t>Web</a:t>
            </a:r>
            <a:r>
              <a:rPr sz="2400" spc="-100" dirty="0">
                <a:latin typeface="Arial"/>
                <a:cs typeface="Arial"/>
              </a:rPr>
              <a:t> </a:t>
            </a:r>
            <a:r>
              <a:rPr sz="2400" spc="-210" dirty="0">
                <a:latin typeface="Arial"/>
                <a:cs typeface="Arial"/>
              </a:rPr>
              <a:t>pages</a:t>
            </a:r>
            <a:endParaRPr lang="en-US"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30"/>
              </a:spcBef>
              <a:tabLst>
                <a:tab pos="756285" algn="l"/>
              </a:tabLst>
            </a:pPr>
            <a:r>
              <a:rPr lang="en-US" sz="11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lang="en-US" sz="2000" spc="-125" dirty="0">
                <a:latin typeface="Arial"/>
                <a:cs typeface="Arial"/>
              </a:rPr>
              <a:t>Require </a:t>
            </a:r>
            <a:r>
              <a:rPr lang="en-US" sz="2000" spc="-114" dirty="0">
                <a:latin typeface="Arial"/>
                <a:cs typeface="Arial"/>
              </a:rPr>
              <a:t>user </a:t>
            </a:r>
            <a:r>
              <a:rPr lang="en-US" sz="2000" spc="-45" dirty="0">
                <a:latin typeface="Arial"/>
                <a:cs typeface="Arial"/>
              </a:rPr>
              <a:t>interaction, </a:t>
            </a:r>
            <a:r>
              <a:rPr lang="en-US" sz="2000" spc="-170" dirty="0">
                <a:latin typeface="Arial"/>
                <a:cs typeface="Arial"/>
              </a:rPr>
              <a:t>so </a:t>
            </a:r>
            <a:r>
              <a:rPr lang="en-US" sz="2000" spc="-70" dirty="0">
                <a:latin typeface="Arial"/>
                <a:cs typeface="Arial"/>
              </a:rPr>
              <a:t>scripting </a:t>
            </a:r>
            <a:r>
              <a:rPr lang="en-US" sz="2000" spc="-150" dirty="0">
                <a:latin typeface="Arial"/>
                <a:cs typeface="Arial"/>
              </a:rPr>
              <a:t>languages </a:t>
            </a:r>
            <a:r>
              <a:rPr lang="en-US" sz="2000" spc="-155" dirty="0">
                <a:latin typeface="Arial"/>
                <a:cs typeface="Arial"/>
              </a:rPr>
              <a:t>such</a:t>
            </a:r>
            <a:r>
              <a:rPr lang="en-US" sz="2000" spc="-315" dirty="0">
                <a:latin typeface="Arial"/>
                <a:cs typeface="Arial"/>
              </a:rPr>
              <a:t> </a:t>
            </a:r>
            <a:r>
              <a:rPr lang="en-US" sz="2000" spc="-225" dirty="0">
                <a:latin typeface="Arial"/>
                <a:cs typeface="Arial"/>
              </a:rPr>
              <a:t>as</a:t>
            </a:r>
            <a:endParaRPr lang="en-US" sz="2000" dirty="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2000" spc="-150" dirty="0">
                <a:latin typeface="Arial"/>
                <a:cs typeface="Arial"/>
              </a:rPr>
              <a:t>JavaScript, </a:t>
            </a:r>
            <a:r>
              <a:rPr sz="2000" spc="-335" dirty="0">
                <a:latin typeface="Arial"/>
                <a:cs typeface="Arial"/>
              </a:rPr>
              <a:t>PHP, </a:t>
            </a:r>
            <a:r>
              <a:rPr sz="2000" spc="-114" dirty="0">
                <a:latin typeface="Arial"/>
                <a:cs typeface="Arial"/>
              </a:rPr>
              <a:t>and </a:t>
            </a:r>
            <a:r>
              <a:rPr sz="2000" spc="-360" dirty="0">
                <a:latin typeface="Arial"/>
                <a:cs typeface="Arial"/>
              </a:rPr>
              <a:t>ASP </a:t>
            </a:r>
            <a:r>
              <a:rPr sz="2000" spc="-110" dirty="0">
                <a:latin typeface="Arial"/>
                <a:cs typeface="Arial"/>
              </a:rPr>
              <a:t>are</a:t>
            </a:r>
            <a:r>
              <a:rPr sz="2000" spc="-350" dirty="0">
                <a:latin typeface="Arial"/>
                <a:cs typeface="Arial"/>
              </a:rPr>
              <a:t> </a:t>
            </a:r>
            <a:r>
              <a:rPr sz="2000" spc="-145" dirty="0">
                <a:latin typeface="Arial"/>
                <a:cs typeface="Arial"/>
              </a:rPr>
              <a:t>used</a:t>
            </a:r>
            <a:endParaRPr sz="2000" dirty="0">
              <a:latin typeface="Arial"/>
              <a:cs typeface="Arial"/>
            </a:endParaRPr>
          </a:p>
          <a:p>
            <a:pPr marL="756285" marR="5080" indent="-287020">
              <a:lnSpc>
                <a:spcPct val="100000"/>
              </a:lnSpc>
              <a:spcBef>
                <a:spcPts val="1705"/>
              </a:spcBef>
              <a:tabLst>
                <a:tab pos="756285" algn="l"/>
              </a:tabLst>
            </a:pPr>
            <a:r>
              <a:rPr sz="11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000" spc="-114" dirty="0">
                <a:latin typeface="Arial"/>
                <a:cs typeface="Arial"/>
              </a:rPr>
              <a:t>Accept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information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from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the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user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and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record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75" dirty="0">
                <a:latin typeface="Arial"/>
                <a:cs typeface="Arial"/>
              </a:rPr>
              <a:t>it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for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further  </a:t>
            </a:r>
            <a:r>
              <a:rPr sz="2000" spc="-130" dirty="0">
                <a:latin typeface="Arial"/>
                <a:cs typeface="Arial"/>
              </a:rPr>
              <a:t>processing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21" y="2778368"/>
            <a:ext cx="7153889" cy="25146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39" y="55238"/>
            <a:ext cx="4783949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5" dirty="0"/>
              <a:t>Introducing </a:t>
            </a:r>
            <a:r>
              <a:rPr spc="-100" dirty="0"/>
              <a:t>a</a:t>
            </a:r>
            <a:r>
              <a:rPr spc="-310" dirty="0"/>
              <a:t> </a:t>
            </a:r>
            <a:r>
              <a:rPr spc="-145" dirty="0"/>
              <a:t>Cookie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927861"/>
            <a:ext cx="8426450" cy="4186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135" dirty="0">
                <a:latin typeface="Arial"/>
                <a:cs typeface="Arial"/>
              </a:rPr>
              <a:t>Data </a:t>
            </a:r>
            <a:r>
              <a:rPr sz="2400" spc="-80" dirty="0">
                <a:latin typeface="Arial"/>
                <a:cs typeface="Arial"/>
              </a:rPr>
              <a:t>stored </a:t>
            </a:r>
            <a:r>
              <a:rPr sz="2400" spc="-105" dirty="0">
                <a:latin typeface="Arial"/>
                <a:cs typeface="Arial"/>
              </a:rPr>
              <a:t>by </a:t>
            </a:r>
            <a:r>
              <a:rPr sz="2400" spc="-145" dirty="0">
                <a:latin typeface="Arial"/>
                <a:cs typeface="Arial"/>
              </a:rPr>
              <a:t>Web </a:t>
            </a:r>
            <a:r>
              <a:rPr sz="2400" spc="-110" dirty="0">
                <a:latin typeface="Arial"/>
                <a:cs typeface="Arial"/>
              </a:rPr>
              <a:t>sites are </a:t>
            </a:r>
            <a:r>
              <a:rPr sz="2400" spc="-225" dirty="0">
                <a:latin typeface="Arial"/>
                <a:cs typeface="Arial"/>
              </a:rPr>
              <a:t>as</a:t>
            </a:r>
            <a:r>
              <a:rPr sz="2400" spc="-18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follows:</a:t>
            </a:r>
            <a:endParaRPr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10"/>
              </a:spcBef>
              <a:tabLst>
                <a:tab pos="756285" algn="l"/>
              </a:tabLst>
            </a:pPr>
            <a:r>
              <a:rPr sz="1100" spc="35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200" spc="-120" dirty="0">
                <a:latin typeface="Arial"/>
                <a:cs typeface="Arial"/>
              </a:rPr>
              <a:t>Temporary </a:t>
            </a:r>
            <a:r>
              <a:rPr sz="2200" spc="-35" dirty="0">
                <a:latin typeface="Arial"/>
                <a:cs typeface="Arial"/>
              </a:rPr>
              <a:t>information </a:t>
            </a:r>
            <a:r>
              <a:rPr sz="2200" spc="-114" dirty="0">
                <a:latin typeface="Arial"/>
                <a:cs typeface="Arial"/>
              </a:rPr>
              <a:t>is </a:t>
            </a:r>
            <a:r>
              <a:rPr sz="2200" spc="-75" dirty="0">
                <a:latin typeface="Arial"/>
                <a:cs typeface="Arial"/>
              </a:rPr>
              <a:t>stored </a:t>
            </a:r>
            <a:r>
              <a:rPr sz="2200" spc="-30" dirty="0">
                <a:latin typeface="Arial"/>
                <a:cs typeface="Arial"/>
              </a:rPr>
              <a:t>in </a:t>
            </a:r>
            <a:r>
              <a:rPr sz="2200" spc="-114" dirty="0">
                <a:latin typeface="Arial"/>
                <a:cs typeface="Arial"/>
              </a:rPr>
              <a:t>cookies </a:t>
            </a:r>
            <a:r>
              <a:rPr sz="2200" spc="-10" dirty="0">
                <a:latin typeface="Arial"/>
                <a:cs typeface="Arial"/>
              </a:rPr>
              <a:t>for </a:t>
            </a:r>
            <a:r>
              <a:rPr sz="2200" spc="-175" dirty="0">
                <a:latin typeface="Arial"/>
                <a:cs typeface="Arial"/>
              </a:rPr>
              <a:t>a </a:t>
            </a:r>
            <a:r>
              <a:rPr sz="2200" spc="-60" dirty="0">
                <a:latin typeface="Arial"/>
                <a:cs typeface="Arial"/>
              </a:rPr>
              <a:t>stipulated</a:t>
            </a:r>
            <a:r>
              <a:rPr sz="2200" spc="-295" dirty="0">
                <a:latin typeface="Arial"/>
                <a:cs typeface="Arial"/>
              </a:rPr>
              <a:t> </a:t>
            </a:r>
            <a:r>
              <a:rPr sz="2200" spc="-55" dirty="0">
                <a:latin typeface="Arial"/>
                <a:cs typeface="Arial"/>
              </a:rPr>
              <a:t>period</a:t>
            </a:r>
            <a:endParaRPr sz="2200" dirty="0">
              <a:latin typeface="Arial"/>
              <a:cs typeface="Arial"/>
            </a:endParaRPr>
          </a:p>
          <a:p>
            <a:pPr marL="756285" marR="317500" indent="-287020">
              <a:lnSpc>
                <a:spcPct val="100000"/>
              </a:lnSpc>
              <a:spcBef>
                <a:spcPts val="1710"/>
              </a:spcBef>
              <a:tabLst>
                <a:tab pos="756285" algn="l"/>
              </a:tabLst>
            </a:pPr>
            <a:r>
              <a:rPr sz="1100" spc="35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200" spc="-105" dirty="0">
                <a:latin typeface="Arial"/>
                <a:cs typeface="Arial"/>
              </a:rPr>
              <a:t>Permanent </a:t>
            </a:r>
            <a:r>
              <a:rPr sz="2200" spc="-90" dirty="0">
                <a:latin typeface="Arial"/>
                <a:cs typeface="Arial"/>
              </a:rPr>
              <a:t>data </a:t>
            </a:r>
            <a:r>
              <a:rPr sz="2200" spc="-114" dirty="0">
                <a:latin typeface="Arial"/>
                <a:cs typeface="Arial"/>
              </a:rPr>
              <a:t>is </a:t>
            </a:r>
            <a:r>
              <a:rPr sz="2200" spc="-75" dirty="0">
                <a:latin typeface="Arial"/>
                <a:cs typeface="Arial"/>
              </a:rPr>
              <a:t>stored </a:t>
            </a:r>
            <a:r>
              <a:rPr sz="2200" spc="-30" dirty="0">
                <a:latin typeface="Arial"/>
                <a:cs typeface="Arial"/>
              </a:rPr>
              <a:t>in </a:t>
            </a:r>
            <a:r>
              <a:rPr sz="2200" spc="-114" dirty="0">
                <a:latin typeface="Arial"/>
                <a:cs typeface="Arial"/>
              </a:rPr>
              <a:t>cookies </a:t>
            </a:r>
            <a:r>
              <a:rPr sz="2200" spc="-10" dirty="0">
                <a:latin typeface="Arial"/>
                <a:cs typeface="Arial"/>
              </a:rPr>
              <a:t>for </a:t>
            </a:r>
            <a:r>
              <a:rPr sz="2200" spc="-175" dirty="0">
                <a:latin typeface="Arial"/>
                <a:cs typeface="Arial"/>
              </a:rPr>
              <a:t>a </a:t>
            </a:r>
            <a:r>
              <a:rPr sz="2200" spc="-60" dirty="0">
                <a:latin typeface="Arial"/>
                <a:cs typeface="Arial"/>
              </a:rPr>
              <a:t>certain </a:t>
            </a:r>
            <a:r>
              <a:rPr sz="2200" spc="-55" dirty="0">
                <a:latin typeface="Arial"/>
                <a:cs typeface="Arial"/>
              </a:rPr>
              <a:t>period </a:t>
            </a:r>
            <a:r>
              <a:rPr sz="2200" spc="-105" dirty="0">
                <a:latin typeface="Arial"/>
                <a:cs typeface="Arial"/>
              </a:rPr>
              <a:t>and</a:t>
            </a:r>
            <a:r>
              <a:rPr sz="2200" spc="-360" dirty="0">
                <a:latin typeface="Arial"/>
                <a:cs typeface="Arial"/>
              </a:rPr>
              <a:t> </a:t>
            </a:r>
            <a:r>
              <a:rPr sz="2200" spc="-45" dirty="0">
                <a:latin typeface="Arial"/>
                <a:cs typeface="Arial"/>
              </a:rPr>
              <a:t>then  </a:t>
            </a:r>
            <a:r>
              <a:rPr sz="2200" spc="-30" dirty="0">
                <a:latin typeface="Arial"/>
                <a:cs typeface="Arial"/>
              </a:rPr>
              <a:t>the </a:t>
            </a:r>
            <a:r>
              <a:rPr sz="2200" spc="-60" dirty="0">
                <a:latin typeface="Arial"/>
                <a:cs typeface="Arial"/>
              </a:rPr>
              <a:t>required </a:t>
            </a:r>
            <a:r>
              <a:rPr sz="2200" spc="-35" dirty="0">
                <a:latin typeface="Arial"/>
                <a:cs typeface="Arial"/>
              </a:rPr>
              <a:t>information </a:t>
            </a:r>
            <a:r>
              <a:rPr sz="2200" spc="-114" dirty="0">
                <a:latin typeface="Arial"/>
                <a:cs typeface="Arial"/>
              </a:rPr>
              <a:t>is </a:t>
            </a:r>
            <a:r>
              <a:rPr sz="2200" spc="-160" dirty="0">
                <a:latin typeface="Arial"/>
                <a:cs typeface="Arial"/>
              </a:rPr>
              <a:t>saved </a:t>
            </a:r>
            <a:r>
              <a:rPr sz="2200" spc="-30" dirty="0">
                <a:latin typeface="Arial"/>
                <a:cs typeface="Arial"/>
              </a:rPr>
              <a:t>in </a:t>
            </a:r>
            <a:r>
              <a:rPr sz="2200" spc="-35" dirty="0">
                <a:latin typeface="Arial"/>
                <a:cs typeface="Arial"/>
              </a:rPr>
              <a:t>the</a:t>
            </a:r>
            <a:r>
              <a:rPr sz="2200" spc="-385" dirty="0">
                <a:latin typeface="Arial"/>
                <a:cs typeface="Arial"/>
              </a:rPr>
              <a:t> </a:t>
            </a:r>
            <a:r>
              <a:rPr sz="2200" spc="-125" dirty="0">
                <a:latin typeface="Arial"/>
                <a:cs typeface="Arial"/>
              </a:rPr>
              <a:t>database</a:t>
            </a:r>
            <a:endParaRPr sz="22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200" dirty="0">
                <a:latin typeface="Arial"/>
                <a:cs typeface="Arial"/>
              </a:rPr>
              <a:t>Types </a:t>
            </a:r>
            <a:r>
              <a:rPr sz="2400" spc="-5" dirty="0">
                <a:latin typeface="Arial"/>
                <a:cs typeface="Arial"/>
              </a:rPr>
              <a:t>of </a:t>
            </a:r>
            <a:r>
              <a:rPr sz="2400" spc="-125" dirty="0">
                <a:latin typeface="Arial"/>
                <a:cs typeface="Arial"/>
              </a:rPr>
              <a:t>cookies </a:t>
            </a:r>
            <a:r>
              <a:rPr sz="2400" spc="-110" dirty="0">
                <a:latin typeface="Arial"/>
                <a:cs typeface="Arial"/>
              </a:rPr>
              <a:t>are </a:t>
            </a:r>
            <a:r>
              <a:rPr sz="2400" spc="-225" dirty="0">
                <a:latin typeface="Arial"/>
                <a:cs typeface="Arial"/>
              </a:rPr>
              <a:t>as</a:t>
            </a:r>
            <a:r>
              <a:rPr sz="2400" spc="-180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follows:</a:t>
            </a:r>
            <a:endParaRPr sz="2400" dirty="0">
              <a:latin typeface="Arial"/>
              <a:cs typeface="Arial"/>
            </a:endParaRPr>
          </a:p>
          <a:p>
            <a:pPr marL="756285" marR="280035" indent="-287020">
              <a:lnSpc>
                <a:spcPct val="100000"/>
              </a:lnSpc>
              <a:spcBef>
                <a:spcPts val="1689"/>
              </a:spcBef>
              <a:tabLst>
                <a:tab pos="756285" algn="l"/>
              </a:tabLst>
            </a:pPr>
            <a:r>
              <a:rPr sz="1100" spc="35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200" b="1" spc="-140" dirty="0">
                <a:latin typeface="Trebuchet MS"/>
                <a:cs typeface="Trebuchet MS"/>
              </a:rPr>
              <a:t>Persistent </a:t>
            </a:r>
            <a:r>
              <a:rPr sz="2200" spc="-65" dirty="0">
                <a:latin typeface="Arial"/>
                <a:cs typeface="Arial"/>
              </a:rPr>
              <a:t>- </a:t>
            </a:r>
            <a:r>
              <a:rPr sz="2200" spc="-90" dirty="0">
                <a:latin typeface="Arial"/>
                <a:cs typeface="Arial"/>
              </a:rPr>
              <a:t>exist </a:t>
            </a:r>
            <a:r>
              <a:rPr sz="2200" spc="-30" dirty="0">
                <a:latin typeface="Arial"/>
                <a:cs typeface="Arial"/>
              </a:rPr>
              <a:t>in the </a:t>
            </a:r>
            <a:r>
              <a:rPr sz="2200" spc="-135" dirty="0">
                <a:latin typeface="Arial"/>
                <a:cs typeface="Arial"/>
              </a:rPr>
              <a:t>Web </a:t>
            </a:r>
            <a:r>
              <a:rPr sz="2200" spc="-75" dirty="0">
                <a:latin typeface="Arial"/>
                <a:cs typeface="Arial"/>
              </a:rPr>
              <a:t>browser </a:t>
            </a:r>
            <a:r>
              <a:rPr sz="2200" spc="-5" dirty="0">
                <a:latin typeface="Arial"/>
                <a:cs typeface="Arial"/>
              </a:rPr>
              <a:t>for </a:t>
            </a:r>
            <a:r>
              <a:rPr sz="2200" spc="-175" dirty="0">
                <a:latin typeface="Arial"/>
                <a:cs typeface="Arial"/>
              </a:rPr>
              <a:t>a </a:t>
            </a:r>
            <a:r>
              <a:rPr sz="2200" spc="-50" dirty="0">
                <a:latin typeface="Arial"/>
                <a:cs typeface="Arial"/>
              </a:rPr>
              <a:t>period </a:t>
            </a:r>
            <a:r>
              <a:rPr sz="2200" spc="-85" dirty="0">
                <a:latin typeface="Arial"/>
                <a:cs typeface="Arial"/>
              </a:rPr>
              <a:t>specified </a:t>
            </a:r>
            <a:r>
              <a:rPr sz="2200" spc="-35" dirty="0">
                <a:latin typeface="Arial"/>
                <a:cs typeface="Arial"/>
              </a:rPr>
              <a:t>at</a:t>
            </a:r>
            <a:r>
              <a:rPr sz="2200" spc="-420" dirty="0">
                <a:latin typeface="Arial"/>
                <a:cs typeface="Arial"/>
              </a:rPr>
              <a:t> </a:t>
            </a:r>
            <a:r>
              <a:rPr sz="2200" spc="-30" dirty="0">
                <a:latin typeface="Arial"/>
                <a:cs typeface="Arial"/>
              </a:rPr>
              <a:t>the  </a:t>
            </a:r>
            <a:r>
              <a:rPr sz="2200" spc="-20" dirty="0">
                <a:latin typeface="Arial"/>
                <a:cs typeface="Arial"/>
              </a:rPr>
              <a:t>time </a:t>
            </a:r>
            <a:r>
              <a:rPr sz="2200" spc="-5" dirty="0">
                <a:latin typeface="Arial"/>
                <a:cs typeface="Arial"/>
              </a:rPr>
              <a:t>of </a:t>
            </a:r>
            <a:r>
              <a:rPr sz="2200" spc="-35" dirty="0">
                <a:latin typeface="Arial"/>
                <a:cs typeface="Arial"/>
              </a:rPr>
              <a:t>its</a:t>
            </a:r>
            <a:r>
              <a:rPr sz="2200" spc="-300" dirty="0">
                <a:latin typeface="Arial"/>
                <a:cs typeface="Arial"/>
              </a:rPr>
              <a:t> </a:t>
            </a:r>
            <a:r>
              <a:rPr sz="2200" spc="-65" dirty="0">
                <a:latin typeface="Arial"/>
                <a:cs typeface="Arial"/>
              </a:rPr>
              <a:t>creation</a:t>
            </a:r>
            <a:endParaRPr sz="2200" dirty="0">
              <a:latin typeface="Arial"/>
              <a:cs typeface="Arial"/>
            </a:endParaRPr>
          </a:p>
          <a:p>
            <a:pPr marL="756285" marR="5080" indent="-287020">
              <a:lnSpc>
                <a:spcPct val="100000"/>
              </a:lnSpc>
              <a:spcBef>
                <a:spcPts val="1705"/>
              </a:spcBef>
              <a:tabLst>
                <a:tab pos="756285" algn="l"/>
              </a:tabLst>
            </a:pPr>
            <a:r>
              <a:rPr sz="1100" spc="35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200" b="1" spc="-120" dirty="0">
                <a:latin typeface="Trebuchet MS"/>
                <a:cs typeface="Trebuchet MS"/>
              </a:rPr>
              <a:t>Non-persistent </a:t>
            </a:r>
            <a:r>
              <a:rPr sz="2200" spc="-65" dirty="0">
                <a:latin typeface="Arial"/>
                <a:cs typeface="Arial"/>
              </a:rPr>
              <a:t>- </a:t>
            </a:r>
            <a:r>
              <a:rPr sz="2200" spc="-70" dirty="0">
                <a:latin typeface="Arial"/>
                <a:cs typeface="Arial"/>
              </a:rPr>
              <a:t>deleted </a:t>
            </a:r>
            <a:r>
              <a:rPr sz="2200" spc="-25" dirty="0">
                <a:latin typeface="Arial"/>
                <a:cs typeface="Arial"/>
              </a:rPr>
              <a:t>from </a:t>
            </a:r>
            <a:r>
              <a:rPr sz="2200" spc="-30" dirty="0">
                <a:latin typeface="Arial"/>
                <a:cs typeface="Arial"/>
              </a:rPr>
              <a:t>the </a:t>
            </a:r>
            <a:r>
              <a:rPr sz="2200" spc="-140" dirty="0">
                <a:latin typeface="Arial"/>
                <a:cs typeface="Arial"/>
              </a:rPr>
              <a:t>Web </a:t>
            </a:r>
            <a:r>
              <a:rPr sz="2200" spc="-80" dirty="0">
                <a:latin typeface="Arial"/>
                <a:cs typeface="Arial"/>
              </a:rPr>
              <a:t>browser </a:t>
            </a:r>
            <a:r>
              <a:rPr sz="2200" spc="-210" dirty="0">
                <a:latin typeface="Arial"/>
                <a:cs typeface="Arial"/>
              </a:rPr>
              <a:t>as </a:t>
            </a:r>
            <a:r>
              <a:rPr sz="2200" spc="-114" dirty="0">
                <a:latin typeface="Arial"/>
                <a:cs typeface="Arial"/>
              </a:rPr>
              <a:t>soon </a:t>
            </a:r>
            <a:r>
              <a:rPr sz="2200" spc="-210" dirty="0">
                <a:latin typeface="Arial"/>
                <a:cs typeface="Arial"/>
              </a:rPr>
              <a:t>as </a:t>
            </a:r>
            <a:r>
              <a:rPr sz="2200" spc="-30" dirty="0">
                <a:latin typeface="Arial"/>
                <a:cs typeface="Arial"/>
              </a:rPr>
              <a:t>the </a:t>
            </a:r>
            <a:r>
              <a:rPr sz="2200" spc="-110" dirty="0">
                <a:latin typeface="Arial"/>
                <a:cs typeface="Arial"/>
              </a:rPr>
              <a:t>user  </a:t>
            </a:r>
            <a:r>
              <a:rPr sz="2200" spc="-90" dirty="0">
                <a:latin typeface="Arial"/>
                <a:cs typeface="Arial"/>
              </a:rPr>
              <a:t>exits </a:t>
            </a:r>
            <a:r>
              <a:rPr sz="2200" spc="-30" dirty="0">
                <a:latin typeface="Arial"/>
                <a:cs typeface="Arial"/>
              </a:rPr>
              <a:t>the</a:t>
            </a:r>
            <a:r>
              <a:rPr sz="2200" spc="-125" dirty="0">
                <a:latin typeface="Arial"/>
                <a:cs typeface="Arial"/>
              </a:rPr>
              <a:t> </a:t>
            </a:r>
            <a:r>
              <a:rPr sz="2200" spc="-80" dirty="0">
                <a:latin typeface="Arial"/>
                <a:cs typeface="Arial"/>
              </a:rPr>
              <a:t>browser</a:t>
            </a:r>
            <a:endParaRPr sz="2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926338"/>
            <a:ext cx="7178675" cy="39141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600" spc="-160" dirty="0">
                <a:latin typeface="Arial"/>
                <a:cs typeface="Arial"/>
              </a:rPr>
              <a:t>Web </a:t>
            </a:r>
            <a:r>
              <a:rPr sz="2600" spc="-114" dirty="0">
                <a:latin typeface="Arial"/>
                <a:cs typeface="Arial"/>
              </a:rPr>
              <a:t>sites </a:t>
            </a:r>
            <a:r>
              <a:rPr sz="2600" spc="-175" dirty="0">
                <a:latin typeface="Arial"/>
                <a:cs typeface="Arial"/>
              </a:rPr>
              <a:t>use </a:t>
            </a:r>
            <a:r>
              <a:rPr sz="2600" spc="-135" dirty="0">
                <a:latin typeface="Arial"/>
                <a:cs typeface="Arial"/>
              </a:rPr>
              <a:t>cookies </a:t>
            </a:r>
            <a:r>
              <a:rPr sz="2600" spc="25" dirty="0">
                <a:latin typeface="Arial"/>
                <a:cs typeface="Arial"/>
              </a:rPr>
              <a:t>to </a:t>
            </a:r>
            <a:r>
              <a:rPr sz="2600" spc="-60" dirty="0">
                <a:latin typeface="Arial"/>
                <a:cs typeface="Arial"/>
              </a:rPr>
              <a:t>determine </a:t>
            </a:r>
            <a:r>
              <a:rPr sz="2600" spc="-25" dirty="0">
                <a:latin typeface="Arial"/>
                <a:cs typeface="Arial"/>
              </a:rPr>
              <a:t>the</a:t>
            </a:r>
            <a:r>
              <a:rPr sz="2600" spc="-434" dirty="0">
                <a:latin typeface="Arial"/>
                <a:cs typeface="Arial"/>
              </a:rPr>
              <a:t> </a:t>
            </a:r>
            <a:r>
              <a:rPr sz="2600" spc="-45" dirty="0">
                <a:latin typeface="Arial"/>
                <a:cs typeface="Arial"/>
              </a:rPr>
              <a:t>following:</a:t>
            </a:r>
            <a:endParaRPr sz="26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10"/>
              </a:spcBef>
              <a:tabLst>
                <a:tab pos="756285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spc="-90" dirty="0">
                <a:latin typeface="Arial"/>
                <a:cs typeface="Arial"/>
              </a:rPr>
              <a:t>Number </a:t>
            </a:r>
            <a:r>
              <a:rPr sz="2400" spc="-10" dirty="0">
                <a:latin typeface="Arial"/>
                <a:cs typeface="Arial"/>
              </a:rPr>
              <a:t>of </a:t>
            </a:r>
            <a:r>
              <a:rPr sz="2400" spc="-70" dirty="0">
                <a:latin typeface="Arial"/>
                <a:cs typeface="Arial"/>
              </a:rPr>
              <a:t>times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14" dirty="0">
                <a:latin typeface="Arial"/>
                <a:cs typeface="Arial"/>
              </a:rPr>
              <a:t>user </a:t>
            </a:r>
            <a:r>
              <a:rPr sz="2400" spc="-180" dirty="0">
                <a:latin typeface="Arial"/>
                <a:cs typeface="Arial"/>
              </a:rPr>
              <a:t>has </a:t>
            </a:r>
            <a:r>
              <a:rPr sz="2400" spc="-65" dirty="0">
                <a:latin typeface="Arial"/>
                <a:cs typeface="Arial"/>
              </a:rPr>
              <a:t>visited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445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Web </a:t>
            </a:r>
            <a:r>
              <a:rPr sz="2400" spc="-75" dirty="0">
                <a:latin typeface="Arial"/>
                <a:cs typeface="Arial"/>
              </a:rPr>
              <a:t>site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05"/>
              </a:spcBef>
              <a:tabLst>
                <a:tab pos="756285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spc="-90" dirty="0">
                <a:latin typeface="Arial"/>
                <a:cs typeface="Arial"/>
              </a:rPr>
              <a:t>Number </a:t>
            </a:r>
            <a:r>
              <a:rPr sz="2400" spc="-10" dirty="0">
                <a:latin typeface="Arial"/>
                <a:cs typeface="Arial"/>
              </a:rPr>
              <a:t>of </a:t>
            </a:r>
            <a:r>
              <a:rPr sz="2400" spc="-85" dirty="0">
                <a:latin typeface="Arial"/>
                <a:cs typeface="Arial"/>
              </a:rPr>
              <a:t>new</a:t>
            </a:r>
            <a:r>
              <a:rPr sz="2400" spc="-28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visitors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695"/>
              </a:spcBef>
              <a:tabLst>
                <a:tab pos="756285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spc="-90" dirty="0">
                <a:latin typeface="Arial"/>
                <a:cs typeface="Arial"/>
              </a:rPr>
              <a:t>Number </a:t>
            </a:r>
            <a:r>
              <a:rPr sz="2400" spc="-10" dirty="0">
                <a:latin typeface="Arial"/>
                <a:cs typeface="Arial"/>
              </a:rPr>
              <a:t>of </a:t>
            </a:r>
            <a:r>
              <a:rPr sz="2400" spc="-80" dirty="0">
                <a:latin typeface="Arial"/>
                <a:cs typeface="Arial"/>
              </a:rPr>
              <a:t>regular</a:t>
            </a:r>
            <a:r>
              <a:rPr sz="2400" spc="-285" dirty="0">
                <a:latin typeface="Arial"/>
                <a:cs typeface="Arial"/>
              </a:rPr>
              <a:t> </a:t>
            </a:r>
            <a:r>
              <a:rPr sz="2400" spc="-150" dirty="0">
                <a:latin typeface="Arial"/>
                <a:cs typeface="Arial"/>
              </a:rPr>
              <a:t>users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05"/>
              </a:spcBef>
              <a:tabLst>
                <a:tab pos="756285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spc="-135" dirty="0">
                <a:latin typeface="Arial"/>
                <a:cs typeface="Arial"/>
              </a:rPr>
              <a:t>Frequency </a:t>
            </a:r>
            <a:r>
              <a:rPr sz="2400" spc="-5" dirty="0">
                <a:latin typeface="Arial"/>
                <a:cs typeface="Arial"/>
              </a:rPr>
              <a:t>of </a:t>
            </a:r>
            <a:r>
              <a:rPr sz="2400" spc="-190" dirty="0">
                <a:latin typeface="Arial"/>
                <a:cs typeface="Arial"/>
              </a:rPr>
              <a:t>a </a:t>
            </a:r>
            <a:r>
              <a:rPr sz="2400" spc="-114" dirty="0">
                <a:latin typeface="Arial"/>
                <a:cs typeface="Arial"/>
              </a:rPr>
              <a:t>user </a:t>
            </a:r>
            <a:r>
              <a:rPr sz="2400" spc="-60" dirty="0">
                <a:latin typeface="Arial"/>
                <a:cs typeface="Arial"/>
              </a:rPr>
              <a:t>visiting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45" dirty="0">
                <a:latin typeface="Arial"/>
                <a:cs typeface="Arial"/>
              </a:rPr>
              <a:t>Web</a:t>
            </a:r>
            <a:r>
              <a:rPr sz="2400" spc="-390" dirty="0">
                <a:latin typeface="Arial"/>
                <a:cs typeface="Arial"/>
              </a:rPr>
              <a:t> </a:t>
            </a:r>
            <a:r>
              <a:rPr sz="2400" spc="-75" dirty="0">
                <a:latin typeface="Arial"/>
                <a:cs typeface="Arial"/>
              </a:rPr>
              <a:t>site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05"/>
              </a:spcBef>
              <a:tabLst>
                <a:tab pos="756285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spc="-130" dirty="0">
                <a:latin typeface="Arial"/>
                <a:cs typeface="Arial"/>
              </a:rPr>
              <a:t>Date </a:t>
            </a:r>
            <a:r>
              <a:rPr sz="2400" spc="-75" dirty="0">
                <a:latin typeface="Arial"/>
                <a:cs typeface="Arial"/>
              </a:rPr>
              <a:t>on </a:t>
            </a:r>
            <a:r>
              <a:rPr sz="2400" spc="-70" dirty="0">
                <a:latin typeface="Arial"/>
                <a:cs typeface="Arial"/>
              </a:rPr>
              <a:t>which </a:t>
            </a:r>
            <a:r>
              <a:rPr sz="2400" spc="-30" dirty="0">
                <a:latin typeface="Arial"/>
                <a:cs typeface="Arial"/>
              </a:rPr>
              <a:t>the </a:t>
            </a:r>
            <a:r>
              <a:rPr sz="2400" spc="-114" dirty="0">
                <a:latin typeface="Arial"/>
                <a:cs typeface="Arial"/>
              </a:rPr>
              <a:t>user had </a:t>
            </a:r>
            <a:r>
              <a:rPr sz="2400" spc="-80" dirty="0">
                <a:latin typeface="Arial"/>
                <a:cs typeface="Arial"/>
              </a:rPr>
              <a:t>last </a:t>
            </a:r>
            <a:r>
              <a:rPr sz="2400" spc="-65" dirty="0">
                <a:latin typeface="Arial"/>
                <a:cs typeface="Arial"/>
              </a:rPr>
              <a:t>visited </a:t>
            </a:r>
            <a:r>
              <a:rPr sz="2400" spc="-30" dirty="0">
                <a:latin typeface="Arial"/>
                <a:cs typeface="Arial"/>
              </a:rPr>
              <a:t>the</a:t>
            </a:r>
            <a:r>
              <a:rPr sz="2400" spc="-480" dirty="0">
                <a:latin typeface="Arial"/>
                <a:cs typeface="Arial"/>
              </a:rPr>
              <a:t> </a:t>
            </a:r>
            <a:r>
              <a:rPr sz="2400" spc="-145" dirty="0">
                <a:latin typeface="Arial"/>
                <a:cs typeface="Arial"/>
              </a:rPr>
              <a:t>Web </a:t>
            </a:r>
            <a:r>
              <a:rPr sz="2400" spc="-75" dirty="0">
                <a:latin typeface="Arial"/>
                <a:cs typeface="Arial"/>
              </a:rPr>
              <a:t>site</a:t>
            </a:r>
            <a:endParaRPr sz="24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689"/>
              </a:spcBef>
              <a:tabLst>
                <a:tab pos="756285" algn="l"/>
              </a:tabLst>
            </a:pPr>
            <a:r>
              <a:rPr sz="1200" spc="37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400" spc="-140" dirty="0">
                <a:latin typeface="Arial"/>
                <a:cs typeface="Arial"/>
              </a:rPr>
              <a:t>Customized </a:t>
            </a:r>
            <a:r>
              <a:rPr sz="2400" spc="-145" dirty="0">
                <a:latin typeface="Arial"/>
                <a:cs typeface="Arial"/>
              </a:rPr>
              <a:t>Web </a:t>
            </a:r>
            <a:r>
              <a:rPr sz="2400" spc="-160" dirty="0">
                <a:latin typeface="Arial"/>
                <a:cs typeface="Arial"/>
              </a:rPr>
              <a:t>page </a:t>
            </a:r>
            <a:r>
              <a:rPr sz="2400" spc="-90" dirty="0">
                <a:latin typeface="Arial"/>
                <a:cs typeface="Arial"/>
              </a:rPr>
              <a:t>settings </a:t>
            </a:r>
            <a:r>
              <a:rPr sz="2400" spc="-10" dirty="0">
                <a:latin typeface="Arial"/>
                <a:cs typeface="Arial"/>
              </a:rPr>
              <a:t>for </a:t>
            </a:r>
            <a:r>
              <a:rPr sz="2400" spc="-190" dirty="0">
                <a:latin typeface="Arial"/>
                <a:cs typeface="Arial"/>
              </a:rPr>
              <a:t>a</a:t>
            </a:r>
            <a:r>
              <a:rPr sz="2400" spc="-260" dirty="0">
                <a:latin typeface="Arial"/>
                <a:cs typeface="Arial"/>
              </a:rPr>
              <a:t> </a:t>
            </a:r>
            <a:r>
              <a:rPr sz="2400" spc="-114" dirty="0">
                <a:latin typeface="Arial"/>
                <a:cs typeface="Arial"/>
              </a:rPr>
              <a:t>user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55238"/>
            <a:ext cx="5359682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5" dirty="0"/>
              <a:t>Introducing </a:t>
            </a:r>
            <a:r>
              <a:rPr spc="-100" dirty="0"/>
              <a:t>a</a:t>
            </a:r>
            <a:r>
              <a:rPr spc="-310" dirty="0"/>
              <a:t> </a:t>
            </a:r>
            <a:r>
              <a:rPr spc="-145" dirty="0"/>
              <a:t>Cookie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86016"/>
            <a:ext cx="776097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45" dirty="0"/>
              <a:t>W</a:t>
            </a:r>
            <a:r>
              <a:rPr spc="-130" dirty="0"/>
              <a:t>orking</a:t>
            </a:r>
            <a:r>
              <a:rPr spc="-195" dirty="0"/>
              <a:t> </a:t>
            </a:r>
            <a:r>
              <a:rPr spc="-105" dirty="0"/>
              <a:t>of</a:t>
            </a:r>
            <a:r>
              <a:rPr spc="-190" dirty="0"/>
              <a:t> </a:t>
            </a:r>
            <a:r>
              <a:rPr spc="-100" dirty="0"/>
              <a:t>a</a:t>
            </a:r>
            <a:r>
              <a:rPr spc="-190" dirty="0"/>
              <a:t> </a:t>
            </a:r>
            <a:r>
              <a:rPr spc="-155" dirty="0"/>
              <a:t>C</a:t>
            </a:r>
            <a:r>
              <a:rPr spc="-140" dirty="0"/>
              <a:t>ookie</a:t>
            </a:r>
            <a:r>
              <a:rPr dirty="0"/>
              <a:t>	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723541"/>
            <a:ext cx="8461375" cy="46358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4130" indent="-34290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pc="-95" dirty="0">
                <a:latin typeface="Arial"/>
                <a:cs typeface="Arial"/>
              </a:rPr>
              <a:t>When </a:t>
            </a:r>
            <a:r>
              <a:rPr spc="-165" dirty="0">
                <a:latin typeface="Arial"/>
                <a:cs typeface="Arial"/>
              </a:rPr>
              <a:t>a </a:t>
            </a:r>
            <a:r>
              <a:rPr spc="-100" dirty="0">
                <a:latin typeface="Arial"/>
                <a:cs typeface="Arial"/>
              </a:rPr>
              <a:t>user </a:t>
            </a:r>
            <a:r>
              <a:rPr spc="-70" dirty="0">
                <a:latin typeface="Arial"/>
                <a:cs typeface="Arial"/>
              </a:rPr>
              <a:t>visits </a:t>
            </a:r>
            <a:r>
              <a:rPr spc="-25" dirty="0">
                <a:latin typeface="Arial"/>
                <a:cs typeface="Arial"/>
              </a:rPr>
              <a:t>the </a:t>
            </a:r>
            <a:r>
              <a:rPr spc="-125" dirty="0">
                <a:latin typeface="Arial"/>
                <a:cs typeface="Arial"/>
              </a:rPr>
              <a:t>Web </a:t>
            </a:r>
            <a:r>
              <a:rPr spc="-65" dirty="0">
                <a:latin typeface="Arial"/>
                <a:cs typeface="Arial"/>
              </a:rPr>
              <a:t>site </a:t>
            </a:r>
            <a:r>
              <a:rPr spc="-15" dirty="0">
                <a:latin typeface="Arial"/>
                <a:cs typeface="Arial"/>
              </a:rPr>
              <a:t>for </a:t>
            </a:r>
            <a:r>
              <a:rPr spc="-25" dirty="0">
                <a:latin typeface="Arial"/>
                <a:cs typeface="Arial"/>
              </a:rPr>
              <a:t>the </a:t>
            </a:r>
            <a:r>
              <a:rPr spc="-20" dirty="0">
                <a:latin typeface="Arial"/>
                <a:cs typeface="Arial"/>
              </a:rPr>
              <a:t>first </a:t>
            </a:r>
            <a:r>
              <a:rPr spc="-25" dirty="0">
                <a:latin typeface="Arial"/>
                <a:cs typeface="Arial"/>
              </a:rPr>
              <a:t>time, the</a:t>
            </a:r>
            <a:r>
              <a:rPr spc="-425" dirty="0">
                <a:latin typeface="Arial"/>
                <a:cs typeface="Arial"/>
              </a:rPr>
              <a:t> </a:t>
            </a:r>
            <a:r>
              <a:rPr spc="-125" dirty="0">
                <a:latin typeface="Arial"/>
                <a:cs typeface="Arial"/>
              </a:rPr>
              <a:t>Web </a:t>
            </a:r>
            <a:r>
              <a:rPr spc="-90" dirty="0">
                <a:latin typeface="Arial"/>
                <a:cs typeface="Arial"/>
              </a:rPr>
              <a:t>server </a:t>
            </a:r>
            <a:r>
              <a:rPr spc="-105" dirty="0">
                <a:latin typeface="Arial"/>
                <a:cs typeface="Arial"/>
              </a:rPr>
              <a:t>creates </a:t>
            </a:r>
            <a:r>
              <a:rPr spc="-165" dirty="0">
                <a:latin typeface="Arial"/>
                <a:cs typeface="Arial"/>
              </a:rPr>
              <a:t>a  </a:t>
            </a:r>
            <a:r>
              <a:rPr spc="-65" dirty="0">
                <a:latin typeface="Arial"/>
                <a:cs typeface="Arial"/>
              </a:rPr>
              <a:t>unique </a:t>
            </a:r>
            <a:r>
              <a:rPr spc="-140" dirty="0">
                <a:latin typeface="Arial"/>
                <a:cs typeface="Arial"/>
              </a:rPr>
              <a:t>ID </a:t>
            </a:r>
            <a:r>
              <a:rPr spc="-100" dirty="0">
                <a:latin typeface="Arial"/>
                <a:cs typeface="Arial"/>
              </a:rPr>
              <a:t>and </a:t>
            </a:r>
            <a:r>
              <a:rPr spc="-150" dirty="0">
                <a:latin typeface="Arial"/>
                <a:cs typeface="Arial"/>
              </a:rPr>
              <a:t>sends </a:t>
            </a:r>
            <a:r>
              <a:rPr spc="-25" dirty="0">
                <a:latin typeface="Arial"/>
                <a:cs typeface="Arial"/>
              </a:rPr>
              <a:t>the </a:t>
            </a:r>
            <a:r>
              <a:rPr spc="-140" dirty="0">
                <a:latin typeface="Arial"/>
                <a:cs typeface="Arial"/>
              </a:rPr>
              <a:t>ID </a:t>
            </a:r>
            <a:r>
              <a:rPr spc="-25" dirty="0">
                <a:latin typeface="Arial"/>
                <a:cs typeface="Arial"/>
              </a:rPr>
              <a:t>in the </a:t>
            </a:r>
            <a:r>
              <a:rPr spc="-90" dirty="0">
                <a:latin typeface="Arial"/>
                <a:cs typeface="Arial"/>
              </a:rPr>
              <a:t>cookie </a:t>
            </a:r>
            <a:r>
              <a:rPr spc="15" dirty="0">
                <a:latin typeface="Arial"/>
                <a:cs typeface="Arial"/>
              </a:rPr>
              <a:t>to </a:t>
            </a:r>
            <a:r>
              <a:rPr spc="-25" dirty="0">
                <a:latin typeface="Arial"/>
                <a:cs typeface="Arial"/>
              </a:rPr>
              <a:t>the</a:t>
            </a:r>
            <a:r>
              <a:rPr spc="-434" dirty="0">
                <a:latin typeface="Arial"/>
                <a:cs typeface="Arial"/>
              </a:rPr>
              <a:t> </a:t>
            </a:r>
            <a:r>
              <a:rPr spc="-125" dirty="0">
                <a:latin typeface="Arial"/>
                <a:cs typeface="Arial"/>
              </a:rPr>
              <a:t>Web </a:t>
            </a:r>
            <a:r>
              <a:rPr spc="-75" dirty="0">
                <a:latin typeface="Arial"/>
                <a:cs typeface="Arial"/>
              </a:rPr>
              <a:t>browser</a:t>
            </a:r>
            <a:endParaRPr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689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pc="-105" dirty="0">
                <a:latin typeface="Arial"/>
                <a:cs typeface="Arial"/>
              </a:rPr>
              <a:t>Browser </a:t>
            </a:r>
            <a:r>
              <a:rPr spc="-95" dirty="0">
                <a:latin typeface="Arial"/>
                <a:cs typeface="Arial"/>
              </a:rPr>
              <a:t>stores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90" dirty="0">
                <a:latin typeface="Arial"/>
                <a:cs typeface="Arial"/>
              </a:rPr>
              <a:t>cookie </a:t>
            </a:r>
            <a:r>
              <a:rPr spc="-100" dirty="0">
                <a:latin typeface="Arial"/>
                <a:cs typeface="Arial"/>
              </a:rPr>
              <a:t>and </a:t>
            </a:r>
            <a:r>
              <a:rPr spc="-145" dirty="0">
                <a:latin typeface="Arial"/>
                <a:cs typeface="Arial"/>
              </a:rPr>
              <a:t>sends </a:t>
            </a:r>
            <a:r>
              <a:rPr spc="65" dirty="0">
                <a:latin typeface="Arial"/>
                <a:cs typeface="Arial"/>
              </a:rPr>
              <a:t>it</a:t>
            </a:r>
            <a:r>
              <a:rPr spc="-409" dirty="0">
                <a:latin typeface="Arial"/>
                <a:cs typeface="Arial"/>
              </a:rPr>
              <a:t> </a:t>
            </a:r>
            <a:r>
              <a:rPr spc="-125" dirty="0">
                <a:latin typeface="Arial"/>
                <a:cs typeface="Arial"/>
              </a:rPr>
              <a:t>back </a:t>
            </a:r>
            <a:r>
              <a:rPr spc="20" dirty="0">
                <a:latin typeface="Arial"/>
                <a:cs typeface="Arial"/>
              </a:rPr>
              <a:t>to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125" dirty="0">
                <a:latin typeface="Arial"/>
                <a:cs typeface="Arial"/>
              </a:rPr>
              <a:t>Web </a:t>
            </a:r>
            <a:r>
              <a:rPr spc="-65" dirty="0">
                <a:latin typeface="Arial"/>
                <a:cs typeface="Arial"/>
              </a:rPr>
              <a:t>site </a:t>
            </a:r>
            <a:r>
              <a:rPr spc="-25" dirty="0">
                <a:latin typeface="Arial"/>
                <a:cs typeface="Arial"/>
              </a:rPr>
              <a:t>in </a:t>
            </a:r>
            <a:r>
              <a:rPr spc="-100" dirty="0">
                <a:latin typeface="Arial"/>
                <a:cs typeface="Arial"/>
              </a:rPr>
              <a:t>subsequent</a:t>
            </a:r>
            <a:endParaRPr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pc="-95" dirty="0">
                <a:latin typeface="Arial"/>
                <a:cs typeface="Arial"/>
              </a:rPr>
              <a:t>requests</a:t>
            </a:r>
            <a:endParaRPr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pc="-100" dirty="0">
                <a:latin typeface="Arial"/>
                <a:cs typeface="Arial"/>
              </a:rPr>
              <a:t>Life </a:t>
            </a:r>
            <a:r>
              <a:rPr spc="-5" dirty="0">
                <a:latin typeface="Arial"/>
                <a:cs typeface="Arial"/>
              </a:rPr>
              <a:t>of </a:t>
            </a:r>
            <a:r>
              <a:rPr spc="-165" dirty="0">
                <a:latin typeface="Arial"/>
                <a:cs typeface="Arial"/>
              </a:rPr>
              <a:t>a </a:t>
            </a:r>
            <a:r>
              <a:rPr spc="-90" dirty="0">
                <a:latin typeface="Arial"/>
                <a:cs typeface="Arial"/>
              </a:rPr>
              <a:t>cookie </a:t>
            </a:r>
            <a:r>
              <a:rPr spc="-105" dirty="0">
                <a:latin typeface="Arial"/>
                <a:cs typeface="Arial"/>
              </a:rPr>
              <a:t>depends </a:t>
            </a:r>
            <a:r>
              <a:rPr spc="-70" dirty="0">
                <a:latin typeface="Arial"/>
                <a:cs typeface="Arial"/>
              </a:rPr>
              <a:t>on </a:t>
            </a:r>
            <a:r>
              <a:rPr spc="-25" dirty="0">
                <a:latin typeface="Arial"/>
                <a:cs typeface="Arial"/>
              </a:rPr>
              <a:t>the </a:t>
            </a:r>
            <a:r>
              <a:rPr spc="-55" dirty="0">
                <a:latin typeface="Arial"/>
                <a:cs typeface="Arial"/>
              </a:rPr>
              <a:t>expiration </a:t>
            </a:r>
            <a:r>
              <a:rPr spc="-15" dirty="0">
                <a:latin typeface="Arial"/>
                <a:cs typeface="Arial"/>
              </a:rPr>
              <a:t>time </a:t>
            </a:r>
            <a:r>
              <a:rPr spc="-100" dirty="0">
                <a:latin typeface="Arial"/>
                <a:cs typeface="Arial"/>
              </a:rPr>
              <a:t>and</a:t>
            </a:r>
            <a:r>
              <a:rPr spc="-420" dirty="0">
                <a:latin typeface="Arial"/>
                <a:cs typeface="Arial"/>
              </a:rPr>
              <a:t> </a:t>
            </a:r>
            <a:r>
              <a:rPr spc="-70" dirty="0">
                <a:latin typeface="Arial"/>
                <a:cs typeface="Arial"/>
              </a:rPr>
              <a:t>date</a:t>
            </a:r>
            <a:endParaRPr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7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pc="-125" dirty="0">
                <a:latin typeface="Arial"/>
                <a:cs typeface="Arial"/>
              </a:rPr>
              <a:t>Cookie </a:t>
            </a:r>
            <a:r>
              <a:rPr spc="-110" dirty="0">
                <a:latin typeface="Arial"/>
                <a:cs typeface="Arial"/>
              </a:rPr>
              <a:t>is </a:t>
            </a:r>
            <a:r>
              <a:rPr spc="-70" dirty="0">
                <a:latin typeface="Arial"/>
                <a:cs typeface="Arial"/>
              </a:rPr>
              <a:t>stored </a:t>
            </a:r>
            <a:r>
              <a:rPr spc="-65" dirty="0">
                <a:latin typeface="Arial"/>
                <a:cs typeface="Arial"/>
              </a:rPr>
              <a:t>on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75" dirty="0">
                <a:latin typeface="Arial"/>
                <a:cs typeface="Arial"/>
              </a:rPr>
              <a:t>hard </a:t>
            </a:r>
            <a:r>
              <a:rPr spc="-100" dirty="0">
                <a:latin typeface="Arial"/>
                <a:cs typeface="Arial"/>
              </a:rPr>
              <a:t>disk </a:t>
            </a:r>
            <a:r>
              <a:rPr spc="-5" dirty="0">
                <a:latin typeface="Arial"/>
                <a:cs typeface="Arial"/>
              </a:rPr>
              <a:t>of </a:t>
            </a:r>
            <a:r>
              <a:rPr spc="-20" dirty="0">
                <a:latin typeface="Arial"/>
                <a:cs typeface="Arial"/>
              </a:rPr>
              <a:t>the</a:t>
            </a:r>
            <a:r>
              <a:rPr spc="-415" dirty="0">
                <a:latin typeface="Arial"/>
                <a:cs typeface="Arial"/>
              </a:rPr>
              <a:t> </a:t>
            </a:r>
            <a:r>
              <a:rPr spc="-95" dirty="0">
                <a:latin typeface="Arial"/>
                <a:cs typeface="Arial"/>
              </a:rPr>
              <a:t>user's </a:t>
            </a:r>
            <a:r>
              <a:rPr spc="-55" dirty="0">
                <a:latin typeface="Arial"/>
                <a:cs typeface="Arial"/>
              </a:rPr>
              <a:t>computer </a:t>
            </a:r>
            <a:r>
              <a:rPr spc="-60" dirty="0">
                <a:latin typeface="Arial"/>
                <a:cs typeface="Arial"/>
              </a:rPr>
              <a:t>which </a:t>
            </a:r>
            <a:r>
              <a:rPr spc="-110" dirty="0">
                <a:latin typeface="Arial"/>
                <a:cs typeface="Arial"/>
              </a:rPr>
              <a:t>enables </a:t>
            </a:r>
            <a:r>
              <a:rPr spc="-25" dirty="0">
                <a:latin typeface="Arial"/>
                <a:cs typeface="Arial"/>
              </a:rPr>
              <a:t>the</a:t>
            </a:r>
            <a:endParaRPr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pc="-125" dirty="0">
                <a:latin typeface="Arial"/>
                <a:cs typeface="Arial"/>
              </a:rPr>
              <a:t>Web </a:t>
            </a:r>
            <a:r>
              <a:rPr spc="-65" dirty="0">
                <a:latin typeface="Arial"/>
                <a:cs typeface="Arial"/>
              </a:rPr>
              <a:t>site </a:t>
            </a:r>
            <a:r>
              <a:rPr spc="15" dirty="0">
                <a:latin typeface="Arial"/>
                <a:cs typeface="Arial"/>
              </a:rPr>
              <a:t>to </a:t>
            </a:r>
            <a:r>
              <a:rPr spc="-120" dirty="0">
                <a:latin typeface="Arial"/>
                <a:cs typeface="Arial"/>
              </a:rPr>
              <a:t>keep </a:t>
            </a:r>
            <a:r>
              <a:rPr spc="-165" dirty="0">
                <a:latin typeface="Arial"/>
                <a:cs typeface="Arial"/>
              </a:rPr>
              <a:t>a </a:t>
            </a:r>
            <a:r>
              <a:rPr spc="-65" dirty="0">
                <a:latin typeface="Arial"/>
                <a:cs typeface="Arial"/>
              </a:rPr>
              <a:t>track </a:t>
            </a:r>
            <a:r>
              <a:rPr spc="-70" dirty="0">
                <a:latin typeface="Arial"/>
                <a:cs typeface="Arial"/>
              </a:rPr>
              <a:t>on </a:t>
            </a:r>
            <a:r>
              <a:rPr spc="-25" dirty="0">
                <a:latin typeface="Arial"/>
                <a:cs typeface="Arial"/>
              </a:rPr>
              <a:t>the </a:t>
            </a:r>
            <a:r>
              <a:rPr spc="-100" dirty="0">
                <a:latin typeface="Arial"/>
                <a:cs typeface="Arial"/>
              </a:rPr>
              <a:t>user </a:t>
            </a:r>
            <a:r>
              <a:rPr spc="-55" dirty="0">
                <a:latin typeface="Arial"/>
                <a:cs typeface="Arial"/>
              </a:rPr>
              <a:t>visiting </a:t>
            </a:r>
            <a:r>
              <a:rPr spc="-25" dirty="0">
                <a:latin typeface="Arial"/>
                <a:cs typeface="Arial"/>
              </a:rPr>
              <a:t>the</a:t>
            </a:r>
            <a:r>
              <a:rPr spc="-375" dirty="0">
                <a:latin typeface="Arial"/>
                <a:cs typeface="Arial"/>
              </a:rPr>
              <a:t> </a:t>
            </a:r>
            <a:r>
              <a:rPr spc="-125" dirty="0">
                <a:latin typeface="Arial"/>
                <a:cs typeface="Arial"/>
              </a:rPr>
              <a:t>Web </a:t>
            </a:r>
            <a:r>
              <a:rPr spc="-65" dirty="0">
                <a:latin typeface="Arial"/>
                <a:cs typeface="Arial"/>
              </a:rPr>
              <a:t>site</a:t>
            </a:r>
            <a:endParaRPr dirty="0">
              <a:latin typeface="Arial"/>
              <a:cs typeface="Arial"/>
            </a:endParaRPr>
          </a:p>
          <a:p>
            <a:pPr marL="355600" marR="808990" indent="-342900">
              <a:lnSpc>
                <a:spcPct val="100000"/>
              </a:lnSpc>
              <a:spcBef>
                <a:spcPts val="1689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pc="-125" dirty="0">
                <a:latin typeface="Arial"/>
                <a:cs typeface="Arial"/>
              </a:rPr>
              <a:t>Web </a:t>
            </a:r>
            <a:r>
              <a:rPr spc="-114" dirty="0">
                <a:latin typeface="Arial"/>
                <a:cs typeface="Arial"/>
              </a:rPr>
              <a:t>servers </a:t>
            </a:r>
            <a:r>
              <a:rPr spc="-100" dirty="0">
                <a:latin typeface="Arial"/>
                <a:cs typeface="Arial"/>
              </a:rPr>
              <a:t>and </a:t>
            </a:r>
            <a:r>
              <a:rPr spc="-125" dirty="0">
                <a:latin typeface="Arial"/>
                <a:cs typeface="Arial"/>
              </a:rPr>
              <a:t>Web </a:t>
            </a:r>
            <a:r>
              <a:rPr spc="-100" dirty="0">
                <a:latin typeface="Arial"/>
                <a:cs typeface="Arial"/>
              </a:rPr>
              <a:t>browsers </a:t>
            </a:r>
            <a:r>
              <a:rPr spc="-125" dirty="0">
                <a:latin typeface="Arial"/>
                <a:cs typeface="Arial"/>
              </a:rPr>
              <a:t>send </a:t>
            </a:r>
            <a:r>
              <a:rPr spc="-110" dirty="0">
                <a:latin typeface="Arial"/>
                <a:cs typeface="Arial"/>
              </a:rPr>
              <a:t>cookies </a:t>
            </a:r>
            <a:r>
              <a:rPr spc="15" dirty="0">
                <a:latin typeface="Arial"/>
                <a:cs typeface="Arial"/>
              </a:rPr>
              <a:t>to </a:t>
            </a:r>
            <a:r>
              <a:rPr spc="-130" dirty="0">
                <a:latin typeface="Arial"/>
                <a:cs typeface="Arial"/>
              </a:rPr>
              <a:t>each </a:t>
            </a:r>
            <a:r>
              <a:rPr spc="-25" dirty="0">
                <a:latin typeface="Arial"/>
                <a:cs typeface="Arial"/>
              </a:rPr>
              <a:t>other in </a:t>
            </a:r>
            <a:r>
              <a:rPr spc="-260" dirty="0">
                <a:latin typeface="Arial"/>
                <a:cs typeface="Arial"/>
              </a:rPr>
              <a:t>HTTP  </a:t>
            </a:r>
            <a:r>
              <a:rPr spc="-114" dirty="0">
                <a:latin typeface="Arial"/>
                <a:cs typeface="Arial"/>
              </a:rPr>
              <a:t>headers</a:t>
            </a:r>
            <a:endParaRPr dirty="0">
              <a:latin typeface="Arial"/>
              <a:cs typeface="Arial"/>
            </a:endParaRPr>
          </a:p>
          <a:p>
            <a:pPr marL="355600" marR="309880" indent="-342900">
              <a:lnSpc>
                <a:spcPct val="103299"/>
              </a:lnSpc>
              <a:spcBef>
                <a:spcPts val="154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pc="-125" dirty="0">
                <a:latin typeface="Arial"/>
                <a:cs typeface="Arial"/>
              </a:rPr>
              <a:t>Web</a:t>
            </a:r>
            <a:r>
              <a:rPr spc="-114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server</a:t>
            </a:r>
            <a:r>
              <a:rPr spc="-80" dirty="0">
                <a:latin typeface="Arial"/>
                <a:cs typeface="Arial"/>
              </a:rPr>
              <a:t> </a:t>
            </a:r>
            <a:r>
              <a:rPr spc="-150" dirty="0">
                <a:latin typeface="Arial"/>
                <a:cs typeface="Arial"/>
              </a:rPr>
              <a:t>sends</a:t>
            </a:r>
            <a:r>
              <a:rPr spc="-90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the</a:t>
            </a:r>
            <a:r>
              <a:rPr spc="-114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cookie </a:t>
            </a:r>
            <a:r>
              <a:rPr spc="15" dirty="0">
                <a:latin typeface="Arial"/>
                <a:cs typeface="Arial"/>
              </a:rPr>
              <a:t>to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the</a:t>
            </a:r>
            <a:r>
              <a:rPr spc="-114" dirty="0">
                <a:latin typeface="Arial"/>
                <a:cs typeface="Arial"/>
              </a:rPr>
              <a:t> </a:t>
            </a:r>
            <a:r>
              <a:rPr spc="-75" dirty="0">
                <a:latin typeface="Arial"/>
                <a:cs typeface="Arial"/>
              </a:rPr>
              <a:t>browser</a:t>
            </a:r>
            <a:r>
              <a:rPr spc="-70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in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the</a:t>
            </a:r>
            <a:r>
              <a:rPr spc="-180" dirty="0">
                <a:latin typeface="Arial"/>
                <a:cs typeface="Arial"/>
              </a:rPr>
              <a:t> </a:t>
            </a:r>
            <a:r>
              <a:rPr spc="-5" dirty="0">
                <a:latin typeface="Courier New"/>
                <a:cs typeface="Courier New"/>
              </a:rPr>
              <a:t>setcookie</a:t>
            </a:r>
            <a:r>
              <a:rPr spc="-770" dirty="0">
                <a:latin typeface="Courier New"/>
                <a:cs typeface="Courier New"/>
              </a:rPr>
              <a:t> </a:t>
            </a:r>
            <a:r>
              <a:rPr spc="-90" dirty="0">
                <a:latin typeface="Arial"/>
                <a:cs typeface="Arial"/>
              </a:rPr>
              <a:t>header  </a:t>
            </a:r>
            <a:r>
              <a:rPr spc="-25" dirty="0">
                <a:latin typeface="Arial"/>
                <a:cs typeface="Arial"/>
              </a:rPr>
              <a:t>field </a:t>
            </a:r>
            <a:r>
              <a:rPr spc="-60" dirty="0">
                <a:latin typeface="Arial"/>
                <a:cs typeface="Arial"/>
              </a:rPr>
              <a:t>which </a:t>
            </a:r>
            <a:r>
              <a:rPr spc="-110" dirty="0">
                <a:latin typeface="Arial"/>
                <a:cs typeface="Arial"/>
              </a:rPr>
              <a:t>is </a:t>
            </a:r>
            <a:r>
              <a:rPr spc="-20" dirty="0">
                <a:latin typeface="Arial"/>
                <a:cs typeface="Arial"/>
              </a:rPr>
              <a:t>part </a:t>
            </a:r>
            <a:r>
              <a:rPr spc="-5" dirty="0">
                <a:latin typeface="Arial"/>
                <a:cs typeface="Arial"/>
              </a:rPr>
              <a:t>of </a:t>
            </a:r>
            <a:r>
              <a:rPr spc="-25" dirty="0">
                <a:latin typeface="Arial"/>
                <a:cs typeface="Arial"/>
              </a:rPr>
              <a:t>the</a:t>
            </a:r>
            <a:r>
              <a:rPr spc="-250" dirty="0">
                <a:latin typeface="Arial"/>
                <a:cs typeface="Arial"/>
              </a:rPr>
              <a:t> </a:t>
            </a:r>
            <a:r>
              <a:rPr spc="-260" dirty="0">
                <a:latin typeface="Arial"/>
                <a:cs typeface="Arial"/>
              </a:rPr>
              <a:t>HTTP </a:t>
            </a:r>
            <a:r>
              <a:rPr spc="-114" dirty="0">
                <a:latin typeface="Arial"/>
                <a:cs typeface="Arial"/>
              </a:rPr>
              <a:t>response</a:t>
            </a:r>
            <a:endParaRPr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pc="-125" dirty="0">
                <a:latin typeface="Arial"/>
                <a:cs typeface="Arial"/>
              </a:rPr>
              <a:t>Web </a:t>
            </a:r>
            <a:r>
              <a:rPr spc="-75" dirty="0">
                <a:latin typeface="Arial"/>
                <a:cs typeface="Arial"/>
              </a:rPr>
              <a:t>browser </a:t>
            </a:r>
            <a:r>
              <a:rPr spc="-95" dirty="0">
                <a:latin typeface="Arial"/>
                <a:cs typeface="Arial"/>
              </a:rPr>
              <a:t>stores </a:t>
            </a:r>
            <a:r>
              <a:rPr spc="-25" dirty="0">
                <a:latin typeface="Arial"/>
                <a:cs typeface="Arial"/>
              </a:rPr>
              <a:t>the </a:t>
            </a:r>
            <a:r>
              <a:rPr spc="-90" dirty="0">
                <a:latin typeface="Arial"/>
                <a:cs typeface="Arial"/>
              </a:rPr>
              <a:t>cookie </a:t>
            </a:r>
            <a:r>
              <a:rPr spc="-100" dirty="0">
                <a:latin typeface="Arial"/>
                <a:cs typeface="Arial"/>
              </a:rPr>
              <a:t>and </a:t>
            </a:r>
            <a:r>
              <a:rPr spc="-165" dirty="0">
                <a:latin typeface="Arial"/>
                <a:cs typeface="Arial"/>
              </a:rPr>
              <a:t>uses </a:t>
            </a:r>
            <a:r>
              <a:rPr spc="-25" dirty="0">
                <a:latin typeface="Arial"/>
                <a:cs typeface="Arial"/>
              </a:rPr>
              <a:t>the </a:t>
            </a:r>
            <a:r>
              <a:rPr spc="-150" dirty="0">
                <a:latin typeface="Arial"/>
                <a:cs typeface="Arial"/>
              </a:rPr>
              <a:t>same </a:t>
            </a:r>
            <a:r>
              <a:rPr spc="-25" dirty="0">
                <a:latin typeface="Arial"/>
                <a:cs typeface="Arial"/>
              </a:rPr>
              <a:t>in </a:t>
            </a:r>
            <a:r>
              <a:rPr spc="-100" dirty="0">
                <a:latin typeface="Arial"/>
                <a:cs typeface="Arial"/>
              </a:rPr>
              <a:t>subsequent</a:t>
            </a:r>
            <a:r>
              <a:rPr spc="-215" dirty="0">
                <a:latin typeface="Arial"/>
                <a:cs typeface="Arial"/>
              </a:rPr>
              <a:t> </a:t>
            </a:r>
            <a:r>
              <a:rPr spc="-95" dirty="0">
                <a:latin typeface="Arial"/>
                <a:cs typeface="Arial"/>
              </a:rPr>
              <a:t>requests</a:t>
            </a:r>
            <a:endParaRPr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pc="20" dirty="0">
                <a:latin typeface="Arial"/>
                <a:cs typeface="Arial"/>
              </a:rPr>
              <a:t>to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150" dirty="0">
                <a:latin typeface="Arial"/>
                <a:cs typeface="Arial"/>
              </a:rPr>
              <a:t>same </a:t>
            </a:r>
            <a:r>
              <a:rPr spc="-125" dirty="0">
                <a:latin typeface="Arial"/>
                <a:cs typeface="Arial"/>
              </a:rPr>
              <a:t>Web</a:t>
            </a:r>
            <a:r>
              <a:rPr spc="-300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server</a:t>
            </a:r>
            <a:endParaRPr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921765"/>
            <a:ext cx="80092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3200" spc="-175" dirty="0">
                <a:latin typeface="Arial"/>
                <a:cs typeface="Arial"/>
              </a:rPr>
              <a:t>Consider </a:t>
            </a:r>
            <a:r>
              <a:rPr sz="3200" spc="-35" dirty="0">
                <a:latin typeface="Arial"/>
                <a:cs typeface="Arial"/>
              </a:rPr>
              <a:t>the </a:t>
            </a:r>
            <a:r>
              <a:rPr sz="3200" spc="-60" dirty="0">
                <a:latin typeface="Arial"/>
                <a:cs typeface="Arial"/>
              </a:rPr>
              <a:t>following </a:t>
            </a:r>
            <a:r>
              <a:rPr sz="3200" spc="-390" dirty="0">
                <a:latin typeface="Arial"/>
                <a:cs typeface="Arial"/>
              </a:rPr>
              <a:t>HTTP </a:t>
            </a:r>
            <a:r>
              <a:rPr sz="3200" spc="-170" dirty="0">
                <a:latin typeface="Arial"/>
                <a:cs typeface="Arial"/>
              </a:rPr>
              <a:t>response</a:t>
            </a:r>
            <a:r>
              <a:rPr sz="3200" spc="-615" dirty="0">
                <a:latin typeface="Arial"/>
                <a:cs typeface="Arial"/>
              </a:rPr>
              <a:t> </a:t>
            </a:r>
            <a:r>
              <a:rPr sz="3200" spc="-120" dirty="0">
                <a:latin typeface="Arial"/>
                <a:cs typeface="Arial"/>
              </a:rPr>
              <a:t>header: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55238"/>
            <a:ext cx="776097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45" dirty="0"/>
              <a:t>W</a:t>
            </a:r>
            <a:r>
              <a:rPr spc="-130" dirty="0"/>
              <a:t>orking</a:t>
            </a:r>
            <a:r>
              <a:rPr spc="-195" dirty="0"/>
              <a:t> </a:t>
            </a:r>
            <a:r>
              <a:rPr spc="-105" dirty="0"/>
              <a:t>of</a:t>
            </a:r>
            <a:r>
              <a:rPr spc="-190" dirty="0"/>
              <a:t> </a:t>
            </a:r>
            <a:r>
              <a:rPr spc="-100" dirty="0"/>
              <a:t>a</a:t>
            </a:r>
            <a:r>
              <a:rPr spc="-190" dirty="0"/>
              <a:t> </a:t>
            </a:r>
            <a:r>
              <a:rPr spc="-155" dirty="0"/>
              <a:t>C</a:t>
            </a:r>
            <a:r>
              <a:rPr spc="-140" dirty="0"/>
              <a:t>ookie</a:t>
            </a:r>
            <a:endParaRPr spc="-200" dirty="0"/>
          </a:p>
        </p:txBody>
      </p:sp>
      <p:sp>
        <p:nvSpPr>
          <p:cNvPr id="4" name="object 4"/>
          <p:cNvSpPr txBox="1"/>
          <p:nvPr/>
        </p:nvSpPr>
        <p:spPr>
          <a:xfrm>
            <a:off x="533400" y="2057400"/>
            <a:ext cx="5791200" cy="242443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HTTP/2.0</a:t>
            </a:r>
            <a:r>
              <a:rPr sz="1400" spc="-10" dirty="0">
                <a:latin typeface="Courier New"/>
                <a:cs typeface="Courier New"/>
              </a:rPr>
              <a:t> 200</a:t>
            </a:r>
            <a:endParaRPr sz="1400">
              <a:latin typeface="Courier New"/>
              <a:cs typeface="Courier New"/>
            </a:endParaRPr>
          </a:p>
          <a:p>
            <a:pPr marL="67945" marR="3265804">
              <a:lnSpc>
                <a:spcPct val="205700"/>
              </a:lnSpc>
              <a:spcBef>
                <a:spcPts val="10"/>
              </a:spcBef>
            </a:pPr>
            <a:r>
              <a:rPr sz="1400" spc="-5" dirty="0">
                <a:latin typeface="Courier New"/>
                <a:cs typeface="Courier New"/>
              </a:rPr>
              <a:t>Content-Length: 8451  Content-Type:</a:t>
            </a:r>
            <a:r>
              <a:rPr sz="1400" spc="-8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text/html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Date: Mon, </a:t>
            </a:r>
            <a:r>
              <a:rPr sz="1400" dirty="0">
                <a:latin typeface="Courier New"/>
                <a:cs typeface="Courier New"/>
              </a:rPr>
              <a:t>27 Dec </a:t>
            </a:r>
            <a:r>
              <a:rPr sz="1400" spc="-5" dirty="0">
                <a:latin typeface="Courier New"/>
                <a:cs typeface="Courier New"/>
              </a:rPr>
              <a:t>2010 05:29:24</a:t>
            </a:r>
            <a:r>
              <a:rPr sz="1400" spc="-6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GMT</a:t>
            </a:r>
            <a:endParaRPr sz="1400">
              <a:latin typeface="Courier New"/>
              <a:cs typeface="Courier New"/>
            </a:endParaRPr>
          </a:p>
          <a:p>
            <a:pPr marL="67945" marR="1670685">
              <a:lnSpc>
                <a:spcPct val="205700"/>
              </a:lnSpc>
              <a:spcBef>
                <a:spcPts val="15"/>
              </a:spcBef>
            </a:pPr>
            <a:r>
              <a:rPr sz="1400" spc="-5" dirty="0">
                <a:latin typeface="Courier New"/>
                <a:cs typeface="Courier New"/>
              </a:rPr>
              <a:t>Expires: </a:t>
            </a:r>
            <a:r>
              <a:rPr sz="1400" spc="-10" dirty="0">
                <a:latin typeface="Courier New"/>
                <a:cs typeface="Courier New"/>
              </a:rPr>
              <a:t>Mon, </a:t>
            </a:r>
            <a:r>
              <a:rPr sz="1400" spc="-5" dirty="0">
                <a:latin typeface="Courier New"/>
                <a:cs typeface="Courier New"/>
              </a:rPr>
              <a:t>27 Dec 2010 05:29:44 GMT  setcookie: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city=east-coast-usa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3400" y="1584960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4450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0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35128"/>
            <a:ext cx="478516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cap="all" spc="-45" dirty="0">
                <a:solidFill>
                  <a:srgbClr val="8FA751"/>
                </a:solidFill>
                <a:ea typeface="+mj-ea"/>
                <a:cs typeface="+mj-cs"/>
              </a:rPr>
              <a:t>W</a:t>
            </a:r>
            <a:r>
              <a:rPr lang="en-US" sz="3200" cap="all" spc="-130" dirty="0">
                <a:solidFill>
                  <a:srgbClr val="8FA751"/>
                </a:solidFill>
                <a:ea typeface="+mj-ea"/>
                <a:cs typeface="+mj-cs"/>
              </a:rPr>
              <a:t>orking</a:t>
            </a:r>
            <a:r>
              <a:rPr lang="en-US" sz="3200" cap="all" spc="-195" dirty="0">
                <a:solidFill>
                  <a:srgbClr val="8FA751"/>
                </a:solidFill>
                <a:ea typeface="+mj-ea"/>
                <a:cs typeface="+mj-cs"/>
              </a:rPr>
              <a:t> </a:t>
            </a:r>
            <a:r>
              <a:rPr lang="en-US" sz="3200" cap="all" spc="-105" dirty="0">
                <a:solidFill>
                  <a:srgbClr val="8FA751"/>
                </a:solidFill>
                <a:ea typeface="+mj-ea"/>
                <a:cs typeface="+mj-cs"/>
              </a:rPr>
              <a:t>of</a:t>
            </a:r>
            <a:r>
              <a:rPr lang="en-US" sz="3200" cap="all" spc="-190" dirty="0">
                <a:solidFill>
                  <a:srgbClr val="8FA751"/>
                </a:solidFill>
                <a:ea typeface="+mj-ea"/>
                <a:cs typeface="+mj-cs"/>
              </a:rPr>
              <a:t> </a:t>
            </a:r>
            <a:r>
              <a:rPr lang="en-US" sz="3200" cap="all" spc="-100" dirty="0">
                <a:solidFill>
                  <a:srgbClr val="8FA751"/>
                </a:solidFill>
                <a:ea typeface="+mj-ea"/>
                <a:cs typeface="+mj-cs"/>
              </a:rPr>
              <a:t>a</a:t>
            </a:r>
            <a:r>
              <a:rPr lang="en-US" sz="3200" cap="all" spc="-190" dirty="0">
                <a:solidFill>
                  <a:srgbClr val="8FA751"/>
                </a:solidFill>
                <a:ea typeface="+mj-ea"/>
                <a:cs typeface="+mj-cs"/>
              </a:rPr>
              <a:t> </a:t>
            </a:r>
            <a:r>
              <a:rPr lang="en-US" sz="3200" cap="all" spc="-155" dirty="0">
                <a:solidFill>
                  <a:srgbClr val="8FA751"/>
                </a:solidFill>
                <a:ea typeface="+mj-ea"/>
                <a:cs typeface="+mj-cs"/>
              </a:rPr>
              <a:t>C</a:t>
            </a:r>
            <a:r>
              <a:rPr lang="en-US" sz="3200" cap="all" spc="-140" dirty="0">
                <a:solidFill>
                  <a:srgbClr val="8FA751"/>
                </a:solidFill>
                <a:ea typeface="+mj-ea"/>
                <a:cs typeface="+mj-cs"/>
              </a:rPr>
              <a:t>ookie</a:t>
            </a:r>
            <a:endParaRPr sz="25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23809" y="135128"/>
            <a:ext cx="44450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204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sz="2500" b="1" spc="-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2500" b="1" spc="-200" dirty="0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25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921765"/>
            <a:ext cx="6976109" cy="353750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90" dirty="0">
                <a:latin typeface="Arial"/>
                <a:cs typeface="Arial"/>
              </a:rPr>
              <a:t>In </a:t>
            </a:r>
            <a:r>
              <a:rPr sz="2400" spc="-35" dirty="0">
                <a:latin typeface="Arial"/>
                <a:cs typeface="Arial"/>
              </a:rPr>
              <a:t>the </a:t>
            </a:r>
            <a:r>
              <a:rPr sz="2400" spc="-150" dirty="0">
                <a:latin typeface="Arial"/>
                <a:cs typeface="Arial"/>
              </a:rPr>
              <a:t>code, </a:t>
            </a:r>
            <a:r>
              <a:rPr sz="2400" spc="-35" dirty="0">
                <a:latin typeface="Arial"/>
                <a:cs typeface="Arial"/>
              </a:rPr>
              <a:t>the </a:t>
            </a:r>
            <a:r>
              <a:rPr sz="2400" spc="-60" dirty="0">
                <a:latin typeface="Arial"/>
                <a:cs typeface="Arial"/>
              </a:rPr>
              <a:t>following </a:t>
            </a:r>
            <a:r>
              <a:rPr sz="2400" spc="-45" dirty="0">
                <a:latin typeface="Arial"/>
                <a:cs typeface="Arial"/>
              </a:rPr>
              <a:t>information</a:t>
            </a:r>
            <a:r>
              <a:rPr sz="2400" spc="-590" dirty="0">
                <a:latin typeface="Arial"/>
                <a:cs typeface="Arial"/>
              </a:rPr>
              <a:t> </a:t>
            </a:r>
            <a:r>
              <a:rPr sz="2400" spc="-165" dirty="0">
                <a:latin typeface="Arial"/>
                <a:cs typeface="Arial"/>
              </a:rPr>
              <a:t>is  </a:t>
            </a:r>
            <a:r>
              <a:rPr sz="2400" spc="-135" dirty="0">
                <a:latin typeface="Arial"/>
                <a:cs typeface="Arial"/>
              </a:rPr>
              <a:t>displayed:</a:t>
            </a:r>
            <a:endParaRPr sz="24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20"/>
              </a:spcBef>
            </a:pPr>
            <a:r>
              <a:rPr sz="1100" spc="445" dirty="0">
                <a:solidFill>
                  <a:srgbClr val="1F487C"/>
                </a:solidFill>
                <a:latin typeface="Arial"/>
                <a:cs typeface="Arial"/>
              </a:rPr>
              <a:t> </a:t>
            </a:r>
            <a:r>
              <a:rPr sz="2000" spc="-155" dirty="0">
                <a:latin typeface="Arial"/>
                <a:cs typeface="Arial"/>
              </a:rPr>
              <a:t>Version </a:t>
            </a:r>
            <a:r>
              <a:rPr sz="2000" spc="-90" dirty="0">
                <a:latin typeface="Arial"/>
                <a:cs typeface="Arial"/>
              </a:rPr>
              <a:t>number </a:t>
            </a:r>
            <a:r>
              <a:rPr sz="2000" spc="-10" dirty="0">
                <a:latin typeface="Arial"/>
                <a:cs typeface="Arial"/>
              </a:rPr>
              <a:t>of </a:t>
            </a:r>
            <a:r>
              <a:rPr sz="2000" spc="-40" dirty="0">
                <a:latin typeface="Arial"/>
                <a:cs typeface="Arial"/>
              </a:rPr>
              <a:t>the </a:t>
            </a:r>
            <a:r>
              <a:rPr sz="2000" spc="-345" dirty="0">
                <a:latin typeface="Arial"/>
                <a:cs typeface="Arial"/>
              </a:rPr>
              <a:t>HTTP </a:t>
            </a:r>
            <a:r>
              <a:rPr sz="2000" spc="-60" dirty="0">
                <a:latin typeface="Arial"/>
                <a:cs typeface="Arial"/>
              </a:rPr>
              <a:t>protocol</a:t>
            </a:r>
            <a:endParaRPr sz="2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05"/>
              </a:spcBef>
            </a:pPr>
            <a:r>
              <a:rPr sz="1100" spc="445" dirty="0">
                <a:solidFill>
                  <a:srgbClr val="1F487C"/>
                </a:solidFill>
                <a:latin typeface="Arial"/>
                <a:cs typeface="Arial"/>
              </a:rPr>
              <a:t> </a:t>
            </a:r>
            <a:r>
              <a:rPr sz="2000" spc="-280" dirty="0">
                <a:latin typeface="Arial"/>
                <a:cs typeface="Arial"/>
              </a:rPr>
              <a:t>Size </a:t>
            </a:r>
            <a:r>
              <a:rPr sz="2000" spc="-10" dirty="0">
                <a:latin typeface="Arial"/>
                <a:cs typeface="Arial"/>
              </a:rPr>
              <a:t>of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content</a:t>
            </a:r>
            <a:endParaRPr sz="2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695"/>
              </a:spcBef>
            </a:pPr>
            <a:r>
              <a:rPr sz="1100" spc="445" dirty="0">
                <a:solidFill>
                  <a:srgbClr val="1F487C"/>
                </a:solidFill>
                <a:latin typeface="Arial"/>
                <a:cs typeface="Arial"/>
              </a:rPr>
              <a:t> </a:t>
            </a:r>
            <a:r>
              <a:rPr sz="2000" spc="-225" dirty="0">
                <a:latin typeface="Arial"/>
                <a:cs typeface="Arial"/>
              </a:rPr>
              <a:t>Type </a:t>
            </a:r>
            <a:r>
              <a:rPr sz="2000" spc="-10" dirty="0">
                <a:latin typeface="Arial"/>
                <a:cs typeface="Arial"/>
              </a:rPr>
              <a:t>of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content</a:t>
            </a:r>
            <a:endParaRPr sz="2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05"/>
              </a:spcBef>
            </a:pPr>
            <a:r>
              <a:rPr sz="1100" spc="445" dirty="0">
                <a:solidFill>
                  <a:srgbClr val="1F487C"/>
                </a:solidFill>
                <a:latin typeface="Arial"/>
                <a:cs typeface="Arial"/>
              </a:rPr>
              <a:t> </a:t>
            </a:r>
            <a:r>
              <a:rPr sz="2000" spc="-150" dirty="0">
                <a:latin typeface="Arial"/>
                <a:cs typeface="Arial"/>
              </a:rPr>
              <a:t>Date </a:t>
            </a:r>
            <a:r>
              <a:rPr sz="2000" spc="-135" dirty="0">
                <a:latin typeface="Arial"/>
                <a:cs typeface="Arial"/>
              </a:rPr>
              <a:t>and </a:t>
            </a:r>
            <a:r>
              <a:rPr sz="2000" spc="-25" dirty="0">
                <a:latin typeface="Arial"/>
                <a:cs typeface="Arial"/>
              </a:rPr>
              <a:t>time </a:t>
            </a:r>
            <a:r>
              <a:rPr sz="2000" spc="-10" dirty="0">
                <a:latin typeface="Arial"/>
                <a:cs typeface="Arial"/>
              </a:rPr>
              <a:t>of</a:t>
            </a:r>
            <a:r>
              <a:rPr sz="2000" spc="-235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response</a:t>
            </a:r>
            <a:endParaRPr sz="2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05"/>
              </a:spcBef>
            </a:pPr>
            <a:r>
              <a:rPr sz="1100" spc="445" dirty="0">
                <a:solidFill>
                  <a:srgbClr val="1F487C"/>
                </a:solidFill>
                <a:latin typeface="Arial"/>
                <a:cs typeface="Arial"/>
              </a:rPr>
              <a:t> </a:t>
            </a:r>
            <a:r>
              <a:rPr sz="2000" spc="-150" dirty="0">
                <a:latin typeface="Arial"/>
                <a:cs typeface="Arial"/>
              </a:rPr>
              <a:t>Expiry </a:t>
            </a:r>
            <a:r>
              <a:rPr sz="2000" spc="-95" dirty="0">
                <a:latin typeface="Arial"/>
                <a:cs typeface="Arial"/>
              </a:rPr>
              <a:t>date </a:t>
            </a:r>
            <a:r>
              <a:rPr sz="2000" spc="-135" dirty="0">
                <a:latin typeface="Arial"/>
                <a:cs typeface="Arial"/>
              </a:rPr>
              <a:t>and </a:t>
            </a:r>
            <a:r>
              <a:rPr sz="2000" spc="-25" dirty="0">
                <a:latin typeface="Arial"/>
                <a:cs typeface="Arial"/>
              </a:rPr>
              <a:t>time </a:t>
            </a:r>
            <a:r>
              <a:rPr sz="2000" spc="-10" dirty="0">
                <a:latin typeface="Arial"/>
                <a:cs typeface="Arial"/>
              </a:rPr>
              <a:t>of </a:t>
            </a:r>
            <a:r>
              <a:rPr sz="2000" spc="-35" dirty="0">
                <a:latin typeface="Arial"/>
                <a:cs typeface="Arial"/>
              </a:rPr>
              <a:t>the</a:t>
            </a:r>
            <a:r>
              <a:rPr sz="2000" spc="-425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cookie</a:t>
            </a:r>
            <a:endParaRPr sz="2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689"/>
              </a:spcBef>
            </a:pPr>
            <a:r>
              <a:rPr sz="1100" spc="445" dirty="0">
                <a:solidFill>
                  <a:srgbClr val="1F487C"/>
                </a:solidFill>
                <a:latin typeface="Arial"/>
                <a:cs typeface="Arial"/>
              </a:rPr>
              <a:t> </a:t>
            </a:r>
            <a:r>
              <a:rPr sz="2000" spc="-170" dirty="0">
                <a:latin typeface="Arial"/>
                <a:cs typeface="Arial"/>
              </a:rPr>
              <a:t>Cookie</a:t>
            </a:r>
            <a:r>
              <a:rPr sz="2000" spc="-120" dirty="0">
                <a:latin typeface="Arial"/>
                <a:cs typeface="Arial"/>
              </a:rPr>
              <a:t> header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924813"/>
            <a:ext cx="70377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800" spc="-155" dirty="0">
                <a:latin typeface="Arial"/>
                <a:cs typeface="Arial"/>
              </a:rPr>
              <a:t>Consider </a:t>
            </a:r>
            <a:r>
              <a:rPr sz="2800" spc="-35" dirty="0">
                <a:latin typeface="Arial"/>
                <a:cs typeface="Arial"/>
              </a:rPr>
              <a:t>the </a:t>
            </a:r>
            <a:r>
              <a:rPr sz="2800" spc="-55" dirty="0">
                <a:latin typeface="Arial"/>
                <a:cs typeface="Arial"/>
              </a:rPr>
              <a:t>following </a:t>
            </a:r>
            <a:r>
              <a:rPr sz="2800" spc="-345" dirty="0">
                <a:latin typeface="Arial"/>
                <a:cs typeface="Arial"/>
              </a:rPr>
              <a:t>HTTP </a:t>
            </a:r>
            <a:r>
              <a:rPr sz="2800" spc="-155" dirty="0">
                <a:latin typeface="Arial"/>
                <a:cs typeface="Arial"/>
              </a:rPr>
              <a:t>response</a:t>
            </a:r>
            <a:r>
              <a:rPr sz="2800" spc="-509" dirty="0">
                <a:latin typeface="Arial"/>
                <a:cs typeface="Arial"/>
              </a:rPr>
              <a:t> </a:t>
            </a:r>
            <a:r>
              <a:rPr sz="2800" spc="-110" dirty="0">
                <a:latin typeface="Arial"/>
                <a:cs typeface="Arial"/>
              </a:rPr>
              <a:t>header: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-36883"/>
            <a:ext cx="4982112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0" dirty="0"/>
              <a:t>Working </a:t>
            </a:r>
            <a:r>
              <a:rPr spc="-105" dirty="0"/>
              <a:t>of </a:t>
            </a:r>
            <a:r>
              <a:rPr spc="-100" dirty="0"/>
              <a:t>a</a:t>
            </a:r>
            <a:r>
              <a:rPr spc="-390" dirty="0"/>
              <a:t> </a:t>
            </a:r>
            <a:r>
              <a:rPr spc="-145" dirty="0"/>
              <a:t>Cookie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7200" y="2130425"/>
            <a:ext cx="5791200" cy="1984375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GET /usa/florida.php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HTTP/2.0</a:t>
            </a:r>
            <a:endParaRPr sz="1400">
              <a:latin typeface="Courier New"/>
              <a:cs typeface="Courier New"/>
            </a:endParaRPr>
          </a:p>
          <a:p>
            <a:pPr marL="67945" marR="2840355">
              <a:lnSpc>
                <a:spcPct val="206199"/>
              </a:lnSpc>
            </a:pPr>
            <a:r>
              <a:rPr sz="1400" spc="-5" dirty="0">
                <a:latin typeface="Courier New"/>
                <a:cs typeface="Courier New"/>
              </a:rPr>
              <a:t>Connection: Keep-Alive  Cookie:</a:t>
            </a:r>
            <a:r>
              <a:rPr sz="1400" spc="-9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city=east-coast-usa  Host: </a:t>
            </a:r>
            <a:r>
              <a:rPr sz="1400" spc="-10" dirty="0">
                <a:latin typeface="Courier New"/>
                <a:cs typeface="Courier New"/>
                <a:hlinkClick r:id="rId2"/>
              </a:rPr>
              <a:t>www.Webworldmaps.com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latin typeface="Courier New"/>
                <a:cs typeface="Courier New"/>
              </a:rPr>
              <a:t>Referrer: </a:t>
            </a:r>
            <a:r>
              <a:rPr sz="1400" spc="-10" dirty="0">
                <a:latin typeface="Courier New"/>
                <a:cs typeface="Courier New"/>
                <a:hlinkClick r:id="rId2"/>
              </a:rPr>
              <a:t>http://www.Webworldmaps.com/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200" y="1661160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4450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0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91361" y="4191761"/>
            <a:ext cx="5334000" cy="1752600"/>
          </a:xfrm>
          <a:custGeom>
            <a:avLst/>
            <a:gdLst/>
            <a:ahLst/>
            <a:cxnLst/>
            <a:rect l="l" t="t" r="r" b="b"/>
            <a:pathLst>
              <a:path w="5334000" h="1752600">
                <a:moveTo>
                  <a:pt x="5334000" y="0"/>
                </a:moveTo>
                <a:lnTo>
                  <a:pt x="820674" y="0"/>
                </a:lnTo>
                <a:lnTo>
                  <a:pt x="772451" y="1393"/>
                </a:lnTo>
                <a:lnTo>
                  <a:pt x="724962" y="5521"/>
                </a:lnTo>
                <a:lnTo>
                  <a:pt x="678285" y="12306"/>
                </a:lnTo>
                <a:lnTo>
                  <a:pt x="632495" y="21673"/>
                </a:lnTo>
                <a:lnTo>
                  <a:pt x="587670" y="33544"/>
                </a:lnTo>
                <a:lnTo>
                  <a:pt x="543887" y="47842"/>
                </a:lnTo>
                <a:lnTo>
                  <a:pt x="501223" y="64490"/>
                </a:lnTo>
                <a:lnTo>
                  <a:pt x="459754" y="83411"/>
                </a:lnTo>
                <a:lnTo>
                  <a:pt x="419558" y="104528"/>
                </a:lnTo>
                <a:lnTo>
                  <a:pt x="380712" y="127764"/>
                </a:lnTo>
                <a:lnTo>
                  <a:pt x="343293" y="153043"/>
                </a:lnTo>
                <a:lnTo>
                  <a:pt x="307377" y="180287"/>
                </a:lnTo>
                <a:lnTo>
                  <a:pt x="273041" y="209419"/>
                </a:lnTo>
                <a:lnTo>
                  <a:pt x="240363" y="240363"/>
                </a:lnTo>
                <a:lnTo>
                  <a:pt x="209419" y="273041"/>
                </a:lnTo>
                <a:lnTo>
                  <a:pt x="180287" y="307377"/>
                </a:lnTo>
                <a:lnTo>
                  <a:pt x="153043" y="343293"/>
                </a:lnTo>
                <a:lnTo>
                  <a:pt x="127764" y="380712"/>
                </a:lnTo>
                <a:lnTo>
                  <a:pt x="104528" y="419558"/>
                </a:lnTo>
                <a:lnTo>
                  <a:pt x="83411" y="459754"/>
                </a:lnTo>
                <a:lnTo>
                  <a:pt x="64490" y="501223"/>
                </a:lnTo>
                <a:lnTo>
                  <a:pt x="47842" y="543887"/>
                </a:lnTo>
                <a:lnTo>
                  <a:pt x="33544" y="587670"/>
                </a:lnTo>
                <a:lnTo>
                  <a:pt x="21673" y="632495"/>
                </a:lnTo>
                <a:lnTo>
                  <a:pt x="12306" y="678285"/>
                </a:lnTo>
                <a:lnTo>
                  <a:pt x="5521" y="724962"/>
                </a:lnTo>
                <a:lnTo>
                  <a:pt x="1393" y="772451"/>
                </a:lnTo>
                <a:lnTo>
                  <a:pt x="0" y="820674"/>
                </a:lnTo>
                <a:lnTo>
                  <a:pt x="0" y="1752600"/>
                </a:lnTo>
                <a:lnTo>
                  <a:pt x="5334000" y="1752600"/>
                </a:lnTo>
                <a:lnTo>
                  <a:pt x="53340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91361" y="4191761"/>
            <a:ext cx="5334000" cy="1752600"/>
          </a:xfrm>
          <a:custGeom>
            <a:avLst/>
            <a:gdLst/>
            <a:ahLst/>
            <a:cxnLst/>
            <a:rect l="l" t="t" r="r" b="b"/>
            <a:pathLst>
              <a:path w="5334000" h="1752600">
                <a:moveTo>
                  <a:pt x="820674" y="0"/>
                </a:moveTo>
                <a:lnTo>
                  <a:pt x="5334000" y="0"/>
                </a:lnTo>
                <a:lnTo>
                  <a:pt x="5334000" y="1752600"/>
                </a:lnTo>
                <a:lnTo>
                  <a:pt x="0" y="1752600"/>
                </a:lnTo>
                <a:lnTo>
                  <a:pt x="0" y="820674"/>
                </a:lnTo>
                <a:lnTo>
                  <a:pt x="1393" y="772451"/>
                </a:lnTo>
                <a:lnTo>
                  <a:pt x="5521" y="724962"/>
                </a:lnTo>
                <a:lnTo>
                  <a:pt x="12306" y="678285"/>
                </a:lnTo>
                <a:lnTo>
                  <a:pt x="21673" y="632495"/>
                </a:lnTo>
                <a:lnTo>
                  <a:pt x="33544" y="587670"/>
                </a:lnTo>
                <a:lnTo>
                  <a:pt x="47842" y="543887"/>
                </a:lnTo>
                <a:lnTo>
                  <a:pt x="64490" y="501223"/>
                </a:lnTo>
                <a:lnTo>
                  <a:pt x="83411" y="459754"/>
                </a:lnTo>
                <a:lnTo>
                  <a:pt x="104528" y="419558"/>
                </a:lnTo>
                <a:lnTo>
                  <a:pt x="127764" y="380712"/>
                </a:lnTo>
                <a:lnTo>
                  <a:pt x="153043" y="343293"/>
                </a:lnTo>
                <a:lnTo>
                  <a:pt x="180287" y="307377"/>
                </a:lnTo>
                <a:lnTo>
                  <a:pt x="209419" y="273041"/>
                </a:lnTo>
                <a:lnTo>
                  <a:pt x="240363" y="240363"/>
                </a:lnTo>
                <a:lnTo>
                  <a:pt x="273041" y="209419"/>
                </a:lnTo>
                <a:lnTo>
                  <a:pt x="307377" y="180287"/>
                </a:lnTo>
                <a:lnTo>
                  <a:pt x="343293" y="153043"/>
                </a:lnTo>
                <a:lnTo>
                  <a:pt x="380712" y="127764"/>
                </a:lnTo>
                <a:lnTo>
                  <a:pt x="419558" y="104528"/>
                </a:lnTo>
                <a:lnTo>
                  <a:pt x="459754" y="83411"/>
                </a:lnTo>
                <a:lnTo>
                  <a:pt x="501223" y="64490"/>
                </a:lnTo>
                <a:lnTo>
                  <a:pt x="543887" y="47842"/>
                </a:lnTo>
                <a:lnTo>
                  <a:pt x="587670" y="33544"/>
                </a:lnTo>
                <a:lnTo>
                  <a:pt x="632495" y="21673"/>
                </a:lnTo>
                <a:lnTo>
                  <a:pt x="678285" y="12306"/>
                </a:lnTo>
                <a:lnTo>
                  <a:pt x="724962" y="5521"/>
                </a:lnTo>
                <a:lnTo>
                  <a:pt x="772451" y="1393"/>
                </a:lnTo>
                <a:lnTo>
                  <a:pt x="820674" y="0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309877" y="4327982"/>
            <a:ext cx="4620260" cy="1407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Cookie </a:t>
            </a:r>
            <a:r>
              <a:rPr sz="1800" spc="-120" dirty="0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be 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defined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using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setcookie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function.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spc="-145" dirty="0">
                <a:solidFill>
                  <a:srgbClr val="FFFFFF"/>
                </a:solidFill>
                <a:latin typeface="Arial"/>
                <a:cs typeface="Arial"/>
              </a:rPr>
              <a:t>Code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displays </a:t>
            </a:r>
            <a:r>
              <a:rPr sz="1800" spc="-14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subsequent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request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Web 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browser </a:t>
            </a:r>
            <a:r>
              <a:rPr sz="1800" spc="-125" dirty="0">
                <a:solidFill>
                  <a:srgbClr val="FFFFFF"/>
                </a:solidFill>
                <a:latin typeface="Arial"/>
                <a:cs typeface="Arial"/>
              </a:rPr>
              <a:t>sends </a:t>
            </a:r>
            <a:r>
              <a:rPr sz="1800" spc="1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spc="-110" dirty="0">
                <a:solidFill>
                  <a:srgbClr val="FFFFFF"/>
                </a:solidFill>
                <a:latin typeface="Arial"/>
                <a:cs typeface="Arial"/>
              </a:rPr>
              <a:t>Web</a:t>
            </a:r>
            <a:r>
              <a:rPr sz="1800" spc="-2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server.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86016"/>
            <a:ext cx="776097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35" dirty="0"/>
              <a:t>S</a:t>
            </a:r>
            <a:r>
              <a:rPr spc="-165" dirty="0"/>
              <a:t>e</a:t>
            </a:r>
            <a:r>
              <a:rPr spc="-155" dirty="0"/>
              <a:t>t</a:t>
            </a:r>
            <a:r>
              <a:rPr spc="-120" dirty="0"/>
              <a:t>ting</a:t>
            </a:r>
            <a:r>
              <a:rPr spc="-195" dirty="0"/>
              <a:t> </a:t>
            </a:r>
            <a:r>
              <a:rPr spc="-100" dirty="0"/>
              <a:t>a</a:t>
            </a:r>
            <a:r>
              <a:rPr spc="-190" dirty="0"/>
              <a:t> </a:t>
            </a:r>
            <a:r>
              <a:rPr spc="-145" dirty="0"/>
              <a:t>Cooki</a:t>
            </a:r>
            <a:r>
              <a:rPr spc="-155" dirty="0"/>
              <a:t>e</a:t>
            </a:r>
            <a:r>
              <a:rPr dirty="0"/>
              <a:t>	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721991"/>
            <a:ext cx="8101330" cy="4290060"/>
          </a:xfrm>
          <a:prstGeom prst="rect">
            <a:avLst/>
          </a:prstGeom>
        </p:spPr>
        <p:txBody>
          <a:bodyPr vert="horz" wrap="square" lIns="0" tIns="21462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689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800" spc="-114" dirty="0">
                <a:latin typeface="Arial"/>
                <a:cs typeface="Arial"/>
              </a:rPr>
              <a:t>Setting </a:t>
            </a:r>
            <a:r>
              <a:rPr sz="2800" spc="-220" dirty="0">
                <a:latin typeface="Arial"/>
                <a:cs typeface="Arial"/>
              </a:rPr>
              <a:t>a </a:t>
            </a:r>
            <a:r>
              <a:rPr sz="2800" spc="-114" dirty="0">
                <a:latin typeface="Arial"/>
                <a:cs typeface="Arial"/>
              </a:rPr>
              <a:t>cookie </a:t>
            </a:r>
            <a:r>
              <a:rPr sz="2800" spc="-145" dirty="0">
                <a:latin typeface="Arial"/>
                <a:cs typeface="Arial"/>
              </a:rPr>
              <a:t>is sending </a:t>
            </a:r>
            <a:r>
              <a:rPr sz="2800" spc="-35" dirty="0">
                <a:latin typeface="Arial"/>
                <a:cs typeface="Arial"/>
              </a:rPr>
              <a:t>the </a:t>
            </a:r>
            <a:r>
              <a:rPr sz="2800" spc="-114" dirty="0">
                <a:latin typeface="Arial"/>
                <a:cs typeface="Arial"/>
              </a:rPr>
              <a:t>cookie </a:t>
            </a:r>
            <a:r>
              <a:rPr sz="2800" spc="25" dirty="0">
                <a:latin typeface="Arial"/>
                <a:cs typeface="Arial"/>
              </a:rPr>
              <a:t>to </a:t>
            </a:r>
            <a:r>
              <a:rPr sz="2800" spc="-35" dirty="0">
                <a:latin typeface="Arial"/>
                <a:cs typeface="Arial"/>
              </a:rPr>
              <a:t>the</a:t>
            </a:r>
            <a:r>
              <a:rPr sz="2800" spc="-355" dirty="0">
                <a:latin typeface="Arial"/>
                <a:cs typeface="Arial"/>
              </a:rPr>
              <a:t> </a:t>
            </a:r>
            <a:r>
              <a:rPr sz="2800" spc="-100" dirty="0">
                <a:latin typeface="Arial"/>
                <a:cs typeface="Arial"/>
              </a:rPr>
              <a:t>browser</a:t>
            </a:r>
            <a:endParaRPr sz="2800">
              <a:latin typeface="Arial"/>
              <a:cs typeface="Arial"/>
            </a:endParaRPr>
          </a:p>
          <a:p>
            <a:pPr marL="355600" marR="1297305" indent="-342900">
              <a:lnSpc>
                <a:spcPct val="100000"/>
              </a:lnSpc>
              <a:spcBef>
                <a:spcPts val="16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800" spc="-375" dirty="0">
                <a:latin typeface="Arial"/>
                <a:cs typeface="Arial"/>
              </a:rPr>
              <a:t>PHP </a:t>
            </a:r>
            <a:r>
              <a:rPr sz="2800" spc="-220" dirty="0">
                <a:latin typeface="Arial"/>
                <a:cs typeface="Arial"/>
              </a:rPr>
              <a:t>uses </a:t>
            </a:r>
            <a:r>
              <a:rPr sz="2800" spc="10" dirty="0">
                <a:latin typeface="Arial"/>
                <a:cs typeface="Arial"/>
              </a:rPr>
              <a:t>two </a:t>
            </a:r>
            <a:r>
              <a:rPr sz="2800" spc="-75" dirty="0">
                <a:latin typeface="Arial"/>
                <a:cs typeface="Arial"/>
              </a:rPr>
              <a:t>functions, </a:t>
            </a:r>
            <a:r>
              <a:rPr sz="2800" spc="-35" dirty="0">
                <a:latin typeface="Courier New"/>
                <a:cs typeface="Courier New"/>
              </a:rPr>
              <a:t>setcookie()</a:t>
            </a:r>
            <a:r>
              <a:rPr sz="2800" spc="-35" dirty="0">
                <a:latin typeface="Arial"/>
                <a:cs typeface="Arial"/>
              </a:rPr>
              <a:t>and  </a:t>
            </a:r>
            <a:r>
              <a:rPr sz="2800" spc="-5" dirty="0">
                <a:latin typeface="Courier New"/>
                <a:cs typeface="Courier New"/>
              </a:rPr>
              <a:t>setrawcookie()</a:t>
            </a:r>
            <a:r>
              <a:rPr sz="2800" spc="-5" dirty="0">
                <a:latin typeface="Arial"/>
                <a:cs typeface="Arial"/>
              </a:rPr>
              <a:t>to </a:t>
            </a:r>
            <a:r>
              <a:rPr sz="2800" spc="-114" dirty="0">
                <a:latin typeface="Arial"/>
                <a:cs typeface="Arial"/>
              </a:rPr>
              <a:t>set </a:t>
            </a:r>
            <a:r>
              <a:rPr sz="2800" spc="-220" dirty="0">
                <a:latin typeface="Arial"/>
                <a:cs typeface="Arial"/>
              </a:rPr>
              <a:t>a</a:t>
            </a:r>
            <a:r>
              <a:rPr sz="2800" spc="-360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cookie</a:t>
            </a:r>
            <a:endParaRPr sz="2800">
              <a:latin typeface="Arial"/>
              <a:cs typeface="Arial"/>
            </a:endParaRPr>
          </a:p>
          <a:p>
            <a:pPr marL="355600" marR="151130" indent="-342900">
              <a:lnSpc>
                <a:spcPct val="103600"/>
              </a:lnSpc>
              <a:spcBef>
                <a:spcPts val="157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800" spc="-20" dirty="0">
                <a:latin typeface="Courier New"/>
                <a:cs typeface="Courier New"/>
              </a:rPr>
              <a:t>setrawcookie()</a:t>
            </a:r>
            <a:r>
              <a:rPr sz="2800" spc="-20" dirty="0">
                <a:latin typeface="Arial"/>
                <a:cs typeface="Arial"/>
              </a:rPr>
              <a:t>function </a:t>
            </a:r>
            <a:r>
              <a:rPr sz="2800" spc="-200" dirty="0">
                <a:latin typeface="Arial"/>
                <a:cs typeface="Arial"/>
              </a:rPr>
              <a:t>sends </a:t>
            </a:r>
            <a:r>
              <a:rPr sz="2800" spc="-220" dirty="0">
                <a:latin typeface="Arial"/>
                <a:cs typeface="Arial"/>
              </a:rPr>
              <a:t>a </a:t>
            </a:r>
            <a:r>
              <a:rPr sz="2800" spc="-120" dirty="0">
                <a:latin typeface="Arial"/>
                <a:cs typeface="Arial"/>
              </a:rPr>
              <a:t>cookie </a:t>
            </a:r>
            <a:r>
              <a:rPr sz="2800" spc="5" dirty="0">
                <a:latin typeface="Arial"/>
                <a:cs typeface="Arial"/>
              </a:rPr>
              <a:t>without  </a:t>
            </a:r>
            <a:r>
              <a:rPr sz="2800" spc="-125" dirty="0">
                <a:latin typeface="Arial"/>
                <a:cs typeface="Arial"/>
              </a:rPr>
              <a:t>encoding </a:t>
            </a:r>
            <a:r>
              <a:rPr sz="2800" spc="-35" dirty="0">
                <a:latin typeface="Arial"/>
                <a:cs typeface="Arial"/>
              </a:rPr>
              <a:t>the </a:t>
            </a:r>
            <a:r>
              <a:rPr sz="2800" spc="-114" dirty="0">
                <a:latin typeface="Arial"/>
                <a:cs typeface="Arial"/>
              </a:rPr>
              <a:t>cookie</a:t>
            </a:r>
            <a:r>
              <a:rPr sz="2800" spc="-250" dirty="0">
                <a:latin typeface="Arial"/>
                <a:cs typeface="Arial"/>
              </a:rPr>
              <a:t> </a:t>
            </a:r>
            <a:r>
              <a:rPr sz="2800" spc="-125" dirty="0">
                <a:latin typeface="Arial"/>
                <a:cs typeface="Arial"/>
              </a:rPr>
              <a:t>value</a:t>
            </a:r>
            <a:endParaRPr sz="2800">
              <a:latin typeface="Arial"/>
              <a:cs typeface="Arial"/>
            </a:endParaRPr>
          </a:p>
          <a:p>
            <a:pPr marL="355600" marR="5080" indent="-342900">
              <a:lnSpc>
                <a:spcPct val="101600"/>
              </a:lnSpc>
              <a:spcBef>
                <a:spcPts val="153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800" spc="-25" dirty="0">
                <a:latin typeface="Courier New"/>
                <a:cs typeface="Courier New"/>
              </a:rPr>
              <a:t>setcookie()</a:t>
            </a:r>
            <a:r>
              <a:rPr sz="2800" spc="-25" dirty="0">
                <a:latin typeface="Arial"/>
                <a:cs typeface="Arial"/>
              </a:rPr>
              <a:t>function </a:t>
            </a:r>
            <a:r>
              <a:rPr sz="2800" spc="-145" dirty="0">
                <a:latin typeface="Arial"/>
                <a:cs typeface="Arial"/>
              </a:rPr>
              <a:t>generates </a:t>
            </a:r>
            <a:r>
              <a:rPr sz="2800" spc="-35" dirty="0">
                <a:latin typeface="Arial"/>
                <a:cs typeface="Arial"/>
              </a:rPr>
              <a:t>the </a:t>
            </a:r>
            <a:r>
              <a:rPr sz="2800" spc="-120" dirty="0">
                <a:latin typeface="Arial"/>
                <a:cs typeface="Arial"/>
              </a:rPr>
              <a:t>cookie</a:t>
            </a:r>
            <a:r>
              <a:rPr sz="2800" spc="-365" dirty="0">
                <a:latin typeface="Arial"/>
                <a:cs typeface="Arial"/>
              </a:rPr>
              <a:t> </a:t>
            </a:r>
            <a:r>
              <a:rPr sz="2800" spc="-120" dirty="0">
                <a:latin typeface="Arial"/>
                <a:cs typeface="Arial"/>
              </a:rPr>
              <a:t>header  </a:t>
            </a:r>
            <a:r>
              <a:rPr sz="2800" spc="-35" dirty="0">
                <a:latin typeface="Arial"/>
                <a:cs typeface="Arial"/>
              </a:rPr>
              <a:t>field </a:t>
            </a:r>
            <a:r>
              <a:rPr sz="2800" spc="-5" dirty="0">
                <a:latin typeface="Arial"/>
                <a:cs typeface="Arial"/>
              </a:rPr>
              <a:t>that </a:t>
            </a:r>
            <a:r>
              <a:rPr sz="2800" spc="-145" dirty="0">
                <a:latin typeface="Arial"/>
                <a:cs typeface="Arial"/>
              </a:rPr>
              <a:t>is </a:t>
            </a:r>
            <a:r>
              <a:rPr sz="2800" spc="-110" dirty="0">
                <a:latin typeface="Arial"/>
                <a:cs typeface="Arial"/>
              </a:rPr>
              <a:t>sent </a:t>
            </a:r>
            <a:r>
              <a:rPr sz="2800" spc="-125" dirty="0">
                <a:latin typeface="Arial"/>
                <a:cs typeface="Arial"/>
              </a:rPr>
              <a:t>along </a:t>
            </a:r>
            <a:r>
              <a:rPr sz="2800" spc="15" dirty="0">
                <a:latin typeface="Arial"/>
                <a:cs typeface="Arial"/>
              </a:rPr>
              <a:t>with </a:t>
            </a:r>
            <a:r>
              <a:rPr sz="2800" spc="-35" dirty="0">
                <a:latin typeface="Arial"/>
                <a:cs typeface="Arial"/>
              </a:rPr>
              <a:t>the </a:t>
            </a:r>
            <a:r>
              <a:rPr sz="2800" spc="-90" dirty="0">
                <a:latin typeface="Arial"/>
                <a:cs typeface="Arial"/>
              </a:rPr>
              <a:t>rest </a:t>
            </a:r>
            <a:r>
              <a:rPr sz="2800" spc="-10" dirty="0">
                <a:latin typeface="Arial"/>
                <a:cs typeface="Arial"/>
              </a:rPr>
              <a:t>of </a:t>
            </a:r>
            <a:r>
              <a:rPr sz="2800" spc="-35" dirty="0">
                <a:latin typeface="Arial"/>
                <a:cs typeface="Arial"/>
              </a:rPr>
              <a:t>the </a:t>
            </a:r>
            <a:r>
              <a:rPr sz="2800" spc="-120" dirty="0">
                <a:latin typeface="Arial"/>
                <a:cs typeface="Arial"/>
              </a:rPr>
              <a:t>header  </a:t>
            </a:r>
            <a:r>
              <a:rPr sz="2800" spc="-45" dirty="0">
                <a:latin typeface="Arial"/>
                <a:cs typeface="Arial"/>
              </a:rPr>
              <a:t>information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374" y="135128"/>
            <a:ext cx="4138051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5" dirty="0"/>
              <a:t>Setting </a:t>
            </a:r>
            <a:r>
              <a:rPr spc="-100" dirty="0"/>
              <a:t>a</a:t>
            </a:r>
            <a:r>
              <a:rPr spc="-310" dirty="0"/>
              <a:t> </a:t>
            </a:r>
            <a:r>
              <a:rPr spc="-145" dirty="0"/>
              <a:t>Cookie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idx="1"/>
          </p:nvPr>
        </p:nvSpPr>
        <p:spPr>
          <a:xfrm>
            <a:off x="162659" y="1606802"/>
            <a:ext cx="7797662" cy="38446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Where</a:t>
            </a:r>
            <a:r>
              <a:rPr sz="2000" spc="-9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,</a:t>
            </a:r>
            <a:endParaRPr sz="2000" dirty="0">
              <a:latin typeface="Adobe Fangsong Std R" panose="02020400000000000000" pitchFamily="18" charset="-128"/>
              <a:ea typeface="Adobe Fangsong Std R" panose="02020400000000000000" pitchFamily="18" charset="-128"/>
            </a:endParaRPr>
          </a:p>
          <a:p>
            <a:pPr marL="287020">
              <a:lnSpc>
                <a:spcPct val="100000"/>
              </a:lnSpc>
              <a:spcBef>
                <a:spcPts val="1730"/>
              </a:spcBef>
            </a:pP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  <a:cs typeface="Trebuchet MS"/>
              </a:rPr>
              <a:t>name</a:t>
            </a:r>
            <a:r>
              <a:rPr sz="1600" spc="-165" dirty="0">
                <a:latin typeface="Adobe Fangsong Std R" panose="02020400000000000000" pitchFamily="18" charset="-128"/>
                <a:ea typeface="Adobe Fangsong Std R" panose="02020400000000000000" pitchFamily="18" charset="-128"/>
                <a:cs typeface="Trebuchet MS"/>
              </a:rPr>
              <a:t> </a:t>
            </a:r>
            <a:r>
              <a:rPr sz="1600" spc="-5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-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8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defines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2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the</a:t>
            </a:r>
            <a:r>
              <a:rPr sz="1600" spc="-114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name </a:t>
            </a:r>
            <a:r>
              <a:rPr sz="1600" spc="-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of</a:t>
            </a:r>
            <a:r>
              <a:rPr sz="1600" spc="-114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2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the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8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cookie</a:t>
            </a:r>
            <a:endParaRPr sz="1600" dirty="0">
              <a:latin typeface="Adobe Fangsong Std R" panose="02020400000000000000" pitchFamily="18" charset="-128"/>
              <a:ea typeface="Adobe Fangsong Std R" panose="02020400000000000000" pitchFamily="18" charset="-128"/>
              <a:cs typeface="Trebuchet MS"/>
            </a:endParaRPr>
          </a:p>
          <a:p>
            <a:pPr marL="287020">
              <a:lnSpc>
                <a:spcPct val="100000"/>
              </a:lnSpc>
              <a:spcBef>
                <a:spcPts val="1695"/>
              </a:spcBef>
            </a:pPr>
            <a:r>
              <a:rPr sz="1600" spc="-114" dirty="0">
                <a:latin typeface="Adobe Fangsong Std R" panose="02020400000000000000" pitchFamily="18" charset="-128"/>
                <a:ea typeface="Adobe Fangsong Std R" panose="02020400000000000000" pitchFamily="18" charset="-128"/>
                <a:cs typeface="Trebuchet MS"/>
              </a:rPr>
              <a:t>value</a:t>
            </a:r>
            <a:r>
              <a:rPr sz="1600" spc="-155" dirty="0">
                <a:latin typeface="Adobe Fangsong Std R" panose="02020400000000000000" pitchFamily="18" charset="-128"/>
                <a:ea typeface="Adobe Fangsong Std R" panose="02020400000000000000" pitchFamily="18" charset="-128"/>
                <a:cs typeface="Trebuchet MS"/>
              </a:rPr>
              <a:t> </a:t>
            </a:r>
            <a:r>
              <a:rPr sz="1600" spc="-5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-</a:t>
            </a:r>
            <a:r>
              <a:rPr sz="1600" spc="-10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8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defines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2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the</a:t>
            </a:r>
            <a:r>
              <a:rPr sz="1600" spc="-11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9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value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of</a:t>
            </a:r>
            <a:r>
              <a:rPr sz="1600" spc="-114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2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the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8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cookie</a:t>
            </a:r>
            <a:r>
              <a:rPr sz="1600" spc="-12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that</a:t>
            </a:r>
            <a:r>
              <a:rPr sz="1600" spc="-10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is</a:t>
            </a:r>
            <a:r>
              <a:rPr sz="1600" spc="-9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6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stored</a:t>
            </a:r>
            <a:r>
              <a:rPr sz="1600" spc="-10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6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on</a:t>
            </a:r>
            <a:r>
              <a:rPr sz="1600" spc="-11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2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the</a:t>
            </a:r>
            <a:r>
              <a:rPr sz="1600" spc="-10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4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client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12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system</a:t>
            </a:r>
            <a:endParaRPr sz="1600" dirty="0">
              <a:latin typeface="Adobe Fangsong Std R" panose="02020400000000000000" pitchFamily="18" charset="-128"/>
              <a:ea typeface="Adobe Fangsong Std R" panose="02020400000000000000" pitchFamily="18" charset="-128"/>
              <a:cs typeface="Trebuchet MS"/>
            </a:endParaRPr>
          </a:p>
          <a:p>
            <a:pPr marL="287020" marR="46355">
              <a:lnSpc>
                <a:spcPct val="100000"/>
              </a:lnSpc>
              <a:spcBef>
                <a:spcPts val="1705"/>
              </a:spcBef>
            </a:pPr>
            <a:r>
              <a:rPr sz="1600" spc="-140" dirty="0">
                <a:latin typeface="Adobe Fangsong Std R" panose="02020400000000000000" pitchFamily="18" charset="-128"/>
                <a:ea typeface="Adobe Fangsong Std R" panose="02020400000000000000" pitchFamily="18" charset="-128"/>
                <a:cs typeface="Trebuchet MS"/>
              </a:rPr>
              <a:t>expiry</a:t>
            </a:r>
            <a:r>
              <a:rPr sz="1600" spc="-150" dirty="0">
                <a:latin typeface="Adobe Fangsong Std R" panose="02020400000000000000" pitchFamily="18" charset="-128"/>
                <a:ea typeface="Adobe Fangsong Std R" panose="02020400000000000000" pitchFamily="18" charset="-128"/>
                <a:cs typeface="Trebuchet MS"/>
              </a:rPr>
              <a:t> </a:t>
            </a:r>
            <a:r>
              <a:rPr sz="1600" spc="-114" dirty="0">
                <a:latin typeface="Adobe Fangsong Std R" panose="02020400000000000000" pitchFamily="18" charset="-128"/>
                <a:ea typeface="Adobe Fangsong Std R" panose="02020400000000000000" pitchFamily="18" charset="-128"/>
                <a:cs typeface="Trebuchet MS"/>
              </a:rPr>
              <a:t>date</a:t>
            </a:r>
            <a:r>
              <a:rPr sz="1600" spc="-150" dirty="0">
                <a:latin typeface="Adobe Fangsong Std R" panose="02020400000000000000" pitchFamily="18" charset="-128"/>
                <a:ea typeface="Adobe Fangsong Std R" panose="02020400000000000000" pitchFamily="18" charset="-128"/>
                <a:cs typeface="Trebuchet MS"/>
              </a:rPr>
              <a:t> </a:t>
            </a:r>
            <a:r>
              <a:rPr sz="1600" spc="-5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-</a:t>
            </a:r>
            <a:r>
              <a:rPr sz="1600" spc="-10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8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defines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2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the</a:t>
            </a:r>
            <a:r>
              <a:rPr sz="1600" spc="-11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7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date</a:t>
            </a:r>
            <a:r>
              <a:rPr sz="1600" spc="-8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9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and</a:t>
            </a:r>
            <a:r>
              <a:rPr sz="1600" spc="-10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1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time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15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(UNIX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5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timestamp)</a:t>
            </a:r>
            <a:r>
              <a:rPr sz="1600" spc="-7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6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when</a:t>
            </a:r>
            <a:r>
              <a:rPr sz="1600" spc="-12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2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the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8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cookie</a:t>
            </a:r>
            <a:r>
              <a:rPr sz="1600" spc="-11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will  </a:t>
            </a:r>
            <a:r>
              <a:rPr sz="1600" spc="-8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expire</a:t>
            </a:r>
            <a:endParaRPr sz="1600" dirty="0">
              <a:latin typeface="Adobe Fangsong Std R" panose="02020400000000000000" pitchFamily="18" charset="-128"/>
              <a:ea typeface="Adobe Fangsong Std R" panose="02020400000000000000" pitchFamily="18" charset="-128"/>
              <a:cs typeface="Trebuchet MS"/>
            </a:endParaRPr>
          </a:p>
          <a:p>
            <a:pPr marL="287020">
              <a:lnSpc>
                <a:spcPct val="100000"/>
              </a:lnSpc>
              <a:spcBef>
                <a:spcPts val="1705"/>
              </a:spcBef>
            </a:pP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  <a:cs typeface="Trebuchet MS"/>
              </a:rPr>
              <a:t>path</a:t>
            </a:r>
            <a:r>
              <a:rPr sz="1600" spc="-155" dirty="0">
                <a:latin typeface="Adobe Fangsong Std R" panose="02020400000000000000" pitchFamily="18" charset="-128"/>
                <a:ea typeface="Adobe Fangsong Std R" panose="02020400000000000000" pitchFamily="18" charset="-128"/>
                <a:cs typeface="Trebuchet MS"/>
              </a:rPr>
              <a:t> </a:t>
            </a:r>
            <a:r>
              <a:rPr sz="1600" spc="-5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-</a:t>
            </a:r>
            <a:r>
              <a:rPr sz="1600" spc="-114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8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defines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2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the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5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location</a:t>
            </a:r>
            <a:r>
              <a:rPr sz="1600" spc="-11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6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on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2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the</a:t>
            </a:r>
            <a:r>
              <a:rPr sz="1600" spc="-114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8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server </a:t>
            </a:r>
            <a:r>
              <a:rPr sz="1600" spc="-6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where</a:t>
            </a:r>
            <a:r>
              <a:rPr sz="1600" spc="-11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2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the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8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cookie</a:t>
            </a:r>
            <a:r>
              <a:rPr sz="1600" spc="-114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will</a:t>
            </a:r>
            <a:r>
              <a:rPr sz="1600" spc="-10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9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be</a:t>
            </a:r>
            <a:r>
              <a:rPr sz="1600" spc="-11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6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stored.</a:t>
            </a:r>
            <a:endParaRPr sz="1600" dirty="0">
              <a:latin typeface="Adobe Fangsong Std R" panose="02020400000000000000" pitchFamily="18" charset="-128"/>
              <a:ea typeface="Adobe Fangsong Std R" panose="02020400000000000000" pitchFamily="18" charset="-128"/>
              <a:cs typeface="Trebuchet MS"/>
            </a:endParaRPr>
          </a:p>
          <a:p>
            <a:pPr marL="287020">
              <a:lnSpc>
                <a:spcPct val="100000"/>
              </a:lnSpc>
              <a:spcBef>
                <a:spcPts val="1689"/>
              </a:spcBef>
            </a:pPr>
            <a:r>
              <a:rPr sz="1600" spc="-90" dirty="0">
                <a:latin typeface="Adobe Fangsong Std R" panose="02020400000000000000" pitchFamily="18" charset="-128"/>
                <a:ea typeface="Adobe Fangsong Std R" panose="02020400000000000000" pitchFamily="18" charset="-128"/>
                <a:cs typeface="Trebuchet MS"/>
              </a:rPr>
              <a:t>domain</a:t>
            </a:r>
            <a:r>
              <a:rPr sz="1600" spc="-165" dirty="0">
                <a:latin typeface="Adobe Fangsong Std R" panose="02020400000000000000" pitchFamily="18" charset="-128"/>
                <a:ea typeface="Adobe Fangsong Std R" panose="02020400000000000000" pitchFamily="18" charset="-128"/>
                <a:cs typeface="Trebuchet MS"/>
              </a:rPr>
              <a:t> </a:t>
            </a:r>
            <a:r>
              <a:rPr sz="1600" spc="-5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-</a:t>
            </a:r>
            <a:r>
              <a:rPr sz="1600" spc="-114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8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defines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2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the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7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domain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name </a:t>
            </a:r>
            <a:r>
              <a:rPr sz="1600" spc="-6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where</a:t>
            </a:r>
            <a:r>
              <a:rPr sz="1600" spc="-114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2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the</a:t>
            </a:r>
            <a:r>
              <a:rPr sz="1600" spc="-10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8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cookie</a:t>
            </a:r>
            <a:r>
              <a:rPr sz="1600" spc="-114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is</a:t>
            </a:r>
            <a:r>
              <a:rPr sz="1600" spc="-11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10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made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8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available</a:t>
            </a:r>
            <a:endParaRPr sz="1600" dirty="0">
              <a:latin typeface="Adobe Fangsong Std R" panose="02020400000000000000" pitchFamily="18" charset="-128"/>
              <a:ea typeface="Adobe Fangsong Std R" panose="02020400000000000000" pitchFamily="18" charset="-128"/>
              <a:cs typeface="Trebuchet MS"/>
            </a:endParaRPr>
          </a:p>
          <a:p>
            <a:pPr marL="287020">
              <a:lnSpc>
                <a:spcPct val="100000"/>
              </a:lnSpc>
              <a:spcBef>
                <a:spcPts val="1705"/>
              </a:spcBef>
            </a:pPr>
            <a:r>
              <a:rPr sz="1600" spc="-135" dirty="0">
                <a:latin typeface="Adobe Fangsong Std R" panose="02020400000000000000" pitchFamily="18" charset="-128"/>
                <a:ea typeface="Adobe Fangsong Std R" panose="02020400000000000000" pitchFamily="18" charset="-128"/>
                <a:cs typeface="Trebuchet MS"/>
              </a:rPr>
              <a:t>secure</a:t>
            </a:r>
            <a:r>
              <a:rPr sz="1600" spc="-150" dirty="0">
                <a:latin typeface="Adobe Fangsong Std R" panose="02020400000000000000" pitchFamily="18" charset="-128"/>
                <a:ea typeface="Adobe Fangsong Std R" panose="02020400000000000000" pitchFamily="18" charset="-128"/>
                <a:cs typeface="Trebuchet MS"/>
              </a:rPr>
              <a:t> </a:t>
            </a:r>
            <a:r>
              <a:rPr sz="1600" spc="-5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-</a:t>
            </a:r>
            <a:r>
              <a:rPr sz="1600" spc="-11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8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defines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2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the</a:t>
            </a:r>
            <a:r>
              <a:rPr sz="1600" spc="-10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4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type</a:t>
            </a:r>
            <a:r>
              <a:rPr sz="1600" spc="-12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of</a:t>
            </a:r>
            <a:r>
              <a:rPr sz="1600" spc="-11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24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HTTP</a:t>
            </a:r>
            <a:r>
              <a:rPr sz="1600" spc="-10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6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connection</a:t>
            </a:r>
            <a:r>
              <a:rPr sz="1600" spc="-12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that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2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the</a:t>
            </a:r>
            <a:r>
              <a:rPr sz="1600" spc="-10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10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cookies</a:t>
            </a:r>
            <a:r>
              <a:rPr sz="1600" spc="-12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will</a:t>
            </a:r>
            <a:r>
              <a:rPr sz="1600" spc="-9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16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pass</a:t>
            </a:r>
            <a:r>
              <a:rPr sz="1600" spc="-100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 </a:t>
            </a:r>
            <a:r>
              <a:rPr sz="1600" spc="-45" dirty="0">
                <a:latin typeface="Adobe Fangsong Std R" panose="02020400000000000000" pitchFamily="18" charset="-128"/>
                <a:ea typeface="Adobe Fangsong Std R" panose="02020400000000000000" pitchFamily="18" charset="-128"/>
              </a:rPr>
              <a:t>through</a:t>
            </a:r>
            <a:endParaRPr sz="1600" dirty="0">
              <a:latin typeface="Adobe Fangsong Std R" panose="02020400000000000000" pitchFamily="18" charset="-128"/>
              <a:ea typeface="Adobe Fangsong Std R" panose="02020400000000000000" pitchFamily="18" charset="-128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9374" y="722009"/>
            <a:ext cx="5562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400" spc="-175" dirty="0">
                <a:latin typeface="Arial"/>
                <a:cs typeface="Arial"/>
              </a:rPr>
              <a:t>The </a:t>
            </a:r>
            <a:r>
              <a:rPr sz="2400" spc="-20" dirty="0">
                <a:latin typeface="Courier New"/>
                <a:cs typeface="Courier New"/>
              </a:rPr>
              <a:t>setcookie()</a:t>
            </a:r>
            <a:r>
              <a:rPr sz="2400" spc="-20" dirty="0">
                <a:latin typeface="Arial"/>
                <a:cs typeface="Arial"/>
              </a:rPr>
              <a:t>function </a:t>
            </a:r>
            <a:r>
              <a:rPr sz="2400" spc="-125" dirty="0">
                <a:latin typeface="Arial"/>
                <a:cs typeface="Arial"/>
              </a:rPr>
              <a:t>is </a:t>
            </a:r>
            <a:r>
              <a:rPr sz="2400" spc="-225" dirty="0">
                <a:latin typeface="Arial"/>
                <a:cs typeface="Arial"/>
              </a:rPr>
              <a:t>as</a:t>
            </a:r>
            <a:r>
              <a:rPr sz="2400" spc="-245" dirty="0">
                <a:latin typeface="Arial"/>
                <a:cs typeface="Arial"/>
              </a:rPr>
              <a:t> </a:t>
            </a:r>
            <a:r>
              <a:rPr sz="2400" spc="-60" dirty="0">
                <a:latin typeface="Arial"/>
                <a:cs typeface="Arial"/>
              </a:rPr>
              <a:t>follows: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1600" y="1466790"/>
            <a:ext cx="6400800" cy="246379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setcookie(name, value, </a:t>
            </a:r>
            <a:r>
              <a:rPr sz="1400" spc="-10" dirty="0">
                <a:latin typeface="Courier New"/>
                <a:cs typeface="Courier New"/>
              </a:rPr>
              <a:t>expiry </a:t>
            </a:r>
            <a:r>
              <a:rPr sz="1400" spc="-5" dirty="0">
                <a:latin typeface="Courier New"/>
                <a:cs typeface="Courier New"/>
              </a:rPr>
              <a:t>date, path, domain,</a:t>
            </a:r>
            <a:r>
              <a:rPr sz="1400" spc="-5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secure)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14351" y="1022502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4450" rIns="0" bIns="0" rtlCol="0">
            <a:spAutoFit/>
          </a:bodyPr>
          <a:lstStyle/>
          <a:p>
            <a:pPr marL="613410">
              <a:lnSpc>
                <a:spcPct val="100000"/>
              </a:lnSpc>
              <a:spcBef>
                <a:spcPts val="350"/>
              </a:spcBef>
            </a:pPr>
            <a:r>
              <a:rPr sz="2000" spc="-10" dirty="0">
                <a:solidFill>
                  <a:srgbClr val="FFFFFF"/>
                </a:solidFill>
                <a:latin typeface="Tahoma"/>
                <a:cs typeface="Tahoma"/>
              </a:rPr>
              <a:t>Syntax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300" y="97571"/>
            <a:ext cx="88307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35" dirty="0"/>
              <a:t>S</a:t>
            </a:r>
            <a:r>
              <a:rPr spc="-165" dirty="0"/>
              <a:t>e</a:t>
            </a:r>
            <a:r>
              <a:rPr spc="-155" dirty="0"/>
              <a:t>t</a:t>
            </a:r>
            <a:r>
              <a:rPr spc="-120" dirty="0"/>
              <a:t>ting</a:t>
            </a:r>
            <a:r>
              <a:rPr spc="-195" dirty="0"/>
              <a:t> </a:t>
            </a:r>
            <a:r>
              <a:rPr spc="-100" dirty="0"/>
              <a:t>a</a:t>
            </a:r>
            <a:r>
              <a:rPr spc="-190" dirty="0"/>
              <a:t> </a:t>
            </a:r>
            <a:r>
              <a:rPr spc="-145" dirty="0"/>
              <a:t>Cooki</a:t>
            </a:r>
            <a:r>
              <a:rPr spc="-155" dirty="0"/>
              <a:t>e</a:t>
            </a:r>
            <a:r>
              <a:rPr dirty="0"/>
              <a:t>	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200660" y="602196"/>
            <a:ext cx="8428990" cy="49404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pc="-85" dirty="0">
                <a:latin typeface="Arial"/>
                <a:cs typeface="Arial"/>
              </a:rPr>
              <a:t>When</a:t>
            </a:r>
            <a:r>
              <a:rPr spc="-12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the</a:t>
            </a:r>
            <a:r>
              <a:rPr spc="-110" dirty="0">
                <a:latin typeface="Arial"/>
                <a:cs typeface="Arial"/>
              </a:rPr>
              <a:t> </a:t>
            </a:r>
            <a:r>
              <a:rPr spc="-80" dirty="0">
                <a:latin typeface="Arial"/>
                <a:cs typeface="Arial"/>
              </a:rPr>
              <a:t>cookie</a:t>
            </a:r>
            <a:r>
              <a:rPr spc="-105" dirty="0">
                <a:latin typeface="Arial"/>
                <a:cs typeface="Arial"/>
              </a:rPr>
              <a:t> is</a:t>
            </a:r>
            <a:r>
              <a:rPr spc="-90" dirty="0">
                <a:latin typeface="Arial"/>
                <a:cs typeface="Arial"/>
              </a:rPr>
              <a:t> </a:t>
            </a:r>
            <a:r>
              <a:rPr spc="-75" dirty="0">
                <a:latin typeface="Arial"/>
                <a:cs typeface="Arial"/>
              </a:rPr>
              <a:t>set,</a:t>
            </a:r>
            <a:r>
              <a:rPr spc="-9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the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value</a:t>
            </a:r>
            <a:r>
              <a:rPr spc="-100" dirty="0">
                <a:latin typeface="Arial"/>
                <a:cs typeface="Arial"/>
              </a:rPr>
              <a:t> </a:t>
            </a:r>
            <a:r>
              <a:rPr spc="-105" dirty="0">
                <a:latin typeface="Arial"/>
                <a:cs typeface="Arial"/>
              </a:rPr>
              <a:t>is</a:t>
            </a:r>
            <a:r>
              <a:rPr spc="-95" dirty="0">
                <a:latin typeface="Arial"/>
                <a:cs typeface="Arial"/>
              </a:rPr>
              <a:t> </a:t>
            </a:r>
            <a:r>
              <a:rPr spc="-55" dirty="0">
                <a:latin typeface="Arial"/>
                <a:cs typeface="Arial"/>
              </a:rPr>
              <a:t>automatically</a:t>
            </a:r>
            <a:r>
              <a:rPr spc="-80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encoded</a:t>
            </a:r>
            <a:r>
              <a:rPr spc="-114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in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the</a:t>
            </a:r>
            <a:r>
              <a:rPr spc="-100" dirty="0">
                <a:latin typeface="Arial"/>
                <a:cs typeface="Arial"/>
              </a:rPr>
              <a:t> </a:t>
            </a:r>
            <a:r>
              <a:rPr spc="-260" dirty="0">
                <a:latin typeface="Arial"/>
                <a:cs typeface="Arial"/>
              </a:rPr>
              <a:t>URL</a:t>
            </a:r>
            <a:endParaRPr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7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pc="-85" dirty="0">
                <a:latin typeface="Arial"/>
                <a:cs typeface="Arial"/>
              </a:rPr>
              <a:t>When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50" dirty="0">
                <a:latin typeface="Arial"/>
                <a:cs typeface="Arial"/>
              </a:rPr>
              <a:t>script </a:t>
            </a:r>
            <a:r>
              <a:rPr spc="-65" dirty="0">
                <a:latin typeface="Arial"/>
                <a:cs typeface="Arial"/>
              </a:rPr>
              <a:t>retrieves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75" dirty="0">
                <a:latin typeface="Arial"/>
                <a:cs typeface="Arial"/>
              </a:rPr>
              <a:t>cookie, </a:t>
            </a:r>
            <a:r>
              <a:rPr spc="65" dirty="0">
                <a:latin typeface="Arial"/>
                <a:cs typeface="Arial"/>
              </a:rPr>
              <a:t>it </a:t>
            </a:r>
            <a:r>
              <a:rPr spc="-55" dirty="0">
                <a:latin typeface="Arial"/>
                <a:cs typeface="Arial"/>
              </a:rPr>
              <a:t>automatically </a:t>
            </a:r>
            <a:r>
              <a:rPr spc="-114" dirty="0">
                <a:latin typeface="Arial"/>
                <a:cs typeface="Arial"/>
              </a:rPr>
              <a:t>decodes </a:t>
            </a:r>
            <a:r>
              <a:rPr spc="-20" dirty="0">
                <a:latin typeface="Arial"/>
                <a:cs typeface="Arial"/>
              </a:rPr>
              <a:t>the</a:t>
            </a:r>
            <a:r>
              <a:rPr spc="-405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value </a:t>
            </a:r>
            <a:r>
              <a:rPr spc="-20" dirty="0">
                <a:latin typeface="Arial"/>
                <a:cs typeface="Arial"/>
              </a:rPr>
              <a:t>from</a:t>
            </a:r>
            <a:endParaRPr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pc="-20" dirty="0">
                <a:latin typeface="Arial"/>
                <a:cs typeface="Arial"/>
              </a:rPr>
              <a:t>the</a:t>
            </a:r>
            <a:r>
              <a:rPr spc="-110" dirty="0">
                <a:latin typeface="Arial"/>
                <a:cs typeface="Arial"/>
              </a:rPr>
              <a:t> </a:t>
            </a:r>
            <a:r>
              <a:rPr spc="-260" dirty="0">
                <a:latin typeface="Arial"/>
                <a:cs typeface="Arial"/>
              </a:rPr>
              <a:t>URL</a:t>
            </a:r>
            <a:endParaRPr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69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pc="-130" dirty="0">
                <a:latin typeface="Arial"/>
                <a:cs typeface="Arial"/>
              </a:rPr>
              <a:t>Cookies </a:t>
            </a:r>
            <a:r>
              <a:rPr spc="-85" dirty="0">
                <a:latin typeface="Arial"/>
                <a:cs typeface="Arial"/>
              </a:rPr>
              <a:t>are </a:t>
            </a:r>
            <a:r>
              <a:rPr spc="-155" dirty="0">
                <a:latin typeface="Arial"/>
                <a:cs typeface="Arial"/>
              </a:rPr>
              <a:t>a </a:t>
            </a:r>
            <a:r>
              <a:rPr spc="-20" dirty="0">
                <a:latin typeface="Arial"/>
                <a:cs typeface="Arial"/>
              </a:rPr>
              <a:t>part </a:t>
            </a:r>
            <a:r>
              <a:rPr spc="-5" dirty="0">
                <a:latin typeface="Arial"/>
                <a:cs typeface="Arial"/>
              </a:rPr>
              <a:t>of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245" dirty="0">
                <a:latin typeface="Arial"/>
                <a:cs typeface="Arial"/>
              </a:rPr>
              <a:t>HTTP </a:t>
            </a:r>
            <a:r>
              <a:rPr spc="-80" dirty="0">
                <a:latin typeface="Arial"/>
                <a:cs typeface="Arial"/>
              </a:rPr>
              <a:t>header </a:t>
            </a:r>
            <a:r>
              <a:rPr spc="-90" dirty="0">
                <a:latin typeface="Arial"/>
                <a:cs typeface="Arial"/>
              </a:rPr>
              <a:t>and </a:t>
            </a:r>
            <a:r>
              <a:rPr spc="-35" dirty="0">
                <a:latin typeface="Arial"/>
                <a:cs typeface="Arial"/>
              </a:rPr>
              <a:t>there </a:t>
            </a:r>
            <a:r>
              <a:rPr spc="-125" dirty="0">
                <a:latin typeface="Arial"/>
                <a:cs typeface="Arial"/>
              </a:rPr>
              <a:t>can </a:t>
            </a:r>
            <a:r>
              <a:rPr spc="-90" dirty="0">
                <a:latin typeface="Arial"/>
                <a:cs typeface="Arial"/>
              </a:rPr>
              <a:t>be </a:t>
            </a:r>
            <a:r>
              <a:rPr spc="-60" dirty="0">
                <a:latin typeface="Arial"/>
                <a:cs typeface="Arial"/>
              </a:rPr>
              <a:t>more </a:t>
            </a:r>
            <a:r>
              <a:rPr spc="-40" dirty="0">
                <a:latin typeface="Arial"/>
                <a:cs typeface="Arial"/>
              </a:rPr>
              <a:t>than </a:t>
            </a:r>
            <a:r>
              <a:rPr spc="-80" dirty="0">
                <a:latin typeface="Arial"/>
                <a:cs typeface="Arial"/>
              </a:rPr>
              <a:t>one</a:t>
            </a:r>
            <a:r>
              <a:rPr spc="-350" dirty="0">
                <a:latin typeface="Arial"/>
                <a:cs typeface="Arial"/>
              </a:rPr>
              <a:t> </a:t>
            </a:r>
            <a:r>
              <a:rPr spc="-80" dirty="0">
                <a:latin typeface="Arial"/>
                <a:cs typeface="Arial"/>
              </a:rPr>
              <a:t>cookie  </a:t>
            </a:r>
            <a:r>
              <a:rPr spc="-25" dirty="0">
                <a:latin typeface="Arial"/>
                <a:cs typeface="Arial"/>
              </a:rPr>
              <a:t>in</a:t>
            </a:r>
            <a:r>
              <a:rPr spc="-9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the</a:t>
            </a:r>
            <a:r>
              <a:rPr spc="-110" dirty="0">
                <a:latin typeface="Arial"/>
                <a:cs typeface="Arial"/>
              </a:rPr>
              <a:t> </a:t>
            </a:r>
            <a:r>
              <a:rPr spc="-100" dirty="0">
                <a:latin typeface="Arial"/>
                <a:cs typeface="Arial"/>
              </a:rPr>
              <a:t>header,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but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65" dirty="0">
                <a:latin typeface="Arial"/>
                <a:cs typeface="Arial"/>
              </a:rPr>
              <a:t>it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75" dirty="0">
                <a:latin typeface="Arial"/>
                <a:cs typeface="Arial"/>
              </a:rPr>
              <a:t>should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relate</a:t>
            </a:r>
            <a:r>
              <a:rPr spc="-75" dirty="0">
                <a:latin typeface="Arial"/>
                <a:cs typeface="Arial"/>
              </a:rPr>
              <a:t> </a:t>
            </a:r>
            <a:r>
              <a:rPr spc="20" dirty="0">
                <a:latin typeface="Arial"/>
                <a:cs typeface="Arial"/>
              </a:rPr>
              <a:t>to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the</a:t>
            </a:r>
            <a:r>
              <a:rPr spc="-95" dirty="0">
                <a:latin typeface="Arial"/>
                <a:cs typeface="Arial"/>
              </a:rPr>
              <a:t> </a:t>
            </a:r>
            <a:r>
              <a:rPr spc="-145" dirty="0">
                <a:latin typeface="Arial"/>
                <a:cs typeface="Arial"/>
              </a:rPr>
              <a:t>same</a:t>
            </a:r>
            <a:r>
              <a:rPr spc="-90" dirty="0">
                <a:latin typeface="Arial"/>
                <a:cs typeface="Arial"/>
              </a:rPr>
              <a:t> </a:t>
            </a:r>
            <a:r>
              <a:rPr spc="-70" dirty="0">
                <a:latin typeface="Arial"/>
                <a:cs typeface="Arial"/>
              </a:rPr>
              <a:t>domain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15" dirty="0">
                <a:latin typeface="Arial"/>
                <a:cs typeface="Arial"/>
              </a:rPr>
              <a:t>or</a:t>
            </a:r>
            <a:r>
              <a:rPr spc="-100" dirty="0">
                <a:latin typeface="Arial"/>
                <a:cs typeface="Arial"/>
              </a:rPr>
              <a:t> </a:t>
            </a:r>
            <a:r>
              <a:rPr spc="-120" dirty="0">
                <a:latin typeface="Arial"/>
                <a:cs typeface="Arial"/>
              </a:rPr>
              <a:t>Web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60" dirty="0">
                <a:latin typeface="Arial"/>
                <a:cs typeface="Arial"/>
              </a:rPr>
              <a:t>site</a:t>
            </a:r>
            <a:endParaRPr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pc="-145" dirty="0">
                <a:latin typeface="Arial"/>
                <a:cs typeface="Arial"/>
              </a:rPr>
              <a:t>The </a:t>
            </a:r>
            <a:r>
              <a:rPr spc="-100" dirty="0">
                <a:latin typeface="Arial"/>
                <a:cs typeface="Arial"/>
              </a:rPr>
              <a:t>code </a:t>
            </a:r>
            <a:r>
              <a:rPr spc="-55" dirty="0">
                <a:latin typeface="Arial"/>
                <a:cs typeface="Arial"/>
              </a:rPr>
              <a:t>related </a:t>
            </a:r>
            <a:r>
              <a:rPr spc="15" dirty="0">
                <a:latin typeface="Arial"/>
                <a:cs typeface="Arial"/>
              </a:rPr>
              <a:t>to</a:t>
            </a:r>
            <a:r>
              <a:rPr spc="-41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100" dirty="0">
                <a:latin typeface="Arial"/>
                <a:cs typeface="Arial"/>
              </a:rPr>
              <a:t>cookies </a:t>
            </a:r>
            <a:r>
              <a:rPr spc="-65" dirty="0">
                <a:latin typeface="Arial"/>
                <a:cs typeface="Arial"/>
              </a:rPr>
              <a:t>must </a:t>
            </a:r>
            <a:r>
              <a:rPr spc="-90" dirty="0">
                <a:latin typeface="Arial"/>
                <a:cs typeface="Arial"/>
              </a:rPr>
              <a:t>be </a:t>
            </a:r>
            <a:r>
              <a:rPr spc="-75" dirty="0">
                <a:latin typeface="Arial"/>
                <a:cs typeface="Arial"/>
              </a:rPr>
              <a:t>specified </a:t>
            </a:r>
            <a:r>
              <a:rPr spc="-55" dirty="0">
                <a:latin typeface="Arial"/>
                <a:cs typeface="Arial"/>
              </a:rPr>
              <a:t>before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35" dirty="0">
                <a:latin typeface="Arial"/>
                <a:cs typeface="Arial"/>
              </a:rPr>
              <a:t>following:</a:t>
            </a:r>
            <a:endParaRPr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14"/>
              </a:spcBef>
              <a:tabLst>
                <a:tab pos="756285" algn="l"/>
              </a:tabLst>
            </a:pPr>
            <a:r>
              <a:rPr sz="800" spc="28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1600" spc="-225" dirty="0">
                <a:latin typeface="Arial"/>
                <a:cs typeface="Arial"/>
              </a:rPr>
              <a:t>HTTP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75" dirty="0">
                <a:latin typeface="Arial"/>
                <a:cs typeface="Arial"/>
              </a:rPr>
              <a:t>header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tabLst>
                <a:tab pos="756285" algn="l"/>
              </a:tabLst>
            </a:pPr>
            <a:r>
              <a:rPr sz="800" spc="28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1600" spc="-95" dirty="0">
                <a:latin typeface="Arial"/>
                <a:cs typeface="Arial"/>
              </a:rPr>
              <a:t>Displaying </a:t>
            </a:r>
            <a:r>
              <a:rPr sz="1600" spc="-105" dirty="0">
                <a:latin typeface="Arial"/>
                <a:cs typeface="Arial"/>
              </a:rPr>
              <a:t>any</a:t>
            </a:r>
            <a:r>
              <a:rPr sz="1600" spc="-70" dirty="0">
                <a:latin typeface="Arial"/>
                <a:cs typeface="Arial"/>
              </a:rPr>
              <a:t> </a:t>
            </a:r>
            <a:r>
              <a:rPr sz="1600" spc="-40" dirty="0">
                <a:latin typeface="Arial"/>
                <a:cs typeface="Arial"/>
              </a:rPr>
              <a:t>content</a:t>
            </a:r>
            <a:endParaRPr sz="1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tabLst>
                <a:tab pos="756285" algn="l"/>
              </a:tabLst>
            </a:pPr>
            <a:r>
              <a:rPr sz="800" spc="28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1600" spc="-114" dirty="0">
                <a:latin typeface="Arial"/>
                <a:cs typeface="Arial"/>
              </a:rPr>
              <a:t>Any </a:t>
            </a:r>
            <a:r>
              <a:rPr sz="1600" spc="-20" dirty="0">
                <a:latin typeface="Arial"/>
                <a:cs typeface="Arial"/>
              </a:rPr>
              <a:t>white</a:t>
            </a:r>
            <a:r>
              <a:rPr sz="1600" spc="-65" dirty="0">
                <a:latin typeface="Arial"/>
                <a:cs typeface="Arial"/>
              </a:rPr>
              <a:t> </a:t>
            </a:r>
            <a:r>
              <a:rPr sz="1600" spc="-130" dirty="0">
                <a:latin typeface="Arial"/>
                <a:cs typeface="Arial"/>
              </a:rPr>
              <a:t>space</a:t>
            </a:r>
            <a:endParaRPr sz="1600" dirty="0">
              <a:latin typeface="Arial"/>
              <a:cs typeface="Arial"/>
            </a:endParaRPr>
          </a:p>
          <a:p>
            <a:pPr marL="355600" marR="485775" indent="-342900">
              <a:lnSpc>
                <a:spcPct val="100000"/>
              </a:lnSpc>
              <a:spcBef>
                <a:spcPts val="1614"/>
              </a:spcBef>
              <a:tabLst>
                <a:tab pos="354965" algn="l"/>
              </a:tabLst>
            </a:pPr>
            <a:r>
              <a:rPr sz="900" spc="30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dirty="0">
                <a:latin typeface="Arial"/>
                <a:cs typeface="Arial"/>
              </a:rPr>
              <a:t>If</a:t>
            </a:r>
            <a:r>
              <a:rPr spc="-100" dirty="0">
                <a:latin typeface="Arial"/>
                <a:cs typeface="Arial"/>
              </a:rPr>
              <a:t> </a:t>
            </a:r>
            <a:r>
              <a:rPr spc="-114" dirty="0">
                <a:latin typeface="Arial"/>
                <a:cs typeface="Arial"/>
              </a:rPr>
              <a:t>any</a:t>
            </a:r>
            <a:r>
              <a:rPr spc="-120" dirty="0">
                <a:latin typeface="Arial"/>
                <a:cs typeface="Arial"/>
              </a:rPr>
              <a:t> </a:t>
            </a:r>
            <a:r>
              <a:rPr spc="-40" dirty="0">
                <a:latin typeface="Arial"/>
                <a:cs typeface="Arial"/>
              </a:rPr>
              <a:t>content</a:t>
            </a:r>
            <a:r>
              <a:rPr spc="-95" dirty="0">
                <a:latin typeface="Arial"/>
                <a:cs typeface="Arial"/>
              </a:rPr>
              <a:t> </a:t>
            </a:r>
            <a:r>
              <a:rPr spc="-105" dirty="0">
                <a:latin typeface="Arial"/>
                <a:cs typeface="Arial"/>
              </a:rPr>
              <a:t>is</a:t>
            </a:r>
            <a:r>
              <a:rPr spc="-100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displayed</a:t>
            </a:r>
            <a:r>
              <a:rPr spc="-95" dirty="0">
                <a:latin typeface="Arial"/>
                <a:cs typeface="Arial"/>
              </a:rPr>
              <a:t> </a:t>
            </a:r>
            <a:r>
              <a:rPr spc="-60" dirty="0">
                <a:latin typeface="Arial"/>
                <a:cs typeface="Arial"/>
              </a:rPr>
              <a:t>before</a:t>
            </a:r>
            <a:r>
              <a:rPr spc="-114" dirty="0">
                <a:latin typeface="Arial"/>
                <a:cs typeface="Arial"/>
              </a:rPr>
              <a:t> </a:t>
            </a:r>
            <a:r>
              <a:rPr spc="-75" dirty="0">
                <a:latin typeface="Arial"/>
                <a:cs typeface="Arial"/>
              </a:rPr>
              <a:t>calling</a:t>
            </a:r>
            <a:r>
              <a:rPr spc="-9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the</a:t>
            </a:r>
            <a:r>
              <a:rPr spc="-200" dirty="0">
                <a:latin typeface="Arial"/>
                <a:cs typeface="Arial"/>
              </a:rPr>
              <a:t> </a:t>
            </a:r>
            <a:r>
              <a:rPr spc="-15" dirty="0">
                <a:latin typeface="Courier New"/>
                <a:cs typeface="Courier New"/>
              </a:rPr>
              <a:t>setcookie()</a:t>
            </a:r>
            <a:r>
              <a:rPr spc="-15" dirty="0">
                <a:latin typeface="Arial"/>
                <a:cs typeface="Arial"/>
              </a:rPr>
              <a:t>function,</a:t>
            </a:r>
            <a:r>
              <a:rPr spc="-114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the  </a:t>
            </a:r>
            <a:r>
              <a:rPr spc="-25" dirty="0">
                <a:latin typeface="Arial"/>
                <a:cs typeface="Arial"/>
              </a:rPr>
              <a:t>function </a:t>
            </a:r>
            <a:r>
              <a:rPr spc="5" dirty="0">
                <a:latin typeface="Arial"/>
                <a:cs typeface="Arial"/>
              </a:rPr>
              <a:t>will </a:t>
            </a:r>
            <a:r>
              <a:rPr spc="-30" dirty="0">
                <a:latin typeface="Arial"/>
                <a:cs typeface="Arial"/>
              </a:rPr>
              <a:t>fail </a:t>
            </a:r>
            <a:r>
              <a:rPr spc="-90" dirty="0">
                <a:latin typeface="Arial"/>
                <a:cs typeface="Arial"/>
              </a:rPr>
              <a:t>and </a:t>
            </a:r>
            <a:r>
              <a:rPr spc="-15" dirty="0">
                <a:latin typeface="Arial"/>
                <a:cs typeface="Arial"/>
              </a:rPr>
              <a:t>return</a:t>
            </a:r>
            <a:r>
              <a:rPr spc="-430" dirty="0">
                <a:latin typeface="Arial"/>
                <a:cs typeface="Arial"/>
              </a:rPr>
              <a:t> </a:t>
            </a:r>
            <a:r>
              <a:rPr spc="-5" dirty="0">
                <a:latin typeface="Courier New"/>
                <a:cs typeface="Courier New"/>
              </a:rPr>
              <a:t>False</a:t>
            </a:r>
            <a:endParaRPr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  <a:tabLst>
                <a:tab pos="354965" algn="l"/>
              </a:tabLst>
            </a:pPr>
            <a:r>
              <a:rPr sz="900" spc="30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dirty="0">
                <a:latin typeface="Arial"/>
                <a:cs typeface="Arial"/>
              </a:rPr>
              <a:t>If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the</a:t>
            </a:r>
            <a:r>
              <a:rPr spc="-114" dirty="0">
                <a:latin typeface="Arial"/>
                <a:cs typeface="Arial"/>
              </a:rPr>
              <a:t> </a:t>
            </a:r>
            <a:r>
              <a:rPr spc="-15" dirty="0">
                <a:latin typeface="Courier New"/>
                <a:cs typeface="Courier New"/>
              </a:rPr>
              <a:t>setcookie()</a:t>
            </a:r>
            <a:r>
              <a:rPr spc="-15" dirty="0">
                <a:latin typeface="Arial"/>
                <a:cs typeface="Arial"/>
              </a:rPr>
              <a:t>function</a:t>
            </a:r>
            <a:r>
              <a:rPr spc="-120" dirty="0">
                <a:latin typeface="Arial"/>
                <a:cs typeface="Arial"/>
              </a:rPr>
              <a:t> </a:t>
            </a:r>
            <a:r>
              <a:rPr spc="-80" dirty="0">
                <a:latin typeface="Arial"/>
                <a:cs typeface="Arial"/>
              </a:rPr>
              <a:t>runs</a:t>
            </a:r>
            <a:r>
              <a:rPr spc="-110" dirty="0">
                <a:latin typeface="Arial"/>
                <a:cs typeface="Arial"/>
              </a:rPr>
              <a:t> </a:t>
            </a:r>
            <a:r>
              <a:rPr spc="-114" dirty="0">
                <a:latin typeface="Arial"/>
                <a:cs typeface="Arial"/>
              </a:rPr>
              <a:t>successfully,</a:t>
            </a:r>
            <a:r>
              <a:rPr spc="-8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the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function</a:t>
            </a:r>
            <a:r>
              <a:rPr spc="-120" dirty="0">
                <a:latin typeface="Arial"/>
                <a:cs typeface="Arial"/>
              </a:rPr>
              <a:t> </a:t>
            </a:r>
            <a:r>
              <a:rPr spc="-45" dirty="0">
                <a:latin typeface="Arial"/>
                <a:cs typeface="Arial"/>
              </a:rPr>
              <a:t>returns</a:t>
            </a:r>
            <a:r>
              <a:rPr spc="-95" dirty="0">
                <a:latin typeface="Arial"/>
                <a:cs typeface="Arial"/>
              </a:rPr>
              <a:t> </a:t>
            </a:r>
            <a:r>
              <a:rPr spc="-5" dirty="0">
                <a:latin typeface="Courier New"/>
                <a:cs typeface="Courier New"/>
              </a:rPr>
              <a:t>True</a:t>
            </a:r>
            <a:endParaRPr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86016"/>
            <a:ext cx="776097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35" dirty="0"/>
              <a:t>S</a:t>
            </a:r>
            <a:r>
              <a:rPr spc="-165" dirty="0"/>
              <a:t>e</a:t>
            </a:r>
            <a:r>
              <a:rPr spc="-155" dirty="0"/>
              <a:t>t</a:t>
            </a:r>
            <a:r>
              <a:rPr spc="-120" dirty="0"/>
              <a:t>ting</a:t>
            </a:r>
            <a:r>
              <a:rPr spc="-195" dirty="0"/>
              <a:t> </a:t>
            </a:r>
            <a:r>
              <a:rPr spc="-100" dirty="0"/>
              <a:t>a</a:t>
            </a:r>
            <a:r>
              <a:rPr spc="-190" dirty="0"/>
              <a:t> </a:t>
            </a:r>
            <a:r>
              <a:rPr spc="-145" dirty="0"/>
              <a:t>Cooki</a:t>
            </a:r>
            <a:r>
              <a:rPr spc="-155" dirty="0"/>
              <a:t>e</a:t>
            </a:r>
            <a:r>
              <a:rPr dirty="0"/>
              <a:t>	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533400" y="2819400"/>
            <a:ext cx="5791200" cy="799465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$mapname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$_GET['fmapname'];</a:t>
            </a:r>
            <a:endParaRPr sz="1400" dirty="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1080"/>
              </a:spcBef>
            </a:pPr>
            <a:r>
              <a:rPr sz="1400" spc="-5" dirty="0">
                <a:latin typeface="Courier New"/>
                <a:cs typeface="Courier New"/>
              </a:rPr>
              <a:t>setcookie("mycookie", $mapname,</a:t>
            </a:r>
            <a:r>
              <a:rPr sz="1400" spc="-3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time()+86400,</a:t>
            </a:r>
            <a:endParaRPr sz="1400" dirty="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80"/>
              </a:spcBef>
            </a:pPr>
            <a:r>
              <a:rPr sz="1400" spc="-5" dirty="0">
                <a:latin typeface="Courier New"/>
                <a:cs typeface="Courier New"/>
              </a:rPr>
              <a:t>"/Webmap/",</a:t>
            </a:r>
            <a:r>
              <a:rPr sz="1400" spc="-20" dirty="0">
                <a:latin typeface="Courier New"/>
                <a:cs typeface="Courier New"/>
              </a:rPr>
              <a:t> </a:t>
            </a:r>
            <a:r>
              <a:rPr sz="1400" spc="-10" dirty="0">
                <a:latin typeface="Courier New"/>
                <a:cs typeface="Courier New"/>
              </a:rPr>
              <a:t>".Webworldmaps.com");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3400" y="2362200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5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926338"/>
            <a:ext cx="8143240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05" dirty="0">
                <a:latin typeface="Arial"/>
                <a:cs typeface="Arial"/>
              </a:rPr>
              <a:t>Setting </a:t>
            </a:r>
            <a:r>
              <a:rPr sz="2000" spc="-200" dirty="0">
                <a:latin typeface="Arial"/>
                <a:cs typeface="Arial"/>
              </a:rPr>
              <a:t>a </a:t>
            </a:r>
            <a:r>
              <a:rPr sz="2000" spc="-110" dirty="0">
                <a:latin typeface="Arial"/>
                <a:cs typeface="Arial"/>
              </a:rPr>
              <a:t>cookie </a:t>
            </a:r>
            <a:r>
              <a:rPr sz="2000" dirty="0">
                <a:latin typeface="Arial"/>
                <a:cs typeface="Arial"/>
              </a:rPr>
              <a:t>that </a:t>
            </a:r>
            <a:r>
              <a:rPr sz="2000" spc="-125" dirty="0">
                <a:latin typeface="Arial"/>
                <a:cs typeface="Arial"/>
              </a:rPr>
              <a:t>expires </a:t>
            </a:r>
            <a:r>
              <a:rPr sz="2000" spc="-30" dirty="0">
                <a:latin typeface="Arial"/>
                <a:cs typeface="Arial"/>
              </a:rPr>
              <a:t>in </a:t>
            </a:r>
            <a:r>
              <a:rPr sz="2000" spc="-105" dirty="0">
                <a:latin typeface="Arial"/>
                <a:cs typeface="Arial"/>
              </a:rPr>
              <a:t>one </a:t>
            </a:r>
            <a:r>
              <a:rPr sz="2000" spc="-155" dirty="0">
                <a:latin typeface="Arial"/>
                <a:cs typeface="Arial"/>
              </a:rPr>
              <a:t>day </a:t>
            </a:r>
            <a:r>
              <a:rPr sz="2000" spc="-30" dirty="0">
                <a:latin typeface="Arial"/>
                <a:cs typeface="Arial"/>
              </a:rPr>
              <a:t>in </a:t>
            </a:r>
            <a:r>
              <a:rPr sz="2000" spc="-200" dirty="0">
                <a:latin typeface="Arial"/>
                <a:cs typeface="Arial"/>
              </a:rPr>
              <a:t>a </a:t>
            </a:r>
            <a:r>
              <a:rPr sz="2000" spc="-160" dirty="0">
                <a:latin typeface="Arial"/>
                <a:cs typeface="Arial"/>
              </a:rPr>
              <a:t>Web </a:t>
            </a:r>
            <a:r>
              <a:rPr sz="2000" spc="-75" dirty="0">
                <a:latin typeface="Arial"/>
                <a:cs typeface="Arial"/>
              </a:rPr>
              <a:t>site </a:t>
            </a:r>
            <a:r>
              <a:rPr sz="2000" dirty="0">
                <a:latin typeface="Arial"/>
                <a:cs typeface="Arial"/>
              </a:rPr>
              <a:t>that  </a:t>
            </a:r>
            <a:r>
              <a:rPr sz="2000" spc="-140" dirty="0">
                <a:latin typeface="Arial"/>
                <a:cs typeface="Arial"/>
              </a:rPr>
              <a:t>displays </a:t>
            </a:r>
            <a:r>
              <a:rPr sz="2000" spc="-60" dirty="0">
                <a:latin typeface="Arial"/>
                <a:cs typeface="Arial"/>
              </a:rPr>
              <a:t>country </a:t>
            </a:r>
            <a:r>
              <a:rPr sz="2000" spc="-165" dirty="0">
                <a:latin typeface="Arial"/>
                <a:cs typeface="Arial"/>
              </a:rPr>
              <a:t>maps </a:t>
            </a:r>
            <a:r>
              <a:rPr sz="2000" spc="-85" dirty="0">
                <a:latin typeface="Arial"/>
                <a:cs typeface="Arial"/>
              </a:rPr>
              <a:t>when </a:t>
            </a:r>
            <a:r>
              <a:rPr sz="2000" spc="-200" dirty="0">
                <a:latin typeface="Arial"/>
                <a:cs typeface="Arial"/>
              </a:rPr>
              <a:t>a </a:t>
            </a:r>
            <a:r>
              <a:rPr sz="2000" spc="-120" dirty="0">
                <a:latin typeface="Arial"/>
                <a:cs typeface="Arial"/>
              </a:rPr>
              <a:t>user </a:t>
            </a:r>
            <a:r>
              <a:rPr sz="2000" spc="-95" dirty="0">
                <a:latin typeface="Arial"/>
                <a:cs typeface="Arial"/>
              </a:rPr>
              <a:t>enters </a:t>
            </a:r>
            <a:r>
              <a:rPr sz="2000" spc="-200" dirty="0">
                <a:latin typeface="Arial"/>
                <a:cs typeface="Arial"/>
              </a:rPr>
              <a:t>a </a:t>
            </a:r>
            <a:r>
              <a:rPr sz="2000" spc="-60" dirty="0">
                <a:latin typeface="Arial"/>
                <a:cs typeface="Arial"/>
              </a:rPr>
              <a:t>country</a:t>
            </a:r>
            <a:r>
              <a:rPr sz="2000" spc="-185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name  </a:t>
            </a:r>
            <a:r>
              <a:rPr sz="2000" spc="-30" dirty="0">
                <a:latin typeface="Arial"/>
                <a:cs typeface="Arial"/>
              </a:rPr>
              <a:t>in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spc="-155" dirty="0">
                <a:latin typeface="Arial"/>
                <a:cs typeface="Arial"/>
              </a:rPr>
              <a:t>search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feature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160" dirty="0">
                <a:latin typeface="Arial"/>
                <a:cs typeface="Arial"/>
              </a:rPr>
              <a:t>Web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site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are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240" dirty="0">
                <a:latin typeface="Arial"/>
                <a:cs typeface="Arial"/>
              </a:rPr>
              <a:t>as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follows: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991870"/>
            <a:ext cx="8422640" cy="4072462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55600" marR="92710" indent="-342900">
              <a:lnSpc>
                <a:spcPct val="103299"/>
              </a:lnSpc>
              <a:spcBef>
                <a:spcPts val="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70" dirty="0">
                <a:latin typeface="Arial"/>
                <a:cs typeface="Arial"/>
              </a:rPr>
              <a:t>In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the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code,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5" dirty="0">
                <a:latin typeface="Courier New"/>
                <a:cs typeface="Courier New"/>
              </a:rPr>
              <a:t>fmapname</a:t>
            </a:r>
            <a:r>
              <a:rPr sz="2000" spc="-919" dirty="0">
                <a:latin typeface="Courier New"/>
                <a:cs typeface="Courier New"/>
              </a:rPr>
              <a:t> </a:t>
            </a:r>
            <a:r>
              <a:rPr sz="2000" spc="-125" dirty="0">
                <a:latin typeface="Arial"/>
                <a:cs typeface="Arial"/>
              </a:rPr>
              <a:t>is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the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variable</a:t>
            </a:r>
            <a:r>
              <a:rPr sz="2000" spc="-13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that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contains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the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country  </a:t>
            </a:r>
            <a:r>
              <a:rPr sz="2000" spc="-125" dirty="0">
                <a:latin typeface="Arial"/>
                <a:cs typeface="Arial"/>
              </a:rPr>
              <a:t>name </a:t>
            </a:r>
            <a:r>
              <a:rPr sz="2000" dirty="0">
                <a:latin typeface="Arial"/>
                <a:cs typeface="Arial"/>
              </a:rPr>
              <a:t>that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14" dirty="0">
                <a:latin typeface="Arial"/>
                <a:cs typeface="Arial"/>
              </a:rPr>
              <a:t>user</a:t>
            </a:r>
            <a:r>
              <a:rPr sz="2000" spc="-355" dirty="0">
                <a:latin typeface="Arial"/>
                <a:cs typeface="Arial"/>
              </a:rPr>
              <a:t> </a:t>
            </a:r>
            <a:r>
              <a:rPr sz="2000" spc="-85" dirty="0">
                <a:latin typeface="Arial"/>
                <a:cs typeface="Arial"/>
              </a:rPr>
              <a:t>enters</a:t>
            </a:r>
            <a:endParaRPr sz="2000" dirty="0">
              <a:latin typeface="Arial"/>
              <a:cs typeface="Arial"/>
            </a:endParaRPr>
          </a:p>
          <a:p>
            <a:pPr marL="355600" marR="323850" indent="-342900">
              <a:lnSpc>
                <a:spcPct val="103299"/>
              </a:lnSpc>
              <a:spcBef>
                <a:spcPts val="151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75" dirty="0">
                <a:latin typeface="Arial"/>
                <a:cs typeface="Arial"/>
              </a:rPr>
              <a:t>The </a:t>
            </a:r>
            <a:r>
              <a:rPr sz="2000" spc="-5" dirty="0">
                <a:latin typeface="Courier New"/>
                <a:cs typeface="Courier New"/>
              </a:rPr>
              <a:t>$mapname</a:t>
            </a:r>
            <a:r>
              <a:rPr sz="2000" spc="-1040" dirty="0">
                <a:latin typeface="Courier New"/>
                <a:cs typeface="Courier New"/>
              </a:rPr>
              <a:t> </a:t>
            </a:r>
            <a:r>
              <a:rPr sz="2000" spc="-85" dirty="0">
                <a:latin typeface="Arial"/>
                <a:cs typeface="Arial"/>
              </a:rPr>
              <a:t>variable </a:t>
            </a:r>
            <a:r>
              <a:rPr sz="2000" spc="-110" dirty="0">
                <a:latin typeface="Arial"/>
                <a:cs typeface="Arial"/>
              </a:rPr>
              <a:t>stores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10" dirty="0">
                <a:latin typeface="Arial"/>
                <a:cs typeface="Arial"/>
              </a:rPr>
              <a:t>value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360" dirty="0">
                <a:latin typeface="Arial"/>
                <a:cs typeface="Arial"/>
              </a:rPr>
              <a:t>GET </a:t>
            </a:r>
            <a:r>
              <a:rPr sz="2000" spc="-55" dirty="0">
                <a:latin typeface="Arial"/>
                <a:cs typeface="Arial"/>
              </a:rPr>
              <a:t>method  </a:t>
            </a:r>
            <a:r>
              <a:rPr sz="2000" spc="-75" dirty="0">
                <a:latin typeface="Arial"/>
                <a:cs typeface="Arial"/>
              </a:rPr>
              <a:t>retrieves </a:t>
            </a:r>
            <a:r>
              <a:rPr sz="2000" spc="-25" dirty="0">
                <a:latin typeface="Arial"/>
                <a:cs typeface="Arial"/>
              </a:rPr>
              <a:t>from </a:t>
            </a:r>
            <a:r>
              <a:rPr sz="2000" spc="-30" dirty="0">
                <a:latin typeface="Arial"/>
                <a:cs typeface="Arial"/>
              </a:rPr>
              <a:t>the</a:t>
            </a:r>
            <a:r>
              <a:rPr sz="2000" spc="-28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form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59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75" dirty="0">
                <a:latin typeface="Arial"/>
                <a:cs typeface="Arial"/>
              </a:rPr>
              <a:t>The </a:t>
            </a:r>
            <a:r>
              <a:rPr sz="2000" spc="-20" dirty="0">
                <a:latin typeface="Courier New"/>
                <a:cs typeface="Courier New"/>
              </a:rPr>
              <a:t>setcookie()</a:t>
            </a:r>
            <a:r>
              <a:rPr sz="2000" spc="-20" dirty="0">
                <a:latin typeface="Arial"/>
                <a:cs typeface="Arial"/>
              </a:rPr>
              <a:t>function </a:t>
            </a:r>
            <a:r>
              <a:rPr sz="2000" spc="-100" dirty="0">
                <a:latin typeface="Arial"/>
                <a:cs typeface="Arial"/>
              </a:rPr>
              <a:t>includes </a:t>
            </a:r>
            <a:r>
              <a:rPr sz="2000" spc="-30" dirty="0">
                <a:latin typeface="Arial"/>
                <a:cs typeface="Arial"/>
              </a:rPr>
              <a:t>the</a:t>
            </a:r>
            <a:r>
              <a:rPr sz="2000" spc="-245" dirty="0">
                <a:latin typeface="Arial"/>
                <a:cs typeface="Arial"/>
              </a:rPr>
              <a:t> </a:t>
            </a:r>
            <a:r>
              <a:rPr sz="2000" spc="-45" dirty="0">
                <a:latin typeface="Arial"/>
                <a:cs typeface="Arial"/>
              </a:rPr>
              <a:t>following:</a:t>
            </a:r>
            <a:endParaRPr sz="2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25"/>
              </a:spcBef>
              <a:tabLst>
                <a:tab pos="756285" algn="l"/>
              </a:tabLst>
            </a:pPr>
            <a:r>
              <a:rPr sz="1050" spc="35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000" spc="-5" dirty="0">
                <a:latin typeface="Courier New"/>
                <a:cs typeface="Courier New"/>
              </a:rPr>
              <a:t>mycookie</a:t>
            </a:r>
            <a:r>
              <a:rPr sz="2000" spc="-1090" dirty="0">
                <a:latin typeface="Courier New"/>
                <a:cs typeface="Courier New"/>
              </a:rPr>
              <a:t> </a:t>
            </a:r>
            <a:r>
              <a:rPr sz="2000" spc="-65" dirty="0">
                <a:latin typeface="Arial"/>
                <a:cs typeface="Arial"/>
              </a:rPr>
              <a:t>- </a:t>
            </a:r>
            <a:r>
              <a:rPr sz="2000" spc="-90" dirty="0">
                <a:latin typeface="Arial"/>
                <a:cs typeface="Arial"/>
              </a:rPr>
              <a:t>defines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20" dirty="0">
                <a:latin typeface="Arial"/>
                <a:cs typeface="Arial"/>
              </a:rPr>
              <a:t>name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95" dirty="0">
                <a:latin typeface="Arial"/>
                <a:cs typeface="Arial"/>
              </a:rPr>
              <a:t>cookie</a:t>
            </a:r>
            <a:endParaRPr sz="2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05"/>
              </a:spcBef>
              <a:tabLst>
                <a:tab pos="756285" algn="l"/>
              </a:tabLst>
            </a:pPr>
            <a:r>
              <a:rPr sz="1050" spc="35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000" spc="-5" dirty="0">
                <a:latin typeface="Courier New"/>
                <a:cs typeface="Courier New"/>
              </a:rPr>
              <a:t>time()+86400</a:t>
            </a:r>
            <a:r>
              <a:rPr sz="2000" spc="-755" dirty="0">
                <a:latin typeface="Courier New"/>
                <a:cs typeface="Courier New"/>
              </a:rPr>
              <a:t> </a:t>
            </a:r>
            <a:r>
              <a:rPr sz="2000" spc="-65" dirty="0">
                <a:latin typeface="Arial"/>
                <a:cs typeface="Arial"/>
              </a:rPr>
              <a:t>-</a:t>
            </a:r>
            <a:r>
              <a:rPr sz="2000" spc="-105" dirty="0">
                <a:latin typeface="Arial"/>
                <a:cs typeface="Arial"/>
              </a:rPr>
              <a:t> specifies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the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time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when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95" dirty="0">
                <a:latin typeface="Arial"/>
                <a:cs typeface="Arial"/>
              </a:rPr>
              <a:t>cookie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will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expire</a:t>
            </a:r>
            <a:endParaRPr sz="2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05"/>
              </a:spcBef>
              <a:tabLst>
                <a:tab pos="756285" algn="l"/>
              </a:tabLst>
            </a:pPr>
            <a:r>
              <a:rPr sz="1050" spc="35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000" spc="-5" dirty="0">
                <a:latin typeface="Courier New"/>
                <a:cs typeface="Courier New"/>
              </a:rPr>
              <a:t>/Webmap</a:t>
            </a:r>
            <a:r>
              <a:rPr sz="2000" spc="-780" dirty="0">
                <a:latin typeface="Courier New"/>
                <a:cs typeface="Courier New"/>
              </a:rPr>
              <a:t> </a:t>
            </a:r>
            <a:r>
              <a:rPr sz="2000" spc="-60" dirty="0">
                <a:latin typeface="Arial"/>
                <a:cs typeface="Arial"/>
              </a:rPr>
              <a:t>-</a:t>
            </a:r>
            <a:r>
              <a:rPr sz="2000" spc="-12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defines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location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where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cookie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will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spc="-105" dirty="0">
                <a:latin typeface="Arial"/>
                <a:cs typeface="Arial"/>
              </a:rPr>
              <a:t>be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stored</a:t>
            </a:r>
            <a:endParaRPr sz="2000" dirty="0">
              <a:latin typeface="Arial"/>
              <a:cs typeface="Arial"/>
            </a:endParaRPr>
          </a:p>
          <a:p>
            <a:pPr marL="756285" marR="5080" indent="-287020">
              <a:lnSpc>
                <a:spcPct val="103600"/>
              </a:lnSpc>
              <a:spcBef>
                <a:spcPts val="1600"/>
              </a:spcBef>
              <a:tabLst>
                <a:tab pos="756285" algn="l"/>
              </a:tabLst>
            </a:pPr>
            <a:r>
              <a:rPr sz="1050" spc="35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000" spc="-5" dirty="0">
                <a:latin typeface="Courier New"/>
                <a:cs typeface="Courier New"/>
              </a:rPr>
              <a:t>.Webworldmaps.com</a:t>
            </a:r>
            <a:r>
              <a:rPr sz="2000" spc="-1035" dirty="0">
                <a:latin typeface="Courier New"/>
                <a:cs typeface="Courier New"/>
              </a:rPr>
              <a:t> </a:t>
            </a:r>
            <a:r>
              <a:rPr sz="2000" spc="-65" dirty="0">
                <a:latin typeface="Arial"/>
                <a:cs typeface="Arial"/>
              </a:rPr>
              <a:t>- </a:t>
            </a:r>
            <a:r>
              <a:rPr sz="2000" spc="-105" dirty="0">
                <a:latin typeface="Arial"/>
                <a:cs typeface="Arial"/>
              </a:rPr>
              <a:t>specifies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75" dirty="0">
                <a:latin typeface="Arial"/>
                <a:cs typeface="Arial"/>
              </a:rPr>
              <a:t>domain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90" dirty="0">
                <a:latin typeface="Arial"/>
                <a:cs typeface="Arial"/>
              </a:rPr>
              <a:t>cookie </a:t>
            </a:r>
            <a:r>
              <a:rPr sz="2000" spc="5" dirty="0">
                <a:latin typeface="Arial"/>
                <a:cs typeface="Arial"/>
              </a:rPr>
              <a:t>will  </a:t>
            </a:r>
            <a:r>
              <a:rPr sz="2000" spc="-155" dirty="0">
                <a:latin typeface="Arial"/>
                <a:cs typeface="Arial"/>
              </a:rPr>
              <a:t>use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86016"/>
            <a:ext cx="776097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35" dirty="0"/>
              <a:t>S</a:t>
            </a:r>
            <a:r>
              <a:rPr spc="-165" dirty="0"/>
              <a:t>e</a:t>
            </a:r>
            <a:r>
              <a:rPr spc="-155" dirty="0"/>
              <a:t>t</a:t>
            </a:r>
            <a:r>
              <a:rPr spc="-120" dirty="0"/>
              <a:t>ting</a:t>
            </a:r>
            <a:r>
              <a:rPr spc="-195" dirty="0"/>
              <a:t> </a:t>
            </a:r>
            <a:r>
              <a:rPr spc="-100" dirty="0"/>
              <a:t>a</a:t>
            </a:r>
            <a:r>
              <a:rPr spc="-190" dirty="0"/>
              <a:t> </a:t>
            </a:r>
            <a:r>
              <a:rPr spc="-145" dirty="0"/>
              <a:t>Cooki</a:t>
            </a:r>
            <a:r>
              <a:rPr spc="-155" dirty="0"/>
              <a:t>e</a:t>
            </a:r>
            <a:r>
              <a:rPr dirty="0"/>
              <a:t>	</a:t>
            </a:r>
            <a:endParaRPr spc="-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86016"/>
            <a:ext cx="776097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35" dirty="0"/>
              <a:t>S</a:t>
            </a:r>
            <a:r>
              <a:rPr spc="-165" dirty="0"/>
              <a:t>e</a:t>
            </a:r>
            <a:r>
              <a:rPr spc="-155" dirty="0"/>
              <a:t>t</a:t>
            </a:r>
            <a:r>
              <a:rPr spc="-120" dirty="0"/>
              <a:t>ting</a:t>
            </a:r>
            <a:r>
              <a:rPr spc="-195" dirty="0"/>
              <a:t> </a:t>
            </a:r>
            <a:r>
              <a:rPr spc="-100" dirty="0"/>
              <a:t>a</a:t>
            </a:r>
            <a:r>
              <a:rPr spc="-190" dirty="0"/>
              <a:t> </a:t>
            </a:r>
            <a:r>
              <a:rPr spc="-145" dirty="0"/>
              <a:t>Cooki</a:t>
            </a:r>
            <a:r>
              <a:rPr spc="-155" dirty="0"/>
              <a:t>e</a:t>
            </a:r>
            <a:r>
              <a:rPr dirty="0"/>
              <a:t>	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921765"/>
            <a:ext cx="7771765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5" dirty="0">
                <a:latin typeface="Courier New"/>
                <a:cs typeface="Courier New"/>
              </a:rPr>
              <a:t>Creating a cookie that expires when the Web  browser window is closed are as follows: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57200" y="2042160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4450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0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200" y="2509901"/>
            <a:ext cx="5943600" cy="486409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520"/>
              </a:lnSpc>
            </a:pPr>
            <a:r>
              <a:rPr sz="1400" spc="-5" dirty="0">
                <a:latin typeface="Courier New"/>
                <a:cs typeface="Courier New"/>
              </a:rPr>
              <a:t>$val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$_GET['uname'];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275"/>
              </a:spcBef>
            </a:pPr>
            <a:r>
              <a:rPr sz="1400" spc="-10" dirty="0">
                <a:latin typeface="Courier New"/>
                <a:cs typeface="Courier New"/>
              </a:rPr>
              <a:t>setcookie("uname",$val);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3801" y="3526748"/>
            <a:ext cx="5867400" cy="2209800"/>
          </a:xfrm>
          <a:custGeom>
            <a:avLst/>
            <a:gdLst/>
            <a:ahLst/>
            <a:cxnLst/>
            <a:rect l="l" t="t" r="r" b="b"/>
            <a:pathLst>
              <a:path w="5867400" h="2209800">
                <a:moveTo>
                  <a:pt x="5867400" y="0"/>
                </a:moveTo>
                <a:lnTo>
                  <a:pt x="1034796" y="0"/>
                </a:lnTo>
                <a:lnTo>
                  <a:pt x="986082" y="1126"/>
                </a:lnTo>
                <a:lnTo>
                  <a:pt x="937948" y="4472"/>
                </a:lnTo>
                <a:lnTo>
                  <a:pt x="890444" y="9987"/>
                </a:lnTo>
                <a:lnTo>
                  <a:pt x="843619" y="17623"/>
                </a:lnTo>
                <a:lnTo>
                  <a:pt x="797523" y="27329"/>
                </a:lnTo>
                <a:lnTo>
                  <a:pt x="752205" y="39056"/>
                </a:lnTo>
                <a:lnTo>
                  <a:pt x="707716" y="52754"/>
                </a:lnTo>
                <a:lnTo>
                  <a:pt x="664104" y="68374"/>
                </a:lnTo>
                <a:lnTo>
                  <a:pt x="621420" y="85865"/>
                </a:lnTo>
                <a:lnTo>
                  <a:pt x="579714" y="105178"/>
                </a:lnTo>
                <a:lnTo>
                  <a:pt x="539034" y="126263"/>
                </a:lnTo>
                <a:lnTo>
                  <a:pt x="499431" y="149071"/>
                </a:lnTo>
                <a:lnTo>
                  <a:pt x="460954" y="173552"/>
                </a:lnTo>
                <a:lnTo>
                  <a:pt x="423654" y="199656"/>
                </a:lnTo>
                <a:lnTo>
                  <a:pt x="387579" y="227333"/>
                </a:lnTo>
                <a:lnTo>
                  <a:pt x="352779" y="256535"/>
                </a:lnTo>
                <a:lnTo>
                  <a:pt x="319305" y="287210"/>
                </a:lnTo>
                <a:lnTo>
                  <a:pt x="287205" y="319310"/>
                </a:lnTo>
                <a:lnTo>
                  <a:pt x="256530" y="352785"/>
                </a:lnTo>
                <a:lnTo>
                  <a:pt x="227329" y="387584"/>
                </a:lnTo>
                <a:lnTo>
                  <a:pt x="199652" y="423659"/>
                </a:lnTo>
                <a:lnTo>
                  <a:pt x="173548" y="460960"/>
                </a:lnTo>
                <a:lnTo>
                  <a:pt x="149068" y="499437"/>
                </a:lnTo>
                <a:lnTo>
                  <a:pt x="126260" y="539040"/>
                </a:lnTo>
                <a:lnTo>
                  <a:pt x="105175" y="579719"/>
                </a:lnTo>
                <a:lnTo>
                  <a:pt x="85863" y="621426"/>
                </a:lnTo>
                <a:lnTo>
                  <a:pt x="68372" y="664110"/>
                </a:lnTo>
                <a:lnTo>
                  <a:pt x="52753" y="707721"/>
                </a:lnTo>
                <a:lnTo>
                  <a:pt x="39055" y="752210"/>
                </a:lnTo>
                <a:lnTo>
                  <a:pt x="27329" y="797527"/>
                </a:lnTo>
                <a:lnTo>
                  <a:pt x="17623" y="843623"/>
                </a:lnTo>
                <a:lnTo>
                  <a:pt x="9987" y="890447"/>
                </a:lnTo>
                <a:lnTo>
                  <a:pt x="4472" y="937950"/>
                </a:lnTo>
                <a:lnTo>
                  <a:pt x="1126" y="986083"/>
                </a:lnTo>
                <a:lnTo>
                  <a:pt x="0" y="1034796"/>
                </a:lnTo>
                <a:lnTo>
                  <a:pt x="0" y="2209800"/>
                </a:lnTo>
                <a:lnTo>
                  <a:pt x="5867400" y="2209800"/>
                </a:lnTo>
                <a:lnTo>
                  <a:pt x="58674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86562" y="3505961"/>
            <a:ext cx="5867400" cy="2209800"/>
          </a:xfrm>
          <a:custGeom>
            <a:avLst/>
            <a:gdLst/>
            <a:ahLst/>
            <a:cxnLst/>
            <a:rect l="l" t="t" r="r" b="b"/>
            <a:pathLst>
              <a:path w="5867400" h="2209800">
                <a:moveTo>
                  <a:pt x="1034796" y="0"/>
                </a:moveTo>
                <a:lnTo>
                  <a:pt x="5867400" y="0"/>
                </a:lnTo>
                <a:lnTo>
                  <a:pt x="5867400" y="2209800"/>
                </a:lnTo>
                <a:lnTo>
                  <a:pt x="0" y="2209800"/>
                </a:lnTo>
                <a:lnTo>
                  <a:pt x="0" y="1034796"/>
                </a:lnTo>
                <a:lnTo>
                  <a:pt x="1126" y="986083"/>
                </a:lnTo>
                <a:lnTo>
                  <a:pt x="4472" y="937950"/>
                </a:lnTo>
                <a:lnTo>
                  <a:pt x="9987" y="890447"/>
                </a:lnTo>
                <a:lnTo>
                  <a:pt x="17623" y="843623"/>
                </a:lnTo>
                <a:lnTo>
                  <a:pt x="27329" y="797527"/>
                </a:lnTo>
                <a:lnTo>
                  <a:pt x="39055" y="752210"/>
                </a:lnTo>
                <a:lnTo>
                  <a:pt x="52753" y="707721"/>
                </a:lnTo>
                <a:lnTo>
                  <a:pt x="68372" y="664110"/>
                </a:lnTo>
                <a:lnTo>
                  <a:pt x="85863" y="621426"/>
                </a:lnTo>
                <a:lnTo>
                  <a:pt x="105175" y="579719"/>
                </a:lnTo>
                <a:lnTo>
                  <a:pt x="126260" y="539040"/>
                </a:lnTo>
                <a:lnTo>
                  <a:pt x="149068" y="499437"/>
                </a:lnTo>
                <a:lnTo>
                  <a:pt x="173548" y="460960"/>
                </a:lnTo>
                <a:lnTo>
                  <a:pt x="199652" y="423659"/>
                </a:lnTo>
                <a:lnTo>
                  <a:pt x="227329" y="387584"/>
                </a:lnTo>
                <a:lnTo>
                  <a:pt x="256530" y="352785"/>
                </a:lnTo>
                <a:lnTo>
                  <a:pt x="287205" y="319310"/>
                </a:lnTo>
                <a:lnTo>
                  <a:pt x="319305" y="287210"/>
                </a:lnTo>
                <a:lnTo>
                  <a:pt x="352779" y="256535"/>
                </a:lnTo>
                <a:lnTo>
                  <a:pt x="387579" y="227333"/>
                </a:lnTo>
                <a:lnTo>
                  <a:pt x="423654" y="199656"/>
                </a:lnTo>
                <a:lnTo>
                  <a:pt x="460954" y="173552"/>
                </a:lnTo>
                <a:lnTo>
                  <a:pt x="499431" y="149071"/>
                </a:lnTo>
                <a:lnTo>
                  <a:pt x="539034" y="126263"/>
                </a:lnTo>
                <a:lnTo>
                  <a:pt x="579714" y="105178"/>
                </a:lnTo>
                <a:lnTo>
                  <a:pt x="621420" y="85865"/>
                </a:lnTo>
                <a:lnTo>
                  <a:pt x="664104" y="68374"/>
                </a:lnTo>
                <a:lnTo>
                  <a:pt x="707716" y="52754"/>
                </a:lnTo>
                <a:lnTo>
                  <a:pt x="752205" y="39056"/>
                </a:lnTo>
                <a:lnTo>
                  <a:pt x="797523" y="27329"/>
                </a:lnTo>
                <a:lnTo>
                  <a:pt x="843619" y="17623"/>
                </a:lnTo>
                <a:lnTo>
                  <a:pt x="890444" y="9987"/>
                </a:lnTo>
                <a:lnTo>
                  <a:pt x="937948" y="4472"/>
                </a:lnTo>
                <a:lnTo>
                  <a:pt x="986082" y="1126"/>
                </a:lnTo>
                <a:lnTo>
                  <a:pt x="1034796" y="0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067816" y="3902455"/>
            <a:ext cx="511937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765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code, </a:t>
            </a:r>
            <a:r>
              <a:rPr sz="1800" dirty="0">
                <a:solidFill>
                  <a:srgbClr val="FFFFFF"/>
                </a:solidFill>
                <a:latin typeface="Courier New"/>
                <a:cs typeface="Courier New"/>
              </a:rPr>
              <a:t>uname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spc="-65" dirty="0">
                <a:solidFill>
                  <a:srgbClr val="FFFFFF"/>
                </a:solidFill>
                <a:latin typeface="Arial"/>
                <a:cs typeface="Arial"/>
              </a:rPr>
              <a:t>variable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contains </a:t>
            </a:r>
            <a:r>
              <a:rPr sz="1800" spc="-14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value.  </a:t>
            </a:r>
            <a:r>
              <a:rPr sz="1800" spc="-13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$val</a:t>
            </a:r>
            <a:r>
              <a:rPr sz="1800" spc="-6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50" dirty="0">
                <a:solidFill>
                  <a:srgbClr val="FFFFFF"/>
                </a:solidFill>
                <a:latin typeface="Courier New"/>
                <a:cs typeface="Courier New"/>
              </a:rPr>
              <a:t>v</a:t>
            </a:r>
            <a:r>
              <a:rPr sz="1800" spc="-50" dirty="0">
                <a:solidFill>
                  <a:srgbClr val="FFFFFF"/>
                </a:solidFill>
                <a:latin typeface="Arial"/>
                <a:cs typeface="Arial"/>
              </a:rPr>
              <a:t>ariable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 stores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value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uname</a:t>
            </a:r>
            <a:r>
              <a:rPr sz="1800" spc="-69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1800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the  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GET</a:t>
            </a:r>
            <a:r>
              <a:rPr sz="1800" spc="-74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40" dirty="0">
                <a:solidFill>
                  <a:srgbClr val="FFFFFF"/>
                </a:solidFill>
                <a:latin typeface="Arial"/>
                <a:cs typeface="Arial"/>
              </a:rPr>
              <a:t>method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retrieves.</a:t>
            </a: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</a:pPr>
            <a:r>
              <a:rPr sz="1800" spc="-1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spc="-20" dirty="0">
                <a:solidFill>
                  <a:srgbClr val="FFFFFF"/>
                </a:solidFill>
                <a:latin typeface="Courier New"/>
                <a:cs typeface="Courier New"/>
              </a:rPr>
              <a:t>setcookie()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function </a:t>
            </a:r>
            <a:r>
              <a:rPr sz="1800" spc="-25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code </a:t>
            </a:r>
            <a:r>
              <a:rPr sz="1800" spc="-55" dirty="0">
                <a:solidFill>
                  <a:srgbClr val="FFFFFF"/>
                </a:solidFill>
                <a:latin typeface="Arial"/>
                <a:cs typeface="Arial"/>
              </a:rPr>
              <a:t>snippet </a:t>
            </a:r>
            <a:r>
              <a:rPr sz="1800" spc="-105" dirty="0">
                <a:solidFill>
                  <a:srgbClr val="FFFFFF"/>
                </a:solidFill>
                <a:latin typeface="Arial"/>
                <a:cs typeface="Arial"/>
              </a:rPr>
              <a:t>sets</a:t>
            </a:r>
            <a:r>
              <a:rPr sz="1800" spc="-2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40" dirty="0">
                <a:solidFill>
                  <a:srgbClr val="FFFFFF"/>
                </a:solidFill>
                <a:latin typeface="Arial"/>
                <a:cs typeface="Arial"/>
              </a:rPr>
              <a:t>a 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cookie </a:t>
            </a:r>
            <a:r>
              <a:rPr sz="1800" spc="-90" dirty="0">
                <a:solidFill>
                  <a:srgbClr val="FFFFFF"/>
                </a:solidFill>
                <a:latin typeface="Arial"/>
                <a:cs typeface="Arial"/>
              </a:rPr>
              <a:t>named</a:t>
            </a:r>
            <a:r>
              <a:rPr sz="1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5" dirty="0">
                <a:solidFill>
                  <a:srgbClr val="FFFFFF"/>
                </a:solidFill>
                <a:latin typeface="Courier New"/>
                <a:cs typeface="Courier New"/>
              </a:rPr>
              <a:t>uname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13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spc="-80" dirty="0">
                <a:solidFill>
                  <a:srgbClr val="FFFFFF"/>
                </a:solidFill>
                <a:latin typeface="Arial"/>
                <a:cs typeface="Arial"/>
              </a:rPr>
              <a:t>value </a:t>
            </a:r>
            <a:r>
              <a:rPr sz="1800" spc="-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800" spc="-5" dirty="0">
                <a:solidFill>
                  <a:srgbClr val="FFFFFF"/>
                </a:solidFill>
                <a:latin typeface="Courier New"/>
                <a:cs typeface="Courier New"/>
              </a:rPr>
              <a:t>$val</a:t>
            </a:r>
            <a:r>
              <a:rPr sz="1800" spc="-88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800" spc="-9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800" spc="-114" dirty="0">
                <a:solidFill>
                  <a:srgbClr val="FFFFFF"/>
                </a:solidFill>
                <a:latin typeface="Arial"/>
                <a:cs typeface="Arial"/>
              </a:rPr>
              <a:t>assigned </a:t>
            </a:r>
            <a:r>
              <a:rPr sz="1800" spc="15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800" spc="-2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800" spc="-75" dirty="0">
                <a:solidFill>
                  <a:srgbClr val="FFFFFF"/>
                </a:solidFill>
                <a:latin typeface="Arial"/>
                <a:cs typeface="Arial"/>
              </a:rPr>
              <a:t>cookie, </a:t>
            </a:r>
            <a:r>
              <a:rPr sz="1800" spc="-15" dirty="0">
                <a:solidFill>
                  <a:srgbClr val="FFFFFF"/>
                </a:solidFill>
                <a:latin typeface="Courier New"/>
                <a:cs typeface="Courier New"/>
              </a:rPr>
              <a:t>uname</a:t>
            </a:r>
            <a:r>
              <a:rPr sz="1800" spc="-15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86016"/>
            <a:ext cx="776097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65" dirty="0"/>
              <a:t>R</a:t>
            </a:r>
            <a:r>
              <a:rPr spc="-195" dirty="0"/>
              <a:t>e</a:t>
            </a:r>
            <a:r>
              <a:rPr spc="-140" dirty="0"/>
              <a:t>tri</a:t>
            </a:r>
            <a:r>
              <a:rPr spc="-220" dirty="0"/>
              <a:t>e</a:t>
            </a:r>
            <a:r>
              <a:rPr spc="-125" dirty="0"/>
              <a:t>vin</a:t>
            </a:r>
            <a:r>
              <a:rPr spc="-130" dirty="0"/>
              <a:t>g</a:t>
            </a:r>
            <a:r>
              <a:rPr spc="-180" dirty="0"/>
              <a:t> </a:t>
            </a:r>
            <a:r>
              <a:rPr spc="-140" dirty="0"/>
              <a:t>Cookie</a:t>
            </a:r>
            <a:r>
              <a:rPr spc="-114" dirty="0"/>
              <a:t>s</a:t>
            </a:r>
            <a:r>
              <a:rPr spc="-165" dirty="0"/>
              <a:t> </a:t>
            </a:r>
            <a:r>
              <a:rPr spc="-135" dirty="0"/>
              <a:t>in</a:t>
            </a:r>
            <a:r>
              <a:rPr spc="-200" dirty="0"/>
              <a:t> </a:t>
            </a:r>
            <a:r>
              <a:rPr spc="-150" dirty="0"/>
              <a:t>PH</a:t>
            </a:r>
            <a:r>
              <a:rPr spc="-135" dirty="0"/>
              <a:t>P</a:t>
            </a:r>
            <a:r>
              <a:rPr dirty="0"/>
              <a:t>	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926338"/>
            <a:ext cx="8158480" cy="39632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76200" indent="-342900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70" dirty="0">
                <a:latin typeface="Arial"/>
                <a:cs typeface="Arial"/>
              </a:rPr>
              <a:t>Cookies </a:t>
            </a:r>
            <a:r>
              <a:rPr sz="2000" spc="-114" dirty="0">
                <a:latin typeface="Arial"/>
                <a:cs typeface="Arial"/>
              </a:rPr>
              <a:t>are </a:t>
            </a:r>
            <a:r>
              <a:rPr sz="2000" spc="-90" dirty="0">
                <a:latin typeface="Arial"/>
                <a:cs typeface="Arial"/>
              </a:rPr>
              <a:t>useful </a:t>
            </a:r>
            <a:r>
              <a:rPr sz="2000" spc="-70" dirty="0">
                <a:latin typeface="Arial"/>
                <a:cs typeface="Arial"/>
              </a:rPr>
              <a:t>only </a:t>
            </a:r>
            <a:r>
              <a:rPr sz="2000" spc="-80" dirty="0">
                <a:latin typeface="Arial"/>
                <a:cs typeface="Arial"/>
              </a:rPr>
              <a:t>when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60" dirty="0">
                <a:latin typeface="Arial"/>
                <a:cs typeface="Arial"/>
              </a:rPr>
              <a:t>Web </a:t>
            </a:r>
            <a:r>
              <a:rPr sz="2000" spc="-105" dirty="0">
                <a:latin typeface="Arial"/>
                <a:cs typeface="Arial"/>
              </a:rPr>
              <a:t>server </a:t>
            </a:r>
            <a:r>
              <a:rPr sz="2000" spc="-170" dirty="0">
                <a:latin typeface="Arial"/>
                <a:cs typeface="Arial"/>
              </a:rPr>
              <a:t>can</a:t>
            </a:r>
            <a:r>
              <a:rPr sz="2000" spc="-46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retrieve 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35" dirty="0">
                <a:latin typeface="Arial"/>
                <a:cs typeface="Arial"/>
              </a:rPr>
              <a:t>information </a:t>
            </a:r>
            <a:r>
              <a:rPr sz="2000" spc="-25" dirty="0">
                <a:latin typeface="Arial"/>
                <a:cs typeface="Arial"/>
              </a:rPr>
              <a:t>from</a:t>
            </a:r>
            <a:r>
              <a:rPr sz="2000" spc="-375" dirty="0">
                <a:latin typeface="Arial"/>
                <a:cs typeface="Arial"/>
              </a:rPr>
              <a:t> </a:t>
            </a:r>
            <a:r>
              <a:rPr sz="2000" spc="80" dirty="0">
                <a:latin typeface="Arial"/>
                <a:cs typeface="Arial"/>
              </a:rPr>
              <a:t>it</a:t>
            </a:r>
            <a:endParaRPr sz="2000" dirty="0">
              <a:latin typeface="Arial"/>
              <a:cs typeface="Arial"/>
            </a:endParaRPr>
          </a:p>
          <a:p>
            <a:pPr marL="355600" marR="10287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85" dirty="0">
                <a:latin typeface="Arial"/>
                <a:cs typeface="Arial"/>
              </a:rPr>
              <a:t>The </a:t>
            </a:r>
            <a:r>
              <a:rPr sz="2000" spc="-160" dirty="0">
                <a:latin typeface="Arial"/>
                <a:cs typeface="Arial"/>
              </a:rPr>
              <a:t>Web </a:t>
            </a:r>
            <a:r>
              <a:rPr sz="2000" spc="-90" dirty="0">
                <a:latin typeface="Arial"/>
                <a:cs typeface="Arial"/>
              </a:rPr>
              <a:t>browser </a:t>
            </a:r>
            <a:r>
              <a:rPr sz="2000" spc="-130" dirty="0">
                <a:latin typeface="Arial"/>
                <a:cs typeface="Arial"/>
              </a:rPr>
              <a:t>matches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345" dirty="0">
                <a:latin typeface="Arial"/>
                <a:cs typeface="Arial"/>
              </a:rPr>
              <a:t>URL </a:t>
            </a:r>
            <a:r>
              <a:rPr sz="2000" spc="-130" dirty="0">
                <a:latin typeface="Arial"/>
                <a:cs typeface="Arial"/>
              </a:rPr>
              <a:t>against </a:t>
            </a:r>
            <a:r>
              <a:rPr sz="2000" spc="-200" dirty="0">
                <a:latin typeface="Arial"/>
                <a:cs typeface="Arial"/>
              </a:rPr>
              <a:t>a </a:t>
            </a:r>
            <a:r>
              <a:rPr sz="2000" spc="-30" dirty="0">
                <a:latin typeface="Arial"/>
                <a:cs typeface="Arial"/>
              </a:rPr>
              <a:t>list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55" dirty="0">
                <a:latin typeface="Arial"/>
                <a:cs typeface="Arial"/>
              </a:rPr>
              <a:t>all</a:t>
            </a:r>
            <a:r>
              <a:rPr sz="2000" spc="-19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  </a:t>
            </a:r>
            <a:r>
              <a:rPr sz="2000" spc="-135" dirty="0">
                <a:latin typeface="Arial"/>
                <a:cs typeface="Arial"/>
              </a:rPr>
              <a:t>cookies </a:t>
            </a:r>
            <a:r>
              <a:rPr sz="2000" spc="-90" dirty="0">
                <a:latin typeface="Arial"/>
                <a:cs typeface="Arial"/>
              </a:rPr>
              <a:t>present </a:t>
            </a:r>
            <a:r>
              <a:rPr sz="2000" spc="-80" dirty="0">
                <a:latin typeface="Arial"/>
                <a:cs typeface="Arial"/>
              </a:rPr>
              <a:t>on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45" dirty="0">
                <a:latin typeface="Arial"/>
                <a:cs typeface="Arial"/>
              </a:rPr>
              <a:t>client</a:t>
            </a:r>
            <a:r>
              <a:rPr sz="2000" spc="-395" dirty="0">
                <a:latin typeface="Arial"/>
                <a:cs typeface="Arial"/>
              </a:rPr>
              <a:t> </a:t>
            </a:r>
            <a:r>
              <a:rPr sz="2000" spc="-150" dirty="0">
                <a:latin typeface="Arial"/>
                <a:cs typeface="Arial"/>
              </a:rPr>
              <a:t>system</a:t>
            </a:r>
            <a:endParaRPr sz="2000" dirty="0">
              <a:latin typeface="Arial"/>
              <a:cs typeface="Arial"/>
            </a:endParaRPr>
          </a:p>
          <a:p>
            <a:pPr marL="355600" marR="86995" indent="-342900">
              <a:lnSpc>
                <a:spcPct val="100000"/>
              </a:lnSpc>
              <a:spcBef>
                <a:spcPts val="1689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dirty="0">
                <a:latin typeface="Arial"/>
                <a:cs typeface="Arial"/>
              </a:rPr>
              <a:t>If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55" dirty="0">
                <a:latin typeface="Arial"/>
                <a:cs typeface="Arial"/>
              </a:rPr>
              <a:t>Web </a:t>
            </a:r>
            <a:r>
              <a:rPr sz="2000" spc="-90" dirty="0">
                <a:latin typeface="Arial"/>
                <a:cs typeface="Arial"/>
              </a:rPr>
              <a:t>browser </a:t>
            </a:r>
            <a:r>
              <a:rPr sz="2000" spc="-75" dirty="0">
                <a:latin typeface="Arial"/>
                <a:cs typeface="Arial"/>
              </a:rPr>
              <a:t>finds </a:t>
            </a:r>
            <a:r>
              <a:rPr sz="2000" spc="-200" dirty="0">
                <a:latin typeface="Arial"/>
                <a:cs typeface="Arial"/>
              </a:rPr>
              <a:t>a </a:t>
            </a:r>
            <a:r>
              <a:rPr sz="2000" spc="-90" dirty="0">
                <a:latin typeface="Arial"/>
                <a:cs typeface="Arial"/>
              </a:rPr>
              <a:t>match, </a:t>
            </a:r>
            <a:r>
              <a:rPr sz="2000" spc="-200" dirty="0">
                <a:latin typeface="Arial"/>
                <a:cs typeface="Arial"/>
              </a:rPr>
              <a:t>a </a:t>
            </a:r>
            <a:r>
              <a:rPr sz="2000" spc="-45" dirty="0">
                <a:latin typeface="Arial"/>
                <a:cs typeface="Arial"/>
              </a:rPr>
              <a:t>line </a:t>
            </a:r>
            <a:r>
              <a:rPr sz="2000" spc="-85" dirty="0">
                <a:latin typeface="Arial"/>
                <a:cs typeface="Arial"/>
              </a:rPr>
              <a:t>containing </a:t>
            </a:r>
            <a:r>
              <a:rPr sz="2000" spc="-25" dirty="0">
                <a:latin typeface="Arial"/>
                <a:cs typeface="Arial"/>
              </a:rPr>
              <a:t>the  </a:t>
            </a:r>
            <a:r>
              <a:rPr sz="2000" spc="-135" dirty="0">
                <a:latin typeface="Arial"/>
                <a:cs typeface="Arial"/>
              </a:rPr>
              <a:t>name </a:t>
            </a:r>
            <a:r>
              <a:rPr sz="2000" spc="-114" dirty="0">
                <a:latin typeface="Arial"/>
                <a:cs typeface="Arial"/>
              </a:rPr>
              <a:t>value </a:t>
            </a:r>
            <a:r>
              <a:rPr sz="2000" spc="-110" dirty="0">
                <a:latin typeface="Arial"/>
                <a:cs typeface="Arial"/>
              </a:rPr>
              <a:t>pairs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-530" dirty="0">
                <a:latin typeface="Arial"/>
                <a:cs typeface="Arial"/>
              </a:rPr>
              <a:t>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00" dirty="0">
                <a:latin typeface="Arial"/>
                <a:cs typeface="Arial"/>
              </a:rPr>
              <a:t>matched </a:t>
            </a:r>
            <a:r>
              <a:rPr sz="2000" spc="-110" dirty="0">
                <a:latin typeface="Arial"/>
                <a:cs typeface="Arial"/>
              </a:rPr>
              <a:t>cookie </a:t>
            </a:r>
            <a:r>
              <a:rPr sz="2000" spc="-135" dirty="0">
                <a:latin typeface="Arial"/>
                <a:cs typeface="Arial"/>
              </a:rPr>
              <a:t>is </a:t>
            </a:r>
            <a:r>
              <a:rPr sz="2000" spc="-80" dirty="0">
                <a:latin typeface="Arial"/>
                <a:cs typeface="Arial"/>
              </a:rPr>
              <a:t>included </a:t>
            </a:r>
            <a:r>
              <a:rPr sz="2000" spc="-30" dirty="0">
                <a:latin typeface="Arial"/>
                <a:cs typeface="Arial"/>
              </a:rPr>
              <a:t>in the  </a:t>
            </a:r>
            <a:r>
              <a:rPr sz="2000" spc="-315" dirty="0">
                <a:latin typeface="Arial"/>
                <a:cs typeface="Arial"/>
              </a:rPr>
              <a:t>HTTP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header</a:t>
            </a:r>
            <a:endParaRPr sz="2000" dirty="0">
              <a:latin typeface="Arial"/>
              <a:cs typeface="Arial"/>
            </a:endParaRPr>
          </a:p>
          <a:p>
            <a:pPr marL="355600" marR="71120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05" dirty="0">
                <a:latin typeface="Arial"/>
                <a:cs typeface="Arial"/>
              </a:rPr>
              <a:t>Document </a:t>
            </a:r>
            <a:r>
              <a:rPr sz="2000" dirty="0">
                <a:latin typeface="Arial"/>
                <a:cs typeface="Arial"/>
              </a:rPr>
              <a:t>that </a:t>
            </a:r>
            <a:r>
              <a:rPr sz="2000" spc="-95" dirty="0">
                <a:latin typeface="Arial"/>
                <a:cs typeface="Arial"/>
              </a:rPr>
              <a:t>created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05" dirty="0">
                <a:latin typeface="Arial"/>
                <a:cs typeface="Arial"/>
              </a:rPr>
              <a:t>cookie </a:t>
            </a:r>
            <a:r>
              <a:rPr sz="2000" spc="-240" dirty="0">
                <a:latin typeface="Arial"/>
                <a:cs typeface="Arial"/>
              </a:rPr>
              <a:t>as </a:t>
            </a:r>
            <a:r>
              <a:rPr sz="2000" spc="-40" dirty="0">
                <a:latin typeface="Arial"/>
                <a:cs typeface="Arial"/>
              </a:rPr>
              <a:t>well </a:t>
            </a:r>
            <a:r>
              <a:rPr sz="2000" spc="-240" dirty="0">
                <a:latin typeface="Arial"/>
                <a:cs typeface="Arial"/>
              </a:rPr>
              <a:t>as </a:t>
            </a:r>
            <a:r>
              <a:rPr sz="2000" dirty="0">
                <a:latin typeface="Arial"/>
                <a:cs typeface="Arial"/>
              </a:rPr>
              <a:t>that</a:t>
            </a:r>
            <a:r>
              <a:rPr sz="2000" spc="-455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are  </a:t>
            </a:r>
            <a:r>
              <a:rPr sz="2000" spc="-90" dirty="0">
                <a:latin typeface="Arial"/>
                <a:cs typeface="Arial"/>
              </a:rPr>
              <a:t>present </a:t>
            </a:r>
            <a:r>
              <a:rPr sz="2000" spc="-30" dirty="0">
                <a:latin typeface="Arial"/>
                <a:cs typeface="Arial"/>
              </a:rPr>
              <a:t>in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185" dirty="0">
                <a:latin typeface="Arial"/>
                <a:cs typeface="Arial"/>
              </a:rPr>
              <a:t>same </a:t>
            </a:r>
            <a:r>
              <a:rPr sz="2000" spc="-50" dirty="0">
                <a:latin typeface="Arial"/>
                <a:cs typeface="Arial"/>
              </a:rPr>
              <a:t>directory </a:t>
            </a:r>
            <a:r>
              <a:rPr sz="2000" spc="-170" dirty="0">
                <a:latin typeface="Arial"/>
                <a:cs typeface="Arial"/>
              </a:rPr>
              <a:t>can </a:t>
            </a:r>
            <a:r>
              <a:rPr sz="2000" spc="-220" dirty="0">
                <a:latin typeface="Arial"/>
                <a:cs typeface="Arial"/>
              </a:rPr>
              <a:t>access</a:t>
            </a:r>
            <a:r>
              <a:rPr sz="2000" spc="-470" dirty="0">
                <a:latin typeface="Arial"/>
                <a:cs typeface="Arial"/>
              </a:rPr>
              <a:t> </a:t>
            </a:r>
            <a:r>
              <a:rPr sz="2000" spc="80" dirty="0">
                <a:latin typeface="Arial"/>
                <a:cs typeface="Arial"/>
              </a:rPr>
              <a:t>it</a:t>
            </a:r>
            <a:endParaRPr sz="20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71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25" dirty="0">
                <a:latin typeface="Arial"/>
                <a:cs typeface="Arial"/>
              </a:rPr>
              <a:t>Documents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spc="-75" dirty="0">
                <a:latin typeface="Arial"/>
                <a:cs typeface="Arial"/>
              </a:rPr>
              <a:t>outside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50" dirty="0">
                <a:latin typeface="Arial"/>
                <a:cs typeface="Arial"/>
              </a:rPr>
              <a:t>directory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need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spc="25" dirty="0">
                <a:latin typeface="Arial"/>
                <a:cs typeface="Arial"/>
              </a:rPr>
              <a:t>to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include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spc="-60" dirty="0">
                <a:latin typeface="Arial"/>
                <a:cs typeface="Arial"/>
              </a:rPr>
              <a:t>path  </a:t>
            </a:r>
            <a:r>
              <a:rPr sz="2000" spc="-20" dirty="0">
                <a:latin typeface="Arial"/>
                <a:cs typeface="Arial"/>
              </a:rPr>
              <a:t>or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5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domain</a:t>
            </a:r>
            <a:r>
              <a:rPr sz="2000" spc="-130" dirty="0">
                <a:latin typeface="Arial"/>
                <a:cs typeface="Arial"/>
              </a:rPr>
              <a:t> name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cookie</a:t>
            </a:r>
            <a:r>
              <a:rPr sz="2000" spc="-135" dirty="0">
                <a:latin typeface="Arial"/>
                <a:cs typeface="Arial"/>
              </a:rPr>
              <a:t> </a:t>
            </a:r>
            <a:r>
              <a:rPr sz="2000" spc="25" dirty="0">
                <a:latin typeface="Arial"/>
                <a:cs typeface="Arial"/>
              </a:rPr>
              <a:t>to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220" dirty="0">
                <a:latin typeface="Arial"/>
                <a:cs typeface="Arial"/>
              </a:rPr>
              <a:t>access</a:t>
            </a:r>
            <a:r>
              <a:rPr sz="2000" spc="-15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110" dirty="0">
                <a:latin typeface="Arial"/>
                <a:cs typeface="Arial"/>
              </a:rPr>
              <a:t>cookie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86016"/>
            <a:ext cx="776097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65" dirty="0"/>
              <a:t>R</a:t>
            </a:r>
            <a:r>
              <a:rPr spc="-195" dirty="0"/>
              <a:t>e</a:t>
            </a:r>
            <a:r>
              <a:rPr spc="-140" dirty="0"/>
              <a:t>tri</a:t>
            </a:r>
            <a:r>
              <a:rPr spc="-220" dirty="0"/>
              <a:t>e</a:t>
            </a:r>
            <a:r>
              <a:rPr spc="-125" dirty="0"/>
              <a:t>vin</a:t>
            </a:r>
            <a:r>
              <a:rPr spc="-130" dirty="0"/>
              <a:t>g</a:t>
            </a:r>
            <a:r>
              <a:rPr spc="-180" dirty="0"/>
              <a:t> </a:t>
            </a:r>
            <a:r>
              <a:rPr spc="-140" dirty="0"/>
              <a:t>Cookie</a:t>
            </a:r>
            <a:r>
              <a:rPr spc="-114" dirty="0"/>
              <a:t>s</a:t>
            </a:r>
            <a:r>
              <a:rPr spc="-165" dirty="0"/>
              <a:t> </a:t>
            </a:r>
            <a:r>
              <a:rPr spc="-135" dirty="0"/>
              <a:t>in</a:t>
            </a:r>
            <a:r>
              <a:rPr spc="-200" dirty="0"/>
              <a:t> </a:t>
            </a:r>
            <a:r>
              <a:rPr spc="-150" dirty="0"/>
              <a:t>PH</a:t>
            </a:r>
            <a:r>
              <a:rPr spc="-135" dirty="0"/>
              <a:t>P</a:t>
            </a:r>
            <a:r>
              <a:rPr dirty="0"/>
              <a:t>	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926338"/>
            <a:ext cx="7957184" cy="167802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345" dirty="0">
                <a:latin typeface="Arial"/>
                <a:cs typeface="Arial"/>
              </a:rPr>
              <a:t>PHP </a:t>
            </a:r>
            <a:r>
              <a:rPr sz="2000" spc="-100" dirty="0">
                <a:latin typeface="Arial"/>
                <a:cs typeface="Arial"/>
              </a:rPr>
              <a:t>provides </a:t>
            </a:r>
            <a:r>
              <a:rPr sz="2000" spc="-45" dirty="0">
                <a:latin typeface="Arial"/>
                <a:cs typeface="Arial"/>
              </a:rPr>
              <a:t>three </a:t>
            </a:r>
            <a:r>
              <a:rPr sz="2000" spc="-180" dirty="0">
                <a:latin typeface="Arial"/>
                <a:cs typeface="Arial"/>
              </a:rPr>
              <a:t>ways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50" dirty="0">
                <a:latin typeface="Arial"/>
                <a:cs typeface="Arial"/>
              </a:rPr>
              <a:t>retrieving </a:t>
            </a:r>
            <a:r>
              <a:rPr sz="2000" spc="-200" dirty="0">
                <a:latin typeface="Arial"/>
                <a:cs typeface="Arial"/>
              </a:rPr>
              <a:t>a </a:t>
            </a:r>
            <a:r>
              <a:rPr sz="2000" spc="-105" dirty="0">
                <a:latin typeface="Arial"/>
                <a:cs typeface="Arial"/>
              </a:rPr>
              <a:t>cookie </a:t>
            </a:r>
            <a:r>
              <a:rPr sz="2000" spc="-114" dirty="0">
                <a:latin typeface="Arial"/>
                <a:cs typeface="Arial"/>
              </a:rPr>
              <a:t>value</a:t>
            </a:r>
            <a:r>
              <a:rPr sz="2000" spc="-260" dirty="0">
                <a:latin typeface="Arial"/>
                <a:cs typeface="Arial"/>
              </a:rPr>
              <a:t> </a:t>
            </a:r>
            <a:r>
              <a:rPr sz="2000" spc="-120" dirty="0">
                <a:latin typeface="Arial"/>
                <a:cs typeface="Arial"/>
              </a:rPr>
              <a:t>and  </a:t>
            </a:r>
            <a:r>
              <a:rPr sz="2000" spc="-55" dirty="0">
                <a:latin typeface="Arial"/>
                <a:cs typeface="Arial"/>
              </a:rPr>
              <a:t>they </a:t>
            </a:r>
            <a:r>
              <a:rPr sz="2000" spc="-114" dirty="0">
                <a:latin typeface="Arial"/>
                <a:cs typeface="Arial"/>
              </a:rPr>
              <a:t>are </a:t>
            </a:r>
            <a:r>
              <a:rPr sz="2000" spc="-245" dirty="0">
                <a:latin typeface="Arial"/>
                <a:cs typeface="Arial"/>
              </a:rPr>
              <a:t>as</a:t>
            </a:r>
            <a:r>
              <a:rPr sz="2000" spc="-270" dirty="0">
                <a:latin typeface="Arial"/>
                <a:cs typeface="Arial"/>
              </a:rPr>
              <a:t> </a:t>
            </a:r>
            <a:r>
              <a:rPr sz="2000" spc="-65" dirty="0">
                <a:latin typeface="Arial"/>
                <a:cs typeface="Arial"/>
              </a:rPr>
              <a:t>follows:</a:t>
            </a:r>
            <a:endParaRPr sz="2000" dirty="0">
              <a:latin typeface="Arial"/>
              <a:cs typeface="Arial"/>
            </a:endParaRPr>
          </a:p>
          <a:p>
            <a:pPr marL="756285" marR="130175" indent="-287020" algn="just">
              <a:lnSpc>
                <a:spcPct val="100000"/>
              </a:lnSpc>
              <a:spcBef>
                <a:spcPts val="1710"/>
              </a:spcBef>
            </a:pPr>
            <a:r>
              <a:rPr sz="1050" spc="375" dirty="0">
                <a:solidFill>
                  <a:srgbClr val="1F487C"/>
                </a:solidFill>
                <a:latin typeface="Arial"/>
                <a:cs typeface="Arial"/>
              </a:rPr>
              <a:t> </a:t>
            </a:r>
            <a:r>
              <a:rPr spc="-200" dirty="0">
                <a:latin typeface="Arial"/>
                <a:cs typeface="Arial"/>
              </a:rPr>
              <a:t>Passing </a:t>
            </a:r>
            <a:r>
              <a:rPr spc="-190" dirty="0">
                <a:latin typeface="Arial"/>
                <a:cs typeface="Arial"/>
              </a:rPr>
              <a:t>a </a:t>
            </a:r>
            <a:r>
              <a:rPr spc="-85" dirty="0">
                <a:latin typeface="Arial"/>
                <a:cs typeface="Arial"/>
              </a:rPr>
              <a:t>variable </a:t>
            </a:r>
            <a:r>
              <a:rPr spc="-225" dirty="0">
                <a:latin typeface="Arial"/>
                <a:cs typeface="Arial"/>
              </a:rPr>
              <a:t>as </a:t>
            </a:r>
            <a:r>
              <a:rPr spc="-30" dirty="0">
                <a:latin typeface="Arial"/>
                <a:cs typeface="Arial"/>
              </a:rPr>
              <a:t>the </a:t>
            </a:r>
            <a:r>
              <a:rPr spc="-100" dirty="0">
                <a:latin typeface="Arial"/>
                <a:cs typeface="Arial"/>
              </a:rPr>
              <a:t>cookie </a:t>
            </a:r>
            <a:r>
              <a:rPr spc="-125" dirty="0">
                <a:latin typeface="Arial"/>
                <a:cs typeface="Arial"/>
              </a:rPr>
              <a:t>name </a:t>
            </a:r>
            <a:r>
              <a:rPr spc="-65" dirty="0">
                <a:latin typeface="Arial"/>
                <a:cs typeface="Arial"/>
              </a:rPr>
              <a:t>- </a:t>
            </a:r>
            <a:r>
              <a:rPr spc="-45" dirty="0">
                <a:latin typeface="Arial"/>
                <a:cs typeface="Arial"/>
              </a:rPr>
              <a:t>retrieve </a:t>
            </a:r>
            <a:r>
              <a:rPr spc="-30" dirty="0">
                <a:latin typeface="Arial"/>
                <a:cs typeface="Arial"/>
              </a:rPr>
              <a:t>the </a:t>
            </a:r>
            <a:r>
              <a:rPr spc="-95" dirty="0">
                <a:latin typeface="Arial"/>
                <a:cs typeface="Arial"/>
              </a:rPr>
              <a:t>cookie  value, </a:t>
            </a:r>
            <a:r>
              <a:rPr spc="-155" dirty="0">
                <a:latin typeface="Arial"/>
                <a:cs typeface="Arial"/>
              </a:rPr>
              <a:t>use </a:t>
            </a:r>
            <a:r>
              <a:rPr spc="-30" dirty="0">
                <a:latin typeface="Arial"/>
                <a:cs typeface="Arial"/>
              </a:rPr>
              <a:t>the </a:t>
            </a:r>
            <a:r>
              <a:rPr spc="-80" dirty="0">
                <a:latin typeface="Arial"/>
                <a:cs typeface="Arial"/>
              </a:rPr>
              <a:t>variable </a:t>
            </a:r>
            <a:r>
              <a:rPr spc="-210" dirty="0">
                <a:latin typeface="Arial"/>
                <a:cs typeface="Arial"/>
              </a:rPr>
              <a:t>as </a:t>
            </a:r>
            <a:r>
              <a:rPr spc="-35" dirty="0">
                <a:latin typeface="Arial"/>
                <a:cs typeface="Arial"/>
              </a:rPr>
              <a:t>the </a:t>
            </a:r>
            <a:r>
              <a:rPr spc="-95" dirty="0">
                <a:latin typeface="Arial"/>
                <a:cs typeface="Arial"/>
              </a:rPr>
              <a:t>cookie </a:t>
            </a:r>
            <a:r>
              <a:rPr spc="-110" dirty="0">
                <a:latin typeface="Arial"/>
                <a:cs typeface="Arial"/>
              </a:rPr>
              <a:t>name. </a:t>
            </a:r>
            <a:r>
              <a:rPr spc="-165" dirty="0">
                <a:latin typeface="Arial"/>
                <a:cs typeface="Arial"/>
              </a:rPr>
              <a:t>The </a:t>
            </a:r>
            <a:r>
              <a:rPr spc="-45" dirty="0">
                <a:latin typeface="Arial"/>
                <a:cs typeface="Arial"/>
              </a:rPr>
              <a:t>following </a:t>
            </a:r>
            <a:r>
              <a:rPr spc="-120" dirty="0">
                <a:latin typeface="Arial"/>
                <a:cs typeface="Arial"/>
              </a:rPr>
              <a:t>code  </a:t>
            </a:r>
            <a:r>
              <a:rPr spc="-70" dirty="0">
                <a:latin typeface="Arial"/>
                <a:cs typeface="Arial"/>
              </a:rPr>
              <a:t>snippet </a:t>
            </a:r>
            <a:r>
              <a:rPr spc="-120" dirty="0">
                <a:latin typeface="Arial"/>
                <a:cs typeface="Arial"/>
              </a:rPr>
              <a:t>displays </a:t>
            </a:r>
            <a:r>
              <a:rPr spc="-175" dirty="0">
                <a:latin typeface="Arial"/>
                <a:cs typeface="Arial"/>
              </a:rPr>
              <a:t>a </a:t>
            </a:r>
            <a:r>
              <a:rPr spc="-95" dirty="0">
                <a:latin typeface="Arial"/>
                <a:cs typeface="Arial"/>
              </a:rPr>
              <a:t>cookie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value: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8312" y="3744606"/>
            <a:ext cx="7439025" cy="14386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080" indent="-228600" algn="just">
              <a:lnSpc>
                <a:spcPct val="100000"/>
              </a:lnSpc>
              <a:spcBef>
                <a:spcPts val="95"/>
              </a:spcBef>
            </a:pPr>
            <a:r>
              <a:rPr sz="800" spc="300" dirty="0">
                <a:solidFill>
                  <a:srgbClr val="1F487C"/>
                </a:solidFill>
                <a:latin typeface="Arial"/>
                <a:cs typeface="Arial"/>
              </a:rPr>
              <a:t> </a:t>
            </a:r>
            <a:r>
              <a:rPr sz="2000" spc="-150" dirty="0">
                <a:latin typeface="Arial"/>
                <a:cs typeface="Arial"/>
              </a:rPr>
              <a:t>This </a:t>
            </a:r>
            <a:r>
              <a:rPr sz="2000" spc="-55" dirty="0">
                <a:latin typeface="Arial"/>
                <a:cs typeface="Arial"/>
              </a:rPr>
              <a:t>method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50" dirty="0">
                <a:latin typeface="Arial"/>
                <a:cs typeface="Arial"/>
              </a:rPr>
              <a:t>retrieving </a:t>
            </a:r>
            <a:r>
              <a:rPr sz="2000" spc="-35" dirty="0">
                <a:latin typeface="Arial"/>
                <a:cs typeface="Arial"/>
              </a:rPr>
              <a:t>the </a:t>
            </a:r>
            <a:r>
              <a:rPr sz="2000" spc="-95" dirty="0">
                <a:latin typeface="Arial"/>
                <a:cs typeface="Arial"/>
              </a:rPr>
              <a:t>cookie </a:t>
            </a:r>
            <a:r>
              <a:rPr sz="2000" spc="-105" dirty="0">
                <a:latin typeface="Arial"/>
                <a:cs typeface="Arial"/>
              </a:rPr>
              <a:t>value </a:t>
            </a:r>
            <a:r>
              <a:rPr sz="2000" spc="-114" dirty="0">
                <a:latin typeface="Arial"/>
                <a:cs typeface="Arial"/>
              </a:rPr>
              <a:t>is </a:t>
            </a:r>
            <a:r>
              <a:rPr sz="2000" spc="-10" dirty="0">
                <a:latin typeface="Arial"/>
                <a:cs typeface="Arial"/>
              </a:rPr>
              <a:t>not  </a:t>
            </a:r>
            <a:r>
              <a:rPr sz="2000" spc="-114" dirty="0">
                <a:latin typeface="Arial"/>
                <a:cs typeface="Arial"/>
              </a:rPr>
              <a:t>recommended </a:t>
            </a:r>
            <a:r>
              <a:rPr sz="2000" spc="-210" dirty="0">
                <a:latin typeface="Arial"/>
                <a:cs typeface="Arial"/>
              </a:rPr>
              <a:t>as </a:t>
            </a:r>
            <a:r>
              <a:rPr sz="2000" spc="-295" dirty="0">
                <a:latin typeface="Arial"/>
                <a:cs typeface="Arial"/>
              </a:rPr>
              <a:t>PHP </a:t>
            </a:r>
            <a:r>
              <a:rPr sz="2000" spc="5" dirty="0">
                <a:latin typeface="Arial"/>
                <a:cs typeface="Arial"/>
              </a:rPr>
              <a:t>will </a:t>
            </a:r>
            <a:r>
              <a:rPr sz="2000" spc="-40" dirty="0">
                <a:latin typeface="Arial"/>
                <a:cs typeface="Arial"/>
              </a:rPr>
              <a:t>start </a:t>
            </a:r>
            <a:r>
              <a:rPr sz="2000" spc="-120" dirty="0">
                <a:latin typeface="Arial"/>
                <a:cs typeface="Arial"/>
              </a:rPr>
              <a:t>searching </a:t>
            </a:r>
            <a:r>
              <a:rPr sz="2000" spc="-50" dirty="0">
                <a:latin typeface="Arial"/>
                <a:cs typeface="Arial"/>
              </a:rPr>
              <a:t>all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100" dirty="0">
                <a:latin typeface="Arial"/>
                <a:cs typeface="Arial"/>
              </a:rPr>
              <a:t>variables  </a:t>
            </a:r>
            <a:r>
              <a:rPr sz="2000" spc="-80" dirty="0">
                <a:latin typeface="Arial"/>
                <a:cs typeface="Arial"/>
              </a:rPr>
              <a:t>present </a:t>
            </a:r>
            <a:r>
              <a:rPr sz="2000" spc="-30" dirty="0">
                <a:latin typeface="Arial"/>
                <a:cs typeface="Arial"/>
              </a:rPr>
              <a:t>in the </a:t>
            </a:r>
            <a:r>
              <a:rPr sz="2000" spc="-45" dirty="0">
                <a:latin typeface="Arial"/>
                <a:cs typeface="Arial"/>
              </a:rPr>
              <a:t>client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35" dirty="0">
                <a:latin typeface="Arial"/>
                <a:cs typeface="Arial"/>
              </a:rPr>
              <a:t>system</a:t>
            </a:r>
            <a:endParaRPr sz="2000" dirty="0">
              <a:latin typeface="Arial"/>
              <a:cs typeface="Arial"/>
            </a:endParaRPr>
          </a:p>
          <a:p>
            <a:pPr marL="241300" marR="526415" indent="-228600">
              <a:lnSpc>
                <a:spcPct val="103600"/>
              </a:lnSpc>
              <a:spcBef>
                <a:spcPts val="1525"/>
              </a:spcBef>
            </a:pPr>
            <a:r>
              <a:rPr sz="800" spc="300" dirty="0">
                <a:solidFill>
                  <a:srgbClr val="1F487C"/>
                </a:solidFill>
                <a:latin typeface="Arial"/>
                <a:cs typeface="Arial"/>
              </a:rPr>
              <a:t> </a:t>
            </a:r>
            <a:r>
              <a:rPr sz="2000" spc="-165" dirty="0">
                <a:latin typeface="Arial"/>
                <a:cs typeface="Arial"/>
              </a:rPr>
              <a:t>The </a:t>
            </a:r>
            <a:r>
              <a:rPr sz="2000" spc="-5" dirty="0">
                <a:latin typeface="Courier New"/>
                <a:cs typeface="Courier New"/>
              </a:rPr>
              <a:t>register_globals </a:t>
            </a:r>
            <a:r>
              <a:rPr sz="2000" spc="-25" dirty="0">
                <a:latin typeface="Arial"/>
                <a:cs typeface="Arial"/>
              </a:rPr>
              <a:t>option </a:t>
            </a:r>
            <a:r>
              <a:rPr sz="2000" spc="-75" dirty="0">
                <a:latin typeface="Arial"/>
                <a:cs typeface="Arial"/>
              </a:rPr>
              <a:t>must </a:t>
            </a:r>
            <a:r>
              <a:rPr sz="2000" spc="-105" dirty="0">
                <a:latin typeface="Arial"/>
                <a:cs typeface="Arial"/>
              </a:rPr>
              <a:t>be </a:t>
            </a:r>
            <a:r>
              <a:rPr sz="2000" spc="-90" dirty="0">
                <a:latin typeface="Arial"/>
                <a:cs typeface="Arial"/>
              </a:rPr>
              <a:t>enabled </a:t>
            </a:r>
            <a:r>
              <a:rPr sz="2000" spc="-30" dirty="0">
                <a:latin typeface="Arial"/>
                <a:cs typeface="Arial"/>
              </a:rPr>
              <a:t>in </a:t>
            </a:r>
            <a:r>
              <a:rPr sz="2000" spc="-275" dirty="0">
                <a:latin typeface="Arial"/>
                <a:cs typeface="Arial"/>
              </a:rPr>
              <a:t>the  </a:t>
            </a:r>
            <a:r>
              <a:rPr sz="2000" spc="-60" dirty="0">
                <a:latin typeface="Arial"/>
                <a:cs typeface="Arial"/>
              </a:rPr>
              <a:t>configuration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file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3276" y="2806974"/>
            <a:ext cx="1981200" cy="39814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720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60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9825" y="3225560"/>
            <a:ext cx="6096000" cy="246379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6985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55"/>
              </a:spcBef>
            </a:pPr>
            <a:r>
              <a:rPr sz="1400" dirty="0">
                <a:solidFill>
                  <a:srgbClr val="211E1F"/>
                </a:solidFill>
                <a:latin typeface="Courier New"/>
                <a:cs typeface="Courier New"/>
              </a:rPr>
              <a:t>echo</a:t>
            </a:r>
            <a:r>
              <a:rPr sz="1400" spc="-10" dirty="0">
                <a:solidFill>
                  <a:srgbClr val="211E1F"/>
                </a:solidFill>
                <a:latin typeface="Courier New"/>
                <a:cs typeface="Courier New"/>
              </a:rPr>
              <a:t> $cookie_name;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86016"/>
            <a:ext cx="776097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65" dirty="0"/>
              <a:t>R</a:t>
            </a:r>
            <a:r>
              <a:rPr spc="-195" dirty="0"/>
              <a:t>e</a:t>
            </a:r>
            <a:r>
              <a:rPr spc="-140" dirty="0"/>
              <a:t>tri</a:t>
            </a:r>
            <a:r>
              <a:rPr spc="-220" dirty="0"/>
              <a:t>e</a:t>
            </a:r>
            <a:r>
              <a:rPr spc="-125" dirty="0"/>
              <a:t>vin</a:t>
            </a:r>
            <a:r>
              <a:rPr spc="-130" dirty="0"/>
              <a:t>g</a:t>
            </a:r>
            <a:r>
              <a:rPr spc="-180" dirty="0"/>
              <a:t> </a:t>
            </a:r>
            <a:r>
              <a:rPr spc="-140" dirty="0"/>
              <a:t>Cookie</a:t>
            </a:r>
            <a:r>
              <a:rPr spc="-114" dirty="0"/>
              <a:t>s</a:t>
            </a:r>
            <a:r>
              <a:rPr spc="-165" dirty="0"/>
              <a:t> </a:t>
            </a:r>
            <a:r>
              <a:rPr spc="-135" dirty="0"/>
              <a:t>in</a:t>
            </a:r>
            <a:r>
              <a:rPr spc="-200" dirty="0"/>
              <a:t> </a:t>
            </a:r>
            <a:r>
              <a:rPr spc="-150" dirty="0"/>
              <a:t>PH</a:t>
            </a:r>
            <a:r>
              <a:rPr spc="-135" dirty="0"/>
              <a:t>P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1139825" y="4134174"/>
            <a:ext cx="6096000" cy="246379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60"/>
              </a:spcBef>
            </a:pPr>
            <a:r>
              <a:rPr sz="1400" spc="-5" dirty="0">
                <a:solidFill>
                  <a:srgbClr val="211E1F"/>
                </a:solidFill>
                <a:latin typeface="Courier New"/>
                <a:cs typeface="Courier New"/>
              </a:rPr>
              <a:t>echo </a:t>
            </a:r>
            <a:r>
              <a:rPr sz="1400" spc="-10" dirty="0">
                <a:solidFill>
                  <a:srgbClr val="211E1F"/>
                </a:solidFill>
                <a:latin typeface="Courier New"/>
                <a:cs typeface="Courier New"/>
              </a:rPr>
              <a:t>$_COOKIE</a:t>
            </a:r>
            <a:r>
              <a:rPr sz="1400" spc="-20" dirty="0">
                <a:solidFill>
                  <a:srgbClr val="211E1F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11E1F"/>
                </a:solidFill>
                <a:latin typeface="Courier New"/>
                <a:cs typeface="Courier New"/>
              </a:rPr>
              <a:t>[$cookie_name];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7986" y="3728019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5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7340" y="543210"/>
            <a:ext cx="7950200" cy="2608022"/>
          </a:xfrm>
          <a:prstGeom prst="rect">
            <a:avLst/>
          </a:prstGeom>
        </p:spPr>
        <p:txBody>
          <a:bodyPr vert="horz" wrap="square" lIns="0" tIns="2292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sz="1200" spc="400" dirty="0">
                <a:solidFill>
                  <a:srgbClr val="1F487C"/>
                </a:solidFill>
                <a:latin typeface="Arial"/>
                <a:cs typeface="Arial"/>
              </a:rPr>
              <a:t> </a:t>
            </a:r>
            <a:r>
              <a:rPr sz="2000" spc="-155" dirty="0">
                <a:latin typeface="Arial"/>
                <a:cs typeface="Arial"/>
              </a:rPr>
              <a:t>Using </a:t>
            </a:r>
            <a:r>
              <a:rPr sz="2000" spc="-5" dirty="0">
                <a:latin typeface="Courier New"/>
                <a:cs typeface="Courier New"/>
              </a:rPr>
              <a:t>$_COOKIE</a:t>
            </a:r>
            <a:r>
              <a:rPr sz="2000" spc="-755" dirty="0">
                <a:latin typeface="Courier New"/>
                <a:cs typeface="Courier New"/>
              </a:rPr>
              <a:t> </a:t>
            </a:r>
            <a:r>
              <a:rPr sz="2000" spc="-110" dirty="0">
                <a:latin typeface="Arial"/>
                <a:cs typeface="Arial"/>
              </a:rPr>
              <a:t>array</a:t>
            </a:r>
            <a:endParaRPr sz="2000" dirty="0">
              <a:latin typeface="Arial"/>
              <a:cs typeface="Arial"/>
            </a:endParaRPr>
          </a:p>
          <a:p>
            <a:pPr marL="469900">
              <a:lnSpc>
                <a:spcPts val="2600"/>
              </a:lnSpc>
              <a:spcBef>
                <a:spcPts val="1430"/>
              </a:spcBef>
            </a:pPr>
            <a:r>
              <a:rPr sz="700" spc="300" dirty="0">
                <a:solidFill>
                  <a:srgbClr val="1F487C"/>
                </a:solidFill>
                <a:latin typeface="Arial"/>
                <a:cs typeface="Arial"/>
              </a:rPr>
              <a:t> </a:t>
            </a:r>
            <a:r>
              <a:rPr spc="-300" dirty="0">
                <a:latin typeface="Arial"/>
                <a:cs typeface="Arial"/>
              </a:rPr>
              <a:t>PHP </a:t>
            </a:r>
            <a:r>
              <a:rPr spc="-175" dirty="0">
                <a:latin typeface="Arial"/>
                <a:cs typeface="Arial"/>
              </a:rPr>
              <a:t>uses </a:t>
            </a:r>
            <a:r>
              <a:rPr spc="-95" dirty="0">
                <a:latin typeface="Arial"/>
                <a:cs typeface="Arial"/>
              </a:rPr>
              <a:t>cookie </a:t>
            </a:r>
            <a:r>
              <a:rPr spc="-120" dirty="0">
                <a:latin typeface="Arial"/>
                <a:cs typeface="Arial"/>
              </a:rPr>
              <a:t>name </a:t>
            </a:r>
            <a:r>
              <a:rPr spc="-210" dirty="0">
                <a:latin typeface="Arial"/>
                <a:cs typeface="Arial"/>
              </a:rPr>
              <a:t>as </a:t>
            </a:r>
            <a:r>
              <a:rPr spc="-175" dirty="0">
                <a:latin typeface="Arial"/>
                <a:cs typeface="Arial"/>
              </a:rPr>
              <a:t>a </a:t>
            </a:r>
            <a:r>
              <a:rPr spc="-80" dirty="0">
                <a:latin typeface="Arial"/>
                <a:cs typeface="Arial"/>
              </a:rPr>
              <a:t>variable </a:t>
            </a:r>
            <a:r>
              <a:rPr spc="10" dirty="0">
                <a:latin typeface="Arial"/>
                <a:cs typeface="Arial"/>
              </a:rPr>
              <a:t>to </a:t>
            </a:r>
            <a:r>
              <a:rPr spc="-50" dirty="0">
                <a:latin typeface="Arial"/>
                <a:cs typeface="Arial"/>
              </a:rPr>
              <a:t>retrieve </a:t>
            </a:r>
            <a:r>
              <a:rPr spc="-30" dirty="0">
                <a:latin typeface="Arial"/>
                <a:cs typeface="Arial"/>
              </a:rPr>
              <a:t>the </a:t>
            </a:r>
            <a:r>
              <a:rPr spc="-95" dirty="0">
                <a:latin typeface="Arial"/>
                <a:cs typeface="Arial"/>
              </a:rPr>
              <a:t>cookie  </a:t>
            </a:r>
            <a:r>
              <a:rPr spc="-105" dirty="0">
                <a:latin typeface="Arial"/>
                <a:cs typeface="Arial"/>
              </a:rPr>
              <a:t>value.</a:t>
            </a:r>
            <a:endParaRPr dirty="0">
              <a:latin typeface="Arial"/>
              <a:cs typeface="Arial"/>
            </a:endParaRPr>
          </a:p>
          <a:p>
            <a:pPr marL="698500">
              <a:lnSpc>
                <a:spcPts val="2600"/>
              </a:lnSpc>
            </a:pPr>
            <a:r>
              <a:rPr spc="-295" dirty="0">
                <a:latin typeface="Arial"/>
                <a:cs typeface="Arial"/>
              </a:rPr>
              <a:t>PHP </a:t>
            </a:r>
            <a:r>
              <a:rPr spc="-150" dirty="0">
                <a:latin typeface="Arial"/>
                <a:cs typeface="Arial"/>
              </a:rPr>
              <a:t>can </a:t>
            </a:r>
            <a:r>
              <a:rPr spc="-114" dirty="0">
                <a:latin typeface="Arial"/>
                <a:cs typeface="Arial"/>
              </a:rPr>
              <a:t>also </a:t>
            </a:r>
            <a:r>
              <a:rPr spc="-155" dirty="0">
                <a:latin typeface="Arial"/>
                <a:cs typeface="Arial"/>
              </a:rPr>
              <a:t>use </a:t>
            </a:r>
            <a:r>
              <a:rPr spc="-120" dirty="0">
                <a:latin typeface="Arial"/>
                <a:cs typeface="Arial"/>
              </a:rPr>
              <a:t>an </a:t>
            </a:r>
            <a:r>
              <a:rPr spc="-110" dirty="0">
                <a:latin typeface="Arial"/>
                <a:cs typeface="Arial"/>
              </a:rPr>
              <a:t>associative </a:t>
            </a:r>
            <a:r>
              <a:rPr spc="-95" dirty="0">
                <a:latin typeface="Arial"/>
                <a:cs typeface="Arial"/>
              </a:rPr>
              <a:t>array called </a:t>
            </a:r>
            <a:r>
              <a:rPr spc="-5" dirty="0">
                <a:latin typeface="Courier New"/>
                <a:cs typeface="Courier New"/>
              </a:rPr>
              <a:t>$_COOKIE</a:t>
            </a:r>
            <a:r>
              <a:rPr spc="-875" dirty="0">
                <a:latin typeface="Courier New"/>
                <a:cs typeface="Courier New"/>
              </a:rPr>
              <a:t> </a:t>
            </a:r>
            <a:r>
              <a:rPr spc="15" dirty="0">
                <a:latin typeface="Arial"/>
                <a:cs typeface="Arial"/>
              </a:rPr>
              <a:t>to</a:t>
            </a:r>
            <a:endParaRPr dirty="0">
              <a:latin typeface="Arial"/>
              <a:cs typeface="Arial"/>
            </a:endParaRPr>
          </a:p>
          <a:p>
            <a:pPr marL="698500">
              <a:lnSpc>
                <a:spcPct val="100000"/>
              </a:lnSpc>
              <a:spcBef>
                <a:spcPts val="90"/>
              </a:spcBef>
            </a:pPr>
            <a:r>
              <a:rPr spc="-50" dirty="0">
                <a:latin typeface="Arial"/>
                <a:cs typeface="Arial"/>
              </a:rPr>
              <a:t>retrieve </a:t>
            </a:r>
            <a:r>
              <a:rPr spc="-30" dirty="0">
                <a:latin typeface="Arial"/>
                <a:cs typeface="Arial"/>
              </a:rPr>
              <a:t>the </a:t>
            </a:r>
            <a:r>
              <a:rPr spc="-95" dirty="0">
                <a:latin typeface="Arial"/>
                <a:cs typeface="Arial"/>
              </a:rPr>
              <a:t>cookie</a:t>
            </a:r>
            <a:r>
              <a:rPr spc="-254" dirty="0">
                <a:latin typeface="Arial"/>
                <a:cs typeface="Arial"/>
              </a:rPr>
              <a:t> </a:t>
            </a:r>
            <a:r>
              <a:rPr spc="-100" dirty="0">
                <a:latin typeface="Arial"/>
                <a:cs typeface="Arial"/>
              </a:rPr>
              <a:t>value</a:t>
            </a:r>
            <a:endParaRPr dirty="0">
              <a:latin typeface="Arial"/>
              <a:cs typeface="Arial"/>
            </a:endParaRPr>
          </a:p>
          <a:p>
            <a:pPr marL="698500" marR="451484" indent="-228600">
              <a:lnSpc>
                <a:spcPct val="103200"/>
              </a:lnSpc>
              <a:spcBef>
                <a:spcPts val="1125"/>
              </a:spcBef>
            </a:pPr>
            <a:r>
              <a:rPr sz="700" spc="300" dirty="0">
                <a:solidFill>
                  <a:srgbClr val="1F487C"/>
                </a:solidFill>
                <a:latin typeface="Arial"/>
                <a:cs typeface="Arial"/>
              </a:rPr>
              <a:t> </a:t>
            </a:r>
            <a:r>
              <a:rPr spc="-165" dirty="0">
                <a:latin typeface="Arial"/>
                <a:cs typeface="Arial"/>
              </a:rPr>
              <a:t>The </a:t>
            </a:r>
            <a:r>
              <a:rPr spc="-5" dirty="0">
                <a:latin typeface="Courier New"/>
                <a:cs typeface="Courier New"/>
              </a:rPr>
              <a:t>$_COOKIE </a:t>
            </a:r>
            <a:r>
              <a:rPr spc="-114" dirty="0">
                <a:latin typeface="Arial"/>
                <a:cs typeface="Arial"/>
              </a:rPr>
              <a:t>is </a:t>
            </a:r>
            <a:r>
              <a:rPr spc="-175" dirty="0">
                <a:latin typeface="Arial"/>
                <a:cs typeface="Arial"/>
              </a:rPr>
              <a:t>a </a:t>
            </a:r>
            <a:r>
              <a:rPr spc="-80" dirty="0">
                <a:latin typeface="Arial"/>
                <a:cs typeface="Arial"/>
              </a:rPr>
              <a:t>global variable </a:t>
            </a:r>
            <a:r>
              <a:rPr spc="-5" dirty="0">
                <a:latin typeface="Arial"/>
                <a:cs typeface="Arial"/>
              </a:rPr>
              <a:t>that </a:t>
            </a:r>
            <a:r>
              <a:rPr spc="-125" dirty="0">
                <a:latin typeface="Arial"/>
                <a:cs typeface="Arial"/>
              </a:rPr>
              <a:t>reads </a:t>
            </a:r>
            <a:r>
              <a:rPr spc="-175" dirty="0">
                <a:latin typeface="Arial"/>
                <a:cs typeface="Arial"/>
              </a:rPr>
              <a:t>a </a:t>
            </a:r>
            <a:r>
              <a:rPr spc="-105" dirty="0">
                <a:latin typeface="Arial"/>
                <a:cs typeface="Arial"/>
              </a:rPr>
              <a:t>value </a:t>
            </a:r>
            <a:r>
              <a:rPr spc="-5" dirty="0">
                <a:latin typeface="Arial"/>
                <a:cs typeface="Arial"/>
              </a:rPr>
              <a:t>of </a:t>
            </a:r>
            <a:r>
              <a:rPr spc="-280" dirty="0">
                <a:latin typeface="Arial"/>
                <a:cs typeface="Arial"/>
              </a:rPr>
              <a:t>the  </a:t>
            </a:r>
            <a:r>
              <a:rPr spc="-95" dirty="0">
                <a:latin typeface="Arial"/>
                <a:cs typeface="Arial"/>
              </a:rPr>
              <a:t>cookie</a:t>
            </a:r>
            <a:endParaRPr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310"/>
              </a:spcBef>
            </a:pPr>
            <a:r>
              <a:rPr sz="700" spc="300" dirty="0">
                <a:solidFill>
                  <a:srgbClr val="1F487C"/>
                </a:solidFill>
                <a:latin typeface="Arial"/>
                <a:cs typeface="Arial"/>
              </a:rPr>
              <a:t> </a:t>
            </a:r>
            <a:r>
              <a:rPr spc="-135" dirty="0">
                <a:latin typeface="Arial"/>
                <a:cs typeface="Arial"/>
              </a:rPr>
              <a:t>An </a:t>
            </a:r>
            <a:r>
              <a:rPr spc="-114" dirty="0">
                <a:latin typeface="Arial"/>
                <a:cs typeface="Arial"/>
              </a:rPr>
              <a:t>example </a:t>
            </a:r>
            <a:r>
              <a:rPr spc="-5" dirty="0">
                <a:latin typeface="Arial"/>
                <a:cs typeface="Arial"/>
              </a:rPr>
              <a:t>of </a:t>
            </a:r>
            <a:r>
              <a:rPr spc="-45" dirty="0">
                <a:latin typeface="Arial"/>
                <a:cs typeface="Arial"/>
              </a:rPr>
              <a:t>this </a:t>
            </a:r>
            <a:r>
              <a:rPr spc="-114" dirty="0">
                <a:latin typeface="Arial"/>
                <a:cs typeface="Arial"/>
              </a:rPr>
              <a:t>is </a:t>
            </a:r>
            <a:r>
              <a:rPr spc="-100" dirty="0">
                <a:latin typeface="Arial"/>
                <a:cs typeface="Arial"/>
              </a:rPr>
              <a:t>shown </a:t>
            </a:r>
            <a:r>
              <a:rPr spc="-210" dirty="0">
                <a:latin typeface="Arial"/>
                <a:cs typeface="Arial"/>
              </a:rPr>
              <a:t>as</a:t>
            </a:r>
            <a:r>
              <a:rPr spc="-420" dirty="0">
                <a:latin typeface="Arial"/>
                <a:cs typeface="Arial"/>
              </a:rPr>
              <a:t> </a:t>
            </a:r>
            <a:r>
              <a:rPr spc="-55" dirty="0">
                <a:latin typeface="Arial"/>
                <a:cs typeface="Arial"/>
              </a:rPr>
              <a:t>follows:</a:t>
            </a:r>
            <a:endParaRPr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6582" y="4721281"/>
            <a:ext cx="737171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marR="5080" indent="-228600">
              <a:lnSpc>
                <a:spcPct val="100000"/>
              </a:lnSpc>
              <a:spcBef>
                <a:spcPts val="95"/>
              </a:spcBef>
            </a:pPr>
            <a:r>
              <a:rPr sz="800" spc="300" dirty="0">
                <a:solidFill>
                  <a:srgbClr val="1F487C"/>
                </a:solidFill>
                <a:latin typeface="Arial"/>
                <a:cs typeface="Arial"/>
              </a:rPr>
              <a:t> </a:t>
            </a:r>
            <a:r>
              <a:rPr sz="2000" spc="-150" dirty="0">
                <a:latin typeface="Arial"/>
                <a:cs typeface="Arial"/>
              </a:rPr>
              <a:t>This </a:t>
            </a:r>
            <a:r>
              <a:rPr sz="2000" spc="-114" dirty="0">
                <a:latin typeface="Arial"/>
                <a:cs typeface="Arial"/>
              </a:rPr>
              <a:t>is </a:t>
            </a:r>
            <a:r>
              <a:rPr sz="2000" spc="-70" dirty="0">
                <a:latin typeface="Arial"/>
                <a:cs typeface="Arial"/>
              </a:rPr>
              <a:t>more </a:t>
            </a:r>
            <a:r>
              <a:rPr sz="2000" spc="-55" dirty="0">
                <a:latin typeface="Arial"/>
                <a:cs typeface="Arial"/>
              </a:rPr>
              <a:t>reliable </a:t>
            </a:r>
            <a:r>
              <a:rPr sz="2000" spc="-105" dirty="0">
                <a:latin typeface="Arial"/>
                <a:cs typeface="Arial"/>
              </a:rPr>
              <a:t>and </a:t>
            </a:r>
            <a:r>
              <a:rPr sz="2000" spc="-75" dirty="0">
                <a:latin typeface="Arial"/>
                <a:cs typeface="Arial"/>
              </a:rPr>
              <a:t>faster </a:t>
            </a:r>
            <a:r>
              <a:rPr sz="2000" spc="-50" dirty="0">
                <a:latin typeface="Arial"/>
                <a:cs typeface="Arial"/>
              </a:rPr>
              <a:t>than retrieving </a:t>
            </a:r>
            <a:r>
              <a:rPr sz="2000" spc="-35" dirty="0">
                <a:latin typeface="Arial"/>
                <a:cs typeface="Arial"/>
              </a:rPr>
              <a:t>the </a:t>
            </a:r>
            <a:r>
              <a:rPr sz="2000" spc="-95" dirty="0">
                <a:latin typeface="Arial"/>
                <a:cs typeface="Arial"/>
              </a:rPr>
              <a:t>cookie  </a:t>
            </a:r>
            <a:r>
              <a:rPr sz="2000" spc="-120" dirty="0">
                <a:latin typeface="Arial"/>
                <a:cs typeface="Arial"/>
              </a:rPr>
              <a:t>value </a:t>
            </a:r>
            <a:r>
              <a:rPr sz="2000" spc="-55" dirty="0">
                <a:latin typeface="Arial"/>
                <a:cs typeface="Arial"/>
              </a:rPr>
              <a:t>through </a:t>
            </a:r>
            <a:r>
              <a:rPr sz="2000" spc="-175" dirty="0">
                <a:latin typeface="Arial"/>
                <a:cs typeface="Arial"/>
              </a:rPr>
              <a:t>a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80" dirty="0">
                <a:latin typeface="Arial"/>
                <a:cs typeface="Arial"/>
              </a:rPr>
              <a:t>variable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068" y="391246"/>
            <a:ext cx="606532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0" dirty="0"/>
              <a:t>Retrieving </a:t>
            </a:r>
            <a:r>
              <a:rPr spc="-140" dirty="0"/>
              <a:t>Cookies </a:t>
            </a:r>
            <a:r>
              <a:rPr spc="-135" dirty="0"/>
              <a:t>in</a:t>
            </a:r>
            <a:r>
              <a:rPr spc="-290" dirty="0"/>
              <a:t> </a:t>
            </a:r>
            <a:r>
              <a:rPr spc="-145" dirty="0"/>
              <a:t>PHP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9428" y="1349538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5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44372" y="1342863"/>
            <a:ext cx="4419600" cy="3967479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&lt;?php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  <a:tabLst>
                <a:tab pos="3726179" algn="l"/>
              </a:tabLst>
            </a:pPr>
            <a:r>
              <a:rPr sz="1400" spc="-5" dirty="0">
                <a:latin typeface="Courier New"/>
                <a:cs typeface="Courier New"/>
              </a:rPr>
              <a:t>$cookieval </a:t>
            </a:r>
            <a:r>
              <a:rPr sz="1400" dirty="0">
                <a:latin typeface="Courier New"/>
                <a:cs typeface="Courier New"/>
              </a:rPr>
              <a:t>=</a:t>
            </a:r>
            <a:r>
              <a:rPr sz="1400" spc="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$_COOKIE ['uname'];	?&gt;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&lt;HTML&gt;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&lt;BODY&gt;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&lt;?php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if</a:t>
            </a:r>
            <a:r>
              <a:rPr sz="1400" spc="-10" dirty="0">
                <a:latin typeface="Courier New"/>
                <a:cs typeface="Courier New"/>
              </a:rPr>
              <a:t> (isset($cookieval))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5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"Welcome</a:t>
            </a:r>
            <a:r>
              <a:rPr sz="1400" spc="-25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$cookieval";</a:t>
            </a:r>
            <a:endParaRPr sz="14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0">
              <a:latin typeface="Times New Roman"/>
              <a:cs typeface="Times New Roman"/>
            </a:endParaRPr>
          </a:p>
          <a:p>
            <a:pPr marL="67945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86016"/>
            <a:ext cx="776097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65" dirty="0"/>
              <a:t>R</a:t>
            </a:r>
            <a:r>
              <a:rPr spc="-195" dirty="0"/>
              <a:t>e</a:t>
            </a:r>
            <a:r>
              <a:rPr spc="-140" dirty="0"/>
              <a:t>tri</a:t>
            </a:r>
            <a:r>
              <a:rPr spc="-220" dirty="0"/>
              <a:t>e</a:t>
            </a:r>
            <a:r>
              <a:rPr spc="-125" dirty="0"/>
              <a:t>vin</a:t>
            </a:r>
            <a:r>
              <a:rPr spc="-130" dirty="0"/>
              <a:t>g</a:t>
            </a:r>
            <a:r>
              <a:rPr spc="-180" dirty="0"/>
              <a:t> </a:t>
            </a:r>
            <a:r>
              <a:rPr spc="-140" dirty="0"/>
              <a:t>Cookie</a:t>
            </a:r>
            <a:r>
              <a:rPr spc="-114" dirty="0"/>
              <a:t>s</a:t>
            </a:r>
            <a:r>
              <a:rPr spc="-165" dirty="0"/>
              <a:t> </a:t>
            </a:r>
            <a:r>
              <a:rPr spc="-135" dirty="0"/>
              <a:t>in</a:t>
            </a:r>
            <a:r>
              <a:rPr spc="-200" dirty="0"/>
              <a:t> </a:t>
            </a:r>
            <a:r>
              <a:rPr spc="-150" dirty="0"/>
              <a:t>PH</a:t>
            </a:r>
            <a:r>
              <a:rPr spc="-135" dirty="0"/>
              <a:t>P</a:t>
            </a:r>
            <a:r>
              <a:rPr dirty="0"/>
              <a:t>	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1905000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5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912621"/>
            <a:ext cx="8286115" cy="611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b="1" spc="-5" dirty="0">
                <a:latin typeface="Courier New"/>
                <a:cs typeface="Courier New"/>
              </a:rPr>
              <a:t>retrieve_cookie.php</a:t>
            </a:r>
            <a:r>
              <a:rPr sz="2000" b="1" spc="-1080" dirty="0">
                <a:latin typeface="Courier New"/>
                <a:cs typeface="Courier New"/>
              </a:rPr>
              <a:t> </a:t>
            </a:r>
            <a:r>
              <a:rPr sz="2000" b="1" spc="-160" dirty="0">
                <a:latin typeface="Trebuchet MS"/>
                <a:cs typeface="Trebuchet MS"/>
              </a:rPr>
              <a:t>- </a:t>
            </a:r>
            <a:r>
              <a:rPr sz="2000" spc="-105" dirty="0">
                <a:latin typeface="Arial"/>
                <a:cs typeface="Arial"/>
              </a:rPr>
              <a:t>Retrieving </a:t>
            </a:r>
            <a:r>
              <a:rPr spc="-190" dirty="0">
                <a:latin typeface="Arial"/>
                <a:cs typeface="Arial"/>
              </a:rPr>
              <a:t>a </a:t>
            </a:r>
            <a:r>
              <a:rPr spc="-100" dirty="0">
                <a:latin typeface="Arial"/>
                <a:cs typeface="Arial"/>
              </a:rPr>
              <a:t>cookie </a:t>
            </a:r>
            <a:r>
              <a:rPr spc="-110" dirty="0">
                <a:latin typeface="Arial"/>
                <a:cs typeface="Arial"/>
              </a:rPr>
              <a:t>value </a:t>
            </a:r>
            <a:r>
              <a:rPr spc="-125" dirty="0">
                <a:latin typeface="Arial"/>
                <a:cs typeface="Arial"/>
              </a:rPr>
              <a:t>using</a:t>
            </a:r>
            <a:endParaRPr dirty="0">
              <a:latin typeface="Arial"/>
              <a:cs typeface="Arial"/>
            </a:endParaRPr>
          </a:p>
          <a:p>
            <a:pPr marL="2825115">
              <a:lnSpc>
                <a:spcPct val="100000"/>
              </a:lnSpc>
              <a:spcBef>
                <a:spcPts val="114"/>
              </a:spcBef>
            </a:pPr>
            <a:r>
              <a:rPr spc="-30" dirty="0">
                <a:latin typeface="Arial"/>
                <a:cs typeface="Arial"/>
              </a:rPr>
              <a:t>the </a:t>
            </a:r>
            <a:r>
              <a:rPr spc="-270" dirty="0">
                <a:latin typeface="Arial"/>
                <a:cs typeface="Arial"/>
              </a:rPr>
              <a:t>$_COOKIE </a:t>
            </a:r>
            <a:r>
              <a:rPr spc="-90" dirty="0">
                <a:latin typeface="Arial"/>
                <a:cs typeface="Arial"/>
              </a:rPr>
              <a:t>global</a:t>
            </a:r>
            <a:r>
              <a:rPr spc="-490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variable</a:t>
            </a:r>
            <a:endParaRPr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1000" y="2362200"/>
            <a:ext cx="4114800" cy="248285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605"/>
              </a:lnSpc>
            </a:pPr>
            <a:r>
              <a:rPr sz="1400" spc="-5" dirty="0">
                <a:latin typeface="Courier New"/>
                <a:cs typeface="Courier New"/>
              </a:rPr>
              <a:t>else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1285"/>
              </a:spcBef>
            </a:pPr>
            <a:r>
              <a:rPr sz="1400" dirty="0"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1280"/>
              </a:spcBef>
            </a:pPr>
            <a:r>
              <a:rPr sz="1400" spc="-5" dirty="0">
                <a:latin typeface="Courier New"/>
                <a:cs typeface="Courier New"/>
              </a:rPr>
              <a:t>echo </a:t>
            </a:r>
            <a:r>
              <a:rPr sz="1400" spc="-10" dirty="0">
                <a:latin typeface="Courier New"/>
                <a:cs typeface="Courier New"/>
              </a:rPr>
              <a:t>"You </a:t>
            </a:r>
            <a:r>
              <a:rPr sz="1400" spc="-5" dirty="0">
                <a:latin typeface="Courier New"/>
                <a:cs typeface="Courier New"/>
              </a:rPr>
              <a:t>need to log</a:t>
            </a:r>
            <a:r>
              <a:rPr sz="1400" spc="-4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in";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1290"/>
              </a:spcBef>
            </a:pPr>
            <a:r>
              <a:rPr sz="1400" dirty="0"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1280"/>
              </a:spcBef>
            </a:pPr>
            <a:r>
              <a:rPr sz="1400" spc="-5" dirty="0">
                <a:latin typeface="Courier New"/>
                <a:cs typeface="Courier New"/>
              </a:rPr>
              <a:t>?&gt;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1285"/>
              </a:spcBef>
            </a:pPr>
            <a:r>
              <a:rPr sz="1400" spc="-5" dirty="0">
                <a:latin typeface="Courier New"/>
                <a:cs typeface="Courier New"/>
              </a:rPr>
              <a:t>&lt;/BODY&gt;</a:t>
            </a:r>
            <a:endParaRPr sz="1400">
              <a:latin typeface="Courier New"/>
              <a:cs typeface="Courier New"/>
            </a:endParaRPr>
          </a:p>
          <a:p>
            <a:pPr marL="67945">
              <a:lnSpc>
                <a:spcPct val="100000"/>
              </a:lnSpc>
              <a:spcBef>
                <a:spcPts val="1285"/>
              </a:spcBef>
            </a:pPr>
            <a:r>
              <a:rPr sz="1400" spc="-5" dirty="0">
                <a:latin typeface="Courier New"/>
                <a:cs typeface="Courier New"/>
              </a:rPr>
              <a:t>&lt;/HTML&gt;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39" y="86016"/>
            <a:ext cx="5685497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0" dirty="0"/>
              <a:t>Retrieving </a:t>
            </a:r>
            <a:r>
              <a:rPr spc="-140" dirty="0"/>
              <a:t>Cookies </a:t>
            </a:r>
            <a:r>
              <a:rPr spc="-135" dirty="0"/>
              <a:t>in</a:t>
            </a:r>
            <a:r>
              <a:rPr spc="-290" dirty="0"/>
              <a:t> </a:t>
            </a:r>
            <a:r>
              <a:rPr spc="-145" dirty="0"/>
              <a:t>PHP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2015" y="1078738"/>
            <a:ext cx="496125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190" dirty="0">
                <a:latin typeface="Arial"/>
                <a:cs typeface="Arial"/>
              </a:rPr>
              <a:t>The </a:t>
            </a:r>
            <a:r>
              <a:rPr sz="2600" spc="-10" dirty="0">
                <a:latin typeface="Arial"/>
                <a:cs typeface="Arial"/>
              </a:rPr>
              <a:t>output of </a:t>
            </a:r>
            <a:r>
              <a:rPr sz="2600" spc="-30" dirty="0">
                <a:latin typeface="Arial"/>
                <a:cs typeface="Arial"/>
              </a:rPr>
              <a:t>the </a:t>
            </a:r>
            <a:r>
              <a:rPr sz="2600" spc="-65" dirty="0">
                <a:latin typeface="Arial"/>
                <a:cs typeface="Arial"/>
              </a:rPr>
              <a:t>script </a:t>
            </a:r>
            <a:r>
              <a:rPr sz="2600" spc="-135" dirty="0">
                <a:latin typeface="Arial"/>
                <a:cs typeface="Arial"/>
              </a:rPr>
              <a:t>is </a:t>
            </a:r>
            <a:r>
              <a:rPr sz="2600" spc="-245" dirty="0">
                <a:latin typeface="Arial"/>
                <a:cs typeface="Arial"/>
              </a:rPr>
              <a:t>as</a:t>
            </a:r>
            <a:r>
              <a:rPr sz="2600" spc="-540" dirty="0">
                <a:latin typeface="Arial"/>
                <a:cs typeface="Arial"/>
              </a:rPr>
              <a:t> </a:t>
            </a:r>
            <a:r>
              <a:rPr sz="2600" spc="-65" dirty="0">
                <a:latin typeface="Arial"/>
                <a:cs typeface="Arial"/>
              </a:rPr>
              <a:t>follows: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8199" y="1828752"/>
            <a:ext cx="5871391" cy="21488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667761" y="4344161"/>
            <a:ext cx="4038600" cy="1295400"/>
          </a:xfrm>
          <a:custGeom>
            <a:avLst/>
            <a:gdLst/>
            <a:ahLst/>
            <a:cxnLst/>
            <a:rect l="l" t="t" r="r" b="b"/>
            <a:pathLst>
              <a:path w="4038600" h="1295400">
                <a:moveTo>
                  <a:pt x="4038600" y="0"/>
                </a:moveTo>
                <a:lnTo>
                  <a:pt x="606551" y="0"/>
                </a:lnTo>
                <a:lnTo>
                  <a:pt x="559145" y="1824"/>
                </a:lnTo>
                <a:lnTo>
                  <a:pt x="512737" y="7208"/>
                </a:lnTo>
                <a:lnTo>
                  <a:pt x="467463" y="16017"/>
                </a:lnTo>
                <a:lnTo>
                  <a:pt x="423457" y="28116"/>
                </a:lnTo>
                <a:lnTo>
                  <a:pt x="380854" y="43370"/>
                </a:lnTo>
                <a:lnTo>
                  <a:pt x="339789" y="61644"/>
                </a:lnTo>
                <a:lnTo>
                  <a:pt x="300397" y="82804"/>
                </a:lnTo>
                <a:lnTo>
                  <a:pt x="262812" y="106714"/>
                </a:lnTo>
                <a:lnTo>
                  <a:pt x="227169" y="133241"/>
                </a:lnTo>
                <a:lnTo>
                  <a:pt x="193603" y="162248"/>
                </a:lnTo>
                <a:lnTo>
                  <a:pt x="162248" y="193603"/>
                </a:lnTo>
                <a:lnTo>
                  <a:pt x="133241" y="227169"/>
                </a:lnTo>
                <a:lnTo>
                  <a:pt x="106714" y="262812"/>
                </a:lnTo>
                <a:lnTo>
                  <a:pt x="82803" y="300397"/>
                </a:lnTo>
                <a:lnTo>
                  <a:pt x="61644" y="339789"/>
                </a:lnTo>
                <a:lnTo>
                  <a:pt x="43370" y="380854"/>
                </a:lnTo>
                <a:lnTo>
                  <a:pt x="28116" y="423457"/>
                </a:lnTo>
                <a:lnTo>
                  <a:pt x="16017" y="467463"/>
                </a:lnTo>
                <a:lnTo>
                  <a:pt x="7208" y="512737"/>
                </a:lnTo>
                <a:lnTo>
                  <a:pt x="1824" y="559145"/>
                </a:lnTo>
                <a:lnTo>
                  <a:pt x="0" y="606552"/>
                </a:lnTo>
                <a:lnTo>
                  <a:pt x="0" y="1295400"/>
                </a:lnTo>
                <a:lnTo>
                  <a:pt x="4038600" y="1295400"/>
                </a:lnTo>
                <a:lnTo>
                  <a:pt x="40386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67761" y="4344161"/>
            <a:ext cx="4038600" cy="1295400"/>
          </a:xfrm>
          <a:custGeom>
            <a:avLst/>
            <a:gdLst/>
            <a:ahLst/>
            <a:cxnLst/>
            <a:rect l="l" t="t" r="r" b="b"/>
            <a:pathLst>
              <a:path w="4038600" h="1295400">
                <a:moveTo>
                  <a:pt x="606551" y="0"/>
                </a:moveTo>
                <a:lnTo>
                  <a:pt x="4038600" y="0"/>
                </a:lnTo>
                <a:lnTo>
                  <a:pt x="4038600" y="1295400"/>
                </a:lnTo>
                <a:lnTo>
                  <a:pt x="0" y="1295400"/>
                </a:lnTo>
                <a:lnTo>
                  <a:pt x="0" y="606552"/>
                </a:lnTo>
                <a:lnTo>
                  <a:pt x="1824" y="559145"/>
                </a:lnTo>
                <a:lnTo>
                  <a:pt x="7208" y="512737"/>
                </a:lnTo>
                <a:lnTo>
                  <a:pt x="16017" y="467463"/>
                </a:lnTo>
                <a:lnTo>
                  <a:pt x="28116" y="423457"/>
                </a:lnTo>
                <a:lnTo>
                  <a:pt x="43370" y="380854"/>
                </a:lnTo>
                <a:lnTo>
                  <a:pt x="61644" y="339789"/>
                </a:lnTo>
                <a:lnTo>
                  <a:pt x="82803" y="300397"/>
                </a:lnTo>
                <a:lnTo>
                  <a:pt x="106714" y="262812"/>
                </a:lnTo>
                <a:lnTo>
                  <a:pt x="133241" y="227169"/>
                </a:lnTo>
                <a:lnTo>
                  <a:pt x="162248" y="193603"/>
                </a:lnTo>
                <a:lnTo>
                  <a:pt x="193603" y="162248"/>
                </a:lnTo>
                <a:lnTo>
                  <a:pt x="227169" y="133241"/>
                </a:lnTo>
                <a:lnTo>
                  <a:pt x="262812" y="106714"/>
                </a:lnTo>
                <a:lnTo>
                  <a:pt x="300397" y="82804"/>
                </a:lnTo>
                <a:lnTo>
                  <a:pt x="339789" y="61644"/>
                </a:lnTo>
                <a:lnTo>
                  <a:pt x="380854" y="43370"/>
                </a:lnTo>
                <a:lnTo>
                  <a:pt x="423457" y="28116"/>
                </a:lnTo>
                <a:lnTo>
                  <a:pt x="467463" y="16017"/>
                </a:lnTo>
                <a:lnTo>
                  <a:pt x="512737" y="7208"/>
                </a:lnTo>
                <a:lnTo>
                  <a:pt x="559145" y="1824"/>
                </a:lnTo>
                <a:lnTo>
                  <a:pt x="606551" y="0"/>
                </a:lnTo>
                <a:close/>
              </a:path>
            </a:pathLst>
          </a:custGeom>
          <a:ln w="25908">
            <a:solidFill>
              <a:srgbClr val="385D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924048" y="4622038"/>
            <a:ext cx="3653790" cy="889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FFFFFF"/>
                </a:solidFill>
                <a:latin typeface="Courier New"/>
                <a:cs typeface="Courier New"/>
              </a:rPr>
              <a:t>$cookieval</a:t>
            </a:r>
            <a:r>
              <a:rPr sz="1400" b="1" spc="-660" dirty="0">
                <a:solidFill>
                  <a:srgbClr val="FFFFFF"/>
                </a:solidFill>
                <a:latin typeface="Courier New"/>
                <a:cs typeface="Courier New"/>
              </a:rPr>
              <a:t> 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stores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cookie 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value.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103600"/>
              </a:lnSpc>
            </a:pPr>
            <a:r>
              <a:rPr sz="1400" spc="-10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400" spc="-15" dirty="0">
                <a:solidFill>
                  <a:srgbClr val="FFFFFF"/>
                </a:solidFill>
                <a:latin typeface="Courier New"/>
                <a:cs typeface="Courier New"/>
              </a:rPr>
              <a:t>isset()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function </a:t>
            </a:r>
            <a:r>
              <a:rPr sz="1400" spc="-100" dirty="0">
                <a:solidFill>
                  <a:srgbClr val="FFFFFF"/>
                </a:solidFill>
                <a:latin typeface="Arial"/>
                <a:cs typeface="Arial"/>
              </a:rPr>
              <a:t>checks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whether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4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cookie  </a:t>
            </a:r>
            <a:r>
              <a:rPr sz="1400" spc="-7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1400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set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86016"/>
            <a:ext cx="426466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30" dirty="0"/>
              <a:t>Deleting </a:t>
            </a:r>
            <a:r>
              <a:rPr spc="-100" dirty="0"/>
              <a:t>a</a:t>
            </a:r>
            <a:r>
              <a:rPr spc="-315" dirty="0"/>
              <a:t> </a:t>
            </a:r>
            <a:r>
              <a:rPr spc="-145" dirty="0"/>
              <a:t>Cookie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37028" y="4292359"/>
            <a:ext cx="5181600" cy="213360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525"/>
              </a:lnSpc>
            </a:pPr>
            <a:r>
              <a:rPr sz="1400" spc="-5" dirty="0">
                <a:latin typeface="Courier New"/>
                <a:cs typeface="Courier New"/>
              </a:rPr>
              <a:t>setcookie("$cookie_name", </a:t>
            </a:r>
            <a:r>
              <a:rPr sz="1400" spc="-10" dirty="0">
                <a:latin typeface="Courier New"/>
                <a:cs typeface="Courier New"/>
              </a:rPr>
              <a:t>"",</a:t>
            </a:r>
            <a:r>
              <a:rPr sz="1400" spc="-40" dirty="0">
                <a:latin typeface="Courier New"/>
                <a:cs typeface="Courier New"/>
              </a:rPr>
              <a:t> </a:t>
            </a:r>
            <a:r>
              <a:rPr sz="1400" spc="-5" dirty="0">
                <a:latin typeface="Courier New"/>
                <a:cs typeface="Courier New"/>
              </a:rPr>
              <a:t>time()-8000);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1140" y="3817886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5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1929" y="4678406"/>
            <a:ext cx="8228965" cy="837217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55600" marR="5080" indent="-342900">
              <a:lnSpc>
                <a:spcPct val="101800"/>
              </a:lnSpc>
              <a:spcBef>
                <a:spcPts val="6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pc="-60" dirty="0">
                <a:latin typeface="Arial"/>
                <a:cs typeface="Arial"/>
              </a:rPr>
              <a:t>In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the</a:t>
            </a:r>
            <a:r>
              <a:rPr spc="-110" dirty="0">
                <a:latin typeface="Arial"/>
                <a:cs typeface="Arial"/>
              </a:rPr>
              <a:t> </a:t>
            </a:r>
            <a:r>
              <a:rPr spc="-95" dirty="0">
                <a:latin typeface="Arial"/>
                <a:cs typeface="Arial"/>
              </a:rPr>
              <a:t>code,</a:t>
            </a:r>
            <a:r>
              <a:rPr spc="-114" dirty="0">
                <a:latin typeface="Arial"/>
                <a:cs typeface="Arial"/>
              </a:rPr>
              <a:t> </a:t>
            </a:r>
            <a:r>
              <a:rPr spc="-5" dirty="0">
                <a:latin typeface="Courier New"/>
                <a:cs typeface="Courier New"/>
              </a:rPr>
              <a:t>$cookie_name</a:t>
            </a:r>
            <a:r>
              <a:rPr spc="-740" dirty="0">
                <a:latin typeface="Courier New"/>
                <a:cs typeface="Courier New"/>
              </a:rPr>
              <a:t> </a:t>
            </a:r>
            <a:r>
              <a:rPr spc="-80" dirty="0">
                <a:latin typeface="Arial"/>
                <a:cs typeface="Arial"/>
              </a:rPr>
              <a:t>refers</a:t>
            </a:r>
            <a:r>
              <a:rPr spc="-95" dirty="0">
                <a:latin typeface="Arial"/>
                <a:cs typeface="Arial"/>
              </a:rPr>
              <a:t> </a:t>
            </a:r>
            <a:r>
              <a:rPr spc="15" dirty="0">
                <a:latin typeface="Arial"/>
                <a:cs typeface="Arial"/>
              </a:rPr>
              <a:t>to</a:t>
            </a:r>
            <a:r>
              <a:rPr spc="-11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the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100" dirty="0">
                <a:latin typeface="Arial"/>
                <a:cs typeface="Arial"/>
              </a:rPr>
              <a:t>name</a:t>
            </a:r>
            <a:r>
              <a:rPr spc="-11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of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the</a:t>
            </a:r>
            <a:r>
              <a:rPr spc="-110" dirty="0">
                <a:latin typeface="Arial"/>
                <a:cs typeface="Arial"/>
              </a:rPr>
              <a:t> </a:t>
            </a:r>
            <a:r>
              <a:rPr spc="-80" dirty="0">
                <a:latin typeface="Arial"/>
                <a:cs typeface="Arial"/>
              </a:rPr>
              <a:t>cookie.</a:t>
            </a:r>
            <a:r>
              <a:rPr spc="-114" dirty="0">
                <a:latin typeface="Arial"/>
                <a:cs typeface="Arial"/>
              </a:rPr>
              <a:t> </a:t>
            </a:r>
            <a:r>
              <a:rPr spc="-145" dirty="0">
                <a:latin typeface="Arial"/>
                <a:cs typeface="Arial"/>
              </a:rPr>
              <a:t>The</a:t>
            </a:r>
            <a:r>
              <a:rPr spc="-110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value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of 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80" dirty="0">
                <a:latin typeface="Arial"/>
                <a:cs typeface="Arial"/>
              </a:rPr>
              <a:t>cookie </a:t>
            </a:r>
            <a:r>
              <a:rPr spc="-105" dirty="0">
                <a:latin typeface="Arial"/>
                <a:cs typeface="Arial"/>
              </a:rPr>
              <a:t>is </a:t>
            </a:r>
            <a:r>
              <a:rPr spc="-5" dirty="0">
                <a:latin typeface="Arial"/>
                <a:cs typeface="Arial"/>
              </a:rPr>
              <a:t>not </a:t>
            </a:r>
            <a:r>
              <a:rPr spc="-75" dirty="0">
                <a:latin typeface="Arial"/>
                <a:cs typeface="Arial"/>
              </a:rPr>
              <a:t>specified </a:t>
            </a:r>
            <a:r>
              <a:rPr spc="-95" dirty="0">
                <a:latin typeface="Arial"/>
                <a:cs typeface="Arial"/>
              </a:rPr>
              <a:t>and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20" dirty="0">
                <a:latin typeface="Courier New"/>
                <a:cs typeface="Courier New"/>
              </a:rPr>
              <a:t>time()</a:t>
            </a:r>
            <a:r>
              <a:rPr spc="-20" dirty="0">
                <a:latin typeface="Arial"/>
                <a:cs typeface="Arial"/>
              </a:rPr>
              <a:t>function </a:t>
            </a:r>
            <a:r>
              <a:rPr spc="-110" dirty="0">
                <a:latin typeface="Arial"/>
                <a:cs typeface="Arial"/>
              </a:rPr>
              <a:t>accepts </a:t>
            </a:r>
            <a:r>
              <a:rPr spc="-20" dirty="0">
                <a:latin typeface="Arial"/>
                <a:cs typeface="Arial"/>
              </a:rPr>
              <a:t>the </a:t>
            </a:r>
            <a:r>
              <a:rPr spc="-55" dirty="0">
                <a:latin typeface="Arial"/>
                <a:cs typeface="Arial"/>
              </a:rPr>
              <a:t>expiration  </a:t>
            </a:r>
            <a:r>
              <a:rPr spc="-70" dirty="0">
                <a:latin typeface="Arial"/>
                <a:cs typeface="Arial"/>
              </a:rPr>
              <a:t>date </a:t>
            </a:r>
            <a:r>
              <a:rPr spc="-25" dirty="0">
                <a:latin typeface="Arial"/>
                <a:cs typeface="Arial"/>
              </a:rPr>
              <a:t>in </a:t>
            </a:r>
            <a:r>
              <a:rPr spc="-20" dirty="0">
                <a:latin typeface="Arial"/>
                <a:cs typeface="Arial"/>
              </a:rPr>
              <a:t>the</a:t>
            </a:r>
            <a:r>
              <a:rPr spc="-225" dirty="0">
                <a:latin typeface="Arial"/>
                <a:cs typeface="Arial"/>
              </a:rPr>
              <a:t> </a:t>
            </a:r>
            <a:r>
              <a:rPr spc="-90" dirty="0">
                <a:latin typeface="Arial"/>
                <a:cs typeface="Arial"/>
              </a:rPr>
              <a:t>past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7340" y="602196"/>
            <a:ext cx="8018145" cy="322588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pc="-145" dirty="0">
                <a:latin typeface="Arial"/>
                <a:cs typeface="Arial"/>
              </a:rPr>
              <a:t>Cookies </a:t>
            </a:r>
            <a:r>
              <a:rPr spc="-150" dirty="0">
                <a:latin typeface="Arial"/>
                <a:cs typeface="Arial"/>
              </a:rPr>
              <a:t>can </a:t>
            </a:r>
            <a:r>
              <a:rPr spc="-105" dirty="0">
                <a:latin typeface="Arial"/>
                <a:cs typeface="Arial"/>
              </a:rPr>
              <a:t>be </a:t>
            </a:r>
            <a:r>
              <a:rPr spc="-65" dirty="0">
                <a:latin typeface="Arial"/>
                <a:cs typeface="Arial"/>
              </a:rPr>
              <a:t>deleted </a:t>
            </a:r>
            <a:r>
              <a:rPr spc="-60" dirty="0">
                <a:latin typeface="Arial"/>
                <a:cs typeface="Arial"/>
              </a:rPr>
              <a:t>automatically </a:t>
            </a:r>
            <a:r>
              <a:rPr spc="-15" dirty="0">
                <a:latin typeface="Arial"/>
                <a:cs typeface="Arial"/>
              </a:rPr>
              <a:t>or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80" dirty="0">
                <a:latin typeface="Arial"/>
                <a:cs typeface="Arial"/>
              </a:rPr>
              <a:t>manually</a:t>
            </a:r>
            <a:endParaRPr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689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pc="-125" dirty="0">
                <a:latin typeface="Arial"/>
                <a:cs typeface="Arial"/>
              </a:rPr>
              <a:t>There </a:t>
            </a:r>
            <a:r>
              <a:rPr spc="-95" dirty="0">
                <a:latin typeface="Arial"/>
                <a:cs typeface="Arial"/>
              </a:rPr>
              <a:t>are </a:t>
            </a:r>
            <a:r>
              <a:rPr spc="5" dirty="0">
                <a:latin typeface="Arial"/>
                <a:cs typeface="Arial"/>
              </a:rPr>
              <a:t>two </a:t>
            </a:r>
            <a:r>
              <a:rPr spc="-155" dirty="0">
                <a:latin typeface="Arial"/>
                <a:cs typeface="Arial"/>
              </a:rPr>
              <a:t>ways </a:t>
            </a:r>
            <a:r>
              <a:rPr spc="10" dirty="0">
                <a:latin typeface="Arial"/>
                <a:cs typeface="Arial"/>
              </a:rPr>
              <a:t>to </a:t>
            </a:r>
            <a:r>
              <a:rPr spc="-65" dirty="0">
                <a:latin typeface="Arial"/>
                <a:cs typeface="Arial"/>
              </a:rPr>
              <a:t>delete </a:t>
            </a:r>
            <a:r>
              <a:rPr spc="-175" dirty="0">
                <a:latin typeface="Arial"/>
                <a:cs typeface="Arial"/>
              </a:rPr>
              <a:t>a </a:t>
            </a:r>
            <a:r>
              <a:rPr spc="-90" dirty="0">
                <a:latin typeface="Arial"/>
                <a:cs typeface="Arial"/>
              </a:rPr>
              <a:t>cookie, </a:t>
            </a:r>
            <a:r>
              <a:rPr spc="-65" dirty="0">
                <a:latin typeface="Arial"/>
                <a:cs typeface="Arial"/>
              </a:rPr>
              <a:t>which </a:t>
            </a:r>
            <a:r>
              <a:rPr spc="-100" dirty="0">
                <a:latin typeface="Arial"/>
                <a:cs typeface="Arial"/>
              </a:rPr>
              <a:t>are </a:t>
            </a:r>
            <a:r>
              <a:rPr spc="-210" dirty="0">
                <a:latin typeface="Arial"/>
                <a:cs typeface="Arial"/>
              </a:rPr>
              <a:t>as</a:t>
            </a:r>
            <a:r>
              <a:rPr spc="-290" dirty="0">
                <a:latin typeface="Arial"/>
                <a:cs typeface="Arial"/>
              </a:rPr>
              <a:t> </a:t>
            </a:r>
            <a:r>
              <a:rPr spc="-50" dirty="0">
                <a:latin typeface="Arial"/>
                <a:cs typeface="Arial"/>
              </a:rPr>
              <a:t>follows:</a:t>
            </a:r>
            <a:endParaRPr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14"/>
              </a:spcBef>
              <a:tabLst>
                <a:tab pos="756285" algn="l"/>
              </a:tabLst>
            </a:pPr>
            <a:r>
              <a:rPr sz="800" spc="30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1600" spc="-100" dirty="0">
                <a:latin typeface="Arial"/>
                <a:cs typeface="Arial"/>
              </a:rPr>
              <a:t>Resetting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the</a:t>
            </a:r>
            <a:r>
              <a:rPr sz="1600" spc="-110" dirty="0">
                <a:latin typeface="Arial"/>
                <a:cs typeface="Arial"/>
              </a:rPr>
              <a:t> </a:t>
            </a:r>
            <a:r>
              <a:rPr sz="1600" spc="-70" dirty="0">
                <a:latin typeface="Arial"/>
                <a:cs typeface="Arial"/>
              </a:rPr>
              <a:t>expiry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time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of</a:t>
            </a:r>
            <a:r>
              <a:rPr sz="1600" spc="-114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the</a:t>
            </a:r>
            <a:r>
              <a:rPr sz="1600" spc="-110" dirty="0">
                <a:latin typeface="Arial"/>
                <a:cs typeface="Arial"/>
              </a:rPr>
              <a:t> </a:t>
            </a:r>
            <a:r>
              <a:rPr sz="1600" spc="-85" dirty="0">
                <a:latin typeface="Arial"/>
                <a:cs typeface="Arial"/>
              </a:rPr>
              <a:t>cookie</a:t>
            </a:r>
            <a:r>
              <a:rPr sz="1600" spc="-120" dirty="0">
                <a:latin typeface="Arial"/>
                <a:cs typeface="Arial"/>
              </a:rPr>
              <a:t> </a:t>
            </a:r>
            <a:r>
              <a:rPr sz="1600" spc="15" dirty="0">
                <a:latin typeface="Arial"/>
                <a:cs typeface="Arial"/>
              </a:rPr>
              <a:t>to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spc="-155" dirty="0">
                <a:latin typeface="Arial"/>
                <a:cs typeface="Arial"/>
              </a:rPr>
              <a:t>a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15" dirty="0">
                <a:latin typeface="Arial"/>
                <a:cs typeface="Arial"/>
              </a:rPr>
              <a:t>time</a:t>
            </a:r>
            <a:r>
              <a:rPr sz="1600" spc="-90" dirty="0">
                <a:latin typeface="Arial"/>
                <a:cs typeface="Arial"/>
              </a:rPr>
              <a:t> </a:t>
            </a:r>
            <a:r>
              <a:rPr sz="1600" spc="-25" dirty="0">
                <a:latin typeface="Arial"/>
                <a:cs typeface="Arial"/>
              </a:rPr>
              <a:t>in</a:t>
            </a:r>
            <a:r>
              <a:rPr sz="1600" spc="-114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the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spc="-85" dirty="0">
                <a:latin typeface="Arial"/>
                <a:cs typeface="Arial"/>
              </a:rPr>
              <a:t>past</a:t>
            </a:r>
            <a:endParaRPr sz="16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05"/>
              </a:spcBef>
              <a:tabLst>
                <a:tab pos="756285" algn="l"/>
              </a:tabLst>
            </a:pPr>
            <a:r>
              <a:rPr sz="800" spc="305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1600" spc="-100" dirty="0">
                <a:latin typeface="Arial"/>
                <a:cs typeface="Arial"/>
              </a:rPr>
              <a:t>Resetting </a:t>
            </a:r>
            <a:r>
              <a:rPr sz="1600" spc="-155" dirty="0">
                <a:latin typeface="Arial"/>
                <a:cs typeface="Arial"/>
              </a:rPr>
              <a:t>a </a:t>
            </a:r>
            <a:r>
              <a:rPr sz="1600" spc="-80" dirty="0">
                <a:latin typeface="Arial"/>
                <a:cs typeface="Arial"/>
              </a:rPr>
              <a:t>cookie </a:t>
            </a:r>
            <a:r>
              <a:rPr sz="1600" spc="-85" dirty="0">
                <a:latin typeface="Arial"/>
                <a:cs typeface="Arial"/>
              </a:rPr>
              <a:t>by </a:t>
            </a:r>
            <a:r>
              <a:rPr sz="1600" spc="-80" dirty="0">
                <a:latin typeface="Arial"/>
                <a:cs typeface="Arial"/>
              </a:rPr>
              <a:t>specifying </a:t>
            </a:r>
            <a:r>
              <a:rPr sz="1600" spc="-20" dirty="0">
                <a:latin typeface="Arial"/>
                <a:cs typeface="Arial"/>
              </a:rPr>
              <a:t>the </a:t>
            </a:r>
            <a:r>
              <a:rPr sz="1600" spc="-100" dirty="0">
                <a:latin typeface="Arial"/>
                <a:cs typeface="Arial"/>
              </a:rPr>
              <a:t>name </a:t>
            </a:r>
            <a:r>
              <a:rPr sz="1600" spc="-5" dirty="0">
                <a:latin typeface="Arial"/>
                <a:cs typeface="Arial"/>
              </a:rPr>
              <a:t>of </a:t>
            </a:r>
            <a:r>
              <a:rPr sz="1600" spc="-20" dirty="0">
                <a:latin typeface="Arial"/>
                <a:cs typeface="Arial"/>
              </a:rPr>
              <a:t>the</a:t>
            </a:r>
            <a:r>
              <a:rPr sz="1600" spc="-375" dirty="0">
                <a:latin typeface="Arial"/>
                <a:cs typeface="Arial"/>
              </a:rPr>
              <a:t> </a:t>
            </a:r>
            <a:r>
              <a:rPr sz="1600" spc="-85" dirty="0">
                <a:latin typeface="Arial"/>
                <a:cs typeface="Arial"/>
              </a:rPr>
              <a:t>cookie</a:t>
            </a:r>
            <a:endParaRPr sz="16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1600" spc="-85" dirty="0">
                <a:latin typeface="Arial"/>
                <a:cs typeface="Arial"/>
              </a:rPr>
              <a:t>When </a:t>
            </a:r>
            <a:r>
              <a:rPr sz="1600" spc="-80" dirty="0">
                <a:latin typeface="Arial"/>
                <a:cs typeface="Arial"/>
              </a:rPr>
              <a:t>you create </a:t>
            </a:r>
            <a:r>
              <a:rPr sz="1600" spc="-155" dirty="0">
                <a:latin typeface="Arial"/>
                <a:cs typeface="Arial"/>
              </a:rPr>
              <a:t>a </a:t>
            </a:r>
            <a:r>
              <a:rPr sz="1600" spc="-85" dirty="0">
                <a:latin typeface="Arial"/>
                <a:cs typeface="Arial"/>
              </a:rPr>
              <a:t>cookie </a:t>
            </a:r>
            <a:r>
              <a:rPr sz="1600" dirty="0">
                <a:latin typeface="Arial"/>
                <a:cs typeface="Arial"/>
              </a:rPr>
              <a:t>that </a:t>
            </a:r>
            <a:r>
              <a:rPr sz="1600" spc="-145" dirty="0">
                <a:latin typeface="Arial"/>
                <a:cs typeface="Arial"/>
              </a:rPr>
              <a:t>has </a:t>
            </a:r>
            <a:r>
              <a:rPr sz="1600" spc="-20" dirty="0">
                <a:latin typeface="Arial"/>
                <a:cs typeface="Arial"/>
              </a:rPr>
              <a:t>the </a:t>
            </a:r>
            <a:r>
              <a:rPr sz="1600" spc="-140" dirty="0">
                <a:latin typeface="Arial"/>
                <a:cs typeface="Arial"/>
              </a:rPr>
              <a:t>same </a:t>
            </a:r>
            <a:r>
              <a:rPr sz="1600" spc="-100" dirty="0">
                <a:latin typeface="Arial"/>
                <a:cs typeface="Arial"/>
              </a:rPr>
              <a:t>name </a:t>
            </a:r>
            <a:r>
              <a:rPr sz="1600" spc="-90" dirty="0">
                <a:latin typeface="Arial"/>
                <a:cs typeface="Arial"/>
              </a:rPr>
              <a:t>and </a:t>
            </a:r>
            <a:r>
              <a:rPr sz="1600" spc="-15" dirty="0">
                <a:latin typeface="Arial"/>
                <a:cs typeface="Arial"/>
              </a:rPr>
              <a:t>time </a:t>
            </a:r>
            <a:r>
              <a:rPr sz="1600" spc="-185" dirty="0">
                <a:latin typeface="Arial"/>
                <a:cs typeface="Arial"/>
              </a:rPr>
              <a:t>as </a:t>
            </a:r>
            <a:r>
              <a:rPr sz="1600" spc="-105" dirty="0">
                <a:latin typeface="Arial"/>
                <a:cs typeface="Arial"/>
              </a:rPr>
              <a:t>an</a:t>
            </a:r>
            <a:r>
              <a:rPr sz="1600" spc="-240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existing</a:t>
            </a:r>
            <a:endParaRPr sz="1600" dirty="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600" spc="-75" dirty="0">
                <a:latin typeface="Arial"/>
                <a:cs typeface="Arial"/>
              </a:rPr>
              <a:t>cookie,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the</a:t>
            </a:r>
            <a:r>
              <a:rPr sz="1600" spc="-110" dirty="0">
                <a:latin typeface="Arial"/>
                <a:cs typeface="Arial"/>
              </a:rPr>
              <a:t> </a:t>
            </a:r>
            <a:r>
              <a:rPr sz="1600" spc="-80" dirty="0">
                <a:latin typeface="Arial"/>
                <a:cs typeface="Arial"/>
              </a:rPr>
              <a:t>existing cookie</a:t>
            </a:r>
            <a:r>
              <a:rPr sz="1600" spc="-110" dirty="0">
                <a:latin typeface="Arial"/>
                <a:cs typeface="Arial"/>
              </a:rPr>
              <a:t> </a:t>
            </a:r>
            <a:r>
              <a:rPr sz="1600" spc="-105" dirty="0">
                <a:latin typeface="Arial"/>
                <a:cs typeface="Arial"/>
              </a:rPr>
              <a:t>is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spc="-55" dirty="0">
                <a:latin typeface="Arial"/>
                <a:cs typeface="Arial"/>
              </a:rPr>
              <a:t>deleted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from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the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spc="-65" dirty="0">
                <a:latin typeface="Arial"/>
                <a:cs typeface="Arial"/>
              </a:rPr>
              <a:t>hard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spc="-55" dirty="0">
                <a:latin typeface="Arial"/>
                <a:cs typeface="Arial"/>
              </a:rPr>
              <a:t>drive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of</a:t>
            </a:r>
            <a:r>
              <a:rPr sz="1600" spc="-100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the</a:t>
            </a:r>
            <a:r>
              <a:rPr sz="1600" spc="-105" dirty="0">
                <a:latin typeface="Arial"/>
                <a:cs typeface="Arial"/>
              </a:rPr>
              <a:t> </a:t>
            </a:r>
            <a:r>
              <a:rPr sz="1600" spc="-35" dirty="0">
                <a:latin typeface="Arial"/>
                <a:cs typeface="Arial"/>
              </a:rPr>
              <a:t>client</a:t>
            </a:r>
            <a:endParaRPr sz="1600" dirty="0">
              <a:latin typeface="Arial"/>
              <a:cs typeface="Arial"/>
            </a:endParaRPr>
          </a:p>
          <a:p>
            <a:pPr marL="355600" marR="105410" indent="-342900">
              <a:lnSpc>
                <a:spcPct val="100000"/>
              </a:lnSpc>
              <a:spcBef>
                <a:spcPts val="169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1600" spc="-245" dirty="0">
                <a:latin typeface="Arial"/>
                <a:cs typeface="Arial"/>
              </a:rPr>
              <a:t>To </a:t>
            </a:r>
            <a:r>
              <a:rPr sz="1600" spc="-55" dirty="0">
                <a:latin typeface="Arial"/>
                <a:cs typeface="Arial"/>
              </a:rPr>
              <a:t>delete </a:t>
            </a:r>
            <a:r>
              <a:rPr sz="1600" spc="-155" dirty="0">
                <a:latin typeface="Arial"/>
                <a:cs typeface="Arial"/>
              </a:rPr>
              <a:t>a </a:t>
            </a:r>
            <a:r>
              <a:rPr sz="1600" spc="-80" dirty="0">
                <a:latin typeface="Arial"/>
                <a:cs typeface="Arial"/>
              </a:rPr>
              <a:t>cookie </a:t>
            </a:r>
            <a:r>
              <a:rPr sz="1600" spc="15" dirty="0">
                <a:latin typeface="Arial"/>
                <a:cs typeface="Arial"/>
              </a:rPr>
              <a:t>with </a:t>
            </a:r>
            <a:r>
              <a:rPr sz="1600" spc="-155" dirty="0">
                <a:latin typeface="Arial"/>
                <a:cs typeface="Arial"/>
              </a:rPr>
              <a:t>a </a:t>
            </a:r>
            <a:r>
              <a:rPr sz="1600" spc="-70" dirty="0">
                <a:latin typeface="Arial"/>
                <a:cs typeface="Arial"/>
              </a:rPr>
              <a:t>date </a:t>
            </a:r>
            <a:r>
              <a:rPr sz="1600" spc="-25" dirty="0">
                <a:latin typeface="Arial"/>
                <a:cs typeface="Arial"/>
              </a:rPr>
              <a:t>in </a:t>
            </a:r>
            <a:r>
              <a:rPr sz="1600" spc="-20" dirty="0">
                <a:latin typeface="Arial"/>
                <a:cs typeface="Arial"/>
              </a:rPr>
              <a:t>the </a:t>
            </a:r>
            <a:r>
              <a:rPr sz="1600" spc="-80" dirty="0">
                <a:latin typeface="Arial"/>
                <a:cs typeface="Arial"/>
              </a:rPr>
              <a:t>past, </a:t>
            </a:r>
            <a:r>
              <a:rPr sz="1600" spc="-40" dirty="0">
                <a:latin typeface="Arial"/>
                <a:cs typeface="Arial"/>
              </a:rPr>
              <a:t>enter </a:t>
            </a:r>
            <a:r>
              <a:rPr sz="1600" spc="-20" dirty="0">
                <a:latin typeface="Arial"/>
                <a:cs typeface="Arial"/>
              </a:rPr>
              <a:t>the </a:t>
            </a:r>
            <a:r>
              <a:rPr sz="1600" spc="-100" dirty="0">
                <a:latin typeface="Arial"/>
                <a:cs typeface="Arial"/>
              </a:rPr>
              <a:t>code </a:t>
            </a:r>
            <a:r>
              <a:rPr sz="1600" spc="-185" dirty="0">
                <a:latin typeface="Arial"/>
                <a:cs typeface="Arial"/>
              </a:rPr>
              <a:t>as </a:t>
            </a:r>
            <a:r>
              <a:rPr sz="1600" spc="-85" dirty="0">
                <a:latin typeface="Arial"/>
                <a:cs typeface="Arial"/>
              </a:rPr>
              <a:t>shown </a:t>
            </a:r>
            <a:r>
              <a:rPr sz="1600" spc="-25" dirty="0">
                <a:latin typeface="Arial"/>
                <a:cs typeface="Arial"/>
              </a:rPr>
              <a:t>in</a:t>
            </a:r>
            <a:r>
              <a:rPr sz="1600" spc="-285" dirty="0">
                <a:latin typeface="Arial"/>
                <a:cs typeface="Arial"/>
              </a:rPr>
              <a:t> </a:t>
            </a:r>
            <a:r>
              <a:rPr sz="1600" spc="-20" dirty="0">
                <a:latin typeface="Arial"/>
                <a:cs typeface="Arial"/>
              </a:rPr>
              <a:t>the  </a:t>
            </a:r>
            <a:r>
              <a:rPr sz="1600" spc="-85" dirty="0">
                <a:latin typeface="Arial"/>
                <a:cs typeface="Arial"/>
              </a:rPr>
              <a:t>Snippet </a:t>
            </a:r>
            <a:r>
              <a:rPr sz="1600" spc="-25" dirty="0">
                <a:latin typeface="Arial"/>
                <a:cs typeface="Arial"/>
              </a:rPr>
              <a:t>in </a:t>
            </a:r>
            <a:r>
              <a:rPr sz="1600" spc="-155" dirty="0">
                <a:latin typeface="Arial"/>
                <a:cs typeface="Arial"/>
              </a:rPr>
              <a:t>a </a:t>
            </a:r>
            <a:r>
              <a:rPr sz="1600" spc="-265" dirty="0">
                <a:latin typeface="Arial"/>
                <a:cs typeface="Arial"/>
              </a:rPr>
              <a:t>PHP</a:t>
            </a:r>
            <a:r>
              <a:rPr sz="1600" spc="-145" dirty="0">
                <a:latin typeface="Arial"/>
                <a:cs typeface="Arial"/>
              </a:rPr>
              <a:t> </a:t>
            </a:r>
            <a:r>
              <a:rPr sz="1600" spc="-50" dirty="0">
                <a:latin typeface="Arial"/>
                <a:cs typeface="Arial"/>
              </a:rPr>
              <a:t>script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35128"/>
            <a:ext cx="4714826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cap="all" spc="-130" dirty="0">
                <a:solidFill>
                  <a:srgbClr val="8FA751"/>
                </a:solidFill>
                <a:ea typeface="+mj-ea"/>
                <a:cs typeface="+mj-cs"/>
              </a:rPr>
              <a:t>Deleting </a:t>
            </a:r>
            <a:r>
              <a:rPr lang="en-US" sz="3200" cap="all" spc="-100" dirty="0">
                <a:solidFill>
                  <a:srgbClr val="8FA751"/>
                </a:solidFill>
                <a:ea typeface="+mj-ea"/>
                <a:cs typeface="+mj-cs"/>
              </a:rPr>
              <a:t>a</a:t>
            </a:r>
            <a:r>
              <a:rPr lang="en-US" sz="3200" cap="all" spc="-315" dirty="0">
                <a:solidFill>
                  <a:srgbClr val="8FA751"/>
                </a:solidFill>
                <a:ea typeface="+mj-ea"/>
                <a:cs typeface="+mj-cs"/>
              </a:rPr>
              <a:t> </a:t>
            </a:r>
            <a:r>
              <a:rPr lang="en-US" sz="3200" cap="all" spc="-145" dirty="0">
                <a:solidFill>
                  <a:srgbClr val="8FA751"/>
                </a:solidFill>
                <a:ea typeface="+mj-ea"/>
                <a:cs typeface="+mj-cs"/>
              </a:rPr>
              <a:t>Cookie</a:t>
            </a:r>
            <a:endParaRPr sz="25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" y="2450526"/>
            <a:ext cx="5943600" cy="246379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520"/>
              </a:lnSpc>
            </a:pPr>
            <a:r>
              <a:rPr sz="1400" spc="-5" dirty="0">
                <a:latin typeface="Courier New"/>
                <a:cs typeface="Courier New"/>
              </a:rPr>
              <a:t>setcookie($cookie_name);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7200" y="1984004"/>
            <a:ext cx="1981200" cy="429895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4450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0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540" y="634843"/>
            <a:ext cx="7254240" cy="1064394"/>
          </a:xfrm>
          <a:prstGeom prst="rect">
            <a:avLst/>
          </a:prstGeom>
        </p:spPr>
        <p:txBody>
          <a:bodyPr vert="horz" wrap="square" lIns="0" tIns="2286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8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65" dirty="0">
                <a:latin typeface="Arial"/>
                <a:cs typeface="Arial"/>
              </a:rPr>
              <a:t>This </a:t>
            </a:r>
            <a:r>
              <a:rPr sz="2000" spc="-155" dirty="0">
                <a:latin typeface="Arial"/>
                <a:cs typeface="Arial"/>
              </a:rPr>
              <a:t>process </a:t>
            </a:r>
            <a:r>
              <a:rPr sz="2000" spc="-135" dirty="0">
                <a:latin typeface="Arial"/>
                <a:cs typeface="Arial"/>
              </a:rPr>
              <a:t>is </a:t>
            </a:r>
            <a:r>
              <a:rPr sz="2000" spc="-105" dirty="0">
                <a:latin typeface="Arial"/>
                <a:cs typeface="Arial"/>
              </a:rPr>
              <a:t>called </a:t>
            </a:r>
            <a:r>
              <a:rPr sz="2000" spc="-245" dirty="0">
                <a:latin typeface="Arial"/>
                <a:cs typeface="Arial"/>
              </a:rPr>
              <a:t>as </a:t>
            </a:r>
            <a:r>
              <a:rPr sz="2000" spc="-85" dirty="0">
                <a:latin typeface="Arial"/>
                <a:cs typeface="Arial"/>
              </a:rPr>
              <a:t>deconstructing </a:t>
            </a:r>
            <a:r>
              <a:rPr sz="2000" spc="-25" dirty="0">
                <a:latin typeface="Arial"/>
                <a:cs typeface="Arial"/>
              </a:rPr>
              <a:t>the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90" dirty="0">
                <a:latin typeface="Arial"/>
                <a:cs typeface="Arial"/>
              </a:rPr>
              <a:t>variable</a:t>
            </a:r>
            <a:endParaRPr sz="2000" dirty="0">
              <a:latin typeface="Arial"/>
              <a:cs typeface="Arial"/>
            </a:endParaRPr>
          </a:p>
          <a:p>
            <a:pPr marL="355600" marR="10160" indent="-342900">
              <a:lnSpc>
                <a:spcPct val="100000"/>
              </a:lnSpc>
              <a:spcBef>
                <a:spcPts val="17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215" dirty="0">
                <a:latin typeface="Arial"/>
                <a:cs typeface="Arial"/>
              </a:rPr>
              <a:t>Use </a:t>
            </a:r>
            <a:r>
              <a:rPr sz="2000" spc="-25" dirty="0">
                <a:latin typeface="Arial"/>
                <a:cs typeface="Arial"/>
              </a:rPr>
              <a:t>the </a:t>
            </a:r>
            <a:r>
              <a:rPr sz="2000" spc="-50" dirty="0">
                <a:latin typeface="Arial"/>
                <a:cs typeface="Arial"/>
              </a:rPr>
              <a:t>following </a:t>
            </a:r>
            <a:r>
              <a:rPr sz="2000" spc="-140" dirty="0">
                <a:latin typeface="Arial"/>
                <a:cs typeface="Arial"/>
              </a:rPr>
              <a:t>syntax </a:t>
            </a:r>
            <a:r>
              <a:rPr sz="2000" spc="25" dirty="0">
                <a:latin typeface="Arial"/>
                <a:cs typeface="Arial"/>
              </a:rPr>
              <a:t>to </a:t>
            </a:r>
            <a:r>
              <a:rPr sz="2000" spc="-70" dirty="0">
                <a:latin typeface="Arial"/>
                <a:cs typeface="Arial"/>
              </a:rPr>
              <a:t>delete </a:t>
            </a:r>
            <a:r>
              <a:rPr sz="2000" spc="-200" dirty="0">
                <a:latin typeface="Arial"/>
                <a:cs typeface="Arial"/>
              </a:rPr>
              <a:t>a </a:t>
            </a:r>
            <a:r>
              <a:rPr sz="2000" spc="-105" dirty="0">
                <a:latin typeface="Arial"/>
                <a:cs typeface="Arial"/>
              </a:rPr>
              <a:t>cookie</a:t>
            </a:r>
            <a:r>
              <a:rPr sz="2000" spc="-445" dirty="0">
                <a:latin typeface="Arial"/>
                <a:cs typeface="Arial"/>
              </a:rPr>
              <a:t> </a:t>
            </a:r>
            <a:r>
              <a:rPr sz="2000" spc="-55" dirty="0">
                <a:latin typeface="Arial"/>
                <a:cs typeface="Arial"/>
              </a:rPr>
              <a:t>through  </a:t>
            </a:r>
            <a:r>
              <a:rPr sz="2000" spc="-70" dirty="0">
                <a:latin typeface="Arial"/>
                <a:cs typeface="Arial"/>
              </a:rPr>
              <a:t>deconstruction: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0502" y="3266411"/>
            <a:ext cx="51409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50" dirty="0">
                <a:latin typeface="Arial"/>
                <a:cs typeface="Arial"/>
              </a:rPr>
              <a:t>To delete the cookie named uname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83540" y="4225680"/>
            <a:ext cx="5943600" cy="246379"/>
          </a:xfrm>
          <a:prstGeom prst="rect">
            <a:avLst/>
          </a:prstGeom>
          <a:solidFill>
            <a:srgbClr val="D9D9D9"/>
          </a:solidFill>
          <a:ln w="12700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1525"/>
              </a:lnSpc>
            </a:pPr>
            <a:r>
              <a:rPr sz="1400" spc="-5" dirty="0">
                <a:latin typeface="Courier New"/>
                <a:cs typeface="Courier New"/>
              </a:rPr>
              <a:t>setcookie($uname);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3540" y="3764004"/>
            <a:ext cx="1981200" cy="396240"/>
          </a:xfrm>
          <a:prstGeom prst="rect">
            <a:avLst/>
          </a:prstGeom>
          <a:solidFill>
            <a:srgbClr val="000080"/>
          </a:solidFill>
        </p:spPr>
        <p:txBody>
          <a:bodyPr vert="horz" wrap="square" lIns="0" tIns="45085" rIns="0" bIns="0" rtlCol="0">
            <a:spAutoFit/>
          </a:bodyPr>
          <a:lstStyle/>
          <a:p>
            <a:pPr marL="568960">
              <a:lnSpc>
                <a:spcPct val="100000"/>
              </a:lnSpc>
              <a:spcBef>
                <a:spcPts val="355"/>
              </a:spcBef>
            </a:pPr>
            <a:r>
              <a:rPr sz="2000" spc="-5" dirty="0">
                <a:solidFill>
                  <a:srgbClr val="FFFFFF"/>
                </a:solidFill>
                <a:latin typeface="Tahoma"/>
                <a:cs typeface="Tahoma"/>
              </a:rPr>
              <a:t>Snippet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86016"/>
            <a:ext cx="776097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90" dirty="0"/>
              <a:t>P</a:t>
            </a:r>
            <a:r>
              <a:rPr spc="-170" dirty="0"/>
              <a:t>r</a:t>
            </a:r>
            <a:r>
              <a:rPr spc="-120" dirty="0"/>
              <a:t>oblems</a:t>
            </a:r>
            <a:r>
              <a:rPr spc="-175" dirty="0"/>
              <a:t> </a:t>
            </a:r>
            <a:r>
              <a:rPr spc="-125" dirty="0"/>
              <a:t>wit</a:t>
            </a:r>
            <a:r>
              <a:rPr spc="-145" dirty="0"/>
              <a:t>h</a:t>
            </a:r>
            <a:r>
              <a:rPr spc="-190" dirty="0"/>
              <a:t> </a:t>
            </a:r>
            <a:r>
              <a:rPr spc="-140" dirty="0"/>
              <a:t>Cookie</a:t>
            </a:r>
            <a:r>
              <a:rPr spc="-114" dirty="0"/>
              <a:t>s</a:t>
            </a:r>
            <a:r>
              <a:rPr dirty="0"/>
              <a:t>	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851661"/>
            <a:ext cx="8476615" cy="46166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45" dirty="0">
                <a:latin typeface="Arial"/>
                <a:cs typeface="Arial"/>
              </a:rPr>
              <a:t>Web </a:t>
            </a:r>
            <a:r>
              <a:rPr sz="2000" spc="-110" dirty="0">
                <a:latin typeface="Arial"/>
                <a:cs typeface="Arial"/>
              </a:rPr>
              <a:t>sites </a:t>
            </a:r>
            <a:r>
              <a:rPr sz="2000" spc="-80" dirty="0">
                <a:latin typeface="Arial"/>
                <a:cs typeface="Arial"/>
              </a:rPr>
              <a:t>store </a:t>
            </a:r>
            <a:r>
              <a:rPr sz="2000" spc="-85" dirty="0">
                <a:latin typeface="Arial"/>
                <a:cs typeface="Arial"/>
              </a:rPr>
              <a:t>user-related </a:t>
            </a:r>
            <a:r>
              <a:rPr sz="2000" spc="-35" dirty="0">
                <a:latin typeface="Arial"/>
                <a:cs typeface="Arial"/>
              </a:rPr>
              <a:t>information </a:t>
            </a:r>
            <a:r>
              <a:rPr sz="2000" spc="-75" dirty="0">
                <a:latin typeface="Arial"/>
                <a:cs typeface="Arial"/>
              </a:rPr>
              <a:t>on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45" dirty="0">
                <a:latin typeface="Arial"/>
                <a:cs typeface="Arial"/>
              </a:rPr>
              <a:t>client</a:t>
            </a:r>
            <a:r>
              <a:rPr sz="2000" spc="-459" dirty="0">
                <a:latin typeface="Arial"/>
                <a:cs typeface="Arial"/>
              </a:rPr>
              <a:t> </a:t>
            </a:r>
            <a:r>
              <a:rPr sz="2000" spc="-145" dirty="0">
                <a:latin typeface="Arial"/>
                <a:cs typeface="Arial"/>
              </a:rPr>
              <a:t>system</a:t>
            </a:r>
            <a:endParaRPr sz="2000" dirty="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17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160" dirty="0">
                <a:latin typeface="Arial"/>
                <a:cs typeface="Arial"/>
              </a:rPr>
              <a:t>Cookies </a:t>
            </a:r>
            <a:r>
              <a:rPr sz="2000" spc="-110" dirty="0">
                <a:latin typeface="Arial"/>
                <a:cs typeface="Arial"/>
              </a:rPr>
              <a:t>are </a:t>
            </a:r>
            <a:r>
              <a:rPr sz="2000" spc="-10" dirty="0">
                <a:latin typeface="Arial"/>
                <a:cs typeface="Arial"/>
              </a:rPr>
              <a:t>not </a:t>
            </a:r>
            <a:r>
              <a:rPr sz="2000" spc="-135" dirty="0">
                <a:latin typeface="Arial"/>
                <a:cs typeface="Arial"/>
              </a:rPr>
              <a:t>secure </a:t>
            </a:r>
            <a:r>
              <a:rPr sz="2000" spc="-114" dirty="0">
                <a:latin typeface="Arial"/>
                <a:cs typeface="Arial"/>
              </a:rPr>
              <a:t>and </a:t>
            </a:r>
            <a:r>
              <a:rPr sz="2000" spc="-60" dirty="0">
                <a:latin typeface="Arial"/>
                <a:cs typeface="Arial"/>
              </a:rPr>
              <a:t>reliable </a:t>
            </a:r>
            <a:r>
              <a:rPr sz="2000" spc="-160" dirty="0">
                <a:latin typeface="Arial"/>
                <a:cs typeface="Arial"/>
              </a:rPr>
              <a:t>because </a:t>
            </a:r>
            <a:r>
              <a:rPr sz="2000" spc="-30" dirty="0">
                <a:latin typeface="Arial"/>
                <a:cs typeface="Arial"/>
              </a:rPr>
              <a:t>the </a:t>
            </a:r>
            <a:r>
              <a:rPr sz="2000" spc="-85" dirty="0">
                <a:latin typeface="Arial"/>
                <a:cs typeface="Arial"/>
              </a:rPr>
              <a:t>user-related  </a:t>
            </a:r>
            <a:r>
              <a:rPr sz="2000" spc="-35" dirty="0">
                <a:latin typeface="Arial"/>
                <a:cs typeface="Arial"/>
              </a:rPr>
              <a:t>information </a:t>
            </a:r>
            <a:r>
              <a:rPr sz="2000" spc="-155" dirty="0">
                <a:latin typeface="Arial"/>
                <a:cs typeface="Arial"/>
              </a:rPr>
              <a:t>can </a:t>
            </a:r>
            <a:r>
              <a:rPr sz="2000" spc="-110" dirty="0">
                <a:latin typeface="Arial"/>
                <a:cs typeface="Arial"/>
              </a:rPr>
              <a:t>be </a:t>
            </a:r>
            <a:r>
              <a:rPr sz="2000" spc="-180" dirty="0">
                <a:latin typeface="Arial"/>
                <a:cs typeface="Arial"/>
              </a:rPr>
              <a:t>accessed </a:t>
            </a:r>
            <a:r>
              <a:rPr sz="2000" spc="-105" dirty="0">
                <a:latin typeface="Arial"/>
                <a:cs typeface="Arial"/>
              </a:rPr>
              <a:t>by </a:t>
            </a:r>
            <a:r>
              <a:rPr sz="2000" spc="-125" dirty="0">
                <a:latin typeface="Arial"/>
                <a:cs typeface="Arial"/>
              </a:rPr>
              <a:t>anyone </a:t>
            </a:r>
            <a:r>
              <a:rPr sz="2000" spc="-55" dirty="0">
                <a:latin typeface="Arial"/>
                <a:cs typeface="Arial"/>
              </a:rPr>
              <a:t>who </a:t>
            </a:r>
            <a:r>
              <a:rPr sz="2000" spc="-180" dirty="0">
                <a:latin typeface="Arial"/>
                <a:cs typeface="Arial"/>
              </a:rPr>
              <a:t>has </a:t>
            </a:r>
            <a:r>
              <a:rPr sz="2000" spc="5" dirty="0">
                <a:latin typeface="Arial"/>
                <a:cs typeface="Arial"/>
              </a:rPr>
              <a:t>full </a:t>
            </a:r>
            <a:r>
              <a:rPr sz="2000" spc="-204" dirty="0">
                <a:latin typeface="Arial"/>
                <a:cs typeface="Arial"/>
              </a:rPr>
              <a:t>access </a:t>
            </a:r>
            <a:r>
              <a:rPr sz="2000" spc="20" dirty="0">
                <a:latin typeface="Arial"/>
                <a:cs typeface="Arial"/>
              </a:rPr>
              <a:t>to</a:t>
            </a:r>
            <a:r>
              <a:rPr sz="2000" spc="-26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the  </a:t>
            </a:r>
            <a:r>
              <a:rPr sz="2000" spc="-45" dirty="0">
                <a:latin typeface="Arial"/>
                <a:cs typeface="Arial"/>
              </a:rPr>
              <a:t>client</a:t>
            </a:r>
            <a:r>
              <a:rPr sz="2000" spc="-140" dirty="0">
                <a:latin typeface="Arial"/>
                <a:cs typeface="Arial"/>
              </a:rPr>
              <a:t> </a:t>
            </a:r>
            <a:r>
              <a:rPr sz="2000" spc="-145" dirty="0">
                <a:latin typeface="Arial"/>
                <a:cs typeface="Arial"/>
              </a:rPr>
              <a:t>system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79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5" dirty="0">
                <a:latin typeface="Arial"/>
                <a:cs typeface="Arial"/>
              </a:rPr>
              <a:t>Following are </a:t>
            </a:r>
            <a:r>
              <a:rPr sz="2000" dirty="0">
                <a:latin typeface="Arial"/>
                <a:cs typeface="Arial"/>
              </a:rPr>
              <a:t>some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dirty="0">
                <a:latin typeface="Arial"/>
                <a:cs typeface="Arial"/>
              </a:rPr>
              <a:t>the </a:t>
            </a:r>
            <a:r>
              <a:rPr sz="2000" spc="-5" dirty="0">
                <a:latin typeface="Arial"/>
                <a:cs typeface="Arial"/>
              </a:rPr>
              <a:t>drawbacks of</a:t>
            </a:r>
            <a:r>
              <a:rPr sz="2000" spc="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cookies:</a:t>
            </a:r>
          </a:p>
          <a:p>
            <a:pPr marL="469900">
              <a:lnSpc>
                <a:spcPct val="100000"/>
              </a:lnSpc>
              <a:spcBef>
                <a:spcPts val="1630"/>
              </a:spcBef>
              <a:tabLst>
                <a:tab pos="756285" algn="l"/>
              </a:tabLst>
            </a:pPr>
            <a:r>
              <a:rPr sz="1050" spc="35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000" spc="-145" dirty="0">
                <a:latin typeface="Arial"/>
                <a:cs typeface="Arial"/>
              </a:rPr>
              <a:t>Cookies </a:t>
            </a:r>
            <a:r>
              <a:rPr sz="2000" spc="-75" dirty="0">
                <a:latin typeface="Arial"/>
                <a:cs typeface="Arial"/>
              </a:rPr>
              <a:t>cannot </a:t>
            </a:r>
            <a:r>
              <a:rPr sz="2000" spc="-70" dirty="0">
                <a:latin typeface="Arial"/>
                <a:cs typeface="Arial"/>
              </a:rPr>
              <a:t>contain more </a:t>
            </a:r>
            <a:r>
              <a:rPr sz="2000" spc="-50" dirty="0">
                <a:latin typeface="Arial"/>
                <a:cs typeface="Arial"/>
              </a:rPr>
              <a:t>than </a:t>
            </a:r>
            <a:r>
              <a:rPr sz="2000" spc="-175" dirty="0">
                <a:latin typeface="Arial"/>
                <a:cs typeface="Arial"/>
              </a:rPr>
              <a:t>a </a:t>
            </a:r>
            <a:r>
              <a:rPr sz="2000" spc="-60" dirty="0">
                <a:latin typeface="Arial"/>
                <a:cs typeface="Arial"/>
              </a:rPr>
              <a:t>certain amount </a:t>
            </a:r>
            <a:r>
              <a:rPr sz="2000" spc="-5" dirty="0">
                <a:latin typeface="Arial"/>
                <a:cs typeface="Arial"/>
              </a:rPr>
              <a:t>of</a:t>
            </a:r>
            <a:r>
              <a:rPr sz="2000" spc="-315" dirty="0">
                <a:latin typeface="Arial"/>
                <a:cs typeface="Arial"/>
              </a:rPr>
              <a:t> </a:t>
            </a:r>
            <a:r>
              <a:rPr sz="2000" spc="-35" dirty="0">
                <a:latin typeface="Arial"/>
                <a:cs typeface="Arial"/>
              </a:rPr>
              <a:t>information</a:t>
            </a:r>
            <a:endParaRPr sz="2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689"/>
              </a:spcBef>
              <a:tabLst>
                <a:tab pos="756285" algn="l"/>
              </a:tabLst>
            </a:pPr>
            <a:r>
              <a:rPr sz="1050" spc="35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000" spc="-110" dirty="0">
                <a:latin typeface="Arial"/>
                <a:cs typeface="Arial"/>
              </a:rPr>
              <a:t>Only </a:t>
            </a:r>
            <a:r>
              <a:rPr sz="2000" spc="-175" dirty="0">
                <a:latin typeface="Arial"/>
                <a:cs typeface="Arial"/>
              </a:rPr>
              <a:t>a </a:t>
            </a:r>
            <a:r>
              <a:rPr sz="2000" spc="-95" dirty="0">
                <a:latin typeface="Arial"/>
                <a:cs typeface="Arial"/>
              </a:rPr>
              <a:t>maximum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114" dirty="0">
                <a:latin typeface="Arial"/>
                <a:cs typeface="Arial"/>
              </a:rPr>
              <a:t>29 cookies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175" dirty="0">
                <a:latin typeface="Arial"/>
                <a:cs typeface="Arial"/>
              </a:rPr>
              <a:t>a </a:t>
            </a:r>
            <a:r>
              <a:rPr sz="2000" spc="-80" dirty="0">
                <a:latin typeface="Arial"/>
                <a:cs typeface="Arial"/>
              </a:rPr>
              <a:t>domain </a:t>
            </a:r>
            <a:r>
              <a:rPr sz="2000" spc="-150" dirty="0">
                <a:latin typeface="Arial"/>
                <a:cs typeface="Arial"/>
              </a:rPr>
              <a:t>can </a:t>
            </a:r>
            <a:r>
              <a:rPr sz="2000" spc="-105" dirty="0">
                <a:latin typeface="Arial"/>
                <a:cs typeface="Arial"/>
              </a:rPr>
              <a:t>be</a:t>
            </a:r>
            <a:r>
              <a:rPr sz="2000" spc="-185" dirty="0">
                <a:latin typeface="Arial"/>
                <a:cs typeface="Arial"/>
              </a:rPr>
              <a:t> </a:t>
            </a:r>
            <a:r>
              <a:rPr sz="2000" spc="-70" dirty="0">
                <a:latin typeface="Arial"/>
                <a:cs typeface="Arial"/>
              </a:rPr>
              <a:t>maintained</a:t>
            </a:r>
            <a:endParaRPr sz="2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05"/>
              </a:spcBef>
              <a:tabLst>
                <a:tab pos="756285" algn="l"/>
              </a:tabLst>
            </a:pPr>
            <a:r>
              <a:rPr sz="1050" spc="35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000" spc="-200" dirty="0">
                <a:latin typeface="Arial"/>
                <a:cs typeface="Arial"/>
              </a:rPr>
              <a:t>A </a:t>
            </a:r>
            <a:r>
              <a:rPr sz="2000" spc="-80" dirty="0">
                <a:latin typeface="Arial"/>
                <a:cs typeface="Arial"/>
              </a:rPr>
              <a:t>browser </a:t>
            </a:r>
            <a:r>
              <a:rPr sz="2000" spc="-150" dirty="0">
                <a:latin typeface="Arial"/>
                <a:cs typeface="Arial"/>
              </a:rPr>
              <a:t>can </a:t>
            </a:r>
            <a:r>
              <a:rPr sz="2000" spc="-60" dirty="0">
                <a:latin typeface="Arial"/>
                <a:cs typeface="Arial"/>
              </a:rPr>
              <a:t>maintain </a:t>
            </a:r>
            <a:r>
              <a:rPr sz="2000" spc="-95" dirty="0">
                <a:latin typeface="Arial"/>
                <a:cs typeface="Arial"/>
              </a:rPr>
              <a:t>maximum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114" dirty="0">
                <a:latin typeface="Arial"/>
                <a:cs typeface="Arial"/>
              </a:rPr>
              <a:t>300</a:t>
            </a:r>
            <a:r>
              <a:rPr sz="2000" spc="-175" dirty="0">
                <a:latin typeface="Arial"/>
                <a:cs typeface="Arial"/>
              </a:rPr>
              <a:t> </a:t>
            </a:r>
            <a:r>
              <a:rPr sz="2000" spc="-114" dirty="0">
                <a:latin typeface="Arial"/>
                <a:cs typeface="Arial"/>
              </a:rPr>
              <a:t>cookies</a:t>
            </a:r>
            <a:endParaRPr sz="2000" dirty="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705"/>
              </a:spcBef>
              <a:tabLst>
                <a:tab pos="756285" algn="l"/>
              </a:tabLst>
            </a:pPr>
            <a:r>
              <a:rPr sz="1050" spc="35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000" spc="-95" dirty="0">
                <a:latin typeface="Arial"/>
                <a:cs typeface="Arial"/>
              </a:rPr>
              <a:t>Storing </a:t>
            </a:r>
            <a:r>
              <a:rPr sz="2000" spc="-100" dirty="0">
                <a:latin typeface="Arial"/>
                <a:cs typeface="Arial"/>
              </a:rPr>
              <a:t>large </a:t>
            </a:r>
            <a:r>
              <a:rPr sz="2000" spc="-70" dirty="0">
                <a:latin typeface="Arial"/>
                <a:cs typeface="Arial"/>
              </a:rPr>
              <a:t>number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95" dirty="0">
                <a:latin typeface="Arial"/>
                <a:cs typeface="Arial"/>
              </a:rPr>
              <a:t>cookie </a:t>
            </a:r>
            <a:r>
              <a:rPr sz="2000" spc="-65" dirty="0">
                <a:latin typeface="Arial"/>
                <a:cs typeface="Arial"/>
              </a:rPr>
              <a:t>files </a:t>
            </a:r>
            <a:r>
              <a:rPr sz="2000" spc="-120" dirty="0">
                <a:latin typeface="Arial"/>
                <a:cs typeface="Arial"/>
              </a:rPr>
              <a:t>slows </a:t>
            </a:r>
            <a:r>
              <a:rPr sz="2000" spc="-60" dirty="0">
                <a:latin typeface="Arial"/>
                <a:cs typeface="Arial"/>
              </a:rPr>
              <a:t>down </a:t>
            </a:r>
            <a:r>
              <a:rPr sz="2000" spc="-30" dirty="0">
                <a:latin typeface="Arial"/>
                <a:cs typeface="Arial"/>
              </a:rPr>
              <a:t>the</a:t>
            </a:r>
            <a:r>
              <a:rPr sz="2000" spc="-405" dirty="0">
                <a:latin typeface="Arial"/>
                <a:cs typeface="Arial"/>
              </a:rPr>
              <a:t> </a:t>
            </a:r>
            <a:r>
              <a:rPr sz="2000" spc="-130" dirty="0">
                <a:latin typeface="Arial"/>
                <a:cs typeface="Arial"/>
              </a:rPr>
              <a:t>system</a:t>
            </a:r>
            <a:endParaRPr sz="2000" dirty="0">
              <a:latin typeface="Arial"/>
              <a:cs typeface="Arial"/>
            </a:endParaRPr>
          </a:p>
          <a:p>
            <a:pPr marL="756285" marR="423545" indent="-287020">
              <a:lnSpc>
                <a:spcPct val="100000"/>
              </a:lnSpc>
              <a:spcBef>
                <a:spcPts val="1695"/>
              </a:spcBef>
              <a:tabLst>
                <a:tab pos="756285" algn="l"/>
              </a:tabLst>
            </a:pPr>
            <a:r>
              <a:rPr sz="1050" spc="35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000" spc="-185" dirty="0">
                <a:latin typeface="Arial"/>
                <a:cs typeface="Arial"/>
              </a:rPr>
              <a:t>Some </a:t>
            </a:r>
            <a:r>
              <a:rPr sz="2000" spc="-140" dirty="0">
                <a:latin typeface="Arial"/>
                <a:cs typeface="Arial"/>
              </a:rPr>
              <a:t>users </a:t>
            </a:r>
            <a:r>
              <a:rPr sz="2000" spc="-100" dirty="0">
                <a:latin typeface="Arial"/>
                <a:cs typeface="Arial"/>
              </a:rPr>
              <a:t>disable </a:t>
            </a:r>
            <a:r>
              <a:rPr sz="2000" spc="-114" dirty="0">
                <a:latin typeface="Arial"/>
                <a:cs typeface="Arial"/>
              </a:rPr>
              <a:t>cookies </a:t>
            </a:r>
            <a:r>
              <a:rPr sz="2000" spc="-40" dirty="0">
                <a:latin typeface="Arial"/>
                <a:cs typeface="Arial"/>
              </a:rPr>
              <a:t>while </a:t>
            </a:r>
            <a:r>
              <a:rPr sz="2000" spc="-155" dirty="0">
                <a:latin typeface="Arial"/>
                <a:cs typeface="Arial"/>
              </a:rPr>
              <a:t>accessing </a:t>
            </a:r>
            <a:r>
              <a:rPr sz="2000" spc="-140" dirty="0">
                <a:latin typeface="Arial"/>
                <a:cs typeface="Arial"/>
              </a:rPr>
              <a:t>Web </a:t>
            </a:r>
            <a:r>
              <a:rPr sz="2000" spc="-105" dirty="0">
                <a:latin typeface="Arial"/>
                <a:cs typeface="Arial"/>
              </a:rPr>
              <a:t>sites </a:t>
            </a:r>
            <a:r>
              <a:rPr sz="2000" spc="-210" dirty="0">
                <a:latin typeface="Arial"/>
                <a:cs typeface="Arial"/>
              </a:rPr>
              <a:t>as </a:t>
            </a:r>
            <a:r>
              <a:rPr sz="2000" spc="-175" dirty="0">
                <a:latin typeface="Arial"/>
                <a:cs typeface="Arial"/>
              </a:rPr>
              <a:t>a </a:t>
            </a:r>
            <a:r>
              <a:rPr sz="2000" spc="-50" dirty="0">
                <a:latin typeface="Arial"/>
                <a:cs typeface="Arial"/>
              </a:rPr>
              <a:t>result  </a:t>
            </a:r>
            <a:r>
              <a:rPr sz="2000" spc="-140" dirty="0">
                <a:latin typeface="Arial"/>
                <a:cs typeface="Arial"/>
              </a:rPr>
              <a:t>Web </a:t>
            </a:r>
            <a:r>
              <a:rPr sz="2000" spc="-105" dirty="0">
                <a:latin typeface="Arial"/>
                <a:cs typeface="Arial"/>
              </a:rPr>
              <a:t>sites </a:t>
            </a:r>
            <a:r>
              <a:rPr sz="2000" spc="-5" dirty="0">
                <a:latin typeface="Arial"/>
                <a:cs typeface="Arial"/>
              </a:rPr>
              <a:t>that </a:t>
            </a:r>
            <a:r>
              <a:rPr sz="2000" spc="-95" dirty="0">
                <a:latin typeface="Arial"/>
                <a:cs typeface="Arial"/>
              </a:rPr>
              <a:t>depend </a:t>
            </a:r>
            <a:r>
              <a:rPr sz="2000" spc="-70" dirty="0">
                <a:latin typeface="Arial"/>
                <a:cs typeface="Arial"/>
              </a:rPr>
              <a:t>on </a:t>
            </a:r>
            <a:r>
              <a:rPr sz="2000" spc="-114" dirty="0">
                <a:latin typeface="Arial"/>
                <a:cs typeface="Arial"/>
              </a:rPr>
              <a:t>cookies </a:t>
            </a:r>
            <a:r>
              <a:rPr sz="2000" spc="-105" dirty="0">
                <a:latin typeface="Arial"/>
                <a:cs typeface="Arial"/>
              </a:rPr>
              <a:t>lose </a:t>
            </a:r>
            <a:r>
              <a:rPr sz="2000" spc="-35" dirty="0">
                <a:latin typeface="Arial"/>
                <a:cs typeface="Arial"/>
              </a:rPr>
              <a:t>information </a:t>
            </a:r>
            <a:r>
              <a:rPr sz="2000" spc="-5" dirty="0">
                <a:latin typeface="Arial"/>
                <a:cs typeface="Arial"/>
              </a:rPr>
              <a:t>of </a:t>
            </a:r>
            <a:r>
              <a:rPr sz="2000" spc="-145" dirty="0">
                <a:latin typeface="Arial"/>
                <a:cs typeface="Arial"/>
              </a:rPr>
              <a:t>such</a:t>
            </a:r>
            <a:r>
              <a:rPr sz="2000" spc="-430" dirty="0">
                <a:latin typeface="Arial"/>
                <a:cs typeface="Arial"/>
              </a:rPr>
              <a:t> </a:t>
            </a:r>
            <a:r>
              <a:rPr sz="2000" spc="-145" dirty="0">
                <a:latin typeface="Arial"/>
                <a:cs typeface="Arial"/>
              </a:rPr>
              <a:t>users</a:t>
            </a:r>
            <a:endParaRPr sz="2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300" y="224061"/>
            <a:ext cx="776097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90" dirty="0"/>
              <a:t>P</a:t>
            </a:r>
            <a:r>
              <a:rPr spc="-170" dirty="0"/>
              <a:t>r</a:t>
            </a:r>
            <a:r>
              <a:rPr spc="-120" dirty="0"/>
              <a:t>oblems</a:t>
            </a:r>
            <a:r>
              <a:rPr spc="-175" dirty="0"/>
              <a:t> </a:t>
            </a:r>
            <a:r>
              <a:rPr spc="-125" dirty="0"/>
              <a:t>wit</a:t>
            </a:r>
            <a:r>
              <a:rPr spc="-145" dirty="0"/>
              <a:t>h</a:t>
            </a:r>
            <a:r>
              <a:rPr spc="-190" dirty="0"/>
              <a:t> </a:t>
            </a:r>
            <a:r>
              <a:rPr spc="-140" dirty="0"/>
              <a:t>Cookie</a:t>
            </a:r>
            <a:r>
              <a:rPr spc="-114" dirty="0"/>
              <a:t>s</a:t>
            </a:r>
            <a:r>
              <a:rPr dirty="0"/>
              <a:t>	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313300" y="1023522"/>
            <a:ext cx="8032750" cy="26026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95"/>
              </a:spcBef>
              <a:tabLst>
                <a:tab pos="299085" algn="l"/>
              </a:tabLst>
            </a:pPr>
            <a:r>
              <a:rPr sz="1100" spc="350" dirty="0">
                <a:solidFill>
                  <a:srgbClr val="1F487C"/>
                </a:solidFill>
                <a:latin typeface="Arial"/>
                <a:cs typeface="Arial"/>
              </a:rPr>
              <a:t>	</a:t>
            </a:r>
            <a:r>
              <a:rPr sz="2000" spc="-75" dirty="0">
                <a:latin typeface="Arial"/>
                <a:cs typeface="Arial"/>
              </a:rPr>
              <a:t>There can be multiple users using the same system visiting the same  Web site</a:t>
            </a:r>
          </a:p>
          <a:p>
            <a:pPr marL="12700">
              <a:lnSpc>
                <a:spcPct val="100000"/>
              </a:lnSpc>
              <a:spcBef>
                <a:spcPts val="1689"/>
              </a:spcBef>
              <a:tabLst>
                <a:tab pos="299085" algn="l"/>
              </a:tabLst>
            </a:pPr>
            <a:r>
              <a:rPr sz="2000" spc="-75" dirty="0">
                <a:latin typeface="Arial"/>
                <a:cs typeface="Arial"/>
              </a:rPr>
              <a:t>	Web sites assign cookies to the system and not to the user. This can</a:t>
            </a: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2000" spc="-75" dirty="0">
                <a:latin typeface="Arial"/>
                <a:cs typeface="Arial"/>
              </a:rPr>
              <a:t>hamper the number of visitor's statistics</a:t>
            </a:r>
          </a:p>
          <a:p>
            <a:pPr marL="299085" marR="483870" indent="-287020">
              <a:lnSpc>
                <a:spcPct val="100000"/>
              </a:lnSpc>
              <a:spcBef>
                <a:spcPts val="1705"/>
              </a:spcBef>
              <a:tabLst>
                <a:tab pos="299085" algn="l"/>
              </a:tabLst>
            </a:pPr>
            <a:r>
              <a:rPr sz="2000" spc="-75" dirty="0">
                <a:latin typeface="Arial"/>
                <a:cs typeface="Arial"/>
              </a:rPr>
              <a:t>	A cookie can contain large amount of information and retrieving  larger amount of information on each page requires repetitive  coding across the pages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340" y="86016"/>
            <a:ext cx="776097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35" dirty="0"/>
              <a:t>Summa</a:t>
            </a:r>
            <a:r>
              <a:rPr spc="-75" dirty="0"/>
              <a:t>r</a:t>
            </a:r>
            <a:r>
              <a:rPr spc="-155" dirty="0"/>
              <a:t>y</a:t>
            </a:r>
            <a:r>
              <a:rPr dirty="0"/>
              <a:t>	</a:t>
            </a:r>
            <a:endParaRPr spc="-200" dirty="0"/>
          </a:p>
        </p:txBody>
      </p:sp>
      <p:sp>
        <p:nvSpPr>
          <p:cNvPr id="3" name="object 3"/>
          <p:cNvSpPr txBox="1"/>
          <p:nvPr/>
        </p:nvSpPr>
        <p:spPr>
          <a:xfrm>
            <a:off x="383540" y="927861"/>
            <a:ext cx="8324850" cy="4270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01675" indent="-34290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75" dirty="0">
                <a:latin typeface="Arial"/>
                <a:cs typeface="Arial"/>
              </a:rPr>
              <a:t>Web sites use cookies, stored on the hard disk of the client  system, to store user-specific information</a:t>
            </a:r>
          </a:p>
          <a:p>
            <a:pPr marL="355600" marR="5461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75" dirty="0">
                <a:latin typeface="Arial"/>
                <a:cs typeface="Arial"/>
              </a:rPr>
              <a:t>Dynamic Web pages gets information from the user and records  it for further processing</a:t>
            </a:r>
          </a:p>
          <a:p>
            <a:pPr marL="355600" marR="244475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75" dirty="0">
                <a:latin typeface="Arial"/>
                <a:cs typeface="Arial"/>
              </a:rPr>
              <a:t>Persistent cookies are stored in the Web browser for a period  specified during the time of its creation and non-persistent  cookies are deleted from the Web browser as soon as the user  exits the browser</a:t>
            </a:r>
          </a:p>
          <a:p>
            <a:pPr marL="355600" indent="-342900">
              <a:lnSpc>
                <a:spcPct val="100000"/>
              </a:lnSpc>
              <a:spcBef>
                <a:spcPts val="169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75" dirty="0">
                <a:latin typeface="Arial"/>
                <a:cs typeface="Arial"/>
              </a:rPr>
              <a:t>The HTTP header, transmitted between the Web server and the</a:t>
            </a:r>
          </a:p>
          <a:p>
            <a:pPr marL="355600">
              <a:lnSpc>
                <a:spcPct val="100000"/>
              </a:lnSpc>
            </a:pPr>
            <a:r>
              <a:rPr sz="2000" spc="-75" dirty="0">
                <a:latin typeface="Arial"/>
                <a:cs typeface="Arial"/>
              </a:rPr>
              <a:t>Web browser, contains cookies</a:t>
            </a:r>
          </a:p>
          <a:p>
            <a:pPr marL="355600" marR="508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75" dirty="0">
                <a:latin typeface="Arial"/>
                <a:cs typeface="Arial"/>
              </a:rPr>
              <a:t>A cookie can be retrieved by passing a variable as a cookie name  and using the $_COOKIE[] variable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927861"/>
            <a:ext cx="8234045" cy="229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93040" indent="-342900">
              <a:lnSpc>
                <a:spcPct val="100000"/>
              </a:lnSpc>
              <a:spcBef>
                <a:spcPts val="100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75" dirty="0">
                <a:latin typeface="Arial"/>
                <a:cs typeface="Arial"/>
              </a:rPr>
              <a:t>PHP uses the setcookie() and setrawcookie() functions to set a  cookie</a:t>
            </a:r>
          </a:p>
          <a:p>
            <a:pPr marL="355600" marR="508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75" dirty="0">
                <a:latin typeface="Arial"/>
                <a:cs typeface="Arial"/>
              </a:rPr>
              <a:t>The two ways to delete a cookie are resetting the expiry time of  the cookie to a time in the past and by resetting the cookie by  specifying the name of the cookie</a:t>
            </a:r>
          </a:p>
          <a:p>
            <a:pPr marL="355600" indent="-342900">
              <a:lnSpc>
                <a:spcPct val="100000"/>
              </a:lnSpc>
              <a:spcBef>
                <a:spcPts val="1705"/>
              </a:spcBef>
              <a:buClr>
                <a:srgbClr val="1F487C"/>
              </a:buClr>
              <a:buSzPct val="50000"/>
              <a:buFont typeface="Wingdings"/>
              <a:buChar char=""/>
              <a:tabLst>
                <a:tab pos="354965" algn="l"/>
                <a:tab pos="355600" algn="l"/>
              </a:tabLst>
            </a:pPr>
            <a:r>
              <a:rPr sz="2000" spc="-75" dirty="0">
                <a:latin typeface="Arial"/>
                <a:cs typeface="Arial"/>
              </a:rPr>
              <a:t>The maximum number of cookies that can be maintained for a</a:t>
            </a:r>
          </a:p>
          <a:p>
            <a:pPr marL="355600">
              <a:lnSpc>
                <a:spcPct val="100000"/>
              </a:lnSpc>
            </a:pPr>
            <a:r>
              <a:rPr sz="2000" spc="-75" dirty="0">
                <a:latin typeface="Arial"/>
                <a:cs typeface="Arial"/>
              </a:rPr>
              <a:t>domain is 20. A browser can maintain maximum of 300 cookies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7340" y="86016"/>
            <a:ext cx="776097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28534" algn="l"/>
              </a:tabLst>
            </a:pPr>
            <a:r>
              <a:rPr spc="-135" dirty="0"/>
              <a:t>Summa</a:t>
            </a:r>
            <a:r>
              <a:rPr spc="-75" dirty="0"/>
              <a:t>r</a:t>
            </a:r>
            <a:r>
              <a:rPr spc="-155" dirty="0"/>
              <a:t>y</a:t>
            </a:r>
            <a:r>
              <a:rPr dirty="0"/>
              <a:t>	</a:t>
            </a:r>
            <a:endParaRPr spc="-2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440</TotalTime>
  <Words>2105</Words>
  <Application>Microsoft Office PowerPoint</Application>
  <PresentationFormat>On-screen Show (4:3)</PresentationFormat>
  <Paragraphs>231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Adobe Fangsong Std R</vt:lpstr>
      <vt:lpstr>Arial</vt:lpstr>
      <vt:lpstr>Calibri</vt:lpstr>
      <vt:lpstr>Courier New</vt:lpstr>
      <vt:lpstr>Impact</vt:lpstr>
      <vt:lpstr>Tahoma</vt:lpstr>
      <vt:lpstr>Times New Roman</vt:lpstr>
      <vt:lpstr>Trebuchet MS</vt:lpstr>
      <vt:lpstr>Wingdings</vt:lpstr>
      <vt:lpstr>Main Event</vt:lpstr>
      <vt:lpstr>Working with Cookies</vt:lpstr>
      <vt:lpstr>Introduction</vt:lpstr>
      <vt:lpstr>PowerPoint Presentation</vt:lpstr>
      <vt:lpstr>Web Pages</vt:lpstr>
      <vt:lpstr>Introducing a Cookie</vt:lpstr>
      <vt:lpstr>Introducing a Cookie</vt:lpstr>
      <vt:lpstr>Working of a Cookie </vt:lpstr>
      <vt:lpstr>Working of a Cookie</vt:lpstr>
      <vt:lpstr>PowerPoint Presentation</vt:lpstr>
      <vt:lpstr>Working of a Cookie</vt:lpstr>
      <vt:lpstr>Setting a Cookie </vt:lpstr>
      <vt:lpstr>Setting a Cookie</vt:lpstr>
      <vt:lpstr>Setting a Cookie </vt:lpstr>
      <vt:lpstr>Setting a Cookie </vt:lpstr>
      <vt:lpstr>Setting a Cookie </vt:lpstr>
      <vt:lpstr>Setting a Cookie </vt:lpstr>
      <vt:lpstr>Retrieving Cookies in PHP </vt:lpstr>
      <vt:lpstr>Retrieving Cookies in PHP </vt:lpstr>
      <vt:lpstr>Retrieving Cookies in PHP</vt:lpstr>
      <vt:lpstr>Retrieving Cookies in PHP</vt:lpstr>
      <vt:lpstr>Retrieving Cookies in PHP </vt:lpstr>
      <vt:lpstr>Retrieving Cookies in PHP</vt:lpstr>
      <vt:lpstr>Deleting a Cookie</vt:lpstr>
      <vt:lpstr>PowerPoint Presentation</vt:lpstr>
      <vt:lpstr>Problems with Cookies </vt:lpstr>
      <vt:lpstr>Problems with Cookies </vt:lpstr>
      <vt:lpstr>Summary </vt:lpstr>
      <vt:lpstr>Summary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Momina Wasiq</dc:creator>
  <cp:lastModifiedBy>Aatika</cp:lastModifiedBy>
  <cp:revision>66</cp:revision>
  <dcterms:created xsi:type="dcterms:W3CDTF">2018-09-20T14:50:16Z</dcterms:created>
  <dcterms:modified xsi:type="dcterms:W3CDTF">2020-03-18T10:26:26Z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1033-10.2.0.7456</vt:lpwstr>
  </property>
</Properties>
</file>