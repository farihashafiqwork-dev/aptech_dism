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80" r:id="rId1"/>
  </p:sldMasterIdLst>
  <p:notesMasterIdLst>
    <p:notesMasterId r:id="rId43"/>
  </p:notesMasterIdLst>
  <p:handoutMasterIdLst>
    <p:handoutMasterId r:id="rId44"/>
  </p:handout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2E9C57-3744-4DD9-BDAD-69E577D23F1B}">
          <p14:sldIdLst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9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6568693-47F6-45AB-84B4-99741BCB5974}" styleName="Table_0">
    <a:wholeTbl>
      <a:tcTxStyle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Style>
        <a:tcBdr/>
      </a:tcStyle>
    </a:band2H>
    <a:band1V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2" y="96"/>
      </p:cViewPr>
      <p:guideLst>
        <p:guide orient="horz" pos="2160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9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09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333937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E5624D-E8C3-4C1C-A49E-8F28E7FA3CD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88495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0004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64188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58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0883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0785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74162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3571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71527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43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96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278905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145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2469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6441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4591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2752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9867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7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6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/session1.php" TargetMode="Externa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localhost/sessionstart.php" TargetMode="Externa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/sessiondestroy.php" TargetMode="Externa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730326" y="1253891"/>
            <a:ext cx="5216702" cy="2700867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spc="-180" dirty="0">
                <a:latin typeface="Trebuchet MS"/>
                <a:cs typeface="Trebuchet MS"/>
              </a:rPr>
              <a:t>Session </a:t>
            </a:r>
            <a:br>
              <a:rPr lang="en-US" sz="4000" b="1" spc="-180" dirty="0">
                <a:latin typeface="Trebuchet MS"/>
                <a:cs typeface="Trebuchet MS"/>
              </a:rPr>
            </a:br>
            <a:r>
              <a:rPr lang="en-US" sz="4000" b="1" spc="-145" dirty="0">
                <a:latin typeface="Trebuchet MS"/>
                <a:cs typeface="Trebuchet MS"/>
              </a:rPr>
              <a:t>Management </a:t>
            </a:r>
            <a:r>
              <a:rPr lang="en-US" sz="4000" b="1" spc="-215" dirty="0">
                <a:latin typeface="Trebuchet MS"/>
                <a:cs typeface="Trebuchet MS"/>
              </a:rPr>
              <a:t>in</a:t>
            </a:r>
            <a:r>
              <a:rPr lang="en-US" sz="4000" b="1" spc="-605" dirty="0">
                <a:latin typeface="Trebuchet MS"/>
                <a:cs typeface="Trebuchet MS"/>
              </a:rPr>
              <a:t> </a:t>
            </a:r>
            <a:r>
              <a:rPr lang="en-US" sz="4000" b="1" spc="-225" dirty="0">
                <a:latin typeface="Trebuchet MS"/>
                <a:cs typeface="Trebuchet MS"/>
              </a:rPr>
              <a:t>PHP</a:t>
            </a:r>
            <a:endParaRPr lang="en-US" sz="4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689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215630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lang="en-US" sz="4400" cap="all" spc="-110" dirty="0">
                <a:solidFill>
                  <a:srgbClr val="8FA751"/>
                </a:solidFill>
                <a:ea typeface="+mj-ea"/>
                <a:cs typeface="+mj-cs"/>
              </a:rPr>
              <a:t>Sessions </a:t>
            </a:r>
            <a:r>
              <a:rPr sz="2500" b="1" spc="-110" dirty="0">
                <a:solidFill>
                  <a:schemeClr val="tx1"/>
                </a:solidFill>
                <a:latin typeface="Trebuchet MS"/>
                <a:cs typeface="Trebuchet MS"/>
              </a:rPr>
              <a:t>	</a:t>
            </a:r>
            <a:endParaRPr sz="27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31800" marR="217804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400" spc="-260" dirty="0">
                <a:solidFill>
                  <a:schemeClr val="tx1"/>
                </a:solidFill>
                <a:latin typeface="Arial"/>
                <a:cs typeface="Arial"/>
              </a:rPr>
              <a:t>Sessions </a:t>
            </a:r>
            <a:r>
              <a:rPr sz="2400" spc="-140" dirty="0">
                <a:solidFill>
                  <a:schemeClr val="tx1"/>
                </a:solidFill>
                <a:latin typeface="Arial"/>
                <a:cs typeface="Arial"/>
              </a:rPr>
              <a:t>are </a:t>
            </a:r>
            <a:r>
              <a:rPr sz="2400" spc="-90" dirty="0">
                <a:solidFill>
                  <a:schemeClr val="tx1"/>
                </a:solidFill>
                <a:latin typeface="Arial"/>
                <a:cs typeface="Arial"/>
              </a:rPr>
              <a:t>similar </a:t>
            </a:r>
            <a:r>
              <a:rPr sz="2400" spc="25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400" spc="-160" dirty="0">
                <a:solidFill>
                  <a:schemeClr val="tx1"/>
                </a:solidFill>
                <a:latin typeface="Arial"/>
                <a:cs typeface="Arial"/>
              </a:rPr>
              <a:t>cookies </a:t>
            </a:r>
            <a:r>
              <a:rPr sz="2400" spc="-150" dirty="0">
                <a:solidFill>
                  <a:schemeClr val="tx1"/>
                </a:solidFill>
                <a:latin typeface="Arial"/>
                <a:cs typeface="Arial"/>
              </a:rPr>
              <a:t>and </a:t>
            </a:r>
            <a:r>
              <a:rPr sz="2400" spc="-135" dirty="0">
                <a:solidFill>
                  <a:schemeClr val="tx1"/>
                </a:solidFill>
                <a:latin typeface="Arial"/>
                <a:cs typeface="Arial"/>
              </a:rPr>
              <a:t>enable</a:t>
            </a:r>
            <a:r>
              <a:rPr sz="2400" spc="-3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400" spc="-45" dirty="0">
                <a:solidFill>
                  <a:schemeClr val="tx1"/>
                </a:solidFill>
                <a:latin typeface="Arial"/>
                <a:cs typeface="Arial"/>
              </a:rPr>
              <a:t>functionality </a:t>
            </a:r>
            <a:r>
              <a:rPr sz="2400" spc="-5" dirty="0">
                <a:solidFill>
                  <a:schemeClr val="tx1"/>
                </a:solidFill>
                <a:latin typeface="Arial"/>
                <a:cs typeface="Arial"/>
              </a:rPr>
              <a:t>of </a:t>
            </a:r>
            <a:r>
              <a:rPr sz="2400" spc="-95" dirty="0">
                <a:solidFill>
                  <a:schemeClr val="tx1"/>
                </a:solidFill>
                <a:latin typeface="Arial"/>
                <a:cs typeface="Arial"/>
              </a:rPr>
              <a:t>storing </a:t>
            </a:r>
            <a:r>
              <a:rPr sz="2400" spc="-75" dirty="0">
                <a:solidFill>
                  <a:schemeClr val="tx1"/>
                </a:solidFill>
                <a:latin typeface="Arial"/>
                <a:cs typeface="Arial"/>
              </a:rPr>
              <a:t>temporary </a:t>
            </a:r>
            <a:r>
              <a:rPr sz="2400" spc="-150" dirty="0">
                <a:solidFill>
                  <a:schemeClr val="tx1"/>
                </a:solidFill>
                <a:latin typeface="Arial"/>
                <a:cs typeface="Arial"/>
              </a:rPr>
              <a:t>user  </a:t>
            </a:r>
            <a:r>
              <a:rPr sz="2400" spc="-45" dirty="0">
                <a:solidFill>
                  <a:schemeClr val="tx1"/>
                </a:solidFill>
                <a:latin typeface="Arial"/>
                <a:cs typeface="Arial"/>
              </a:rPr>
              <a:t>information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F487C"/>
              </a:buClr>
              <a:buFont typeface="Wingdings"/>
              <a:buChar char=""/>
            </a:pPr>
            <a:endParaRPr sz="3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31800" marR="508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400" spc="-229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400" spc="-95" dirty="0">
                <a:solidFill>
                  <a:schemeClr val="tx1"/>
                </a:solidFill>
                <a:latin typeface="Arial"/>
                <a:cs typeface="Arial"/>
              </a:rPr>
              <a:t>difference </a:t>
            </a:r>
            <a:r>
              <a:rPr sz="2400" spc="-90" dirty="0">
                <a:solidFill>
                  <a:schemeClr val="tx1"/>
                </a:solidFill>
                <a:latin typeface="Arial"/>
                <a:cs typeface="Arial"/>
              </a:rPr>
              <a:t>between </a:t>
            </a:r>
            <a:r>
              <a:rPr sz="2400" spc="-160" dirty="0">
                <a:solidFill>
                  <a:schemeClr val="tx1"/>
                </a:solidFill>
                <a:latin typeface="Arial"/>
                <a:cs typeface="Arial"/>
              </a:rPr>
              <a:t>cookies 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and </a:t>
            </a:r>
            <a:r>
              <a:rPr sz="2400" spc="-225" dirty="0">
                <a:solidFill>
                  <a:schemeClr val="tx1"/>
                </a:solidFill>
                <a:latin typeface="Arial"/>
                <a:cs typeface="Arial"/>
              </a:rPr>
              <a:t>sessions </a:t>
            </a:r>
            <a:r>
              <a:rPr sz="2400" spc="-165" dirty="0">
                <a:solidFill>
                  <a:schemeClr val="tx1"/>
                </a:solidFill>
                <a:latin typeface="Arial"/>
                <a:cs typeface="Arial"/>
              </a:rPr>
              <a:t>is  </a:t>
            </a:r>
            <a:r>
              <a:rPr sz="2400" spc="-300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400" spc="-1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chemeClr val="tx1"/>
                </a:solidFill>
                <a:latin typeface="Arial"/>
                <a:cs typeface="Arial"/>
              </a:rPr>
              <a:t>follows: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32485" marR="504190" indent="-287020">
              <a:lnSpc>
                <a:spcPct val="100000"/>
              </a:lnSpc>
              <a:spcBef>
                <a:spcPts val="690"/>
              </a:spcBef>
            </a:pPr>
            <a:r>
              <a:rPr sz="1100" spc="445" dirty="0">
                <a:solidFill>
                  <a:schemeClr val="tx1"/>
                </a:solidFill>
                <a:latin typeface="Arial"/>
                <a:cs typeface="Arial"/>
              </a:rPr>
              <a:t> 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Pertinent 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cookies 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store 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information </a:t>
            </a:r>
            <a:r>
              <a:rPr sz="2000" spc="-90" dirty="0">
                <a:solidFill>
                  <a:schemeClr val="tx1"/>
                </a:solidFill>
                <a:latin typeface="Arial"/>
                <a:cs typeface="Arial"/>
              </a:rPr>
              <a:t>on 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000" spc="-170" dirty="0">
                <a:solidFill>
                  <a:schemeClr val="tx1"/>
                </a:solidFill>
                <a:latin typeface="Arial"/>
                <a:cs typeface="Arial"/>
              </a:rPr>
              <a:t>local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computer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32485" marR="429895" indent="-287020">
              <a:lnSpc>
                <a:spcPct val="100000"/>
              </a:lnSpc>
              <a:spcBef>
                <a:spcPts val="675"/>
              </a:spcBef>
            </a:pPr>
            <a:r>
              <a:rPr sz="1100" spc="445" dirty="0">
                <a:solidFill>
                  <a:schemeClr val="tx1"/>
                </a:solidFill>
                <a:latin typeface="Arial"/>
                <a:cs typeface="Arial"/>
              </a:rPr>
              <a:t> </a:t>
            </a:r>
            <a:r>
              <a:rPr sz="2000" spc="-225" dirty="0">
                <a:solidFill>
                  <a:schemeClr val="tx1"/>
                </a:solidFill>
                <a:latin typeface="Arial"/>
                <a:cs typeface="Arial"/>
              </a:rPr>
              <a:t>Session </a:t>
            </a:r>
            <a:r>
              <a:rPr sz="2000" spc="-150" dirty="0">
                <a:solidFill>
                  <a:schemeClr val="tx1"/>
                </a:solidFill>
                <a:latin typeface="Arial"/>
                <a:cs typeface="Arial"/>
              </a:rPr>
              <a:t>enables </a:t>
            </a:r>
            <a:r>
              <a:rPr sz="2000" spc="-380" dirty="0">
                <a:solidFill>
                  <a:schemeClr val="tx1"/>
                </a:solidFill>
                <a:latin typeface="Arial"/>
                <a:cs typeface="Arial"/>
              </a:rPr>
              <a:t>PHP 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store 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information </a:t>
            </a:r>
            <a:r>
              <a:rPr sz="2000" spc="-90" dirty="0">
                <a:solidFill>
                  <a:schemeClr val="tx1"/>
                </a:solidFill>
                <a:latin typeface="Arial"/>
                <a:cs typeface="Arial"/>
              </a:rPr>
              <a:t>on </a:t>
            </a:r>
            <a:r>
              <a:rPr sz="2000" spc="-440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000" spc="-175" dirty="0">
                <a:solidFill>
                  <a:schemeClr val="tx1"/>
                </a:solidFill>
                <a:latin typeface="Arial"/>
                <a:cs typeface="Arial"/>
              </a:rPr>
              <a:t>Web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server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926338"/>
            <a:ext cx="4600575" cy="3937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60" dirty="0">
                <a:latin typeface="Arial"/>
                <a:cs typeface="Arial"/>
              </a:rPr>
              <a:t>Web </a:t>
            </a:r>
            <a:r>
              <a:rPr sz="2400" spc="-120" dirty="0">
                <a:latin typeface="Arial"/>
                <a:cs typeface="Arial"/>
              </a:rPr>
              <a:t>browsers and </a:t>
            </a:r>
            <a:r>
              <a:rPr sz="2400" spc="-160" dirty="0">
                <a:latin typeface="Arial"/>
                <a:cs typeface="Arial"/>
              </a:rPr>
              <a:t>Web </a:t>
            </a:r>
            <a:r>
              <a:rPr sz="2400" spc="-140" dirty="0">
                <a:latin typeface="Arial"/>
                <a:cs typeface="Arial"/>
              </a:rPr>
              <a:t>servers  </a:t>
            </a:r>
            <a:r>
              <a:rPr sz="2400" spc="-160" dirty="0">
                <a:latin typeface="Arial"/>
                <a:cs typeface="Arial"/>
              </a:rPr>
              <a:t>have </a:t>
            </a:r>
            <a:r>
              <a:rPr sz="2400" spc="-200" dirty="0">
                <a:latin typeface="Arial"/>
                <a:cs typeface="Arial"/>
              </a:rPr>
              <a:t>a </a:t>
            </a:r>
            <a:r>
              <a:rPr sz="2400" spc="-125" dirty="0">
                <a:latin typeface="Arial"/>
                <a:cs typeface="Arial"/>
              </a:rPr>
              <a:t>stateless </a:t>
            </a:r>
            <a:r>
              <a:rPr sz="2400" spc="-45" dirty="0">
                <a:latin typeface="Arial"/>
                <a:cs typeface="Arial"/>
              </a:rPr>
              <a:t>interaction </a:t>
            </a:r>
            <a:r>
              <a:rPr sz="2400" spc="-120" dirty="0">
                <a:latin typeface="Arial"/>
                <a:cs typeface="Arial"/>
              </a:rPr>
              <a:t>and  </a:t>
            </a:r>
            <a:r>
              <a:rPr sz="2400" spc="-80" dirty="0">
                <a:latin typeface="Arial"/>
                <a:cs typeface="Arial"/>
              </a:rPr>
              <a:t>do </a:t>
            </a:r>
            <a:r>
              <a:rPr sz="2400" spc="-5" dirty="0">
                <a:latin typeface="Arial"/>
                <a:cs typeface="Arial"/>
              </a:rPr>
              <a:t>not </a:t>
            </a:r>
            <a:r>
              <a:rPr sz="2400" spc="-65" dirty="0">
                <a:latin typeface="Arial"/>
                <a:cs typeface="Arial"/>
              </a:rPr>
              <a:t>maintain </a:t>
            </a:r>
            <a:r>
              <a:rPr sz="2400" spc="-75" dirty="0">
                <a:latin typeface="Arial"/>
                <a:cs typeface="Arial"/>
              </a:rPr>
              <a:t>track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25" dirty="0">
                <a:latin typeface="Arial"/>
                <a:cs typeface="Arial"/>
              </a:rPr>
              <a:t>user  </a:t>
            </a:r>
            <a:r>
              <a:rPr sz="2400" spc="-180" dirty="0">
                <a:latin typeface="Arial"/>
                <a:cs typeface="Arial"/>
              </a:rPr>
              <a:t>sessions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315" dirty="0">
                <a:latin typeface="Arial"/>
                <a:cs typeface="Arial"/>
              </a:rPr>
              <a:t>HTTP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protocol</a:t>
            </a:r>
            <a:endParaRPr sz="2400" dirty="0">
              <a:latin typeface="Arial"/>
              <a:cs typeface="Arial"/>
            </a:endParaRPr>
          </a:p>
          <a:p>
            <a:pPr marL="756285" marR="715010" indent="-287020">
              <a:lnSpc>
                <a:spcPct val="100000"/>
              </a:lnSpc>
              <a:spcBef>
                <a:spcPts val="585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70" dirty="0">
                <a:latin typeface="Arial"/>
                <a:cs typeface="Arial"/>
              </a:rPr>
              <a:t>Enables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10" dirty="0">
                <a:latin typeface="Arial"/>
                <a:cs typeface="Arial"/>
              </a:rPr>
              <a:t>browsers </a:t>
            </a:r>
            <a:r>
              <a:rPr sz="2000" spc="20" dirty="0">
                <a:latin typeface="Arial"/>
                <a:cs typeface="Arial"/>
              </a:rPr>
              <a:t>to  </a:t>
            </a:r>
            <a:r>
              <a:rPr sz="2000" spc="-95" dirty="0">
                <a:latin typeface="Arial"/>
                <a:cs typeface="Arial"/>
              </a:rPr>
              <a:t>communicate </a:t>
            </a:r>
            <a:r>
              <a:rPr sz="2000" spc="15" dirty="0">
                <a:latin typeface="Arial"/>
                <a:cs typeface="Arial"/>
              </a:rPr>
              <a:t>with </a:t>
            </a:r>
            <a:r>
              <a:rPr sz="2000" spc="-145" dirty="0">
                <a:latin typeface="Arial"/>
                <a:cs typeface="Arial"/>
              </a:rPr>
              <a:t>Web  </a:t>
            </a:r>
            <a:r>
              <a:rPr sz="2000" spc="-130" dirty="0">
                <a:latin typeface="Arial"/>
                <a:cs typeface="Arial"/>
              </a:rPr>
              <a:t>servers</a:t>
            </a:r>
            <a:endParaRPr sz="2000" dirty="0">
              <a:latin typeface="Arial"/>
              <a:cs typeface="Arial"/>
            </a:endParaRPr>
          </a:p>
          <a:p>
            <a:pPr marL="756285" marR="271145" indent="-287020">
              <a:lnSpc>
                <a:spcPct val="100000"/>
              </a:lnSpc>
              <a:spcBef>
                <a:spcPts val="575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229" dirty="0">
                <a:latin typeface="Arial"/>
                <a:cs typeface="Arial"/>
              </a:rPr>
              <a:t>Has </a:t>
            </a:r>
            <a:r>
              <a:rPr sz="2000" spc="-75" dirty="0">
                <a:latin typeface="Arial"/>
                <a:cs typeface="Arial"/>
              </a:rPr>
              <a:t>no </a:t>
            </a:r>
            <a:r>
              <a:rPr sz="2000" spc="-85" dirty="0">
                <a:latin typeface="Arial"/>
                <a:cs typeface="Arial"/>
              </a:rPr>
              <a:t>methods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functions 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60" dirty="0">
                <a:latin typeface="Arial"/>
                <a:cs typeface="Arial"/>
              </a:rPr>
              <a:t>maintain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status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85" dirty="0">
                <a:latin typeface="Arial"/>
                <a:cs typeface="Arial"/>
              </a:rPr>
              <a:t>a  </a:t>
            </a:r>
            <a:r>
              <a:rPr sz="2000" spc="-50" dirty="0">
                <a:latin typeface="Arial"/>
                <a:cs typeface="Arial"/>
              </a:rPr>
              <a:t>particular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user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3999" y="1752674"/>
            <a:ext cx="3108827" cy="23255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4B5EBD-7AFD-4CC2-B4C7-8E1C9B9BBF94}"/>
              </a:ext>
            </a:extLst>
          </p:cNvPr>
          <p:cNvSpPr/>
          <p:nvPr/>
        </p:nvSpPr>
        <p:spPr>
          <a:xfrm>
            <a:off x="183949" y="0"/>
            <a:ext cx="224869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cap="all" spc="-110" dirty="0">
                <a:solidFill>
                  <a:srgbClr val="8FA751"/>
                </a:solidFill>
                <a:ea typeface="+mj-ea"/>
                <a:cs typeface="+mj-cs"/>
              </a:rPr>
              <a:t>Sessions</a:t>
            </a:r>
            <a:endParaRPr lang="en-PK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10" dirty="0"/>
              <a:t>Sessions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850138"/>
            <a:ext cx="8432800" cy="3237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048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60" dirty="0">
                <a:latin typeface="Arial"/>
                <a:cs typeface="Arial"/>
              </a:rPr>
              <a:t>Web </a:t>
            </a:r>
            <a:r>
              <a:rPr sz="2400" spc="-114" dirty="0">
                <a:latin typeface="Arial"/>
                <a:cs typeface="Arial"/>
              </a:rPr>
              <a:t>sites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85" dirty="0">
                <a:latin typeface="Arial"/>
                <a:cs typeface="Arial"/>
              </a:rPr>
              <a:t>cannot </a:t>
            </a:r>
            <a:r>
              <a:rPr sz="2400" spc="-110" dirty="0">
                <a:latin typeface="Arial"/>
                <a:cs typeface="Arial"/>
              </a:rPr>
              <a:t>depend </a:t>
            </a:r>
            <a:r>
              <a:rPr sz="2400" spc="-80" dirty="0">
                <a:latin typeface="Arial"/>
                <a:cs typeface="Arial"/>
              </a:rPr>
              <a:t>on </a:t>
            </a:r>
            <a:r>
              <a:rPr sz="2400" spc="-320" dirty="0">
                <a:latin typeface="Arial"/>
                <a:cs typeface="Arial"/>
              </a:rPr>
              <a:t>HTTP </a:t>
            </a:r>
            <a:r>
              <a:rPr sz="2400" spc="-20" dirty="0">
                <a:latin typeface="Arial"/>
                <a:cs typeface="Arial"/>
              </a:rPr>
              <a:t>or </a:t>
            </a:r>
            <a:r>
              <a:rPr sz="2400" spc="-160" dirty="0">
                <a:latin typeface="Arial"/>
                <a:cs typeface="Arial"/>
              </a:rPr>
              <a:t>Web </a:t>
            </a:r>
            <a:r>
              <a:rPr sz="2400" spc="-140" dirty="0">
                <a:latin typeface="Arial"/>
                <a:cs typeface="Arial"/>
              </a:rPr>
              <a:t>servers</a:t>
            </a:r>
            <a:r>
              <a:rPr sz="2400" spc="-44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for  </a:t>
            </a:r>
            <a:r>
              <a:rPr sz="2400" spc="-120" dirty="0">
                <a:latin typeface="Arial"/>
                <a:cs typeface="Arial"/>
              </a:rPr>
              <a:t>complex </a:t>
            </a:r>
            <a:r>
              <a:rPr sz="2400" spc="-125" dirty="0">
                <a:latin typeface="Arial"/>
                <a:cs typeface="Arial"/>
              </a:rPr>
              <a:t>user </a:t>
            </a:r>
            <a:r>
              <a:rPr sz="2400" spc="-45" dirty="0">
                <a:latin typeface="Arial"/>
                <a:cs typeface="Arial"/>
              </a:rPr>
              <a:t>interaction </a:t>
            </a:r>
            <a:r>
              <a:rPr sz="2400" spc="-120" dirty="0">
                <a:latin typeface="Arial"/>
                <a:cs typeface="Arial"/>
              </a:rPr>
              <a:t>need </a:t>
            </a:r>
            <a:r>
              <a:rPr sz="2400" spc="-170" dirty="0">
                <a:latin typeface="Arial"/>
                <a:cs typeface="Arial"/>
              </a:rPr>
              <a:t>session</a:t>
            </a:r>
            <a:r>
              <a:rPr sz="2400" spc="-40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tracking</a:t>
            </a:r>
            <a:endParaRPr sz="2400" dirty="0">
              <a:latin typeface="Arial"/>
              <a:cs typeface="Arial"/>
            </a:endParaRPr>
          </a:p>
          <a:p>
            <a:pPr marL="355600" marR="257175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90" dirty="0">
                <a:latin typeface="Arial"/>
                <a:cs typeface="Arial"/>
              </a:rPr>
              <a:t>Refers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25" dirty="0">
                <a:latin typeface="Arial"/>
                <a:cs typeface="Arial"/>
              </a:rPr>
              <a:t>to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total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time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user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220" dirty="0">
                <a:latin typeface="Arial"/>
                <a:cs typeface="Arial"/>
              </a:rPr>
              <a:t>accesses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information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on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200" dirty="0">
                <a:latin typeface="Arial"/>
                <a:cs typeface="Arial"/>
              </a:rPr>
              <a:t>a  </a:t>
            </a:r>
            <a:r>
              <a:rPr sz="2400" spc="-50" dirty="0">
                <a:latin typeface="Arial"/>
                <a:cs typeface="Arial"/>
              </a:rPr>
              <a:t>particular </a:t>
            </a:r>
            <a:r>
              <a:rPr sz="2400" spc="-160" dirty="0">
                <a:latin typeface="Arial"/>
                <a:cs typeface="Arial"/>
              </a:rPr>
              <a:t>Web </a:t>
            </a:r>
            <a:r>
              <a:rPr sz="2400" spc="-75" dirty="0">
                <a:latin typeface="Arial"/>
                <a:cs typeface="Arial"/>
              </a:rPr>
              <a:t>site </a:t>
            </a:r>
            <a:r>
              <a:rPr sz="2400" spc="-80" dirty="0">
                <a:latin typeface="Arial"/>
                <a:cs typeface="Arial"/>
              </a:rPr>
              <a:t>before </a:t>
            </a:r>
            <a:r>
              <a:rPr sz="2400" spc="-75" dirty="0">
                <a:latin typeface="Arial"/>
                <a:cs typeface="Arial"/>
              </a:rPr>
              <a:t>exiting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455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Web </a:t>
            </a:r>
            <a:r>
              <a:rPr sz="2400" spc="-75" dirty="0">
                <a:latin typeface="Arial"/>
                <a:cs typeface="Arial"/>
              </a:rPr>
              <a:t>site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60" dirty="0">
                <a:latin typeface="Arial"/>
                <a:cs typeface="Arial"/>
              </a:rPr>
              <a:t>Manages </a:t>
            </a:r>
            <a:r>
              <a:rPr sz="2400" spc="-100" dirty="0">
                <a:latin typeface="Arial"/>
                <a:cs typeface="Arial"/>
              </a:rPr>
              <a:t>data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200" dirty="0">
                <a:latin typeface="Arial"/>
                <a:cs typeface="Arial"/>
              </a:rPr>
              <a:t>a </a:t>
            </a:r>
            <a:r>
              <a:rPr sz="2400" spc="-50" dirty="0">
                <a:latin typeface="Arial"/>
                <a:cs typeface="Arial"/>
              </a:rPr>
              <a:t>particular </a:t>
            </a:r>
            <a:r>
              <a:rPr sz="2400" spc="-125" dirty="0">
                <a:latin typeface="Arial"/>
                <a:cs typeface="Arial"/>
              </a:rPr>
              <a:t>user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200" dirty="0">
                <a:latin typeface="Arial"/>
                <a:cs typeface="Arial"/>
              </a:rPr>
              <a:t>a </a:t>
            </a:r>
            <a:r>
              <a:rPr sz="2400" spc="-105" dirty="0">
                <a:latin typeface="Arial"/>
                <a:cs typeface="Arial"/>
              </a:rPr>
              <a:t>specific</a:t>
            </a:r>
            <a:r>
              <a:rPr sz="2400" spc="-41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session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0800"/>
              </a:lnSpc>
              <a:spcBef>
                <a:spcPts val="168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65" dirty="0">
                <a:latin typeface="Arial"/>
                <a:cs typeface="Arial"/>
              </a:rPr>
              <a:t>Enable </a:t>
            </a:r>
            <a:r>
              <a:rPr sz="2400" spc="-90" dirty="0">
                <a:latin typeface="Arial"/>
                <a:cs typeface="Arial"/>
              </a:rPr>
              <a:t>distinguishing </a:t>
            </a:r>
            <a:r>
              <a:rPr sz="2400" spc="-125" dirty="0">
                <a:latin typeface="Arial"/>
                <a:cs typeface="Arial"/>
              </a:rPr>
              <a:t>user </a:t>
            </a:r>
            <a:r>
              <a:rPr sz="2400" spc="-105" dirty="0">
                <a:latin typeface="Arial"/>
                <a:cs typeface="Arial"/>
              </a:rPr>
              <a:t>specific </a:t>
            </a:r>
            <a:r>
              <a:rPr sz="2400" spc="-40" dirty="0">
                <a:latin typeface="Arial"/>
                <a:cs typeface="Arial"/>
              </a:rPr>
              <a:t>information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45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entire  </a:t>
            </a:r>
            <a:r>
              <a:rPr sz="2400" spc="-50" dirty="0">
                <a:latin typeface="Arial"/>
                <a:cs typeface="Arial"/>
              </a:rPr>
              <a:t>duration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38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session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682974"/>
            <a:ext cx="8460740" cy="4913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10" dirty="0">
                <a:latin typeface="Arial"/>
                <a:cs typeface="Arial"/>
              </a:rPr>
              <a:t>Consider an </a:t>
            </a:r>
            <a:r>
              <a:rPr spc="-95" dirty="0">
                <a:latin typeface="Arial"/>
                <a:cs typeface="Arial"/>
              </a:rPr>
              <a:t>example,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40" dirty="0">
                <a:latin typeface="Arial"/>
                <a:cs typeface="Arial"/>
              </a:rPr>
              <a:t>particular </a:t>
            </a:r>
            <a:r>
              <a:rPr spc="-114" dirty="0">
                <a:latin typeface="Arial"/>
                <a:cs typeface="Arial"/>
              </a:rPr>
              <a:t>Web </a:t>
            </a:r>
            <a:r>
              <a:rPr spc="-60" dirty="0">
                <a:latin typeface="Arial"/>
                <a:cs typeface="Arial"/>
              </a:rPr>
              <a:t>site,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95" dirty="0">
                <a:latin typeface="Arial"/>
                <a:cs typeface="Arial"/>
              </a:rPr>
              <a:t>user </a:t>
            </a:r>
            <a:r>
              <a:rPr spc="-145" dirty="0">
                <a:latin typeface="Arial"/>
                <a:cs typeface="Arial"/>
              </a:rPr>
              <a:t>has </a:t>
            </a:r>
            <a:r>
              <a:rPr spc="15" dirty="0">
                <a:latin typeface="Arial"/>
                <a:cs typeface="Arial"/>
              </a:rPr>
              <a:t>to </a:t>
            </a:r>
            <a:r>
              <a:rPr spc="-20" dirty="0">
                <a:latin typeface="Arial"/>
                <a:cs typeface="Arial"/>
              </a:rPr>
              <a:t>first </a:t>
            </a:r>
            <a:r>
              <a:rPr spc="-65" dirty="0">
                <a:latin typeface="Arial"/>
                <a:cs typeface="Arial"/>
              </a:rPr>
              <a:t>register</a:t>
            </a:r>
            <a:r>
              <a:rPr spc="-30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and  </a:t>
            </a:r>
            <a:r>
              <a:rPr spc="-30" dirty="0">
                <a:latin typeface="Arial"/>
                <a:cs typeface="Arial"/>
              </a:rPr>
              <a:t>then </a:t>
            </a:r>
            <a:r>
              <a:rPr spc="-70" dirty="0">
                <a:latin typeface="Arial"/>
                <a:cs typeface="Arial"/>
              </a:rPr>
              <a:t>log </a:t>
            </a:r>
            <a:r>
              <a:rPr spc="-60" dirty="0">
                <a:latin typeface="Arial"/>
                <a:cs typeface="Arial"/>
              </a:rPr>
              <a:t>on </a:t>
            </a:r>
            <a:r>
              <a:rPr spc="20" dirty="0">
                <a:latin typeface="Arial"/>
                <a:cs typeface="Arial"/>
              </a:rPr>
              <a:t>to </a:t>
            </a:r>
            <a:r>
              <a:rPr spc="-170" dirty="0">
                <a:latin typeface="Arial"/>
                <a:cs typeface="Arial"/>
              </a:rPr>
              <a:t>access </a:t>
            </a:r>
            <a:r>
              <a:rPr spc="-114" dirty="0">
                <a:latin typeface="Arial"/>
                <a:cs typeface="Arial"/>
              </a:rPr>
              <a:t>any</a:t>
            </a:r>
            <a:r>
              <a:rPr spc="-33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information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0" dirty="0">
                <a:latin typeface="Arial"/>
                <a:cs typeface="Arial"/>
              </a:rPr>
              <a:t>For </a:t>
            </a:r>
            <a:r>
              <a:rPr spc="-125" dirty="0">
                <a:latin typeface="Arial"/>
                <a:cs typeface="Arial"/>
              </a:rPr>
              <a:t>such </a:t>
            </a:r>
            <a:r>
              <a:rPr spc="-40" dirty="0">
                <a:latin typeface="Arial"/>
                <a:cs typeface="Arial"/>
              </a:rPr>
              <a:t>authentication </a:t>
            </a:r>
            <a:r>
              <a:rPr spc="-85" dirty="0">
                <a:latin typeface="Arial"/>
                <a:cs typeface="Arial"/>
              </a:rPr>
              <a:t>procedures,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5" dirty="0">
                <a:latin typeface="Arial"/>
                <a:cs typeface="Arial"/>
              </a:rPr>
              <a:t>state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95" dirty="0">
                <a:latin typeface="Arial"/>
                <a:cs typeface="Arial"/>
              </a:rPr>
              <a:t>user </a:t>
            </a:r>
            <a:r>
              <a:rPr spc="-145" dirty="0">
                <a:latin typeface="Arial"/>
                <a:cs typeface="Arial"/>
              </a:rPr>
              <a:t>has </a:t>
            </a:r>
            <a:r>
              <a:rPr spc="15" dirty="0">
                <a:latin typeface="Arial"/>
                <a:cs typeface="Arial"/>
              </a:rPr>
              <a:t>to</a:t>
            </a:r>
            <a:r>
              <a:rPr spc="-370"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be</a:t>
            </a:r>
            <a:endParaRPr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pc="-60" dirty="0">
                <a:latin typeface="Arial"/>
                <a:cs typeface="Arial"/>
              </a:rPr>
              <a:t>maintained </a:t>
            </a:r>
            <a:r>
              <a:rPr spc="-135" dirty="0">
                <a:latin typeface="Arial"/>
                <a:cs typeface="Arial"/>
              </a:rPr>
              <a:t>across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20" dirty="0">
                <a:latin typeface="Arial"/>
                <a:cs typeface="Arial"/>
              </a:rPr>
              <a:t>Web</a:t>
            </a:r>
            <a:r>
              <a:rPr spc="-180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site</a:t>
            </a:r>
            <a:endParaRPr dirty="0">
              <a:latin typeface="Arial"/>
              <a:cs typeface="Arial"/>
            </a:endParaRPr>
          </a:p>
          <a:p>
            <a:pPr marL="355600" marR="203200" indent="-342900">
              <a:lnSpc>
                <a:spcPct val="103000"/>
              </a:lnSpc>
              <a:spcBef>
                <a:spcPts val="154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0" dirty="0">
                <a:latin typeface="Arial"/>
                <a:cs typeface="Arial"/>
              </a:rPr>
              <a:t>Web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sites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traditionally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135" dirty="0">
                <a:latin typeface="Arial"/>
                <a:cs typeface="Arial"/>
              </a:rPr>
              <a:t>use</a:t>
            </a:r>
            <a:r>
              <a:rPr spc="-140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GET</a:t>
            </a:r>
            <a:r>
              <a:rPr spc="-745" dirty="0">
                <a:latin typeface="Courier New"/>
                <a:cs typeface="Courier New"/>
              </a:rPr>
              <a:t> </a:t>
            </a:r>
            <a:r>
              <a:rPr spc="-95" dirty="0">
                <a:latin typeface="Arial"/>
                <a:cs typeface="Arial"/>
              </a:rPr>
              <a:t>and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POST</a:t>
            </a:r>
            <a:r>
              <a:rPr spc="-745" dirty="0">
                <a:latin typeface="Courier New"/>
                <a:cs typeface="Courier New"/>
              </a:rPr>
              <a:t> </a:t>
            </a:r>
            <a:r>
              <a:rPr spc="-70" dirty="0">
                <a:latin typeface="Arial"/>
                <a:cs typeface="Arial"/>
              </a:rPr>
              <a:t>methods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15" dirty="0">
                <a:latin typeface="Arial"/>
                <a:cs typeface="Arial"/>
              </a:rPr>
              <a:t>to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165" dirty="0">
                <a:latin typeface="Arial"/>
                <a:cs typeface="Arial"/>
              </a:rPr>
              <a:t>pass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user </a:t>
            </a:r>
            <a:r>
              <a:rPr spc="-30" dirty="0">
                <a:latin typeface="Arial"/>
                <a:cs typeface="Arial"/>
              </a:rPr>
              <a:t>information  </a:t>
            </a:r>
            <a:r>
              <a:rPr spc="-20" dirty="0">
                <a:latin typeface="Arial"/>
                <a:cs typeface="Arial"/>
              </a:rPr>
              <a:t>from </a:t>
            </a:r>
            <a:r>
              <a:rPr spc="-75" dirty="0">
                <a:latin typeface="Arial"/>
                <a:cs typeface="Arial"/>
              </a:rPr>
              <a:t>one </a:t>
            </a:r>
            <a:r>
              <a:rPr spc="-50" dirty="0">
                <a:latin typeface="Arial"/>
                <a:cs typeface="Arial"/>
              </a:rPr>
              <a:t>script </a:t>
            </a:r>
            <a:r>
              <a:rPr spc="20" dirty="0">
                <a:latin typeface="Arial"/>
                <a:cs typeface="Arial"/>
              </a:rPr>
              <a:t>to</a:t>
            </a:r>
            <a:r>
              <a:rPr spc="-27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another</a:t>
            </a:r>
            <a:endParaRPr dirty="0">
              <a:latin typeface="Arial"/>
              <a:cs typeface="Arial"/>
            </a:endParaRPr>
          </a:p>
          <a:p>
            <a:pPr marL="355600" marR="164465" indent="-342900">
              <a:lnSpc>
                <a:spcPct val="100000"/>
              </a:lnSpc>
              <a:spcBef>
                <a:spcPts val="171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85" dirty="0">
                <a:latin typeface="Arial"/>
                <a:cs typeface="Arial"/>
              </a:rPr>
              <a:t>When </a:t>
            </a:r>
            <a:r>
              <a:rPr spc="-80" dirty="0">
                <a:latin typeface="Arial"/>
                <a:cs typeface="Arial"/>
              </a:rPr>
              <a:t>these </a:t>
            </a:r>
            <a:r>
              <a:rPr spc="-70" dirty="0">
                <a:latin typeface="Arial"/>
                <a:cs typeface="Arial"/>
              </a:rPr>
              <a:t>methods </a:t>
            </a:r>
            <a:r>
              <a:rPr spc="-90" dirty="0">
                <a:latin typeface="Arial"/>
                <a:cs typeface="Arial"/>
              </a:rPr>
              <a:t>are </a:t>
            </a:r>
            <a:r>
              <a:rPr spc="-105" dirty="0">
                <a:latin typeface="Arial"/>
                <a:cs typeface="Arial"/>
              </a:rPr>
              <a:t>used, </a:t>
            </a:r>
            <a:r>
              <a:rPr spc="-265" dirty="0">
                <a:latin typeface="Arial"/>
                <a:cs typeface="Arial"/>
              </a:rPr>
              <a:t>PHP </a:t>
            </a:r>
            <a:r>
              <a:rPr spc="-145" dirty="0">
                <a:latin typeface="Arial"/>
                <a:cs typeface="Arial"/>
              </a:rPr>
              <a:t>assigns </a:t>
            </a:r>
            <a:r>
              <a:rPr spc="-95" dirty="0">
                <a:latin typeface="Arial"/>
                <a:cs typeface="Arial"/>
              </a:rPr>
              <a:t>user </a:t>
            </a:r>
            <a:r>
              <a:rPr spc="-30" dirty="0">
                <a:latin typeface="Arial"/>
                <a:cs typeface="Arial"/>
              </a:rPr>
              <a:t>information </a:t>
            </a:r>
            <a:r>
              <a:rPr spc="-85" dirty="0">
                <a:latin typeface="Arial"/>
                <a:cs typeface="Arial"/>
              </a:rPr>
              <a:t>variables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20" dirty="0">
                <a:latin typeface="Arial"/>
                <a:cs typeface="Arial"/>
              </a:rPr>
              <a:t>the  </a:t>
            </a:r>
            <a:r>
              <a:rPr spc="-35" dirty="0">
                <a:latin typeface="Arial"/>
                <a:cs typeface="Arial"/>
              </a:rPr>
              <a:t>following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format:</a:t>
            </a:r>
            <a:endParaRPr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595"/>
              </a:spcBef>
            </a:pPr>
            <a:r>
              <a:rPr spc="-5" dirty="0">
                <a:latin typeface="Courier New"/>
                <a:cs typeface="Courier New"/>
              </a:rPr>
              <a:t>$name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10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$_GET['name'];</a:t>
            </a:r>
            <a:endParaRPr dirty="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173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55" dirty="0">
                <a:latin typeface="Arial"/>
                <a:cs typeface="Arial"/>
              </a:rPr>
              <a:t>In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code,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variable</a:t>
            </a:r>
            <a:r>
              <a:rPr spc="-140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$name</a:t>
            </a:r>
            <a:r>
              <a:rPr spc="-760" dirty="0">
                <a:latin typeface="Courier New"/>
                <a:cs typeface="Courier New"/>
              </a:rPr>
              <a:t> </a:t>
            </a:r>
            <a:r>
              <a:rPr spc="-95" dirty="0">
                <a:latin typeface="Arial"/>
                <a:cs typeface="Arial"/>
              </a:rPr>
              <a:t>stores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value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script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retrieves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from</a:t>
            </a:r>
            <a:endParaRPr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70"/>
              </a:spcBef>
            </a:pPr>
            <a:r>
              <a:rPr spc="-20" dirty="0">
                <a:latin typeface="Arial"/>
                <a:cs typeface="Arial"/>
              </a:rPr>
              <a:t>the </a:t>
            </a:r>
            <a:r>
              <a:rPr spc="-170" dirty="0">
                <a:latin typeface="Arial"/>
                <a:cs typeface="Arial"/>
              </a:rPr>
              <a:t>HTML</a:t>
            </a:r>
            <a:r>
              <a:rPr spc="-19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form</a:t>
            </a:r>
            <a:endParaRPr dirty="0">
              <a:latin typeface="Arial"/>
              <a:cs typeface="Arial"/>
            </a:endParaRPr>
          </a:p>
          <a:p>
            <a:pPr marL="355600" marR="718185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30" dirty="0">
                <a:latin typeface="Arial"/>
                <a:cs typeface="Arial"/>
              </a:rPr>
              <a:t>This </a:t>
            </a:r>
            <a:r>
              <a:rPr spc="-120" dirty="0">
                <a:latin typeface="Arial"/>
                <a:cs typeface="Arial"/>
              </a:rPr>
              <a:t>process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50" dirty="0">
                <a:latin typeface="Arial"/>
                <a:cs typeface="Arial"/>
              </a:rPr>
              <a:t>transferring </a:t>
            </a:r>
            <a:r>
              <a:rPr spc="-95" dirty="0">
                <a:latin typeface="Arial"/>
                <a:cs typeface="Arial"/>
              </a:rPr>
              <a:t>user </a:t>
            </a:r>
            <a:r>
              <a:rPr spc="-30" dirty="0">
                <a:latin typeface="Arial"/>
                <a:cs typeface="Arial"/>
              </a:rPr>
              <a:t>information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15" dirty="0">
                <a:latin typeface="Arial"/>
                <a:cs typeface="Arial"/>
              </a:rPr>
              <a:t>time </a:t>
            </a:r>
            <a:r>
              <a:rPr spc="-95" dirty="0">
                <a:latin typeface="Arial"/>
                <a:cs typeface="Arial"/>
              </a:rPr>
              <a:t>consuming </a:t>
            </a:r>
            <a:r>
              <a:rPr spc="-90" dirty="0">
                <a:latin typeface="Arial"/>
                <a:cs typeface="Arial"/>
              </a:rPr>
              <a:t>and</a:t>
            </a:r>
            <a:r>
              <a:rPr spc="-29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not  </a:t>
            </a:r>
            <a:r>
              <a:rPr spc="-85" dirty="0">
                <a:latin typeface="Arial"/>
                <a:cs typeface="Arial"/>
              </a:rPr>
              <a:t>essential </a:t>
            </a:r>
            <a:r>
              <a:rPr spc="-5" dirty="0">
                <a:latin typeface="Arial"/>
                <a:cs typeface="Arial"/>
              </a:rPr>
              <a:t>for </a:t>
            </a:r>
            <a:r>
              <a:rPr spc="-85" dirty="0">
                <a:latin typeface="Arial"/>
                <a:cs typeface="Arial"/>
              </a:rPr>
              <a:t>large </a:t>
            </a:r>
            <a:r>
              <a:rPr spc="-120" dirty="0">
                <a:latin typeface="Arial"/>
                <a:cs typeface="Arial"/>
              </a:rPr>
              <a:t>Web</a:t>
            </a:r>
            <a:r>
              <a:rPr spc="-235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sites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0" dirty="0"/>
              <a:t>I</a:t>
            </a:r>
            <a:r>
              <a:rPr spc="-125" dirty="0"/>
              <a:t>m</a:t>
            </a:r>
            <a:r>
              <a:rPr spc="-135" dirty="0"/>
              <a:t>por</a:t>
            </a:r>
            <a:r>
              <a:rPr spc="-120" dirty="0"/>
              <a:t>t</a:t>
            </a:r>
            <a:r>
              <a:rPr spc="-165" dirty="0"/>
              <a:t>ance</a:t>
            </a:r>
            <a:r>
              <a:rPr spc="-170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0" dirty="0"/>
              <a:t>I</a:t>
            </a:r>
            <a:r>
              <a:rPr spc="-125" dirty="0"/>
              <a:t>m</a:t>
            </a:r>
            <a:r>
              <a:rPr spc="-135" dirty="0"/>
              <a:t>por</a:t>
            </a:r>
            <a:r>
              <a:rPr spc="-120" dirty="0"/>
              <a:t>t</a:t>
            </a:r>
            <a:r>
              <a:rPr spc="-165" dirty="0"/>
              <a:t>ance</a:t>
            </a:r>
            <a:r>
              <a:rPr spc="-170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/>
          <p:nvPr/>
        </p:nvSpPr>
        <p:spPr>
          <a:xfrm>
            <a:off x="761999" y="1828866"/>
            <a:ext cx="7076597" cy="2171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930910"/>
            <a:ext cx="8453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200" spc="-160" dirty="0">
                <a:latin typeface="Arial"/>
                <a:cs typeface="Arial"/>
              </a:rPr>
              <a:t>The </a:t>
            </a:r>
            <a:r>
              <a:rPr sz="2200" spc="-120" dirty="0">
                <a:latin typeface="Arial"/>
                <a:cs typeface="Arial"/>
              </a:rPr>
              <a:t>code </a:t>
            </a:r>
            <a:r>
              <a:rPr sz="2200" spc="10" dirty="0">
                <a:latin typeface="Arial"/>
                <a:cs typeface="Arial"/>
              </a:rPr>
              <a:t>to </a:t>
            </a:r>
            <a:r>
              <a:rPr sz="2200" spc="-105" dirty="0">
                <a:latin typeface="Arial"/>
                <a:cs typeface="Arial"/>
              </a:rPr>
              <a:t>be </a:t>
            </a:r>
            <a:r>
              <a:rPr sz="2200" spc="-135" dirty="0">
                <a:latin typeface="Arial"/>
                <a:cs typeface="Arial"/>
              </a:rPr>
              <a:t>used </a:t>
            </a:r>
            <a:r>
              <a:rPr sz="2200" spc="-155" dirty="0">
                <a:latin typeface="Arial"/>
                <a:cs typeface="Arial"/>
              </a:rPr>
              <a:t>across </a:t>
            </a:r>
            <a:r>
              <a:rPr sz="2200" spc="-50" dirty="0">
                <a:latin typeface="Arial"/>
                <a:cs typeface="Arial"/>
              </a:rPr>
              <a:t>all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35" dirty="0">
                <a:latin typeface="Arial"/>
                <a:cs typeface="Arial"/>
              </a:rPr>
              <a:t>Web </a:t>
            </a:r>
            <a:r>
              <a:rPr sz="2200" spc="-170" dirty="0">
                <a:latin typeface="Arial"/>
                <a:cs typeface="Arial"/>
              </a:rPr>
              <a:t>pages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35" dirty="0">
                <a:latin typeface="Arial"/>
                <a:cs typeface="Arial"/>
              </a:rPr>
              <a:t>Web </a:t>
            </a:r>
            <a:r>
              <a:rPr sz="2200" spc="-65" dirty="0">
                <a:latin typeface="Arial"/>
                <a:cs typeface="Arial"/>
              </a:rPr>
              <a:t>site </a:t>
            </a:r>
            <a:r>
              <a:rPr sz="2200" spc="-114" dirty="0">
                <a:latin typeface="Arial"/>
                <a:cs typeface="Arial"/>
              </a:rPr>
              <a:t>is </a:t>
            </a:r>
            <a:r>
              <a:rPr sz="2200" spc="-210" dirty="0">
                <a:latin typeface="Arial"/>
                <a:cs typeface="Arial"/>
              </a:rPr>
              <a:t>as  </a:t>
            </a:r>
            <a:r>
              <a:rPr sz="2200" spc="-50" dirty="0">
                <a:latin typeface="Arial"/>
                <a:cs typeface="Arial"/>
              </a:rPr>
              <a:t>follows: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27861"/>
            <a:ext cx="8128634" cy="19805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8542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30" dirty="0">
                <a:latin typeface="Arial"/>
                <a:cs typeface="Arial"/>
              </a:rPr>
              <a:t>Consider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10" dirty="0">
                <a:latin typeface="Arial"/>
                <a:cs typeface="Arial"/>
              </a:rPr>
              <a:t>scenario, </a:t>
            </a:r>
            <a:r>
              <a:rPr sz="2000" spc="-75" dirty="0">
                <a:latin typeface="Arial"/>
                <a:cs typeface="Arial"/>
              </a:rPr>
              <a:t>where </a:t>
            </a:r>
            <a:r>
              <a:rPr sz="2000" spc="75" dirty="0">
                <a:latin typeface="Arial"/>
                <a:cs typeface="Arial"/>
              </a:rPr>
              <a:t>it </a:t>
            </a:r>
            <a:r>
              <a:rPr sz="2000" spc="-125" dirty="0">
                <a:latin typeface="Arial"/>
                <a:cs typeface="Arial"/>
              </a:rPr>
              <a:t>is </a:t>
            </a:r>
            <a:r>
              <a:rPr sz="2000" spc="-60" dirty="0">
                <a:latin typeface="Arial"/>
                <a:cs typeface="Arial"/>
              </a:rPr>
              <a:t>required </a:t>
            </a:r>
            <a:r>
              <a:rPr sz="2000" spc="20" dirty="0">
                <a:latin typeface="Arial"/>
                <a:cs typeface="Arial"/>
              </a:rPr>
              <a:t>to</a:t>
            </a:r>
            <a:r>
              <a:rPr sz="2000" spc="-44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store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50" dirty="0">
                <a:latin typeface="Arial"/>
                <a:cs typeface="Arial"/>
              </a:rPr>
              <a:t>retrieve 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120" dirty="0">
                <a:latin typeface="Arial"/>
                <a:cs typeface="Arial"/>
              </a:rPr>
              <a:t>20 </a:t>
            </a:r>
            <a:r>
              <a:rPr sz="2000" spc="-20" dirty="0">
                <a:latin typeface="Arial"/>
                <a:cs typeface="Arial"/>
              </a:rPr>
              <a:t>or </a:t>
            </a:r>
            <a:r>
              <a:rPr sz="2000" spc="-75" dirty="0">
                <a:latin typeface="Arial"/>
                <a:cs typeface="Arial"/>
              </a:rPr>
              <a:t>more </a:t>
            </a:r>
            <a:r>
              <a:rPr sz="2000" spc="-150" dirty="0">
                <a:latin typeface="Arial"/>
                <a:cs typeface="Arial"/>
              </a:rPr>
              <a:t>users </a:t>
            </a:r>
            <a:r>
              <a:rPr sz="2000" spc="-165" dirty="0">
                <a:latin typeface="Arial"/>
                <a:cs typeface="Arial"/>
              </a:rPr>
              <a:t>across </a:t>
            </a:r>
            <a:r>
              <a:rPr sz="2000" spc="-120" dirty="0">
                <a:latin typeface="Arial"/>
                <a:cs typeface="Arial"/>
              </a:rPr>
              <a:t>10 </a:t>
            </a:r>
            <a:r>
              <a:rPr sz="2000" spc="-30" dirty="0">
                <a:latin typeface="Arial"/>
                <a:cs typeface="Arial"/>
              </a:rPr>
              <a:t>different</a:t>
            </a:r>
            <a:r>
              <a:rPr sz="2000" spc="-445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pages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3299"/>
              </a:lnSpc>
              <a:spcBef>
                <a:spcPts val="151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5" dirty="0">
                <a:latin typeface="Arial"/>
                <a:cs typeface="Arial"/>
              </a:rPr>
              <a:t>Due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to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this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disadvantage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using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</a:t>
            </a:r>
            <a:r>
              <a:rPr sz="2000" spc="-915" dirty="0">
                <a:latin typeface="Courier New"/>
                <a:cs typeface="Courier New"/>
              </a:rPr>
              <a:t>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5" dirty="0">
                <a:latin typeface="Courier New"/>
                <a:cs typeface="Courier New"/>
              </a:rPr>
              <a:t>POST</a:t>
            </a:r>
            <a:r>
              <a:rPr sz="2000" spc="-919" dirty="0">
                <a:latin typeface="Courier New"/>
                <a:cs typeface="Courier New"/>
              </a:rPr>
              <a:t> </a:t>
            </a:r>
            <a:r>
              <a:rPr sz="2000" spc="-85" dirty="0">
                <a:latin typeface="Arial"/>
                <a:cs typeface="Arial"/>
              </a:rPr>
              <a:t>methods, 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05" dirty="0">
                <a:latin typeface="Arial"/>
                <a:cs typeface="Arial"/>
              </a:rPr>
              <a:t>developers </a:t>
            </a:r>
            <a:r>
              <a:rPr sz="2000" spc="-55" dirty="0">
                <a:latin typeface="Arial"/>
                <a:cs typeface="Arial"/>
              </a:rPr>
              <a:t>prefer </a:t>
            </a:r>
            <a:r>
              <a:rPr sz="2000" spc="-125" dirty="0">
                <a:latin typeface="Arial"/>
                <a:cs typeface="Arial"/>
              </a:rPr>
              <a:t>using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cookies</a:t>
            </a:r>
            <a:endParaRPr sz="2000" dirty="0">
              <a:latin typeface="Arial"/>
              <a:cs typeface="Arial"/>
            </a:endParaRPr>
          </a:p>
          <a:p>
            <a:pPr marL="355600" marR="5080" indent="-1905">
              <a:lnSpc>
                <a:spcPct val="100000"/>
              </a:lnSpc>
              <a:spcBef>
                <a:spcPts val="1705"/>
              </a:spcBef>
            </a:pPr>
            <a:r>
              <a:rPr sz="2000" spc="-130" dirty="0">
                <a:latin typeface="Arial"/>
                <a:cs typeface="Arial"/>
              </a:rPr>
              <a:t>Figure displays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assignment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25" dirty="0">
                <a:latin typeface="Arial"/>
                <a:cs typeface="Arial"/>
              </a:rPr>
              <a:t>cookies </a:t>
            </a:r>
            <a:r>
              <a:rPr sz="2000" spc="-105" dirty="0">
                <a:latin typeface="Arial"/>
                <a:cs typeface="Arial"/>
              </a:rPr>
              <a:t>by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00" dirty="0">
                <a:latin typeface="Arial"/>
                <a:cs typeface="Arial"/>
              </a:rPr>
              <a:t>server</a:t>
            </a:r>
            <a:r>
              <a:rPr sz="2000" spc="-434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to 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browser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0" dirty="0"/>
              <a:t>I</a:t>
            </a:r>
            <a:r>
              <a:rPr spc="-125" dirty="0"/>
              <a:t>m</a:t>
            </a:r>
            <a:r>
              <a:rPr spc="-135" dirty="0"/>
              <a:t>por</a:t>
            </a:r>
            <a:r>
              <a:rPr spc="-120" dirty="0"/>
              <a:t>t</a:t>
            </a:r>
            <a:r>
              <a:rPr spc="-165" dirty="0"/>
              <a:t>ance</a:t>
            </a:r>
            <a:r>
              <a:rPr spc="-170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14" dirty="0"/>
              <a:t>Session</a:t>
            </a:r>
            <a:endParaRPr spc="-200" dirty="0"/>
          </a:p>
        </p:txBody>
      </p:sp>
      <p:sp>
        <p:nvSpPr>
          <p:cNvPr id="4" name="object 4"/>
          <p:cNvSpPr/>
          <p:nvPr/>
        </p:nvSpPr>
        <p:spPr>
          <a:xfrm>
            <a:off x="514351" y="3153290"/>
            <a:ext cx="7650646" cy="2523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0" dirty="0"/>
              <a:t>I</a:t>
            </a:r>
            <a:r>
              <a:rPr spc="-125" dirty="0"/>
              <a:t>m</a:t>
            </a:r>
            <a:r>
              <a:rPr spc="-135" dirty="0"/>
              <a:t>por</a:t>
            </a:r>
            <a:r>
              <a:rPr spc="-120" dirty="0"/>
              <a:t>t</a:t>
            </a:r>
            <a:r>
              <a:rPr spc="-165" dirty="0"/>
              <a:t>ance</a:t>
            </a:r>
            <a:r>
              <a:rPr spc="-170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927861"/>
            <a:ext cx="8455025" cy="265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5600" algn="l"/>
                <a:tab pos="356235" algn="l"/>
              </a:tabLst>
            </a:pPr>
            <a:r>
              <a:rPr sz="2400" spc="-160" dirty="0">
                <a:latin typeface="Arial"/>
                <a:cs typeface="Arial"/>
              </a:rPr>
              <a:t>Cookies </a:t>
            </a:r>
            <a:r>
              <a:rPr sz="2400" spc="-100" dirty="0">
                <a:latin typeface="Arial"/>
                <a:cs typeface="Arial"/>
              </a:rPr>
              <a:t>enable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80" dirty="0">
                <a:latin typeface="Arial"/>
                <a:cs typeface="Arial"/>
              </a:rPr>
              <a:t>store </a:t>
            </a:r>
            <a:r>
              <a:rPr sz="2400" spc="-95" dirty="0">
                <a:latin typeface="Arial"/>
                <a:cs typeface="Arial"/>
              </a:rPr>
              <a:t>data </a:t>
            </a:r>
            <a:r>
              <a:rPr sz="2400" spc="-10" dirty="0">
                <a:latin typeface="Arial"/>
                <a:cs typeface="Arial"/>
              </a:rPr>
              <a:t>into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variable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204" dirty="0">
                <a:latin typeface="Arial"/>
                <a:cs typeface="Arial"/>
              </a:rPr>
              <a:t>access </a:t>
            </a:r>
            <a:r>
              <a:rPr sz="2400" spc="75" dirty="0">
                <a:latin typeface="Arial"/>
                <a:cs typeface="Arial"/>
              </a:rPr>
              <a:t>it </a:t>
            </a:r>
            <a:r>
              <a:rPr sz="2400" spc="-170" dirty="0">
                <a:latin typeface="Arial"/>
                <a:cs typeface="Arial"/>
              </a:rPr>
              <a:t>across  </a:t>
            </a:r>
            <a:r>
              <a:rPr sz="2400" spc="-50" dirty="0">
                <a:latin typeface="Arial"/>
                <a:cs typeface="Arial"/>
              </a:rPr>
              <a:t>all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85" dirty="0">
                <a:latin typeface="Arial"/>
                <a:cs typeface="Arial"/>
              </a:rPr>
              <a:t>pages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45" dirty="0">
                <a:latin typeface="Arial"/>
                <a:cs typeface="Arial"/>
              </a:rPr>
              <a:t>Web</a:t>
            </a:r>
            <a:r>
              <a:rPr sz="2400" spc="-47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site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5600" algn="l"/>
                <a:tab pos="356235" algn="l"/>
              </a:tabLst>
            </a:pPr>
            <a:r>
              <a:rPr sz="2400" spc="-160" dirty="0">
                <a:latin typeface="Arial"/>
                <a:cs typeface="Arial"/>
              </a:rPr>
              <a:t>Cookies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75" dirty="0">
                <a:latin typeface="Arial"/>
                <a:cs typeface="Arial"/>
              </a:rPr>
              <a:t>prone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75" dirty="0">
                <a:latin typeface="Arial"/>
                <a:cs typeface="Arial"/>
              </a:rPr>
              <a:t>security </a:t>
            </a:r>
            <a:r>
              <a:rPr sz="2400" spc="-125" dirty="0">
                <a:latin typeface="Arial"/>
                <a:cs typeface="Arial"/>
              </a:rPr>
              <a:t>risks </a:t>
            </a:r>
            <a:r>
              <a:rPr sz="2400" spc="-160" dirty="0">
                <a:latin typeface="Arial"/>
                <a:cs typeface="Arial"/>
              </a:rPr>
              <a:t>because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4" dirty="0">
                <a:latin typeface="Arial"/>
                <a:cs typeface="Arial"/>
              </a:rPr>
              <a:t>user </a:t>
            </a:r>
            <a:r>
              <a:rPr sz="2400" spc="-35" dirty="0">
                <a:latin typeface="Arial"/>
                <a:cs typeface="Arial"/>
              </a:rPr>
              <a:t>information 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175" dirty="0">
                <a:latin typeface="Arial"/>
                <a:cs typeface="Arial"/>
              </a:rPr>
              <a:t>saved </a:t>
            </a:r>
            <a:r>
              <a:rPr sz="2400" spc="-40" dirty="0">
                <a:latin typeface="Arial"/>
                <a:cs typeface="Arial"/>
              </a:rPr>
              <a:t>at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client-end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5600" algn="l"/>
                <a:tab pos="356235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risks </a:t>
            </a:r>
            <a:r>
              <a:rPr sz="2400" spc="-85" dirty="0">
                <a:latin typeface="Arial"/>
                <a:cs typeface="Arial"/>
              </a:rPr>
              <a:t>involved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80" dirty="0">
                <a:latin typeface="Arial"/>
                <a:cs typeface="Arial"/>
              </a:rPr>
              <a:t>greater when </a:t>
            </a:r>
            <a:r>
              <a:rPr sz="2400" spc="-150" dirty="0">
                <a:latin typeface="Arial"/>
                <a:cs typeface="Arial"/>
              </a:rPr>
              <a:t>users </a:t>
            </a:r>
            <a:r>
              <a:rPr sz="2400" spc="-204" dirty="0">
                <a:latin typeface="Arial"/>
                <a:cs typeface="Arial"/>
              </a:rPr>
              <a:t>access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110" dirty="0">
                <a:latin typeface="Arial"/>
                <a:cs typeface="Arial"/>
              </a:rPr>
              <a:t>sites </a:t>
            </a:r>
            <a:r>
              <a:rPr sz="2400" spc="-25" dirty="0">
                <a:latin typeface="Arial"/>
                <a:cs typeface="Arial"/>
              </a:rPr>
              <a:t>from 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public </a:t>
            </a:r>
            <a:r>
              <a:rPr sz="2400" spc="-65" dirty="0">
                <a:latin typeface="Arial"/>
                <a:cs typeface="Arial"/>
              </a:rPr>
              <a:t>computer </a:t>
            </a:r>
            <a:r>
              <a:rPr sz="2400" spc="-20" dirty="0">
                <a:latin typeface="Arial"/>
                <a:cs typeface="Arial"/>
              </a:rPr>
              <a:t>or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125" dirty="0">
                <a:latin typeface="Arial"/>
                <a:cs typeface="Arial"/>
              </a:rPr>
              <a:t>shared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computer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650142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Importance </a:t>
            </a:r>
            <a:r>
              <a:rPr spc="-105" dirty="0"/>
              <a:t>of </a:t>
            </a:r>
            <a:r>
              <a:rPr spc="-100" dirty="0"/>
              <a:t>a</a:t>
            </a:r>
            <a:r>
              <a:rPr spc="-360" dirty="0"/>
              <a:t> </a:t>
            </a:r>
            <a:r>
              <a:rPr spc="-114" dirty="0"/>
              <a:t>Session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654" y="793867"/>
            <a:ext cx="7975600" cy="43043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40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400" b="1" spc="-204" dirty="0">
                <a:latin typeface="Trebuchet MS"/>
                <a:cs typeface="Trebuchet MS"/>
              </a:rPr>
              <a:t>Size </a:t>
            </a:r>
            <a:r>
              <a:rPr sz="2400" b="1" spc="-105" dirty="0">
                <a:latin typeface="Trebuchet MS"/>
                <a:cs typeface="Trebuchet MS"/>
              </a:rPr>
              <a:t>of </a:t>
            </a:r>
            <a:r>
              <a:rPr sz="2400" b="1" spc="-160" dirty="0">
                <a:latin typeface="Trebuchet MS"/>
                <a:cs typeface="Trebuchet MS"/>
              </a:rPr>
              <a:t>the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spc="-165" dirty="0">
                <a:latin typeface="Trebuchet MS"/>
                <a:cs typeface="Trebuchet MS"/>
              </a:rPr>
              <a:t>cookie:</a:t>
            </a:r>
            <a:endParaRPr sz="2400" dirty="0">
              <a:latin typeface="Trebuchet MS"/>
              <a:cs typeface="Trebuchet MS"/>
            </a:endParaRPr>
          </a:p>
          <a:p>
            <a:pPr marL="697865" marR="1404620" indent="-228600">
              <a:lnSpc>
                <a:spcPct val="100000"/>
              </a:lnSpc>
              <a:spcBef>
                <a:spcPts val="1710"/>
              </a:spcBef>
            </a:pPr>
            <a:r>
              <a:rPr sz="900" spc="31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65" dirty="0">
                <a:latin typeface="Arial"/>
                <a:cs typeface="Arial"/>
              </a:rPr>
              <a:t>amount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80" dirty="0">
                <a:latin typeface="Arial"/>
                <a:cs typeface="Arial"/>
              </a:rPr>
              <a:t>stored </a:t>
            </a:r>
            <a:r>
              <a:rPr sz="2000" spc="-30" dirty="0">
                <a:latin typeface="Arial"/>
                <a:cs typeface="Arial"/>
              </a:rPr>
              <a:t>in the  </a:t>
            </a:r>
            <a:r>
              <a:rPr sz="2000" spc="-130" dirty="0">
                <a:latin typeface="Arial"/>
                <a:cs typeface="Arial"/>
              </a:rPr>
              <a:t>cookie </a:t>
            </a:r>
            <a:r>
              <a:rPr sz="2000" spc="-80" dirty="0">
                <a:latin typeface="Arial"/>
                <a:cs typeface="Arial"/>
              </a:rPr>
              <a:t>determines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80" dirty="0">
                <a:latin typeface="Arial"/>
                <a:cs typeface="Arial"/>
              </a:rPr>
              <a:t>size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cookie</a:t>
            </a:r>
            <a:endParaRPr sz="2000" dirty="0">
              <a:latin typeface="Arial"/>
              <a:cs typeface="Arial"/>
            </a:endParaRPr>
          </a:p>
          <a:p>
            <a:pPr marL="697865" marR="5080" indent="-228600">
              <a:lnSpc>
                <a:spcPct val="100200"/>
              </a:lnSpc>
              <a:spcBef>
                <a:spcPts val="1700"/>
              </a:spcBef>
            </a:pPr>
            <a:r>
              <a:rPr sz="900" spc="31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80" dirty="0">
                <a:latin typeface="Arial"/>
                <a:cs typeface="Arial"/>
              </a:rPr>
              <a:t>size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cookie </a:t>
            </a:r>
            <a:r>
              <a:rPr sz="2000" spc="-80" dirty="0">
                <a:latin typeface="Arial"/>
                <a:cs typeface="Arial"/>
              </a:rPr>
              <a:t>determines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80" dirty="0">
                <a:latin typeface="Arial"/>
                <a:cs typeface="Arial"/>
              </a:rPr>
              <a:t>size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290" dirty="0">
                <a:latin typeface="Arial"/>
                <a:cs typeface="Arial"/>
              </a:rPr>
              <a:t> </a:t>
            </a:r>
            <a:r>
              <a:rPr sz="2000" spc="-220" dirty="0">
                <a:latin typeface="Arial"/>
                <a:cs typeface="Arial"/>
              </a:rPr>
              <a:t>page 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125" dirty="0">
                <a:latin typeface="Arial"/>
                <a:cs typeface="Arial"/>
              </a:rPr>
              <a:t>increase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180" dirty="0">
                <a:latin typeface="Arial"/>
                <a:cs typeface="Arial"/>
              </a:rPr>
              <a:t>size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60" dirty="0">
                <a:latin typeface="Arial"/>
                <a:cs typeface="Arial"/>
              </a:rPr>
              <a:t>page </a:t>
            </a:r>
            <a:r>
              <a:rPr sz="2000" spc="-85" dirty="0">
                <a:latin typeface="Arial"/>
                <a:cs typeface="Arial"/>
              </a:rPr>
              <a:t>results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55" dirty="0">
                <a:latin typeface="Arial"/>
                <a:cs typeface="Arial"/>
              </a:rPr>
              <a:t>poor  </a:t>
            </a:r>
            <a:r>
              <a:rPr sz="2000" spc="-85" dirty="0">
                <a:latin typeface="Arial"/>
                <a:cs typeface="Arial"/>
              </a:rPr>
              <a:t>performance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200" spc="40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400" b="1" spc="-140" dirty="0">
                <a:latin typeface="Trebuchet MS"/>
                <a:cs typeface="Trebuchet MS"/>
              </a:rPr>
              <a:t>Cookies</a:t>
            </a:r>
            <a:r>
              <a:rPr sz="2400" b="1" spc="15" dirty="0">
                <a:latin typeface="Trebuchet MS"/>
                <a:cs typeface="Trebuchet MS"/>
              </a:rPr>
              <a:t> </a:t>
            </a:r>
            <a:r>
              <a:rPr sz="2400" b="1" spc="-140" dirty="0">
                <a:latin typeface="Trebuchet MS"/>
                <a:cs typeface="Trebuchet MS"/>
              </a:rPr>
              <a:t>disabled:</a:t>
            </a:r>
            <a:endParaRPr sz="2400" dirty="0">
              <a:latin typeface="Trebuchet MS"/>
              <a:cs typeface="Trebuchet MS"/>
            </a:endParaRPr>
          </a:p>
          <a:p>
            <a:pPr marL="697865" marR="212090" indent="-228600">
              <a:lnSpc>
                <a:spcPct val="100000"/>
              </a:lnSpc>
              <a:spcBef>
                <a:spcPts val="1710"/>
              </a:spcBef>
            </a:pPr>
            <a:r>
              <a:rPr sz="900" spc="31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10" dirty="0">
                <a:latin typeface="Arial"/>
                <a:cs typeface="Arial"/>
              </a:rPr>
              <a:t>sites </a:t>
            </a:r>
            <a:r>
              <a:rPr sz="2000" spc="-80" dirty="0">
                <a:latin typeface="Arial"/>
                <a:cs typeface="Arial"/>
              </a:rPr>
              <a:t>store </a:t>
            </a:r>
            <a:r>
              <a:rPr sz="2000" spc="-125" dirty="0">
                <a:latin typeface="Arial"/>
                <a:cs typeface="Arial"/>
              </a:rPr>
              <a:t>cookies </a:t>
            </a:r>
            <a:r>
              <a:rPr sz="2000" spc="-75" dirty="0">
                <a:latin typeface="Arial"/>
                <a:cs typeface="Arial"/>
              </a:rPr>
              <a:t>on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90" dirty="0">
                <a:latin typeface="Arial"/>
                <a:cs typeface="Arial"/>
              </a:rPr>
              <a:t>hard </a:t>
            </a:r>
            <a:r>
              <a:rPr sz="2000" spc="-114" dirty="0">
                <a:latin typeface="Arial"/>
                <a:cs typeface="Arial"/>
              </a:rPr>
              <a:t>disk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client </a:t>
            </a:r>
            <a:r>
              <a:rPr sz="2000" spc="-225" dirty="0">
                <a:latin typeface="Arial"/>
                <a:cs typeface="Arial"/>
              </a:rPr>
              <a:t>as</a:t>
            </a:r>
            <a:r>
              <a:rPr sz="2000" spc="-409" dirty="0">
                <a:latin typeface="Arial"/>
                <a:cs typeface="Arial"/>
              </a:rPr>
              <a:t> </a:t>
            </a:r>
            <a:r>
              <a:rPr sz="2000" spc="-434" dirty="0">
                <a:latin typeface="Arial"/>
                <a:cs typeface="Arial"/>
              </a:rPr>
              <a:t>a  </a:t>
            </a:r>
            <a:r>
              <a:rPr sz="2000" spc="-55" dirty="0">
                <a:latin typeface="Arial"/>
                <a:cs typeface="Arial"/>
              </a:rPr>
              <a:t>result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performance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434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computers </a:t>
            </a:r>
            <a:r>
              <a:rPr sz="2000" spc="-125" dirty="0">
                <a:latin typeface="Arial"/>
                <a:cs typeface="Arial"/>
              </a:rPr>
              <a:t>reduces</a:t>
            </a:r>
            <a:endParaRPr sz="2000" dirty="0">
              <a:latin typeface="Arial"/>
              <a:cs typeface="Arial"/>
            </a:endParaRPr>
          </a:p>
          <a:p>
            <a:pPr marL="697865" marR="601980" indent="-228600">
              <a:lnSpc>
                <a:spcPct val="100000"/>
              </a:lnSpc>
              <a:spcBef>
                <a:spcPts val="1710"/>
              </a:spcBef>
            </a:pPr>
            <a:r>
              <a:rPr sz="900" spc="31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300" dirty="0">
                <a:latin typeface="Arial"/>
                <a:cs typeface="Arial"/>
              </a:rPr>
              <a:t>To </a:t>
            </a:r>
            <a:r>
              <a:rPr sz="2000" spc="-75" dirty="0">
                <a:latin typeface="Arial"/>
                <a:cs typeface="Arial"/>
              </a:rPr>
              <a:t>improve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performance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55" dirty="0">
                <a:latin typeface="Arial"/>
                <a:cs typeface="Arial"/>
              </a:rPr>
              <a:t>such </a:t>
            </a:r>
            <a:r>
              <a:rPr sz="2000" spc="-90" dirty="0">
                <a:latin typeface="Arial"/>
                <a:cs typeface="Arial"/>
              </a:rPr>
              <a:t>computers, </a:t>
            </a:r>
            <a:r>
              <a:rPr sz="2000" spc="-195" dirty="0">
                <a:latin typeface="Arial"/>
                <a:cs typeface="Arial"/>
              </a:rPr>
              <a:t>users  </a:t>
            </a:r>
            <a:r>
              <a:rPr sz="2000" spc="-105" dirty="0">
                <a:latin typeface="Arial"/>
                <a:cs typeface="Arial"/>
              </a:rPr>
              <a:t>disable </a:t>
            </a:r>
            <a:r>
              <a:rPr sz="2000" spc="-125" dirty="0">
                <a:latin typeface="Arial"/>
                <a:cs typeface="Arial"/>
              </a:rPr>
              <a:t>cookies </a:t>
            </a:r>
            <a:r>
              <a:rPr sz="2000" spc="-110" dirty="0">
                <a:latin typeface="Arial"/>
                <a:cs typeface="Arial"/>
              </a:rPr>
              <a:t>making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20" dirty="0">
                <a:latin typeface="Arial"/>
                <a:cs typeface="Arial"/>
              </a:rPr>
              <a:t>assignment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25" dirty="0">
                <a:latin typeface="Arial"/>
                <a:cs typeface="Arial"/>
              </a:rPr>
              <a:t>cookies  </a:t>
            </a:r>
            <a:r>
              <a:rPr sz="2000" spc="-85" dirty="0">
                <a:latin typeface="Arial"/>
                <a:cs typeface="Arial"/>
              </a:rPr>
              <a:t>pointless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004061"/>
            <a:ext cx="8464550" cy="323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200" dirty="0">
                <a:latin typeface="Arial"/>
                <a:cs typeface="Arial"/>
              </a:rPr>
              <a:t>Sessions </a:t>
            </a:r>
            <a:r>
              <a:rPr sz="2400" spc="-105" dirty="0">
                <a:latin typeface="Arial"/>
                <a:cs typeface="Arial"/>
              </a:rPr>
              <a:t>play </a:t>
            </a:r>
            <a:r>
              <a:rPr sz="2400" spc="-130" dirty="0">
                <a:latin typeface="Arial"/>
                <a:cs typeface="Arial"/>
              </a:rPr>
              <a:t>an </a:t>
            </a:r>
            <a:r>
              <a:rPr sz="2400" spc="-25" dirty="0">
                <a:latin typeface="Arial"/>
                <a:cs typeface="Arial"/>
              </a:rPr>
              <a:t>important </a:t>
            </a:r>
            <a:r>
              <a:rPr sz="2400" spc="-50" dirty="0">
                <a:latin typeface="Arial"/>
                <a:cs typeface="Arial"/>
              </a:rPr>
              <a:t>role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150" dirty="0">
                <a:latin typeface="Arial"/>
                <a:cs typeface="Arial"/>
              </a:rPr>
              <a:t>such</a:t>
            </a:r>
            <a:r>
              <a:rPr sz="2400" spc="-38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situations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200" dirty="0">
                <a:latin typeface="Arial"/>
                <a:cs typeface="Arial"/>
              </a:rPr>
              <a:t>Sessions </a:t>
            </a:r>
            <a:r>
              <a:rPr sz="2400" spc="-55" dirty="0">
                <a:latin typeface="Arial"/>
                <a:cs typeface="Arial"/>
              </a:rPr>
              <a:t>eliminate </a:t>
            </a:r>
            <a:r>
              <a:rPr sz="2400" spc="-45" dirty="0">
                <a:latin typeface="Arial"/>
                <a:cs typeface="Arial"/>
              </a:rPr>
              <a:t>deletion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assignment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80" dirty="0">
                <a:latin typeface="Arial"/>
                <a:cs typeface="Arial"/>
              </a:rPr>
              <a:t>new </a:t>
            </a:r>
            <a:r>
              <a:rPr sz="2400" spc="-120" dirty="0">
                <a:latin typeface="Arial"/>
                <a:cs typeface="Arial"/>
              </a:rPr>
              <a:t>cookies</a:t>
            </a:r>
            <a:r>
              <a:rPr sz="2400" spc="-42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70" dirty="0">
                <a:latin typeface="Arial"/>
                <a:cs typeface="Arial"/>
              </a:rPr>
              <a:t>same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user</a:t>
            </a:r>
            <a:endParaRPr sz="2400">
              <a:latin typeface="Arial"/>
              <a:cs typeface="Arial"/>
            </a:endParaRPr>
          </a:p>
          <a:p>
            <a:pPr marL="355600" marR="43688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size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05" dirty="0">
                <a:latin typeface="Arial"/>
                <a:cs typeface="Arial"/>
              </a:rPr>
              <a:t>cookie </a:t>
            </a:r>
            <a:r>
              <a:rPr sz="2400" spc="-140" dirty="0">
                <a:latin typeface="Arial"/>
                <a:cs typeface="Arial"/>
              </a:rPr>
              <a:t>does </a:t>
            </a:r>
            <a:r>
              <a:rPr sz="2400" spc="-10" dirty="0">
                <a:latin typeface="Arial"/>
                <a:cs typeface="Arial"/>
              </a:rPr>
              <a:t>not </a:t>
            </a:r>
            <a:r>
              <a:rPr sz="2400" spc="-55" dirty="0">
                <a:latin typeface="Arial"/>
                <a:cs typeface="Arial"/>
              </a:rPr>
              <a:t>affect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performance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45" dirty="0">
                <a:latin typeface="Arial"/>
                <a:cs typeface="Arial"/>
              </a:rPr>
              <a:t>Web  </a:t>
            </a:r>
            <a:r>
              <a:rPr sz="2400" spc="-70" dirty="0">
                <a:latin typeface="Arial"/>
                <a:cs typeface="Arial"/>
              </a:rPr>
              <a:t>site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80" dirty="0">
                <a:latin typeface="Arial"/>
                <a:cs typeface="Arial"/>
              </a:rPr>
              <a:t>Both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40" dirty="0">
                <a:latin typeface="Arial"/>
                <a:cs typeface="Arial"/>
              </a:rPr>
              <a:t>Web </a:t>
            </a:r>
            <a:r>
              <a:rPr sz="2400" spc="-100" dirty="0">
                <a:latin typeface="Arial"/>
                <a:cs typeface="Arial"/>
              </a:rPr>
              <a:t>server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85" dirty="0">
                <a:latin typeface="Arial"/>
                <a:cs typeface="Arial"/>
              </a:rPr>
              <a:t>browser </a:t>
            </a:r>
            <a:r>
              <a:rPr sz="2400" spc="-35" dirty="0">
                <a:latin typeface="Arial"/>
                <a:cs typeface="Arial"/>
              </a:rPr>
              <a:t>benefit </a:t>
            </a:r>
            <a:r>
              <a:rPr sz="2400" spc="-160" dirty="0">
                <a:latin typeface="Arial"/>
                <a:cs typeface="Arial"/>
              </a:rPr>
              <a:t>because</a:t>
            </a:r>
            <a:r>
              <a:rPr sz="2400" spc="-31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statistical  </a:t>
            </a:r>
            <a:r>
              <a:rPr sz="2400" spc="-35" dirty="0">
                <a:latin typeface="Arial"/>
                <a:cs typeface="Arial"/>
              </a:rPr>
              <a:t>information </a:t>
            </a:r>
            <a:r>
              <a:rPr sz="2400" spc="-30" dirty="0">
                <a:latin typeface="Arial"/>
                <a:cs typeface="Arial"/>
              </a:rPr>
              <a:t>in the </a:t>
            </a:r>
            <a:r>
              <a:rPr sz="2400" spc="-100" dirty="0">
                <a:latin typeface="Arial"/>
                <a:cs typeface="Arial"/>
              </a:rPr>
              <a:t>server </a:t>
            </a:r>
            <a:r>
              <a:rPr sz="2400" spc="-130" dirty="0">
                <a:latin typeface="Arial"/>
                <a:cs typeface="Arial"/>
              </a:rPr>
              <a:t>database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accurate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16814"/>
            <a:ext cx="650142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Importance </a:t>
            </a:r>
            <a:r>
              <a:rPr spc="-105" dirty="0"/>
              <a:t>of </a:t>
            </a:r>
            <a:r>
              <a:rPr spc="-100" dirty="0"/>
              <a:t>a</a:t>
            </a:r>
            <a:r>
              <a:rPr spc="-360" dirty="0"/>
              <a:t> </a:t>
            </a:r>
            <a:r>
              <a:rPr spc="-114" dirty="0"/>
              <a:t>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850138"/>
            <a:ext cx="79387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90" dirty="0">
                <a:latin typeface="Arial"/>
                <a:cs typeface="Arial"/>
              </a:rPr>
              <a:t>Table </a:t>
            </a:r>
            <a:r>
              <a:rPr sz="2600" spc="-125" dirty="0">
                <a:latin typeface="Arial"/>
                <a:cs typeface="Arial"/>
              </a:rPr>
              <a:t>explains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75" dirty="0">
                <a:latin typeface="Arial"/>
                <a:cs typeface="Arial"/>
              </a:rPr>
              <a:t>difference between </a:t>
            </a:r>
            <a:r>
              <a:rPr sz="2600" spc="-135" dirty="0">
                <a:latin typeface="Arial"/>
                <a:cs typeface="Arial"/>
              </a:rPr>
              <a:t>cookies </a:t>
            </a:r>
            <a:r>
              <a:rPr sz="2600" spc="-120" dirty="0">
                <a:latin typeface="Arial"/>
                <a:cs typeface="Arial"/>
              </a:rPr>
              <a:t>and</a:t>
            </a:r>
            <a:r>
              <a:rPr sz="2600" spc="-455" dirty="0">
                <a:latin typeface="Arial"/>
                <a:cs typeface="Arial"/>
              </a:rPr>
              <a:t> </a:t>
            </a:r>
            <a:r>
              <a:rPr sz="2600" spc="-185" dirty="0">
                <a:latin typeface="Arial"/>
                <a:cs typeface="Arial"/>
              </a:rPr>
              <a:t>sessions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0" dirty="0"/>
              <a:t>I</a:t>
            </a:r>
            <a:r>
              <a:rPr spc="-125" dirty="0"/>
              <a:t>m</a:t>
            </a:r>
            <a:r>
              <a:rPr spc="-135" dirty="0"/>
              <a:t>por</a:t>
            </a:r>
            <a:r>
              <a:rPr spc="-120" dirty="0"/>
              <a:t>t</a:t>
            </a:r>
            <a:r>
              <a:rPr spc="-165" dirty="0"/>
              <a:t>ance</a:t>
            </a:r>
            <a:r>
              <a:rPr spc="-170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1462" y="1514475"/>
          <a:ext cx="8713470" cy="207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7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b="1" spc="-85" dirty="0">
                          <a:latin typeface="Trebuchet MS"/>
                          <a:cs typeface="Trebuchet MS"/>
                        </a:rPr>
                        <a:t>Cookies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b="1" spc="-65" dirty="0">
                          <a:latin typeface="Trebuchet MS"/>
                          <a:cs typeface="Trebuchet MS"/>
                        </a:rPr>
                        <a:t>Sessions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97790" marR="3657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95" dirty="0">
                          <a:latin typeface="Arial"/>
                          <a:cs typeface="Arial"/>
                        </a:rPr>
                        <a:t>Stores 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user </a:t>
                      </a:r>
                      <a:r>
                        <a:rPr sz="1500" spc="-25" dirty="0">
                          <a:latin typeface="Arial"/>
                          <a:cs typeface="Arial"/>
                        </a:rPr>
                        <a:t>information </a:t>
                      </a:r>
                      <a:r>
                        <a:rPr sz="1500" spc="-50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500" spc="-25" dirty="0">
                          <a:latin typeface="Arial"/>
                          <a:cs typeface="Arial"/>
                        </a:rPr>
                        <a:t>client</a:t>
                      </a:r>
                      <a:r>
                        <a:rPr sz="15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90" dirty="0">
                          <a:latin typeface="Arial"/>
                          <a:cs typeface="Arial"/>
                        </a:rPr>
                        <a:t>system  </a:t>
                      </a:r>
                      <a:r>
                        <a:rPr sz="1500" spc="-85" dirty="0">
                          <a:latin typeface="Arial"/>
                          <a:cs typeface="Arial"/>
                        </a:rPr>
                        <a:t>(Web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70" dirty="0">
                          <a:latin typeface="Arial"/>
                          <a:cs typeface="Arial"/>
                        </a:rPr>
                        <a:t>Browser)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95" dirty="0">
                          <a:latin typeface="Arial"/>
                          <a:cs typeface="Arial"/>
                        </a:rPr>
                        <a:t>Stores 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user </a:t>
                      </a:r>
                      <a:r>
                        <a:rPr sz="1500" spc="-25" dirty="0">
                          <a:latin typeface="Arial"/>
                          <a:cs typeface="Arial"/>
                        </a:rPr>
                        <a:t>information </a:t>
                      </a:r>
                      <a:r>
                        <a:rPr sz="1500" spc="-50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500" spc="-95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1500" spc="-2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65" dirty="0">
                          <a:latin typeface="Arial"/>
                          <a:cs typeface="Arial"/>
                        </a:rPr>
                        <a:t>server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97790" marR="4692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70" dirty="0">
                          <a:latin typeface="Arial"/>
                          <a:cs typeface="Arial"/>
                        </a:rPr>
                        <a:t>Available </a:t>
                      </a:r>
                      <a:r>
                        <a:rPr sz="1500" spc="-85" dirty="0">
                          <a:latin typeface="Arial"/>
                          <a:cs typeface="Arial"/>
                        </a:rPr>
                        <a:t>even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after the 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user </a:t>
                      </a:r>
                      <a:r>
                        <a:rPr sz="1500" spc="-60" dirty="0">
                          <a:latin typeface="Arial"/>
                          <a:cs typeface="Arial"/>
                        </a:rPr>
                        <a:t>exits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500" spc="-2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95" dirty="0">
                          <a:latin typeface="Arial"/>
                          <a:cs typeface="Arial"/>
                        </a:rPr>
                        <a:t>Web  </a:t>
                      </a:r>
                      <a:r>
                        <a:rPr sz="1500" spc="-55" dirty="0">
                          <a:latin typeface="Arial"/>
                          <a:cs typeface="Arial"/>
                        </a:rPr>
                        <a:t>browser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75" dirty="0">
                          <a:latin typeface="Arial"/>
                          <a:cs typeface="Arial"/>
                        </a:rPr>
                        <a:t>Destroyed </a:t>
                      </a:r>
                      <a:r>
                        <a:rPr sz="1500" spc="-50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user </a:t>
                      </a:r>
                      <a:r>
                        <a:rPr sz="1500" spc="-60" dirty="0">
                          <a:latin typeface="Arial"/>
                          <a:cs typeface="Arial"/>
                        </a:rPr>
                        <a:t>exits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500" spc="-95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1500" spc="-2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55" dirty="0">
                          <a:latin typeface="Arial"/>
                          <a:cs typeface="Arial"/>
                        </a:rPr>
                        <a:t>browser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110" dirty="0">
                          <a:latin typeface="Arial"/>
                          <a:cs typeface="Arial"/>
                        </a:rPr>
                        <a:t>Users </a:t>
                      </a:r>
                      <a:r>
                        <a:rPr sz="1500" spc="-100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1500" spc="-65" dirty="0">
                          <a:latin typeface="Arial"/>
                          <a:cs typeface="Arial"/>
                        </a:rPr>
                        <a:t>disable</a:t>
                      </a:r>
                      <a:r>
                        <a:rPr sz="15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80" dirty="0">
                          <a:latin typeface="Arial"/>
                          <a:cs typeface="Arial"/>
                        </a:rPr>
                        <a:t>cookies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110" dirty="0">
                          <a:latin typeface="Arial"/>
                          <a:cs typeface="Arial"/>
                        </a:rPr>
                        <a:t>Users </a:t>
                      </a:r>
                      <a:r>
                        <a:rPr sz="1500" spc="-55" dirty="0">
                          <a:latin typeface="Arial"/>
                          <a:cs typeface="Arial"/>
                        </a:rPr>
                        <a:t>cannot </a:t>
                      </a:r>
                      <a:r>
                        <a:rPr sz="1500" spc="-65" dirty="0">
                          <a:latin typeface="Arial"/>
                          <a:cs typeface="Arial"/>
                        </a:rPr>
                        <a:t>disable</a:t>
                      </a:r>
                      <a:r>
                        <a:rPr sz="15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10" dirty="0">
                          <a:latin typeface="Arial"/>
                          <a:cs typeface="Arial"/>
                        </a:rPr>
                        <a:t>sessions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20" dirty="0">
                          <a:latin typeface="Arial"/>
                          <a:cs typeface="Arial"/>
                        </a:rPr>
                        <a:t>Have </a:t>
                      </a:r>
                      <a:r>
                        <a:rPr sz="1500" spc="-114" dirty="0">
                          <a:latin typeface="Arial"/>
                          <a:cs typeface="Arial"/>
                        </a:rPr>
                        <a:t>size</a:t>
                      </a:r>
                      <a:r>
                        <a:rPr sz="15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limits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5" dirty="0">
                          <a:latin typeface="Arial"/>
                          <a:cs typeface="Arial"/>
                        </a:rPr>
                        <a:t>Do </a:t>
                      </a:r>
                      <a:r>
                        <a:rPr sz="1500" spc="-5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500" spc="-95" dirty="0">
                          <a:latin typeface="Arial"/>
                          <a:cs typeface="Arial"/>
                        </a:rPr>
                        <a:t>have </a:t>
                      </a:r>
                      <a:r>
                        <a:rPr sz="1500" spc="-114" dirty="0">
                          <a:latin typeface="Arial"/>
                          <a:cs typeface="Arial"/>
                        </a:rPr>
                        <a:t>size</a:t>
                      </a:r>
                      <a:r>
                        <a:rPr sz="15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20" dirty="0">
                          <a:latin typeface="Arial"/>
                          <a:cs typeface="Arial"/>
                        </a:rPr>
                        <a:t>limits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12681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10" dirty="0"/>
              <a:t>Sessions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850138"/>
            <a:ext cx="8455660" cy="42684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04" dirty="0">
                <a:latin typeface="Arial"/>
                <a:cs typeface="Arial"/>
              </a:rPr>
              <a:t>Session </a:t>
            </a:r>
            <a:r>
              <a:rPr sz="2000" spc="-155" dirty="0">
                <a:latin typeface="Arial"/>
                <a:cs typeface="Arial"/>
              </a:rPr>
              <a:t>commences </a:t>
            </a:r>
            <a:r>
              <a:rPr sz="2000" spc="-85" dirty="0">
                <a:latin typeface="Arial"/>
                <a:cs typeface="Arial"/>
              </a:rPr>
              <a:t>when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30" dirty="0">
                <a:latin typeface="Arial"/>
                <a:cs typeface="Arial"/>
              </a:rPr>
              <a:t>user </a:t>
            </a:r>
            <a:r>
              <a:rPr sz="2000" spc="-225" dirty="0">
                <a:latin typeface="Arial"/>
                <a:cs typeface="Arial"/>
              </a:rPr>
              <a:t>accesses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35" dirty="0">
                <a:latin typeface="Arial"/>
                <a:cs typeface="Arial"/>
              </a:rPr>
              <a:t>session-enabled  </a:t>
            </a:r>
            <a:r>
              <a:rPr sz="2000" spc="-160" dirty="0">
                <a:latin typeface="Arial"/>
                <a:cs typeface="Arial"/>
              </a:rPr>
              <a:t>Web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site</a:t>
            </a:r>
            <a:endParaRPr sz="2000" dirty="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0" dirty="0">
                <a:latin typeface="Arial"/>
                <a:cs typeface="Arial"/>
              </a:rPr>
              <a:t>Web </a:t>
            </a:r>
            <a:r>
              <a:rPr sz="2000" spc="-110" dirty="0">
                <a:latin typeface="Arial"/>
                <a:cs typeface="Arial"/>
              </a:rPr>
              <a:t>server </a:t>
            </a:r>
            <a:r>
              <a:rPr sz="2000" spc="-195" dirty="0">
                <a:latin typeface="Arial"/>
                <a:cs typeface="Arial"/>
              </a:rPr>
              <a:t>assigns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unique </a:t>
            </a:r>
            <a:r>
              <a:rPr sz="2000" spc="-170" dirty="0">
                <a:latin typeface="Arial"/>
                <a:cs typeface="Arial"/>
              </a:rPr>
              <a:t>session </a:t>
            </a:r>
            <a:r>
              <a:rPr sz="2000" spc="-180" dirty="0">
                <a:latin typeface="Arial"/>
                <a:cs typeface="Arial"/>
              </a:rPr>
              <a:t>ID </a:t>
            </a:r>
            <a:r>
              <a:rPr sz="2000" spc="25" dirty="0">
                <a:latin typeface="Arial"/>
                <a:cs typeface="Arial"/>
              </a:rPr>
              <a:t>to </a:t>
            </a:r>
            <a:r>
              <a:rPr sz="2000" spc="-160" dirty="0">
                <a:latin typeface="Arial"/>
                <a:cs typeface="Arial"/>
              </a:rPr>
              <a:t>each </a:t>
            </a:r>
            <a:r>
              <a:rPr sz="2000" spc="-125" dirty="0">
                <a:latin typeface="Arial"/>
                <a:cs typeface="Arial"/>
              </a:rPr>
              <a:t>user </a:t>
            </a:r>
            <a:r>
              <a:rPr sz="2000" spc="-85" dirty="0">
                <a:latin typeface="Arial"/>
                <a:cs typeface="Arial"/>
              </a:rPr>
              <a:t>when 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25" dirty="0">
                <a:latin typeface="Arial"/>
                <a:cs typeface="Arial"/>
              </a:rPr>
              <a:t>user </a:t>
            </a:r>
            <a:r>
              <a:rPr sz="2000" spc="-80" dirty="0">
                <a:latin typeface="Arial"/>
                <a:cs typeface="Arial"/>
              </a:rPr>
              <a:t>starts </a:t>
            </a:r>
            <a:r>
              <a:rPr sz="2000" spc="-200" dirty="0">
                <a:latin typeface="Arial"/>
                <a:cs typeface="Arial"/>
              </a:rPr>
              <a:t>a</a:t>
            </a:r>
            <a:r>
              <a:rPr sz="2000" spc="-340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session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9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scripts </a:t>
            </a:r>
            <a:r>
              <a:rPr sz="2000" spc="-85" dirty="0">
                <a:latin typeface="Arial"/>
                <a:cs typeface="Arial"/>
              </a:rPr>
              <a:t>store </a:t>
            </a:r>
            <a:r>
              <a:rPr sz="2000" spc="-125" dirty="0">
                <a:latin typeface="Arial"/>
                <a:cs typeface="Arial"/>
              </a:rPr>
              <a:t>and </a:t>
            </a:r>
            <a:r>
              <a:rPr sz="2000" spc="-220" dirty="0">
                <a:latin typeface="Arial"/>
                <a:cs typeface="Arial"/>
              </a:rPr>
              <a:t>access </a:t>
            </a:r>
            <a:r>
              <a:rPr sz="2000" spc="-130" dirty="0">
                <a:latin typeface="Arial"/>
                <a:cs typeface="Arial"/>
              </a:rPr>
              <a:t>user </a:t>
            </a:r>
            <a:r>
              <a:rPr sz="2000" spc="-40" dirty="0">
                <a:latin typeface="Arial"/>
                <a:cs typeface="Arial"/>
              </a:rPr>
              <a:t>information </a:t>
            </a:r>
            <a:r>
              <a:rPr sz="2000" spc="-55" dirty="0">
                <a:latin typeface="Arial"/>
                <a:cs typeface="Arial"/>
              </a:rPr>
              <a:t>through </a:t>
            </a:r>
            <a:r>
              <a:rPr sz="2000" spc="-30" dirty="0">
                <a:latin typeface="Arial"/>
                <a:cs typeface="Arial"/>
              </a:rPr>
              <a:t>the  </a:t>
            </a:r>
            <a:r>
              <a:rPr sz="2000" spc="-170" dirty="0">
                <a:latin typeface="Arial"/>
                <a:cs typeface="Arial"/>
              </a:rPr>
              <a:t>session </a:t>
            </a:r>
            <a:r>
              <a:rPr sz="2000" spc="-175" dirty="0">
                <a:latin typeface="Arial"/>
                <a:cs typeface="Arial"/>
              </a:rPr>
              <a:t>ID </a:t>
            </a:r>
            <a:r>
              <a:rPr sz="2000" spc="-105" dirty="0">
                <a:latin typeface="Arial"/>
                <a:cs typeface="Arial"/>
              </a:rPr>
              <a:t>depending </a:t>
            </a:r>
            <a:r>
              <a:rPr sz="2000" spc="-85" dirty="0">
                <a:latin typeface="Arial"/>
                <a:cs typeface="Arial"/>
              </a:rPr>
              <a:t>on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50" dirty="0">
                <a:latin typeface="Arial"/>
                <a:cs typeface="Arial"/>
              </a:rPr>
              <a:t>following </a:t>
            </a:r>
            <a:r>
              <a:rPr sz="2000" spc="10" dirty="0">
                <a:latin typeface="Arial"/>
                <a:cs typeface="Arial"/>
              </a:rPr>
              <a:t>two</a:t>
            </a:r>
            <a:r>
              <a:rPr sz="2000" spc="-39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situations: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</a:pPr>
            <a:r>
              <a:rPr sz="1100" spc="40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b="1" spc="-140" dirty="0">
                <a:latin typeface="Trebuchet MS"/>
                <a:cs typeface="Trebuchet MS"/>
              </a:rPr>
              <a:t>Cookies</a:t>
            </a:r>
            <a:r>
              <a:rPr sz="2000" b="1" spc="15" dirty="0">
                <a:latin typeface="Trebuchet MS"/>
                <a:cs typeface="Trebuchet MS"/>
              </a:rPr>
              <a:t> </a:t>
            </a:r>
            <a:r>
              <a:rPr sz="2000" b="1" spc="-155" dirty="0">
                <a:latin typeface="Trebuchet MS"/>
                <a:cs typeface="Trebuchet MS"/>
              </a:rPr>
              <a:t>enabled:</a:t>
            </a:r>
            <a:endParaRPr sz="2000" dirty="0">
              <a:latin typeface="Trebuchet MS"/>
              <a:cs typeface="Trebuchet MS"/>
            </a:endParaRPr>
          </a:p>
          <a:p>
            <a:pPr marL="926465">
              <a:lnSpc>
                <a:spcPts val="2240"/>
              </a:lnSpc>
              <a:spcBef>
                <a:spcPts val="1745"/>
              </a:spcBef>
              <a:tabLst>
                <a:tab pos="1155065" algn="l"/>
              </a:tabLst>
            </a:pPr>
            <a:r>
              <a:rPr sz="600" spc="240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1600" spc="-120" dirty="0">
                <a:latin typeface="Arial"/>
                <a:cs typeface="Arial"/>
              </a:rPr>
              <a:t>Web </a:t>
            </a:r>
            <a:r>
              <a:rPr sz="1600" spc="-85" dirty="0">
                <a:latin typeface="Arial"/>
                <a:cs typeface="Arial"/>
              </a:rPr>
              <a:t>server </a:t>
            </a:r>
            <a:r>
              <a:rPr sz="1600" spc="-50" dirty="0">
                <a:latin typeface="Arial"/>
                <a:cs typeface="Arial"/>
              </a:rPr>
              <a:t>allots </a:t>
            </a:r>
            <a:r>
              <a:rPr sz="1600" spc="-150" dirty="0">
                <a:latin typeface="Arial"/>
                <a:cs typeface="Arial"/>
              </a:rPr>
              <a:t>a </a:t>
            </a:r>
            <a:r>
              <a:rPr sz="1600" spc="-125" dirty="0">
                <a:latin typeface="Arial"/>
                <a:cs typeface="Arial"/>
              </a:rPr>
              <a:t>session </a:t>
            </a:r>
            <a:r>
              <a:rPr sz="1600" spc="-130" dirty="0">
                <a:latin typeface="Arial"/>
                <a:cs typeface="Arial"/>
              </a:rPr>
              <a:t>ID </a:t>
            </a:r>
            <a:r>
              <a:rPr sz="1600" spc="15" dirty="0">
                <a:latin typeface="Arial"/>
                <a:cs typeface="Arial"/>
              </a:rPr>
              <a:t>to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20" dirty="0">
                <a:latin typeface="Arial"/>
                <a:cs typeface="Arial"/>
              </a:rPr>
              <a:t>Web </a:t>
            </a:r>
            <a:r>
              <a:rPr sz="1600" spc="-70" dirty="0">
                <a:latin typeface="Arial"/>
                <a:cs typeface="Arial"/>
              </a:rPr>
              <a:t>browser </a:t>
            </a:r>
            <a:r>
              <a:rPr sz="1600" spc="-45" dirty="0">
                <a:latin typeface="Arial"/>
                <a:cs typeface="Arial"/>
              </a:rPr>
              <a:t>through </a:t>
            </a:r>
            <a:r>
              <a:rPr sz="1600" spc="-150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cookie,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using</a:t>
            </a:r>
            <a:endParaRPr sz="1600" dirty="0">
              <a:latin typeface="Arial"/>
              <a:cs typeface="Arial"/>
            </a:endParaRPr>
          </a:p>
          <a:p>
            <a:pPr marL="1155065">
              <a:lnSpc>
                <a:spcPts val="2240"/>
              </a:lnSpc>
            </a:pPr>
            <a:r>
              <a:rPr sz="1600" spc="-25" dirty="0">
                <a:latin typeface="Arial"/>
                <a:cs typeface="Arial"/>
              </a:rPr>
              <a:t>the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setcookie()</a:t>
            </a:r>
            <a:r>
              <a:rPr sz="1600" spc="-15" dirty="0">
                <a:latin typeface="Arial"/>
                <a:cs typeface="Arial"/>
              </a:rPr>
              <a:t>function</a:t>
            </a:r>
            <a:endParaRPr sz="1600" dirty="0">
              <a:latin typeface="Arial"/>
              <a:cs typeface="Arial"/>
            </a:endParaRPr>
          </a:p>
          <a:p>
            <a:pPr marL="1155065" marR="6985" indent="-228600">
              <a:lnSpc>
                <a:spcPct val="100000"/>
              </a:lnSpc>
              <a:spcBef>
                <a:spcPts val="1789"/>
              </a:spcBef>
              <a:tabLst>
                <a:tab pos="1155065" algn="l"/>
              </a:tabLst>
            </a:pPr>
            <a:r>
              <a:rPr sz="600" spc="240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1600" spc="-130" dirty="0">
                <a:latin typeface="Arial"/>
                <a:cs typeface="Arial"/>
              </a:rPr>
              <a:t>Cookies </a:t>
            </a:r>
            <a:r>
              <a:rPr sz="1600" spc="-85" dirty="0">
                <a:latin typeface="Arial"/>
                <a:cs typeface="Arial"/>
              </a:rPr>
              <a:t>enable </a:t>
            </a:r>
            <a:r>
              <a:rPr sz="1600" spc="-55" dirty="0">
                <a:latin typeface="Arial"/>
                <a:cs typeface="Arial"/>
              </a:rPr>
              <a:t>transfer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95" dirty="0">
                <a:latin typeface="Arial"/>
                <a:cs typeface="Arial"/>
              </a:rPr>
              <a:t>user </a:t>
            </a:r>
            <a:r>
              <a:rPr sz="1600" spc="-35" dirty="0">
                <a:latin typeface="Arial"/>
                <a:cs typeface="Arial"/>
              </a:rPr>
              <a:t>information </a:t>
            </a:r>
            <a:r>
              <a:rPr sz="1600" spc="-60" dirty="0">
                <a:latin typeface="Arial"/>
                <a:cs typeface="Arial"/>
              </a:rPr>
              <a:t>between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70" dirty="0">
                <a:latin typeface="Arial"/>
                <a:cs typeface="Arial"/>
              </a:rPr>
              <a:t>browser </a:t>
            </a:r>
            <a:r>
              <a:rPr sz="1600" spc="-90" dirty="0">
                <a:latin typeface="Arial"/>
                <a:cs typeface="Arial"/>
              </a:rPr>
              <a:t>and </a:t>
            </a:r>
            <a:r>
              <a:rPr sz="1600" spc="-25" dirty="0">
                <a:latin typeface="Arial"/>
                <a:cs typeface="Arial"/>
              </a:rPr>
              <a:t>the  </a:t>
            </a:r>
            <a:r>
              <a:rPr sz="1600" spc="-85" dirty="0">
                <a:latin typeface="Arial"/>
                <a:cs typeface="Arial"/>
              </a:rPr>
              <a:t>server</a:t>
            </a:r>
            <a:endParaRPr sz="1600" dirty="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1705"/>
              </a:spcBef>
              <a:tabLst>
                <a:tab pos="1155065" algn="l"/>
              </a:tabLst>
            </a:pPr>
            <a:r>
              <a:rPr sz="600" spc="240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1600" spc="-254" dirty="0">
                <a:latin typeface="Arial"/>
                <a:cs typeface="Arial"/>
              </a:rPr>
              <a:t>PHP </a:t>
            </a:r>
            <a:r>
              <a:rPr sz="1600" spc="-90" dirty="0">
                <a:latin typeface="Arial"/>
                <a:cs typeface="Arial"/>
              </a:rPr>
              <a:t>stores </a:t>
            </a:r>
            <a:r>
              <a:rPr sz="1600" spc="-125" dirty="0">
                <a:latin typeface="Arial"/>
                <a:cs typeface="Arial"/>
              </a:rPr>
              <a:t>session </a:t>
            </a:r>
            <a:r>
              <a:rPr sz="1600" spc="-155" dirty="0">
                <a:latin typeface="Arial"/>
                <a:cs typeface="Arial"/>
              </a:rPr>
              <a:t>IDs </a:t>
            </a:r>
            <a:r>
              <a:rPr sz="1600" spc="-30" dirty="0">
                <a:latin typeface="Arial"/>
                <a:cs typeface="Arial"/>
              </a:rPr>
              <a:t>in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cookies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10" dirty="0"/>
              <a:t>Sessions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850138"/>
            <a:ext cx="8344534" cy="42761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635625" algn="ctr">
              <a:lnSpc>
                <a:spcPct val="100000"/>
              </a:lnSpc>
              <a:spcBef>
                <a:spcPts val="105"/>
              </a:spcBef>
            </a:pPr>
            <a:r>
              <a:rPr sz="1300" spc="40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b="1" spc="-135" dirty="0">
                <a:latin typeface="Trebuchet MS"/>
                <a:cs typeface="Trebuchet MS"/>
              </a:rPr>
              <a:t>Cookies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70" dirty="0">
                <a:latin typeface="Trebuchet MS"/>
                <a:cs typeface="Trebuchet MS"/>
              </a:rPr>
              <a:t>disabled:</a:t>
            </a:r>
            <a:endParaRPr sz="2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739"/>
              </a:spcBef>
              <a:tabLst>
                <a:tab pos="698500" algn="l"/>
              </a:tabLst>
            </a:pPr>
            <a:r>
              <a:rPr sz="600" spc="240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1600" spc="-120" dirty="0">
                <a:latin typeface="Arial"/>
                <a:cs typeface="Arial"/>
              </a:rPr>
              <a:t>Web </a:t>
            </a:r>
            <a:r>
              <a:rPr sz="1600" spc="-85" dirty="0">
                <a:latin typeface="Arial"/>
                <a:cs typeface="Arial"/>
              </a:rPr>
              <a:t>server </a:t>
            </a:r>
            <a:r>
              <a:rPr sz="1600" spc="-50" dirty="0">
                <a:latin typeface="Arial"/>
                <a:cs typeface="Arial"/>
              </a:rPr>
              <a:t>allots </a:t>
            </a:r>
            <a:r>
              <a:rPr sz="1600" spc="-150" dirty="0">
                <a:latin typeface="Arial"/>
                <a:cs typeface="Arial"/>
              </a:rPr>
              <a:t>a </a:t>
            </a:r>
            <a:r>
              <a:rPr sz="1600" spc="-125" dirty="0">
                <a:latin typeface="Arial"/>
                <a:cs typeface="Arial"/>
              </a:rPr>
              <a:t>session </a:t>
            </a:r>
            <a:r>
              <a:rPr sz="1600" spc="-130" dirty="0">
                <a:latin typeface="Arial"/>
                <a:cs typeface="Arial"/>
              </a:rPr>
              <a:t>ID </a:t>
            </a:r>
            <a:r>
              <a:rPr sz="1600" spc="15" dirty="0">
                <a:latin typeface="Arial"/>
                <a:cs typeface="Arial"/>
              </a:rPr>
              <a:t>to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70" dirty="0">
                <a:latin typeface="Arial"/>
                <a:cs typeface="Arial"/>
              </a:rPr>
              <a:t>browser </a:t>
            </a:r>
            <a:r>
              <a:rPr sz="1600" spc="-100" dirty="0">
                <a:latin typeface="Arial"/>
                <a:cs typeface="Arial"/>
              </a:rPr>
              <a:t>using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45" dirty="0">
                <a:latin typeface="Arial"/>
                <a:cs typeface="Arial"/>
              </a:rPr>
              <a:t>Uniform</a:t>
            </a:r>
            <a:r>
              <a:rPr sz="1600" spc="250" dirty="0">
                <a:latin typeface="Arial"/>
                <a:cs typeface="Arial"/>
              </a:rPr>
              <a:t> </a:t>
            </a:r>
            <a:r>
              <a:rPr sz="1600" spc="-140" dirty="0">
                <a:latin typeface="Arial"/>
                <a:cs typeface="Arial"/>
              </a:rPr>
              <a:t>Resource</a:t>
            </a:r>
            <a:endParaRPr sz="1600" dirty="0">
              <a:latin typeface="Arial"/>
              <a:cs typeface="Arial"/>
            </a:endParaRPr>
          </a:p>
          <a:p>
            <a:pPr marR="5621655" algn="ctr">
              <a:lnSpc>
                <a:spcPct val="100000"/>
              </a:lnSpc>
            </a:pPr>
            <a:r>
              <a:rPr sz="1600" spc="-90" dirty="0">
                <a:latin typeface="Arial"/>
                <a:cs typeface="Arial"/>
              </a:rPr>
              <a:t>Locator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180" dirty="0">
                <a:latin typeface="Arial"/>
                <a:cs typeface="Arial"/>
              </a:rPr>
              <a:t>(URL)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10"/>
              </a:spcBef>
              <a:tabLst>
                <a:tab pos="751840" algn="l"/>
              </a:tabLst>
            </a:pPr>
            <a:r>
              <a:rPr sz="600" spc="240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1600" spc="-140" dirty="0">
                <a:latin typeface="Arial"/>
                <a:cs typeface="Arial"/>
              </a:rPr>
              <a:t>The </a:t>
            </a:r>
            <a:r>
              <a:rPr sz="1600" spc="-254" dirty="0">
                <a:latin typeface="Arial"/>
                <a:cs typeface="Arial"/>
              </a:rPr>
              <a:t>URL </a:t>
            </a:r>
            <a:r>
              <a:rPr sz="1600" spc="-75" dirty="0">
                <a:latin typeface="Arial"/>
                <a:cs typeface="Arial"/>
              </a:rPr>
              <a:t>transfers </a:t>
            </a:r>
            <a:r>
              <a:rPr sz="1600" spc="-95" dirty="0">
                <a:latin typeface="Arial"/>
                <a:cs typeface="Arial"/>
              </a:rPr>
              <a:t>user </a:t>
            </a:r>
            <a:r>
              <a:rPr sz="1600" spc="-35" dirty="0">
                <a:latin typeface="Arial"/>
                <a:cs typeface="Arial"/>
              </a:rPr>
              <a:t>information </a:t>
            </a:r>
            <a:r>
              <a:rPr sz="1600" spc="-30" dirty="0">
                <a:latin typeface="Arial"/>
                <a:cs typeface="Arial"/>
              </a:rPr>
              <a:t>from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70" dirty="0">
                <a:latin typeface="Arial"/>
                <a:cs typeface="Arial"/>
              </a:rPr>
              <a:t>browser </a:t>
            </a:r>
            <a:r>
              <a:rPr sz="1600" spc="10" dirty="0">
                <a:latin typeface="Arial"/>
                <a:cs typeface="Arial"/>
              </a:rPr>
              <a:t>to </a:t>
            </a:r>
            <a:r>
              <a:rPr sz="1600" spc="-25" dirty="0">
                <a:latin typeface="Arial"/>
                <a:cs typeface="Arial"/>
              </a:rPr>
              <a:t>the</a:t>
            </a:r>
            <a:r>
              <a:rPr sz="1600" spc="-20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server</a:t>
            </a:r>
            <a:endParaRPr sz="1600" dirty="0">
              <a:latin typeface="Arial"/>
              <a:cs typeface="Arial"/>
            </a:endParaRPr>
          </a:p>
          <a:p>
            <a:pPr marL="698500" marR="355600" indent="-229235">
              <a:lnSpc>
                <a:spcPct val="100000"/>
              </a:lnSpc>
              <a:spcBef>
                <a:spcPts val="1689"/>
              </a:spcBef>
              <a:tabLst>
                <a:tab pos="698500" algn="l"/>
              </a:tabLst>
            </a:pPr>
            <a:r>
              <a:rPr sz="600" spc="240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1600" spc="-254" dirty="0">
                <a:latin typeface="Arial"/>
                <a:cs typeface="Arial"/>
              </a:rPr>
              <a:t>PHP </a:t>
            </a:r>
            <a:r>
              <a:rPr sz="1600" spc="-90" dirty="0">
                <a:latin typeface="Arial"/>
                <a:cs typeface="Arial"/>
              </a:rPr>
              <a:t>stores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25" dirty="0">
                <a:latin typeface="Arial"/>
                <a:cs typeface="Arial"/>
              </a:rPr>
              <a:t>session </a:t>
            </a:r>
            <a:r>
              <a:rPr sz="1600" spc="-85" dirty="0">
                <a:latin typeface="Arial"/>
                <a:cs typeface="Arial"/>
              </a:rPr>
              <a:t>variables </a:t>
            </a:r>
            <a:r>
              <a:rPr sz="1600" spc="-30" dirty="0">
                <a:latin typeface="Arial"/>
                <a:cs typeface="Arial"/>
              </a:rPr>
              <a:t>in </a:t>
            </a:r>
            <a:r>
              <a:rPr sz="1600" spc="-150" dirty="0">
                <a:latin typeface="Arial"/>
                <a:cs typeface="Arial"/>
              </a:rPr>
              <a:t>a </a:t>
            </a:r>
            <a:r>
              <a:rPr sz="1600" spc="-15" dirty="0">
                <a:latin typeface="Arial"/>
                <a:cs typeface="Arial"/>
              </a:rPr>
              <a:t>file </a:t>
            </a:r>
            <a:r>
              <a:rPr sz="1600" spc="-90" dirty="0">
                <a:latin typeface="Arial"/>
                <a:cs typeface="Arial"/>
              </a:rPr>
              <a:t>and </a:t>
            </a:r>
            <a:r>
              <a:rPr sz="1600" spc="-125" dirty="0">
                <a:latin typeface="Arial"/>
                <a:cs typeface="Arial"/>
              </a:rPr>
              <a:t>names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5" dirty="0">
                <a:latin typeface="Arial"/>
                <a:cs typeface="Arial"/>
              </a:rPr>
              <a:t>file </a:t>
            </a:r>
            <a:r>
              <a:rPr sz="1600" spc="-125" dirty="0">
                <a:latin typeface="Arial"/>
                <a:cs typeface="Arial"/>
              </a:rPr>
              <a:t>based </a:t>
            </a:r>
            <a:r>
              <a:rPr sz="1600" spc="-65" dirty="0">
                <a:latin typeface="Arial"/>
                <a:cs typeface="Arial"/>
              </a:rPr>
              <a:t>on </a:t>
            </a:r>
            <a:r>
              <a:rPr sz="1600" spc="-20" dirty="0">
                <a:latin typeface="Arial"/>
                <a:cs typeface="Arial"/>
              </a:rPr>
              <a:t>the  </a:t>
            </a:r>
            <a:r>
              <a:rPr sz="1600" spc="-125" dirty="0">
                <a:latin typeface="Arial"/>
                <a:cs typeface="Arial"/>
              </a:rPr>
              <a:t>session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130" dirty="0">
                <a:latin typeface="Arial"/>
                <a:cs typeface="Arial"/>
              </a:rPr>
              <a:t>ID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dirty="0">
              <a:latin typeface="Times New Roman"/>
              <a:cs typeface="Times New Roman"/>
            </a:endParaRPr>
          </a:p>
          <a:p>
            <a:pPr marL="431800" marR="16383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pc="-60" dirty="0">
                <a:latin typeface="Arial"/>
                <a:cs typeface="Arial"/>
              </a:rPr>
              <a:t>While </a:t>
            </a:r>
            <a:r>
              <a:rPr spc="-114" dirty="0">
                <a:latin typeface="Arial"/>
                <a:cs typeface="Arial"/>
              </a:rPr>
              <a:t>using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30" dirty="0">
                <a:latin typeface="Arial"/>
                <a:cs typeface="Arial"/>
              </a:rPr>
              <a:t>session, </a:t>
            </a:r>
            <a:r>
              <a:rPr spc="-295" dirty="0">
                <a:latin typeface="Arial"/>
                <a:cs typeface="Arial"/>
              </a:rPr>
              <a:t>PHP </a:t>
            </a:r>
            <a:r>
              <a:rPr spc="-100" dirty="0">
                <a:latin typeface="Arial"/>
                <a:cs typeface="Arial"/>
              </a:rPr>
              <a:t>stores </a:t>
            </a:r>
            <a:r>
              <a:rPr spc="-50" dirty="0">
                <a:latin typeface="Arial"/>
                <a:cs typeface="Arial"/>
              </a:rPr>
              <a:t>all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105" dirty="0">
                <a:latin typeface="Arial"/>
                <a:cs typeface="Arial"/>
              </a:rPr>
              <a:t>user </a:t>
            </a:r>
            <a:r>
              <a:rPr spc="-35" dirty="0">
                <a:latin typeface="Arial"/>
                <a:cs typeface="Arial"/>
              </a:rPr>
              <a:t>information </a:t>
            </a:r>
            <a:r>
              <a:rPr spc="-30" dirty="0">
                <a:latin typeface="Arial"/>
                <a:cs typeface="Arial"/>
              </a:rPr>
              <a:t>in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file </a:t>
            </a:r>
            <a:r>
              <a:rPr spc="-70" dirty="0">
                <a:latin typeface="Arial"/>
                <a:cs typeface="Arial"/>
              </a:rPr>
              <a:t>on 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135" dirty="0">
                <a:latin typeface="Arial"/>
                <a:cs typeface="Arial"/>
              </a:rPr>
              <a:t>Web</a:t>
            </a:r>
            <a:r>
              <a:rPr spc="-16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server</a:t>
            </a:r>
            <a:endParaRPr dirty="0">
              <a:latin typeface="Arial"/>
              <a:cs typeface="Arial"/>
            </a:endParaRPr>
          </a:p>
          <a:p>
            <a:pPr marL="43180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pc="-165" dirty="0">
                <a:latin typeface="Arial"/>
                <a:cs typeface="Arial"/>
              </a:rPr>
              <a:t>The </a:t>
            </a:r>
            <a:r>
              <a:rPr spc="-15" dirty="0">
                <a:latin typeface="Arial"/>
                <a:cs typeface="Arial"/>
              </a:rPr>
              <a:t>file </a:t>
            </a:r>
            <a:r>
              <a:rPr spc="-90" dirty="0">
                <a:latin typeface="Arial"/>
                <a:cs typeface="Arial"/>
              </a:rPr>
              <a:t>includes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40" dirty="0">
                <a:latin typeface="Arial"/>
                <a:cs typeface="Arial"/>
              </a:rPr>
              <a:t>session </a:t>
            </a:r>
            <a:r>
              <a:rPr spc="-150" dirty="0">
                <a:latin typeface="Arial"/>
                <a:cs typeface="Arial"/>
              </a:rPr>
              <a:t>ID </a:t>
            </a:r>
            <a:r>
              <a:rPr spc="-5" dirty="0">
                <a:latin typeface="Arial"/>
                <a:cs typeface="Arial"/>
              </a:rPr>
              <a:t>that </a:t>
            </a:r>
            <a:r>
              <a:rPr spc="-114" dirty="0">
                <a:latin typeface="Arial"/>
                <a:cs typeface="Arial"/>
              </a:rPr>
              <a:t>is </a:t>
            </a:r>
            <a:r>
              <a:rPr spc="-60" dirty="0">
                <a:latin typeface="Arial"/>
                <a:cs typeface="Arial"/>
              </a:rPr>
              <a:t>related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00" dirty="0">
                <a:latin typeface="Arial"/>
                <a:cs typeface="Arial"/>
              </a:rPr>
              <a:t>user's </a:t>
            </a:r>
            <a:r>
              <a:rPr spc="-140" dirty="0">
                <a:latin typeface="Arial"/>
                <a:cs typeface="Arial"/>
              </a:rPr>
              <a:t>session</a:t>
            </a:r>
            <a:r>
              <a:rPr spc="-200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variable</a:t>
            </a:r>
            <a:endParaRPr dirty="0">
              <a:latin typeface="Arial"/>
              <a:cs typeface="Arial"/>
            </a:endParaRPr>
          </a:p>
          <a:p>
            <a:pPr marL="431800" marR="49403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pc="-215" dirty="0">
                <a:latin typeface="Arial"/>
                <a:cs typeface="Arial"/>
              </a:rPr>
              <a:t>Each </a:t>
            </a:r>
            <a:r>
              <a:rPr spc="-140" dirty="0">
                <a:latin typeface="Arial"/>
                <a:cs typeface="Arial"/>
              </a:rPr>
              <a:t>session </a:t>
            </a:r>
            <a:r>
              <a:rPr spc="-150" dirty="0">
                <a:latin typeface="Arial"/>
                <a:cs typeface="Arial"/>
              </a:rPr>
              <a:t>ID </a:t>
            </a:r>
            <a:r>
              <a:rPr spc="-45" dirty="0">
                <a:latin typeface="Arial"/>
                <a:cs typeface="Arial"/>
              </a:rPr>
              <a:t>identifies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30" dirty="0">
                <a:latin typeface="Arial"/>
                <a:cs typeface="Arial"/>
              </a:rPr>
              <a:t>different </a:t>
            </a:r>
            <a:r>
              <a:rPr spc="-105" dirty="0">
                <a:latin typeface="Arial"/>
                <a:cs typeface="Arial"/>
              </a:rPr>
              <a:t>user and </a:t>
            </a:r>
            <a:r>
              <a:rPr spc="-85" dirty="0">
                <a:latin typeface="Arial"/>
                <a:cs typeface="Arial"/>
              </a:rPr>
              <a:t>relates </a:t>
            </a:r>
            <a:r>
              <a:rPr spc="10" dirty="0">
                <a:latin typeface="Arial"/>
                <a:cs typeface="Arial"/>
              </a:rPr>
              <a:t>to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file </a:t>
            </a:r>
            <a:r>
              <a:rPr spc="-5" dirty="0">
                <a:latin typeface="Arial"/>
                <a:cs typeface="Arial"/>
              </a:rPr>
              <a:t>that  </a:t>
            </a:r>
            <a:r>
              <a:rPr spc="-110" dirty="0">
                <a:latin typeface="Arial"/>
                <a:cs typeface="Arial"/>
              </a:rPr>
              <a:t>belongs </a:t>
            </a:r>
            <a:r>
              <a:rPr spc="10" dirty="0">
                <a:latin typeface="Arial"/>
                <a:cs typeface="Arial"/>
              </a:rPr>
              <a:t>to </a:t>
            </a:r>
            <a:r>
              <a:rPr spc="-5" dirty="0">
                <a:latin typeface="Arial"/>
                <a:cs typeface="Arial"/>
              </a:rPr>
              <a:t>that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user</a:t>
            </a:r>
            <a:endParaRPr dirty="0">
              <a:latin typeface="Arial"/>
              <a:cs typeface="Arial"/>
            </a:endParaRPr>
          </a:p>
          <a:p>
            <a:pPr marL="4318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pc="-295" dirty="0">
                <a:latin typeface="Arial"/>
                <a:cs typeface="Arial"/>
              </a:rPr>
              <a:t>PHP </a:t>
            </a:r>
            <a:r>
              <a:rPr spc="-100" dirty="0">
                <a:latin typeface="Arial"/>
                <a:cs typeface="Arial"/>
              </a:rPr>
              <a:t>destroys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40" dirty="0">
                <a:latin typeface="Arial"/>
                <a:cs typeface="Arial"/>
              </a:rPr>
              <a:t>session </a:t>
            </a:r>
            <a:r>
              <a:rPr spc="-15" dirty="0">
                <a:latin typeface="Arial"/>
                <a:cs typeface="Arial"/>
              </a:rPr>
              <a:t>file </a:t>
            </a:r>
            <a:r>
              <a:rPr spc="-110" dirty="0">
                <a:latin typeface="Arial"/>
                <a:cs typeface="Arial"/>
              </a:rPr>
              <a:t>once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05" dirty="0">
                <a:latin typeface="Arial"/>
                <a:cs typeface="Arial"/>
              </a:rPr>
              <a:t>user </a:t>
            </a:r>
            <a:r>
              <a:rPr spc="-90" dirty="0">
                <a:latin typeface="Arial"/>
                <a:cs typeface="Arial"/>
              </a:rPr>
              <a:t>exits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35" dirty="0">
                <a:latin typeface="Arial"/>
                <a:cs typeface="Arial"/>
              </a:rPr>
              <a:t>Web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site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634667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</a:t>
            </a:r>
            <a:r>
              <a:rPr spc="-310" dirty="0"/>
              <a:t> </a:t>
            </a:r>
            <a:r>
              <a:rPr spc="-110" dirty="0"/>
              <a:t>Sessions</a:t>
            </a:r>
          </a:p>
        </p:txBody>
      </p:sp>
      <p:sp>
        <p:nvSpPr>
          <p:cNvPr id="4" name="object 4"/>
          <p:cNvSpPr/>
          <p:nvPr/>
        </p:nvSpPr>
        <p:spPr>
          <a:xfrm>
            <a:off x="1119409" y="699415"/>
            <a:ext cx="6618502" cy="5057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0"/>
            <a:ext cx="56573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</a:t>
            </a:r>
            <a:r>
              <a:rPr spc="-310" dirty="0"/>
              <a:t> </a:t>
            </a:r>
            <a:r>
              <a:rPr spc="-110" dirty="0"/>
              <a:t>Sessions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742" y="850138"/>
            <a:ext cx="8326120" cy="4147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345" dirty="0">
                <a:latin typeface="Arial"/>
                <a:cs typeface="Arial"/>
              </a:rPr>
              <a:t>PHP </a:t>
            </a:r>
            <a:r>
              <a:rPr sz="2400" spc="-105" dirty="0">
                <a:latin typeface="Arial"/>
                <a:cs typeface="Arial"/>
              </a:rPr>
              <a:t>works </a:t>
            </a:r>
            <a:r>
              <a:rPr sz="2400" spc="15" dirty="0">
                <a:latin typeface="Arial"/>
                <a:cs typeface="Arial"/>
              </a:rPr>
              <a:t>with </a:t>
            </a:r>
            <a:r>
              <a:rPr sz="2400" spc="-180" dirty="0">
                <a:latin typeface="Arial"/>
                <a:cs typeface="Arial"/>
              </a:rPr>
              <a:t>sessions </a:t>
            </a:r>
            <a:r>
              <a:rPr sz="2400" spc="-30" dirty="0">
                <a:latin typeface="Arial"/>
                <a:cs typeface="Arial"/>
              </a:rPr>
              <a:t>in the </a:t>
            </a:r>
            <a:r>
              <a:rPr sz="2400" spc="-50" dirty="0">
                <a:latin typeface="Arial"/>
                <a:cs typeface="Arial"/>
              </a:rPr>
              <a:t>following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sequence:</a:t>
            </a:r>
            <a:endParaRPr sz="2400" dirty="0">
              <a:latin typeface="Arial"/>
              <a:cs typeface="Arial"/>
            </a:endParaRPr>
          </a:p>
          <a:p>
            <a:pPr marL="756285" marR="248285" indent="-287020">
              <a:lnSpc>
                <a:spcPct val="100000"/>
              </a:lnSpc>
              <a:spcBef>
                <a:spcPts val="1710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45" dirty="0">
                <a:latin typeface="Arial"/>
                <a:cs typeface="Arial"/>
              </a:rPr>
              <a:t>User </a:t>
            </a:r>
            <a:r>
              <a:rPr sz="2000" spc="-204" dirty="0">
                <a:latin typeface="Arial"/>
                <a:cs typeface="Arial"/>
              </a:rPr>
              <a:t>accesses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25" dirty="0">
                <a:latin typeface="Arial"/>
                <a:cs typeface="Arial"/>
              </a:rPr>
              <a:t>session-enabled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75" dirty="0">
                <a:latin typeface="Arial"/>
                <a:cs typeface="Arial"/>
              </a:rPr>
              <a:t>site </a:t>
            </a:r>
            <a:r>
              <a:rPr sz="2000" spc="-70" dirty="0">
                <a:latin typeface="Arial"/>
                <a:cs typeface="Arial"/>
              </a:rPr>
              <a:t>which </a:t>
            </a:r>
            <a:r>
              <a:rPr sz="2000" spc="-165" dirty="0">
                <a:latin typeface="Arial"/>
                <a:cs typeface="Arial"/>
              </a:rPr>
              <a:t>checks </a:t>
            </a:r>
            <a:r>
              <a:rPr sz="2000" spc="-30" dirty="0">
                <a:latin typeface="Arial"/>
                <a:cs typeface="Arial"/>
              </a:rPr>
              <a:t>the  </a:t>
            </a:r>
            <a:r>
              <a:rPr sz="2000" spc="-114" dirty="0">
                <a:latin typeface="Arial"/>
                <a:cs typeface="Arial"/>
              </a:rPr>
              <a:t>user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identity</a:t>
            </a:r>
            <a:endParaRPr sz="2000" dirty="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dirty="0">
                <a:latin typeface="Arial"/>
                <a:cs typeface="Arial"/>
              </a:rPr>
              <a:t>If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user </a:t>
            </a:r>
            <a:r>
              <a:rPr sz="2000" spc="-125" dirty="0">
                <a:latin typeface="Arial"/>
                <a:cs typeface="Arial"/>
              </a:rPr>
              <a:t>is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new </a:t>
            </a:r>
            <a:r>
              <a:rPr sz="2000" spc="-70" dirty="0">
                <a:latin typeface="Arial"/>
                <a:cs typeface="Arial"/>
              </a:rPr>
              <a:t>visitor,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75" dirty="0">
                <a:latin typeface="Arial"/>
                <a:cs typeface="Arial"/>
              </a:rPr>
              <a:t>site </a:t>
            </a:r>
            <a:r>
              <a:rPr sz="2000" spc="-105" dirty="0">
                <a:latin typeface="Arial"/>
                <a:cs typeface="Arial"/>
              </a:rPr>
              <a:t>allocates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unique 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65" dirty="0">
                <a:latin typeface="Arial"/>
                <a:cs typeface="Arial"/>
              </a:rPr>
              <a:t>ID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50" dirty="0">
                <a:latin typeface="Arial"/>
                <a:cs typeface="Arial"/>
              </a:rPr>
              <a:t>user. </a:t>
            </a: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75" dirty="0">
                <a:latin typeface="Arial"/>
                <a:cs typeface="Arial"/>
              </a:rPr>
              <a:t>site </a:t>
            </a:r>
            <a:r>
              <a:rPr sz="2000" spc="-210" dirty="0">
                <a:latin typeface="Arial"/>
                <a:cs typeface="Arial"/>
              </a:rPr>
              <a:t>saves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00" dirty="0">
                <a:latin typeface="Arial"/>
                <a:cs typeface="Arial"/>
              </a:rPr>
              <a:t>cookie </a:t>
            </a:r>
            <a:r>
              <a:rPr sz="2000" spc="-80" dirty="0">
                <a:latin typeface="Arial"/>
                <a:cs typeface="Arial"/>
              </a:rPr>
              <a:t>containing 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65" dirty="0">
                <a:latin typeface="Arial"/>
                <a:cs typeface="Arial"/>
              </a:rPr>
              <a:t>ID </a:t>
            </a:r>
            <a:r>
              <a:rPr sz="2000" spc="-80" dirty="0">
                <a:latin typeface="Arial"/>
                <a:cs typeface="Arial"/>
              </a:rPr>
              <a:t>on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3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browser</a:t>
            </a:r>
            <a:endParaRPr sz="2000" dirty="0">
              <a:latin typeface="Arial"/>
              <a:cs typeface="Arial"/>
            </a:endParaRPr>
          </a:p>
          <a:p>
            <a:pPr marL="756285" marR="99695" indent="-287020">
              <a:lnSpc>
                <a:spcPct val="100000"/>
              </a:lnSpc>
              <a:spcBef>
                <a:spcPts val="1695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85" dirty="0">
                <a:latin typeface="Arial"/>
                <a:cs typeface="Arial"/>
              </a:rPr>
              <a:t>browser </a:t>
            </a:r>
            <a:r>
              <a:rPr sz="2000" spc="-110" dirty="0">
                <a:latin typeface="Arial"/>
                <a:cs typeface="Arial"/>
              </a:rPr>
              <a:t>records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cookie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100" dirty="0">
                <a:latin typeface="Arial"/>
                <a:cs typeface="Arial"/>
              </a:rPr>
              <a:t>holds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 </a:t>
            </a:r>
            <a:r>
              <a:rPr sz="2000" spc="-150" dirty="0">
                <a:latin typeface="Arial"/>
                <a:cs typeface="Arial"/>
              </a:rPr>
              <a:t>ID. </a:t>
            </a:r>
            <a:r>
              <a:rPr sz="2000" spc="-18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browser </a:t>
            </a:r>
            <a:r>
              <a:rPr sz="2000" spc="-190" dirty="0">
                <a:latin typeface="Arial"/>
                <a:cs typeface="Arial"/>
              </a:rPr>
              <a:t>uses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75" dirty="0">
                <a:latin typeface="Arial"/>
                <a:cs typeface="Arial"/>
              </a:rPr>
              <a:t>same </a:t>
            </a:r>
            <a:r>
              <a:rPr sz="2000" spc="-100" dirty="0">
                <a:latin typeface="Arial"/>
                <a:cs typeface="Arial"/>
              </a:rPr>
              <a:t>cookie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50" dirty="0">
                <a:latin typeface="Arial"/>
                <a:cs typeface="Arial"/>
              </a:rPr>
              <a:t>retrieve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session  </a:t>
            </a:r>
            <a:r>
              <a:rPr sz="2000" spc="-160" dirty="0">
                <a:latin typeface="Arial"/>
                <a:cs typeface="Arial"/>
              </a:rPr>
              <a:t>ID </a:t>
            </a:r>
            <a:r>
              <a:rPr sz="2000" spc="-110" dirty="0">
                <a:latin typeface="Arial"/>
                <a:cs typeface="Arial"/>
              </a:rPr>
              <a:t>and </a:t>
            </a:r>
            <a:r>
              <a:rPr sz="2000" spc="-85" dirty="0">
                <a:latin typeface="Arial"/>
                <a:cs typeface="Arial"/>
              </a:rPr>
              <a:t>record </a:t>
            </a:r>
            <a:r>
              <a:rPr sz="2000" spc="-50" dirty="0">
                <a:latin typeface="Arial"/>
                <a:cs typeface="Arial"/>
              </a:rPr>
              <a:t>all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session-related</a:t>
            </a:r>
            <a:r>
              <a:rPr sz="2000" spc="-36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information</a:t>
            </a:r>
            <a:endParaRPr sz="2000" dirty="0">
              <a:latin typeface="Arial"/>
              <a:cs typeface="Arial"/>
            </a:endParaRPr>
          </a:p>
          <a:p>
            <a:pPr marL="756285" marR="191770" indent="-287020">
              <a:lnSpc>
                <a:spcPct val="100400"/>
              </a:lnSpc>
              <a:spcBef>
                <a:spcPts val="1695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125" dirty="0">
                <a:latin typeface="Arial"/>
                <a:cs typeface="Arial"/>
              </a:rPr>
              <a:t>is </a:t>
            </a:r>
            <a:r>
              <a:rPr sz="2000" spc="-95" dirty="0">
                <a:latin typeface="Arial"/>
                <a:cs typeface="Arial"/>
              </a:rPr>
              <a:t>destroyed </a:t>
            </a:r>
            <a:r>
              <a:rPr sz="2000" spc="-25" dirty="0">
                <a:latin typeface="Arial"/>
                <a:cs typeface="Arial"/>
              </a:rPr>
              <a:t>from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25" dirty="0">
                <a:latin typeface="Arial"/>
                <a:cs typeface="Arial"/>
              </a:rPr>
              <a:t>server, </a:t>
            </a:r>
            <a:r>
              <a:rPr sz="2000" spc="-80" dirty="0">
                <a:latin typeface="Arial"/>
                <a:cs typeface="Arial"/>
              </a:rPr>
              <a:t>when</a:t>
            </a:r>
            <a:r>
              <a:rPr sz="2000" spc="-39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  </a:t>
            </a:r>
            <a:r>
              <a:rPr sz="2000" spc="-114" dirty="0">
                <a:latin typeface="Arial"/>
                <a:cs typeface="Arial"/>
              </a:rPr>
              <a:t>user </a:t>
            </a:r>
            <a:r>
              <a:rPr sz="2000" spc="-125" dirty="0">
                <a:latin typeface="Arial"/>
                <a:cs typeface="Arial"/>
              </a:rPr>
              <a:t>exists </a:t>
            </a:r>
            <a:r>
              <a:rPr sz="2000" spc="-25" dirty="0">
                <a:latin typeface="Arial"/>
                <a:cs typeface="Arial"/>
              </a:rPr>
              <a:t>from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3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site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91399"/>
            <a:ext cx="8509635" cy="38388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cap="all" spc="-12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Life cycle of a Session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431800" marR="5080" indent="-342900" algn="just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800" algn="l"/>
              </a:tabLst>
            </a:pPr>
            <a:r>
              <a:rPr sz="2000" spc="-140" dirty="0">
                <a:latin typeface="Arial"/>
                <a:cs typeface="Arial"/>
              </a:rPr>
              <a:t>There </a:t>
            </a:r>
            <a:r>
              <a:rPr sz="2000" spc="-114" dirty="0">
                <a:latin typeface="Arial"/>
                <a:cs typeface="Arial"/>
              </a:rPr>
              <a:t>are </a:t>
            </a:r>
            <a:r>
              <a:rPr sz="2000" spc="-45" dirty="0">
                <a:latin typeface="Arial"/>
                <a:cs typeface="Arial"/>
              </a:rPr>
              <a:t>three </a:t>
            </a:r>
            <a:r>
              <a:rPr sz="2000" spc="-180" dirty="0">
                <a:latin typeface="Arial"/>
                <a:cs typeface="Arial"/>
              </a:rPr>
              <a:t>stages </a:t>
            </a:r>
            <a:r>
              <a:rPr sz="2000" spc="-30" dirty="0">
                <a:latin typeface="Arial"/>
                <a:cs typeface="Arial"/>
              </a:rPr>
              <a:t>in the </a:t>
            </a:r>
            <a:r>
              <a:rPr sz="2000" spc="-25" dirty="0">
                <a:latin typeface="Arial"/>
                <a:cs typeface="Arial"/>
              </a:rPr>
              <a:t>life </a:t>
            </a:r>
            <a:r>
              <a:rPr sz="2000" spc="-140" dirty="0">
                <a:latin typeface="Arial"/>
                <a:cs typeface="Arial"/>
              </a:rPr>
              <a:t>cycle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60" dirty="0">
                <a:latin typeface="Arial"/>
                <a:cs typeface="Arial"/>
              </a:rPr>
              <a:t>session based </a:t>
            </a:r>
            <a:r>
              <a:rPr sz="2000" spc="-85" dirty="0">
                <a:latin typeface="Arial"/>
                <a:cs typeface="Arial"/>
              </a:rPr>
              <a:t>on 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communication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between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Web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browser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and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Web  </a:t>
            </a:r>
            <a:r>
              <a:rPr sz="2000" spc="-105" dirty="0">
                <a:latin typeface="Arial"/>
                <a:cs typeface="Arial"/>
              </a:rPr>
              <a:t>server</a:t>
            </a:r>
            <a:endParaRPr sz="2000" dirty="0">
              <a:latin typeface="Arial"/>
              <a:cs typeface="Arial"/>
            </a:endParaRPr>
          </a:p>
          <a:p>
            <a:pPr marL="4318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000" spc="-170" dirty="0">
                <a:latin typeface="Arial"/>
                <a:cs typeface="Arial"/>
              </a:rPr>
              <a:t>They </a:t>
            </a:r>
            <a:r>
              <a:rPr sz="2000" spc="-114" dirty="0">
                <a:latin typeface="Arial"/>
                <a:cs typeface="Arial"/>
              </a:rPr>
              <a:t>are </a:t>
            </a:r>
            <a:r>
              <a:rPr sz="2000" spc="-245" dirty="0">
                <a:latin typeface="Arial"/>
                <a:cs typeface="Arial"/>
              </a:rPr>
              <a:t>as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follows:</a:t>
            </a:r>
            <a:endParaRPr sz="2000" dirty="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1710"/>
              </a:spcBef>
              <a:tabLst>
                <a:tab pos="832485" algn="l"/>
              </a:tabLst>
            </a:pPr>
            <a:r>
              <a:rPr sz="105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pc="-85" dirty="0">
                <a:latin typeface="Arial"/>
                <a:cs typeface="Arial"/>
              </a:rPr>
              <a:t>Starting </a:t>
            </a:r>
            <a:r>
              <a:rPr spc="-30" dirty="0">
                <a:latin typeface="Arial"/>
                <a:cs typeface="Arial"/>
              </a:rPr>
              <a:t>the</a:t>
            </a:r>
            <a:r>
              <a:rPr spc="-204" dirty="0">
                <a:latin typeface="Arial"/>
                <a:cs typeface="Arial"/>
              </a:rPr>
              <a:t> </a:t>
            </a:r>
            <a:r>
              <a:rPr spc="-155" dirty="0">
                <a:latin typeface="Arial"/>
                <a:cs typeface="Arial"/>
              </a:rPr>
              <a:t>session</a:t>
            </a:r>
            <a:endParaRPr dirty="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1695"/>
              </a:spcBef>
              <a:tabLst>
                <a:tab pos="832485" algn="l"/>
              </a:tabLst>
            </a:pPr>
            <a:r>
              <a:rPr sz="105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pc="-125" dirty="0">
                <a:latin typeface="Arial"/>
                <a:cs typeface="Arial"/>
              </a:rPr>
              <a:t>Registering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155" dirty="0">
                <a:latin typeface="Arial"/>
                <a:cs typeface="Arial"/>
              </a:rPr>
              <a:t>session</a:t>
            </a:r>
            <a:r>
              <a:rPr spc="-27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variable</a:t>
            </a:r>
            <a:endParaRPr dirty="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1705"/>
              </a:spcBef>
              <a:tabLst>
                <a:tab pos="832485" algn="l"/>
              </a:tabLst>
            </a:pPr>
            <a:r>
              <a:rPr sz="105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pc="-145" dirty="0">
                <a:latin typeface="Arial"/>
                <a:cs typeface="Arial"/>
              </a:rPr>
              <a:t>Ending </a:t>
            </a:r>
            <a:r>
              <a:rPr spc="-30" dirty="0">
                <a:latin typeface="Arial"/>
                <a:cs typeface="Arial"/>
              </a:rPr>
              <a:t>the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155" dirty="0">
                <a:latin typeface="Arial"/>
                <a:cs typeface="Arial"/>
              </a:rPr>
              <a:t>session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0" dirty="0"/>
              <a:t>St</a:t>
            </a:r>
            <a:r>
              <a:rPr spc="-125" dirty="0"/>
              <a:t>arting</a:t>
            </a:r>
            <a:r>
              <a:rPr spc="-185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723645"/>
            <a:ext cx="7851140" cy="3988912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15" dirty="0">
                <a:latin typeface="Arial"/>
                <a:cs typeface="Arial"/>
              </a:rPr>
              <a:t>A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75" dirty="0">
                <a:latin typeface="Arial"/>
                <a:cs typeface="Arial"/>
              </a:rPr>
              <a:t>starts when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14" dirty="0">
                <a:latin typeface="Arial"/>
                <a:cs typeface="Arial"/>
              </a:rPr>
              <a:t>user </a:t>
            </a:r>
            <a:r>
              <a:rPr sz="2000" spc="-135" dirty="0">
                <a:latin typeface="Arial"/>
                <a:cs typeface="Arial"/>
              </a:rPr>
              <a:t>logs </a:t>
            </a:r>
            <a:r>
              <a:rPr sz="2000" spc="-75" dirty="0">
                <a:latin typeface="Arial"/>
                <a:cs typeface="Arial"/>
              </a:rPr>
              <a:t>on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3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site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1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20" dirty="0">
                <a:latin typeface="Courier New"/>
                <a:cs typeface="Courier New"/>
              </a:rPr>
              <a:t>session_start()</a:t>
            </a:r>
            <a:r>
              <a:rPr sz="2000" spc="-20" dirty="0">
                <a:latin typeface="Arial"/>
                <a:cs typeface="Arial"/>
              </a:rPr>
              <a:t>function </a:t>
            </a:r>
            <a:r>
              <a:rPr sz="2000" spc="-125" dirty="0">
                <a:latin typeface="Arial"/>
                <a:cs typeface="Arial"/>
              </a:rPr>
              <a:t>enables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40" dirty="0">
                <a:latin typeface="Arial"/>
                <a:cs typeface="Arial"/>
              </a:rPr>
              <a:t>start </a:t>
            </a:r>
            <a:r>
              <a:rPr sz="2000" spc="-190" dirty="0">
                <a:latin typeface="Arial"/>
                <a:cs typeface="Arial"/>
              </a:rPr>
              <a:t>a</a:t>
            </a:r>
            <a:r>
              <a:rPr sz="2000" spc="-47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session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process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60" dirty="0">
                <a:latin typeface="Arial"/>
                <a:cs typeface="Arial"/>
              </a:rPr>
              <a:t>starting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25" dirty="0">
                <a:latin typeface="Arial"/>
                <a:cs typeface="Arial"/>
              </a:rPr>
              <a:t>is also </a:t>
            </a:r>
            <a:r>
              <a:rPr sz="2000" spc="-95" dirty="0">
                <a:latin typeface="Arial"/>
                <a:cs typeface="Arial"/>
              </a:rPr>
              <a:t>called </a:t>
            </a:r>
            <a:r>
              <a:rPr sz="2000" spc="-225" dirty="0">
                <a:latin typeface="Arial"/>
                <a:cs typeface="Arial"/>
              </a:rPr>
              <a:t>as </a:t>
            </a:r>
            <a:r>
              <a:rPr sz="2000" spc="-45" dirty="0">
                <a:latin typeface="Arial"/>
                <a:cs typeface="Arial"/>
              </a:rPr>
              <a:t>initializing </a:t>
            </a:r>
            <a:r>
              <a:rPr sz="2000" spc="-190" dirty="0">
                <a:latin typeface="Arial"/>
                <a:cs typeface="Arial"/>
              </a:rPr>
              <a:t>a  </a:t>
            </a:r>
            <a:r>
              <a:rPr sz="2000" spc="-155" dirty="0">
                <a:latin typeface="Arial"/>
                <a:cs typeface="Arial"/>
              </a:rPr>
              <a:t>session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120" dirty="0">
                <a:latin typeface="Arial"/>
                <a:cs typeface="Arial"/>
              </a:rPr>
              <a:t>is </a:t>
            </a:r>
            <a:r>
              <a:rPr sz="2000" spc="-90" dirty="0">
                <a:latin typeface="Arial"/>
                <a:cs typeface="Arial"/>
              </a:rPr>
              <a:t>created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5" dirty="0">
                <a:latin typeface="Courier New"/>
                <a:cs typeface="Courier New"/>
              </a:rPr>
              <a:t>/tmp</a:t>
            </a:r>
            <a:r>
              <a:rPr sz="2000" spc="-125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Arial"/>
                <a:cs typeface="Arial"/>
              </a:rPr>
              <a:t>directory</a:t>
            </a:r>
            <a:endParaRPr sz="2000" dirty="0">
              <a:latin typeface="Arial"/>
              <a:cs typeface="Arial"/>
            </a:endParaRPr>
          </a:p>
          <a:p>
            <a:pPr marL="355600" marR="165100" indent="-342900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320" dirty="0">
                <a:latin typeface="Arial"/>
                <a:cs typeface="Arial"/>
              </a:rPr>
              <a:t>PHP </a:t>
            </a:r>
            <a:r>
              <a:rPr sz="2000" spc="-180" dirty="0">
                <a:latin typeface="Arial"/>
                <a:cs typeface="Arial"/>
              </a:rPr>
              <a:t>assigns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25" dirty="0">
                <a:latin typeface="Arial"/>
                <a:cs typeface="Arial"/>
              </a:rPr>
              <a:t>name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50" dirty="0">
                <a:latin typeface="Arial"/>
                <a:cs typeface="Arial"/>
              </a:rPr>
              <a:t>this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150" dirty="0">
                <a:latin typeface="Arial"/>
                <a:cs typeface="Arial"/>
              </a:rPr>
              <a:t>based </a:t>
            </a:r>
            <a:r>
              <a:rPr sz="2000" spc="-75" dirty="0">
                <a:latin typeface="Arial"/>
                <a:cs typeface="Arial"/>
              </a:rPr>
              <a:t>on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75" dirty="0">
                <a:latin typeface="Arial"/>
                <a:cs typeface="Arial"/>
              </a:rPr>
              <a:t>unique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session  </a:t>
            </a:r>
            <a:r>
              <a:rPr sz="2000" spc="-15" dirty="0">
                <a:latin typeface="Arial"/>
                <a:cs typeface="Arial"/>
              </a:rPr>
              <a:t>identifier </a:t>
            </a:r>
            <a:r>
              <a:rPr sz="2000" spc="-110" dirty="0">
                <a:latin typeface="Arial"/>
                <a:cs typeface="Arial"/>
              </a:rPr>
              <a:t>value </a:t>
            </a:r>
            <a:r>
              <a:rPr sz="2000" spc="-100" dirty="0">
                <a:latin typeface="Arial"/>
                <a:cs typeface="Arial"/>
              </a:rPr>
              <a:t>generated </a:t>
            </a:r>
            <a:r>
              <a:rPr sz="2000" spc="-105" dirty="0">
                <a:latin typeface="Arial"/>
                <a:cs typeface="Arial"/>
              </a:rPr>
              <a:t>by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20" dirty="0">
                <a:latin typeface="Arial"/>
                <a:cs typeface="Arial"/>
              </a:rPr>
              <a:t>PHP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engine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5" dirty="0">
                <a:latin typeface="Arial"/>
                <a:cs typeface="Arial"/>
              </a:rPr>
              <a:t>identifier </a:t>
            </a:r>
            <a:r>
              <a:rPr sz="2000" spc="-125" dirty="0">
                <a:latin typeface="Arial"/>
                <a:cs typeface="Arial"/>
              </a:rPr>
              <a:t>is also </a:t>
            </a:r>
            <a:r>
              <a:rPr sz="2000" spc="-75" dirty="0">
                <a:latin typeface="Arial"/>
                <a:cs typeface="Arial"/>
              </a:rPr>
              <a:t>known </a:t>
            </a:r>
            <a:r>
              <a:rPr sz="2000" spc="-225" dirty="0">
                <a:latin typeface="Arial"/>
                <a:cs typeface="Arial"/>
              </a:rPr>
              <a:t>as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ID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60" dirty="0">
                <a:latin typeface="Arial"/>
                <a:cs typeface="Arial"/>
              </a:rPr>
              <a:t>ID </a:t>
            </a:r>
            <a:r>
              <a:rPr sz="2000" spc="-125" dirty="0">
                <a:latin typeface="Arial"/>
                <a:cs typeface="Arial"/>
              </a:rPr>
              <a:t>is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14" dirty="0">
                <a:latin typeface="Arial"/>
                <a:cs typeface="Arial"/>
              </a:rPr>
              <a:t>hexadecimal </a:t>
            </a:r>
            <a:r>
              <a:rPr sz="2000" spc="-65" dirty="0">
                <a:latin typeface="Arial"/>
                <a:cs typeface="Arial"/>
              </a:rPr>
              <a:t>string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20" dirty="0">
                <a:latin typeface="Arial"/>
                <a:cs typeface="Arial"/>
              </a:rPr>
              <a:t>32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digits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610752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Starting </a:t>
            </a:r>
            <a:r>
              <a:rPr spc="-150" dirty="0"/>
              <a:t>the</a:t>
            </a:r>
            <a:r>
              <a:rPr spc="-280" dirty="0"/>
              <a:t> </a:t>
            </a:r>
            <a:r>
              <a:rPr spc="-114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815085"/>
            <a:ext cx="8235315" cy="475534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155" dirty="0">
                <a:latin typeface="Arial"/>
                <a:cs typeface="Arial"/>
              </a:rPr>
              <a:t>The </a:t>
            </a:r>
            <a:r>
              <a:rPr sz="1600" spc="-15" dirty="0">
                <a:latin typeface="Arial"/>
                <a:cs typeface="Arial"/>
              </a:rPr>
              <a:t>file </a:t>
            </a:r>
            <a:r>
              <a:rPr sz="1600" spc="-90" dirty="0">
                <a:latin typeface="Arial"/>
                <a:cs typeface="Arial"/>
              </a:rPr>
              <a:t>naming </a:t>
            </a:r>
            <a:r>
              <a:rPr sz="1600" spc="-70" dirty="0">
                <a:latin typeface="Arial"/>
                <a:cs typeface="Arial"/>
              </a:rPr>
              <a:t>convention </a:t>
            </a:r>
            <a:r>
              <a:rPr sz="1600" spc="-15" dirty="0">
                <a:latin typeface="Arial"/>
                <a:cs typeface="Arial"/>
              </a:rPr>
              <a:t>for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35" dirty="0">
                <a:latin typeface="Arial"/>
                <a:cs typeface="Arial"/>
              </a:rPr>
              <a:t>session </a:t>
            </a:r>
            <a:r>
              <a:rPr sz="1600" spc="-15" dirty="0">
                <a:latin typeface="Arial"/>
                <a:cs typeface="Arial"/>
              </a:rPr>
              <a:t>file </a:t>
            </a:r>
            <a:r>
              <a:rPr sz="1600" spc="-110" dirty="0">
                <a:latin typeface="Arial"/>
                <a:cs typeface="Arial"/>
              </a:rPr>
              <a:t>is </a:t>
            </a:r>
            <a:r>
              <a:rPr sz="1600" spc="-200" dirty="0">
                <a:latin typeface="Arial"/>
                <a:cs typeface="Arial"/>
              </a:rPr>
              <a:t>as</a:t>
            </a:r>
            <a:r>
              <a:rPr sz="1600" spc="-32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follows:</a:t>
            </a:r>
            <a:endParaRPr sz="1600" dirty="0">
              <a:latin typeface="Arial"/>
              <a:cs typeface="Arial"/>
            </a:endParaRPr>
          </a:p>
          <a:p>
            <a:pPr marL="314325">
              <a:lnSpc>
                <a:spcPct val="100000"/>
              </a:lnSpc>
              <a:spcBef>
                <a:spcPts val="915"/>
              </a:spcBef>
            </a:pPr>
            <a:r>
              <a:rPr sz="1600" spc="-5" dirty="0">
                <a:latin typeface="Courier New"/>
                <a:cs typeface="Courier New"/>
              </a:rPr>
              <a:t>sess_&lt;32_digit_hexadecimal_value&gt;</a:t>
            </a:r>
            <a:endParaRPr sz="1600" dirty="0">
              <a:latin typeface="Courier New"/>
              <a:cs typeface="Courier New"/>
            </a:endParaRPr>
          </a:p>
          <a:p>
            <a:pPr marL="355600" marR="69215" indent="-342900">
              <a:lnSpc>
                <a:spcPct val="103299"/>
              </a:lnSpc>
              <a:spcBef>
                <a:spcPts val="162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155" dirty="0">
                <a:latin typeface="Arial"/>
                <a:cs typeface="Arial"/>
              </a:rPr>
              <a:t>The </a:t>
            </a:r>
            <a:r>
              <a:rPr sz="1600" spc="-135" dirty="0">
                <a:latin typeface="Arial"/>
                <a:cs typeface="Arial"/>
              </a:rPr>
              <a:t>session </a:t>
            </a:r>
            <a:r>
              <a:rPr sz="1600" spc="-15" dirty="0">
                <a:latin typeface="Arial"/>
                <a:cs typeface="Arial"/>
              </a:rPr>
              <a:t>file </a:t>
            </a:r>
            <a:r>
              <a:rPr sz="1600" spc="-110" dirty="0">
                <a:latin typeface="Arial"/>
                <a:cs typeface="Arial"/>
              </a:rPr>
              <a:t>name is </a:t>
            </a:r>
            <a:r>
              <a:rPr sz="1600" spc="-125" dirty="0">
                <a:latin typeface="Arial"/>
                <a:cs typeface="Arial"/>
              </a:rPr>
              <a:t>always </a:t>
            </a:r>
            <a:r>
              <a:rPr sz="1600" spc="-90" dirty="0">
                <a:latin typeface="Arial"/>
                <a:cs typeface="Arial"/>
              </a:rPr>
              <a:t>preceded by </a:t>
            </a:r>
            <a:r>
              <a:rPr sz="1600" spc="-5" dirty="0">
                <a:latin typeface="Courier New"/>
                <a:cs typeface="Courier New"/>
              </a:rPr>
              <a:t>sess_</a:t>
            </a:r>
            <a:r>
              <a:rPr sz="1600" spc="-865" dirty="0">
                <a:latin typeface="Courier New"/>
                <a:cs typeface="Courier New"/>
              </a:rPr>
              <a:t> </a:t>
            </a:r>
            <a:r>
              <a:rPr sz="1600" spc="-100" dirty="0">
                <a:latin typeface="Arial"/>
                <a:cs typeface="Arial"/>
              </a:rPr>
              <a:t>and </a:t>
            </a:r>
            <a:r>
              <a:rPr sz="1600" spc="-110" dirty="0">
                <a:latin typeface="Arial"/>
                <a:cs typeface="Arial"/>
              </a:rPr>
              <a:t>is </a:t>
            </a:r>
            <a:r>
              <a:rPr sz="1600" spc="-45" dirty="0">
                <a:latin typeface="Arial"/>
                <a:cs typeface="Arial"/>
              </a:rPr>
              <a:t>followed </a:t>
            </a:r>
            <a:r>
              <a:rPr sz="1600" spc="-90" dirty="0">
                <a:latin typeface="Arial"/>
                <a:cs typeface="Arial"/>
              </a:rPr>
              <a:t>by </a:t>
            </a:r>
            <a:r>
              <a:rPr sz="1600" spc="-165" dirty="0">
                <a:latin typeface="Arial"/>
                <a:cs typeface="Arial"/>
              </a:rPr>
              <a:t>a  </a:t>
            </a:r>
            <a:r>
              <a:rPr sz="1600" spc="-75" dirty="0">
                <a:latin typeface="Arial"/>
                <a:cs typeface="Arial"/>
              </a:rPr>
              <a:t>random </a:t>
            </a:r>
            <a:r>
              <a:rPr sz="1600" spc="-105" dirty="0">
                <a:latin typeface="Arial"/>
                <a:cs typeface="Arial"/>
              </a:rPr>
              <a:t>32 </a:t>
            </a:r>
            <a:r>
              <a:rPr sz="1600" spc="-25" dirty="0">
                <a:latin typeface="Arial"/>
                <a:cs typeface="Arial"/>
              </a:rPr>
              <a:t>digit </a:t>
            </a:r>
            <a:r>
              <a:rPr sz="1600" spc="-105" dirty="0">
                <a:latin typeface="Arial"/>
                <a:cs typeface="Arial"/>
              </a:rPr>
              <a:t>hexadecimal</a:t>
            </a:r>
            <a:r>
              <a:rPr sz="1600" spc="-215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value</a:t>
            </a:r>
            <a:endParaRPr sz="1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155" dirty="0">
                <a:latin typeface="Arial"/>
                <a:cs typeface="Arial"/>
              </a:rPr>
              <a:t>The </a:t>
            </a:r>
            <a:r>
              <a:rPr sz="1600" spc="-125" dirty="0">
                <a:latin typeface="Arial"/>
                <a:cs typeface="Arial"/>
              </a:rPr>
              <a:t>Web </a:t>
            </a:r>
            <a:r>
              <a:rPr sz="1600" spc="-90" dirty="0">
                <a:latin typeface="Arial"/>
                <a:cs typeface="Arial"/>
              </a:rPr>
              <a:t>server </a:t>
            </a:r>
            <a:r>
              <a:rPr sz="1600" spc="-180" dirty="0">
                <a:latin typeface="Arial"/>
                <a:cs typeface="Arial"/>
              </a:rPr>
              <a:t>passes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35" dirty="0">
                <a:latin typeface="Arial"/>
                <a:cs typeface="Arial"/>
              </a:rPr>
              <a:t>session </a:t>
            </a:r>
            <a:r>
              <a:rPr sz="1600" spc="-140" dirty="0">
                <a:latin typeface="Arial"/>
                <a:cs typeface="Arial"/>
              </a:rPr>
              <a:t>ID </a:t>
            </a:r>
            <a:r>
              <a:rPr sz="1600" spc="-200" dirty="0">
                <a:latin typeface="Arial"/>
                <a:cs typeface="Arial"/>
              </a:rPr>
              <a:t>as </a:t>
            </a:r>
            <a:r>
              <a:rPr sz="1600" spc="-165" dirty="0">
                <a:latin typeface="Arial"/>
                <a:cs typeface="Arial"/>
              </a:rPr>
              <a:t>a </a:t>
            </a:r>
            <a:r>
              <a:rPr sz="1600" spc="-114" dirty="0">
                <a:latin typeface="Arial"/>
                <a:cs typeface="Arial"/>
              </a:rPr>
              <a:t>response </a:t>
            </a:r>
            <a:r>
              <a:rPr sz="1600" spc="15" dirty="0">
                <a:latin typeface="Arial"/>
                <a:cs typeface="Arial"/>
              </a:rPr>
              <a:t>to </a:t>
            </a:r>
            <a:r>
              <a:rPr sz="1600" spc="-25" dirty="0">
                <a:latin typeface="Arial"/>
                <a:cs typeface="Arial"/>
              </a:rPr>
              <a:t>the</a:t>
            </a:r>
            <a:r>
              <a:rPr sz="1600" spc="13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browser</a:t>
            </a:r>
            <a:endParaRPr sz="1600" dirty="0">
              <a:latin typeface="Arial"/>
              <a:cs typeface="Arial"/>
            </a:endParaRPr>
          </a:p>
          <a:p>
            <a:pPr marL="355600" indent="-342900">
              <a:lnSpc>
                <a:spcPts val="248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155" dirty="0">
                <a:latin typeface="Arial"/>
                <a:cs typeface="Arial"/>
              </a:rPr>
              <a:t>The </a:t>
            </a:r>
            <a:r>
              <a:rPr sz="1600" spc="-110" dirty="0">
                <a:latin typeface="Arial"/>
                <a:cs typeface="Arial"/>
              </a:rPr>
              <a:t>response </a:t>
            </a:r>
            <a:r>
              <a:rPr sz="1600" spc="-125" dirty="0">
                <a:latin typeface="Arial"/>
                <a:cs typeface="Arial"/>
              </a:rPr>
              <a:t>sets </a:t>
            </a:r>
            <a:r>
              <a:rPr sz="1600" spc="-70" dirty="0">
                <a:latin typeface="Arial"/>
                <a:cs typeface="Arial"/>
              </a:rPr>
              <a:t>up </a:t>
            </a:r>
            <a:r>
              <a:rPr sz="1600" spc="-165" dirty="0">
                <a:latin typeface="Arial"/>
                <a:cs typeface="Arial"/>
              </a:rPr>
              <a:t>a </a:t>
            </a:r>
            <a:r>
              <a:rPr sz="1600" spc="-140" dirty="0">
                <a:latin typeface="Arial"/>
                <a:cs typeface="Arial"/>
              </a:rPr>
              <a:t>session </a:t>
            </a:r>
            <a:r>
              <a:rPr sz="1600" spc="-90" dirty="0">
                <a:latin typeface="Arial"/>
                <a:cs typeface="Arial"/>
              </a:rPr>
              <a:t>cookie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75" dirty="0">
                <a:latin typeface="Arial"/>
                <a:cs typeface="Arial"/>
              </a:rPr>
              <a:t>browser </a:t>
            </a:r>
            <a:r>
              <a:rPr sz="1600" spc="10" dirty="0">
                <a:latin typeface="Arial"/>
                <a:cs typeface="Arial"/>
              </a:rPr>
              <a:t>with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70" dirty="0">
                <a:latin typeface="Arial"/>
                <a:cs typeface="Arial"/>
              </a:rPr>
              <a:t> </a:t>
            </a:r>
            <a:r>
              <a:rPr sz="1600" spc="-110" dirty="0">
                <a:latin typeface="Arial"/>
                <a:cs typeface="Arial"/>
              </a:rPr>
              <a:t>name</a:t>
            </a:r>
            <a:endParaRPr sz="1600" dirty="0">
              <a:latin typeface="Arial"/>
              <a:cs typeface="Arial"/>
            </a:endParaRPr>
          </a:p>
          <a:p>
            <a:pPr marL="355600">
              <a:lnSpc>
                <a:spcPts val="2480"/>
              </a:lnSpc>
            </a:pPr>
            <a:r>
              <a:rPr sz="1600" dirty="0">
                <a:latin typeface="Courier New"/>
                <a:cs typeface="Courier New"/>
              </a:rPr>
              <a:t>PHPSESSID</a:t>
            </a:r>
            <a:r>
              <a:rPr sz="1600" spc="-1080" dirty="0">
                <a:latin typeface="Courier New"/>
                <a:cs typeface="Courier New"/>
              </a:rPr>
              <a:t> </a:t>
            </a:r>
            <a:r>
              <a:rPr sz="1600" spc="-100" dirty="0">
                <a:latin typeface="Arial"/>
                <a:cs typeface="Arial"/>
              </a:rPr>
              <a:t>and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00" dirty="0">
                <a:latin typeface="Arial"/>
                <a:cs typeface="Arial"/>
              </a:rPr>
              <a:t>value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20" dirty="0">
                <a:latin typeface="Arial"/>
                <a:cs typeface="Arial"/>
              </a:rPr>
              <a:t>identifier</a:t>
            </a:r>
            <a:endParaRPr sz="1600" dirty="0">
              <a:latin typeface="Arial"/>
              <a:cs typeface="Arial"/>
            </a:endParaRPr>
          </a:p>
          <a:p>
            <a:pPr marL="355600" marR="5080" indent="-342900">
              <a:lnSpc>
                <a:spcPct val="103299"/>
              </a:lnSpc>
              <a:spcBef>
                <a:spcPts val="162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155" dirty="0">
                <a:latin typeface="Arial"/>
                <a:cs typeface="Arial"/>
              </a:rPr>
              <a:t>The </a:t>
            </a:r>
            <a:r>
              <a:rPr sz="1600" spc="-15" dirty="0">
                <a:latin typeface="Courier New"/>
                <a:cs typeface="Courier New"/>
              </a:rPr>
              <a:t>session_start()</a:t>
            </a:r>
            <a:r>
              <a:rPr sz="1600" spc="-15" dirty="0">
                <a:latin typeface="Arial"/>
                <a:cs typeface="Arial"/>
              </a:rPr>
              <a:t>function </a:t>
            </a:r>
            <a:r>
              <a:rPr sz="1600" spc="-70" dirty="0">
                <a:latin typeface="Arial"/>
                <a:cs typeface="Arial"/>
              </a:rPr>
              <a:t>must </a:t>
            </a:r>
            <a:r>
              <a:rPr sz="1600" spc="-100" dirty="0">
                <a:latin typeface="Arial"/>
                <a:cs typeface="Arial"/>
              </a:rPr>
              <a:t>be </a:t>
            </a:r>
            <a:r>
              <a:rPr sz="1600" spc="-85" dirty="0">
                <a:latin typeface="Arial"/>
                <a:cs typeface="Arial"/>
              </a:rPr>
              <a:t>specified </a:t>
            </a:r>
            <a:r>
              <a:rPr sz="1600" spc="-70" dirty="0">
                <a:latin typeface="Arial"/>
                <a:cs typeface="Arial"/>
              </a:rPr>
              <a:t>on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0" dirty="0">
                <a:latin typeface="Arial"/>
                <a:cs typeface="Arial"/>
              </a:rPr>
              <a:t>top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-420" dirty="0">
                <a:latin typeface="Arial"/>
                <a:cs typeface="Arial"/>
              </a:rPr>
              <a:t> </a:t>
            </a:r>
            <a:r>
              <a:rPr sz="1600" spc="-90" dirty="0">
                <a:latin typeface="Arial"/>
                <a:cs typeface="Arial"/>
              </a:rPr>
              <a:t>every  </a:t>
            </a:r>
            <a:r>
              <a:rPr sz="1600" spc="-125" dirty="0">
                <a:latin typeface="Arial"/>
                <a:cs typeface="Arial"/>
              </a:rPr>
              <a:t>Web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140" dirty="0">
                <a:latin typeface="Arial"/>
                <a:cs typeface="Arial"/>
              </a:rPr>
              <a:t>page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or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before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start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actual</a:t>
            </a:r>
            <a:r>
              <a:rPr sz="1600" spc="-140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coding</a:t>
            </a:r>
            <a:endParaRPr sz="1600" dirty="0">
              <a:latin typeface="Arial"/>
              <a:cs typeface="Arial"/>
            </a:endParaRPr>
          </a:p>
          <a:p>
            <a:pPr marL="355600" marR="95250" indent="-342900">
              <a:lnSpc>
                <a:spcPct val="100899"/>
              </a:lnSpc>
              <a:spcBef>
                <a:spcPts val="167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If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35" dirty="0">
                <a:latin typeface="Arial"/>
                <a:cs typeface="Arial"/>
              </a:rPr>
              <a:t>session </a:t>
            </a:r>
            <a:r>
              <a:rPr sz="1600" spc="-110" dirty="0">
                <a:latin typeface="Arial"/>
                <a:cs typeface="Arial"/>
              </a:rPr>
              <a:t>is </a:t>
            </a:r>
            <a:r>
              <a:rPr sz="1600" spc="-70" dirty="0">
                <a:latin typeface="Arial"/>
                <a:cs typeface="Arial"/>
              </a:rPr>
              <a:t>valid </a:t>
            </a:r>
            <a:r>
              <a:rPr sz="1600" spc="-100" dirty="0">
                <a:latin typeface="Arial"/>
                <a:cs typeface="Arial"/>
              </a:rPr>
              <a:t>and </a:t>
            </a:r>
            <a:r>
              <a:rPr sz="1600" spc="-80" dirty="0">
                <a:latin typeface="Arial"/>
                <a:cs typeface="Arial"/>
              </a:rPr>
              <a:t>existing, </a:t>
            </a:r>
            <a:r>
              <a:rPr sz="1600" spc="65" dirty="0">
                <a:latin typeface="Arial"/>
                <a:cs typeface="Arial"/>
              </a:rPr>
              <a:t>it</a:t>
            </a:r>
            <a:r>
              <a:rPr sz="1600" spc="-43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activates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85" dirty="0">
                <a:latin typeface="Arial"/>
                <a:cs typeface="Arial"/>
              </a:rPr>
              <a:t>frozen </a:t>
            </a:r>
            <a:r>
              <a:rPr sz="1600" spc="-95" dirty="0">
                <a:latin typeface="Arial"/>
                <a:cs typeface="Arial"/>
              </a:rPr>
              <a:t>variables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25" dirty="0">
                <a:latin typeface="Arial"/>
                <a:cs typeface="Arial"/>
              </a:rPr>
              <a:t>the  </a:t>
            </a:r>
            <a:r>
              <a:rPr sz="1600" spc="-135" dirty="0">
                <a:latin typeface="Arial"/>
                <a:cs typeface="Arial"/>
              </a:rPr>
              <a:t>session</a:t>
            </a:r>
            <a:endParaRPr sz="1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8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If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35" dirty="0">
                <a:latin typeface="Arial"/>
                <a:cs typeface="Arial"/>
              </a:rPr>
              <a:t>session </a:t>
            </a:r>
            <a:r>
              <a:rPr sz="1600" spc="-110" dirty="0">
                <a:latin typeface="Arial"/>
                <a:cs typeface="Arial"/>
              </a:rPr>
              <a:t>is </a:t>
            </a:r>
            <a:r>
              <a:rPr sz="1600" spc="-60" dirty="0">
                <a:latin typeface="Arial"/>
                <a:cs typeface="Arial"/>
              </a:rPr>
              <a:t>invalid </a:t>
            </a:r>
            <a:r>
              <a:rPr sz="1600" spc="-20" dirty="0">
                <a:latin typeface="Arial"/>
                <a:cs typeface="Arial"/>
              </a:rPr>
              <a:t>or </a:t>
            </a:r>
            <a:r>
              <a:rPr sz="1600" spc="-70" dirty="0">
                <a:latin typeface="Arial"/>
                <a:cs typeface="Arial"/>
              </a:rPr>
              <a:t>non </a:t>
            </a:r>
            <a:r>
              <a:rPr sz="1600" spc="-80" dirty="0">
                <a:latin typeface="Arial"/>
                <a:cs typeface="Arial"/>
              </a:rPr>
              <a:t>existing, </a:t>
            </a:r>
            <a:r>
              <a:rPr sz="1600" spc="65" dirty="0">
                <a:latin typeface="Arial"/>
                <a:cs typeface="Arial"/>
              </a:rPr>
              <a:t>it </a:t>
            </a:r>
            <a:r>
              <a:rPr sz="1600" spc="-105" dirty="0">
                <a:latin typeface="Arial"/>
                <a:cs typeface="Arial"/>
              </a:rPr>
              <a:t>creates </a:t>
            </a:r>
            <a:r>
              <a:rPr sz="1600" spc="-165" dirty="0">
                <a:latin typeface="Arial"/>
                <a:cs typeface="Arial"/>
              </a:rPr>
              <a:t>a </a:t>
            </a:r>
            <a:r>
              <a:rPr sz="1600" spc="-135" dirty="0">
                <a:latin typeface="Arial"/>
                <a:cs typeface="Arial"/>
              </a:rPr>
              <a:t>session </a:t>
            </a:r>
            <a:r>
              <a:rPr sz="1600" spc="-140" dirty="0">
                <a:latin typeface="Arial"/>
                <a:cs typeface="Arial"/>
              </a:rPr>
              <a:t>ID </a:t>
            </a:r>
            <a:r>
              <a:rPr sz="1600" spc="-15" dirty="0">
                <a:latin typeface="Arial"/>
                <a:cs typeface="Arial"/>
              </a:rPr>
              <a:t>for </a:t>
            </a:r>
            <a:r>
              <a:rPr sz="1600" spc="-25" dirty="0">
                <a:latin typeface="Arial"/>
                <a:cs typeface="Arial"/>
              </a:rPr>
              <a:t>the</a:t>
            </a:r>
            <a:r>
              <a:rPr sz="1600" spc="-41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new</a:t>
            </a:r>
            <a:endParaRPr sz="16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140" dirty="0">
                <a:latin typeface="Arial"/>
                <a:cs typeface="Arial"/>
              </a:rPr>
              <a:t>session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29177"/>
            <a:ext cx="54182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Starting </a:t>
            </a:r>
            <a:r>
              <a:rPr spc="-150" dirty="0"/>
              <a:t>the</a:t>
            </a:r>
            <a:r>
              <a:rPr spc="-280" dirty="0"/>
              <a:t> </a:t>
            </a:r>
            <a:r>
              <a:rPr spc="-114" dirty="0"/>
              <a:t>Session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xfrm>
            <a:off x="383540" y="2232234"/>
            <a:ext cx="7797662" cy="1107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400" spc="-27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sz="1400" spc="-4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start </a:t>
            </a:r>
            <a:r>
              <a:rPr sz="1400" spc="-17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sz="1400" spc="-13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session, </a:t>
            </a:r>
            <a:r>
              <a:rPr sz="1400" spc="-4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perform </a:t>
            </a:r>
            <a:r>
              <a:rPr sz="1400" spc="-3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sz="1400" spc="-4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following</a:t>
            </a:r>
            <a:r>
              <a:rPr sz="1400" spc="-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400" spc="-11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steps:</a:t>
            </a:r>
          </a:p>
          <a:p>
            <a:pPr marL="698500" lvl="1" indent="-228600">
              <a:lnSpc>
                <a:spcPct val="100000"/>
              </a:lnSpc>
              <a:spcBef>
                <a:spcPts val="1820"/>
              </a:spcBef>
              <a:buClr>
                <a:srgbClr val="1F487C"/>
              </a:buClr>
              <a:buSzPct val="90000"/>
              <a:buAutoNum type="arabicPeriod"/>
              <a:tabLst>
                <a:tab pos="699135" algn="l"/>
              </a:tabLst>
            </a:pPr>
            <a:r>
              <a:rPr sz="1400" spc="-1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Open </a:t>
            </a:r>
            <a:r>
              <a:rPr sz="1400" spc="-15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sz="1400" spc="-7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new </a:t>
            </a:r>
            <a:r>
              <a:rPr sz="1400" spc="-1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 </a:t>
            </a:r>
            <a:r>
              <a:rPr sz="1400" spc="-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</a:t>
            </a:r>
            <a:r>
              <a:rPr sz="1400" b="1" spc="-11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gedit </a:t>
            </a:r>
            <a:r>
              <a:rPr sz="1400" spc="-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</a:t>
            </a:r>
            <a:r>
              <a:rPr sz="1400" spc="-29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4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editor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98500" lvl="1" indent="-2286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90000"/>
              <a:buAutoNum type="arabicPeriod"/>
              <a:tabLst>
                <a:tab pos="699135" algn="l"/>
              </a:tabLst>
            </a:pPr>
            <a:r>
              <a:rPr sz="1400" spc="-9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Enter </a:t>
            </a:r>
            <a:r>
              <a:rPr sz="14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sz="1400" spc="-4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following</a:t>
            </a:r>
            <a:r>
              <a:rPr sz="1400" spc="-23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400" spc="-9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code: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40" y="3511986"/>
            <a:ext cx="5791200" cy="255460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8580" marR="3052445">
              <a:lnSpc>
                <a:spcPts val="2770"/>
              </a:lnSpc>
              <a:spcBef>
                <a:spcPts val="265"/>
              </a:spcBef>
            </a:pPr>
            <a:r>
              <a:rPr sz="1400" spc="-5" dirty="0">
                <a:latin typeface="Courier New"/>
                <a:cs typeface="Courier New"/>
              </a:rPr>
              <a:t>// </a:t>
            </a:r>
            <a:r>
              <a:rPr sz="1400" spc="-10" dirty="0">
                <a:latin typeface="Courier New"/>
                <a:cs typeface="Courier New"/>
              </a:rPr>
              <a:t>initializing </a:t>
            </a:r>
            <a:r>
              <a:rPr sz="1400" dirty="0">
                <a:latin typeface="Courier New"/>
                <a:cs typeface="Courier New"/>
              </a:rPr>
              <a:t>a </a:t>
            </a:r>
            <a:r>
              <a:rPr sz="1400" spc="-5" dirty="0">
                <a:latin typeface="Courier New"/>
                <a:cs typeface="Courier New"/>
              </a:rPr>
              <a:t>session  session_start();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805"/>
              </a:spcBef>
            </a:pPr>
            <a:r>
              <a:rPr sz="1400" dirty="0">
                <a:latin typeface="Courier New"/>
                <a:cs typeface="Courier New"/>
              </a:rPr>
              <a:t>/* The </a:t>
            </a:r>
            <a:r>
              <a:rPr sz="1400" spc="-5" dirty="0">
                <a:latin typeface="Courier New"/>
                <a:cs typeface="Courier New"/>
              </a:rPr>
              <a:t>session_id() function displays the session</a:t>
            </a:r>
            <a:r>
              <a:rPr sz="1400" spc="25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id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Courier New"/>
                <a:cs typeface="Courier New"/>
              </a:rPr>
              <a:t>that </a:t>
            </a:r>
            <a:r>
              <a:rPr sz="1400" spc="-10" dirty="0">
                <a:latin typeface="Courier New"/>
                <a:cs typeface="Courier New"/>
              </a:rPr>
              <a:t>PHP allots</a:t>
            </a:r>
            <a:r>
              <a:rPr sz="1400" spc="-5" dirty="0">
                <a:latin typeface="Courier New"/>
                <a:cs typeface="Courier New"/>
              </a:rPr>
              <a:t> to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75"/>
              </a:spcBef>
            </a:pPr>
            <a:r>
              <a:rPr sz="1400" dirty="0">
                <a:latin typeface="Courier New"/>
                <a:cs typeface="Courier New"/>
              </a:rPr>
              <a:t>a </a:t>
            </a:r>
            <a:r>
              <a:rPr sz="1400" spc="-5" dirty="0">
                <a:latin typeface="Courier New"/>
                <a:cs typeface="Courier New"/>
              </a:rPr>
              <a:t>user.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*/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9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"The </a:t>
            </a:r>
            <a:r>
              <a:rPr sz="1400" spc="-5" dirty="0">
                <a:latin typeface="Courier New"/>
                <a:cs typeface="Courier New"/>
              </a:rPr>
              <a:t>Session id is </a:t>
            </a:r>
            <a:r>
              <a:rPr sz="1400" dirty="0">
                <a:latin typeface="Courier New"/>
                <a:cs typeface="Courier New"/>
              </a:rPr>
              <a:t>" </a:t>
            </a:r>
            <a:r>
              <a:rPr sz="1400" spc="-5" dirty="0">
                <a:latin typeface="Courier New"/>
                <a:cs typeface="Courier New"/>
              </a:rPr>
              <a:t>.session_id().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".&lt;br&gt;";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3489257"/>
            <a:ext cx="1981200" cy="41275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828800"/>
            <a:ext cx="57912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520"/>
              </a:lnSpc>
            </a:pPr>
            <a:r>
              <a:rPr sz="1400" spc="-10" dirty="0">
                <a:latin typeface="Courier New"/>
                <a:cs typeface="Courier New"/>
              </a:rPr>
              <a:t>session_start();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000" y="1392936"/>
            <a:ext cx="1981200" cy="42989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918717"/>
            <a:ext cx="58146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5" dirty="0">
                <a:latin typeface="Arial"/>
                <a:cs typeface="Arial"/>
              </a:rPr>
              <a:t>The </a:t>
            </a:r>
            <a:r>
              <a:rPr sz="2000" spc="-15" dirty="0">
                <a:latin typeface="Courier New"/>
                <a:cs typeface="Courier New"/>
              </a:rPr>
              <a:t>session_start()</a:t>
            </a:r>
            <a:r>
              <a:rPr sz="2000" spc="-15" dirty="0">
                <a:latin typeface="Arial"/>
                <a:cs typeface="Arial"/>
              </a:rPr>
              <a:t>function </a:t>
            </a:r>
            <a:r>
              <a:rPr sz="2000" spc="-114" dirty="0">
                <a:latin typeface="Arial"/>
                <a:cs typeface="Arial"/>
              </a:rPr>
              <a:t>is </a:t>
            </a:r>
            <a:r>
              <a:rPr sz="2000" spc="-210" dirty="0">
                <a:latin typeface="Arial"/>
                <a:cs typeface="Arial"/>
              </a:rPr>
              <a:t>as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follows: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044" y="927861"/>
            <a:ext cx="8236584" cy="25894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30"/>
              </a:lnSpc>
              <a:spcBef>
                <a:spcPts val="100"/>
              </a:spcBef>
              <a:buClr>
                <a:srgbClr val="1F487C"/>
              </a:buClr>
              <a:buSzPct val="89583"/>
              <a:buAutoNum type="arabicPeriod" startAt="3"/>
              <a:tabLst>
                <a:tab pos="354965" algn="l"/>
                <a:tab pos="355600" algn="l"/>
              </a:tabLst>
            </a:pPr>
            <a:r>
              <a:rPr sz="2000" spc="-254" dirty="0">
                <a:latin typeface="Arial"/>
                <a:cs typeface="Arial"/>
              </a:rPr>
              <a:t>Save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60" dirty="0">
                <a:latin typeface="Arial"/>
                <a:cs typeface="Arial"/>
              </a:rPr>
              <a:t>script </a:t>
            </a:r>
            <a:r>
              <a:rPr sz="2000" spc="-225" dirty="0">
                <a:latin typeface="Arial"/>
                <a:cs typeface="Arial"/>
              </a:rPr>
              <a:t>as </a:t>
            </a:r>
            <a:r>
              <a:rPr sz="2000" spc="-130" dirty="0">
                <a:latin typeface="Arial"/>
                <a:cs typeface="Arial"/>
              </a:rPr>
              <a:t>session1.php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484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</a:pPr>
            <a:r>
              <a:rPr sz="2000" spc="-10" dirty="0">
                <a:latin typeface="Courier New"/>
                <a:cs typeface="Courier New"/>
              </a:rPr>
              <a:t>/usr/local/apache2/htdocs/</a:t>
            </a:r>
            <a:r>
              <a:rPr sz="2000" spc="-944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Arial"/>
                <a:cs typeface="Arial"/>
              </a:rPr>
              <a:t>directory.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SzPct val="89583"/>
              <a:buAutoNum type="arabicPeriod" startAt="4"/>
              <a:tabLst>
                <a:tab pos="354965" algn="l"/>
                <a:tab pos="355600" algn="l"/>
              </a:tabLst>
            </a:pPr>
            <a:r>
              <a:rPr sz="2000" spc="-150" dirty="0">
                <a:latin typeface="Arial"/>
                <a:cs typeface="Arial"/>
              </a:rPr>
              <a:t>Open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Mozilla </a:t>
            </a:r>
            <a:r>
              <a:rPr sz="2000" spc="-114" dirty="0">
                <a:latin typeface="Arial"/>
                <a:cs typeface="Arial"/>
              </a:rPr>
              <a:t>Firefox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browser.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3800"/>
              </a:lnSpc>
              <a:spcBef>
                <a:spcPts val="1490"/>
              </a:spcBef>
              <a:buClr>
                <a:srgbClr val="1F487C"/>
              </a:buClr>
              <a:buSzPct val="89583"/>
              <a:buAutoNum type="arabicPeriod" startAt="4"/>
              <a:tabLst>
                <a:tab pos="354965" algn="l"/>
                <a:tab pos="355600" algn="l"/>
              </a:tabLst>
            </a:pPr>
            <a:r>
              <a:rPr sz="2000" spc="-105" dirty="0">
                <a:latin typeface="Arial"/>
                <a:cs typeface="Arial"/>
              </a:rPr>
              <a:t>Enter </a:t>
            </a:r>
            <a:r>
              <a:rPr sz="2000" spc="-10" dirty="0">
                <a:latin typeface="Courier New"/>
                <a:cs typeface="Courier New"/>
                <a:hlinkClick r:id="rId2"/>
              </a:rPr>
              <a:t>http://localhost/session1.php</a:t>
            </a:r>
            <a:r>
              <a:rPr sz="2000" spc="-1090" dirty="0">
                <a:latin typeface="Courier New"/>
                <a:cs typeface="Courier New"/>
                <a:hlinkClick r:id="rId2"/>
              </a:rPr>
              <a:t> </a:t>
            </a:r>
            <a:r>
              <a:rPr sz="2000" spc="-30" dirty="0">
                <a:latin typeface="Arial"/>
                <a:cs typeface="Arial"/>
              </a:rPr>
              <a:t>in the </a:t>
            </a:r>
            <a:r>
              <a:rPr sz="2000" spc="-150" dirty="0">
                <a:latin typeface="Arial"/>
                <a:cs typeface="Arial"/>
              </a:rPr>
              <a:t>Address  </a:t>
            </a:r>
            <a:r>
              <a:rPr sz="2000" spc="-80" dirty="0">
                <a:latin typeface="Arial"/>
                <a:cs typeface="Arial"/>
              </a:rPr>
              <a:t>bar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150" dirty="0">
                <a:latin typeface="Arial"/>
                <a:cs typeface="Arial"/>
              </a:rPr>
              <a:t>press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Enter.</a:t>
            </a:r>
            <a:endParaRPr sz="2000" dirty="0">
              <a:latin typeface="Arial"/>
              <a:cs typeface="Arial"/>
            </a:endParaRPr>
          </a:p>
          <a:p>
            <a:pPr marL="323215">
              <a:lnSpc>
                <a:spcPct val="100000"/>
              </a:lnSpc>
              <a:spcBef>
                <a:spcPts val="1390"/>
              </a:spcBef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50" dirty="0">
                <a:latin typeface="Arial"/>
                <a:cs typeface="Arial"/>
              </a:rPr>
              <a:t>following </a:t>
            </a:r>
            <a:r>
              <a:rPr sz="2000" spc="-10" dirty="0">
                <a:latin typeface="Arial"/>
                <a:cs typeface="Arial"/>
              </a:rPr>
              <a:t>output </a:t>
            </a:r>
            <a:r>
              <a:rPr sz="2000" spc="-125" dirty="0">
                <a:latin typeface="Arial"/>
                <a:cs typeface="Arial"/>
              </a:rPr>
              <a:t>is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displayed: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0" dirty="0"/>
              <a:t>St</a:t>
            </a:r>
            <a:r>
              <a:rPr spc="-125" dirty="0"/>
              <a:t>arting</a:t>
            </a:r>
            <a:r>
              <a:rPr spc="-185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sp>
        <p:nvSpPr>
          <p:cNvPr id="4" name="object 4"/>
          <p:cNvSpPr/>
          <p:nvPr/>
        </p:nvSpPr>
        <p:spPr>
          <a:xfrm>
            <a:off x="3807655" y="3517288"/>
            <a:ext cx="4619534" cy="26075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65" dirty="0"/>
              <a:t>R</a:t>
            </a:r>
            <a:r>
              <a:rPr spc="-140" dirty="0"/>
              <a:t>e</a:t>
            </a:r>
            <a:r>
              <a:rPr spc="-114" dirty="0"/>
              <a:t>g</a:t>
            </a:r>
            <a:r>
              <a:rPr spc="-90" dirty="0"/>
              <a:t>i</a:t>
            </a:r>
            <a:r>
              <a:rPr spc="-155" dirty="0"/>
              <a:t>s</a:t>
            </a:r>
            <a:r>
              <a:rPr spc="-170" dirty="0"/>
              <a:t>t</a:t>
            </a:r>
            <a:r>
              <a:rPr spc="-150" dirty="0"/>
              <a:t>eri</a:t>
            </a:r>
            <a:r>
              <a:rPr spc="-200" dirty="0"/>
              <a:t>n</a:t>
            </a:r>
            <a:r>
              <a:rPr spc="-75" dirty="0"/>
              <a:t>g</a:t>
            </a:r>
            <a:r>
              <a:rPr spc="-175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0" dirty="0"/>
              <a:t>S</a:t>
            </a:r>
            <a:r>
              <a:rPr spc="-114" dirty="0"/>
              <a:t>essio</a:t>
            </a:r>
            <a:r>
              <a:rPr spc="-140" dirty="0"/>
              <a:t>n</a:t>
            </a:r>
            <a:r>
              <a:rPr spc="-165" dirty="0"/>
              <a:t> </a:t>
            </a:r>
            <a:r>
              <a:rPr spc="-215" dirty="0"/>
              <a:t>V</a:t>
            </a:r>
            <a:r>
              <a:rPr spc="-120" dirty="0"/>
              <a:t>aria</a:t>
            </a:r>
            <a:r>
              <a:rPr spc="-150" dirty="0"/>
              <a:t>b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30300"/>
            <a:ext cx="8456295" cy="45217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20" dirty="0">
                <a:latin typeface="Arial"/>
                <a:cs typeface="Arial"/>
              </a:rPr>
              <a:t>Variables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140" dirty="0">
                <a:latin typeface="Arial"/>
                <a:cs typeface="Arial"/>
              </a:rPr>
              <a:t>session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70" dirty="0">
                <a:latin typeface="Arial"/>
                <a:cs typeface="Arial"/>
              </a:rPr>
              <a:t>contain </a:t>
            </a:r>
            <a:r>
              <a:rPr sz="2000" spc="-105" dirty="0">
                <a:latin typeface="Arial"/>
                <a:cs typeface="Arial"/>
              </a:rPr>
              <a:t>user </a:t>
            </a:r>
            <a:r>
              <a:rPr sz="2000" spc="-90" dirty="0">
                <a:latin typeface="Arial"/>
                <a:cs typeface="Arial"/>
              </a:rPr>
              <a:t>specific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information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0" dirty="0">
                <a:latin typeface="Arial"/>
                <a:cs typeface="Arial"/>
              </a:rPr>
              <a:t>Session </a:t>
            </a:r>
            <a:r>
              <a:rPr sz="2000" spc="-40" dirty="0">
                <a:latin typeface="Arial"/>
                <a:cs typeface="Arial"/>
              </a:rPr>
              <a:t>library </a:t>
            </a:r>
            <a:r>
              <a:rPr sz="2000" spc="-120" dirty="0">
                <a:latin typeface="Arial"/>
                <a:cs typeface="Arial"/>
              </a:rPr>
              <a:t>enables </a:t>
            </a:r>
            <a:r>
              <a:rPr sz="2000" spc="-65" dirty="0">
                <a:latin typeface="Arial"/>
                <a:cs typeface="Arial"/>
              </a:rPr>
              <a:t>creation, </a:t>
            </a:r>
            <a:r>
              <a:rPr sz="2000" spc="-75" dirty="0">
                <a:latin typeface="Arial"/>
                <a:cs typeface="Arial"/>
              </a:rPr>
              <a:t>serialization, </a:t>
            </a:r>
            <a:r>
              <a:rPr sz="2000" spc="-105" dirty="0">
                <a:latin typeface="Arial"/>
                <a:cs typeface="Arial"/>
              </a:rPr>
              <a:t>and </a:t>
            </a:r>
            <a:r>
              <a:rPr sz="2000" spc="-110" dirty="0">
                <a:latin typeface="Arial"/>
                <a:cs typeface="Arial"/>
              </a:rPr>
              <a:t>storage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session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85" dirty="0"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25" dirty="0">
                <a:latin typeface="Arial"/>
                <a:cs typeface="Arial"/>
              </a:rPr>
              <a:t>There </a:t>
            </a:r>
            <a:r>
              <a:rPr sz="2000" spc="-95" dirty="0">
                <a:latin typeface="Arial"/>
                <a:cs typeface="Arial"/>
              </a:rPr>
              <a:t>are </a:t>
            </a:r>
            <a:r>
              <a:rPr sz="2000" spc="-40" dirty="0">
                <a:latin typeface="Arial"/>
                <a:cs typeface="Arial"/>
              </a:rPr>
              <a:t>three </a:t>
            </a:r>
            <a:r>
              <a:rPr sz="2000" spc="-80" dirty="0">
                <a:latin typeface="Arial"/>
                <a:cs typeface="Arial"/>
              </a:rPr>
              <a:t>methods </a:t>
            </a:r>
            <a:r>
              <a:rPr sz="2000" spc="10" dirty="0">
                <a:latin typeface="Arial"/>
                <a:cs typeface="Arial"/>
              </a:rPr>
              <a:t>to </a:t>
            </a:r>
            <a:r>
              <a:rPr sz="2000" spc="-85" dirty="0">
                <a:latin typeface="Arial"/>
                <a:cs typeface="Arial"/>
              </a:rPr>
              <a:t>set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140" dirty="0">
                <a:latin typeface="Arial"/>
                <a:cs typeface="Arial"/>
              </a:rPr>
              <a:t>session </a:t>
            </a:r>
            <a:r>
              <a:rPr sz="2000" spc="-80" dirty="0">
                <a:latin typeface="Arial"/>
                <a:cs typeface="Arial"/>
              </a:rPr>
              <a:t>variable, </a:t>
            </a:r>
            <a:r>
              <a:rPr sz="2000" spc="-65" dirty="0">
                <a:latin typeface="Arial"/>
                <a:cs typeface="Arial"/>
              </a:rPr>
              <a:t>which </a:t>
            </a:r>
            <a:r>
              <a:rPr sz="2000" spc="-100" dirty="0">
                <a:latin typeface="Arial"/>
                <a:cs typeface="Arial"/>
              </a:rPr>
              <a:t>are </a:t>
            </a:r>
            <a:r>
              <a:rPr sz="2000" spc="-210" dirty="0">
                <a:latin typeface="Arial"/>
                <a:cs typeface="Arial"/>
              </a:rPr>
              <a:t>as</a:t>
            </a:r>
            <a:r>
              <a:rPr sz="2000" spc="-2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follows: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45"/>
              </a:spcBef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10" dirty="0">
                <a:latin typeface="Courier New"/>
                <a:cs typeface="Courier New"/>
              </a:rPr>
              <a:t>$_SESSION[]</a:t>
            </a:r>
            <a:r>
              <a:rPr sz="1600" spc="-10" dirty="0">
                <a:latin typeface="Arial"/>
                <a:cs typeface="Arial"/>
              </a:rPr>
              <a:t>- </a:t>
            </a:r>
            <a:r>
              <a:rPr sz="1600" spc="-80" dirty="0">
                <a:latin typeface="Arial"/>
                <a:cs typeface="Arial"/>
              </a:rPr>
              <a:t>recommended </a:t>
            </a:r>
            <a:r>
              <a:rPr sz="1600" spc="-5" dirty="0">
                <a:latin typeface="Arial"/>
                <a:cs typeface="Arial"/>
              </a:rPr>
              <a:t>for </a:t>
            </a:r>
            <a:r>
              <a:rPr sz="1600" spc="-250" dirty="0">
                <a:latin typeface="Arial"/>
                <a:cs typeface="Arial"/>
              </a:rPr>
              <a:t>PHP</a:t>
            </a:r>
            <a:r>
              <a:rPr sz="1600" spc="-29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4.1.0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10" dirty="0">
                <a:latin typeface="Courier New"/>
                <a:cs typeface="Courier New"/>
              </a:rPr>
              <a:t>$HTTP_SESSION_VARS[]</a:t>
            </a:r>
            <a:r>
              <a:rPr sz="1600" spc="-10" dirty="0">
                <a:latin typeface="Arial"/>
                <a:cs typeface="Arial"/>
              </a:rPr>
              <a:t>- </a:t>
            </a:r>
            <a:r>
              <a:rPr sz="1600" spc="-80" dirty="0">
                <a:latin typeface="Arial"/>
                <a:cs typeface="Arial"/>
              </a:rPr>
              <a:t>recommended </a:t>
            </a:r>
            <a:r>
              <a:rPr sz="1600" spc="-5" dirty="0">
                <a:latin typeface="Arial"/>
                <a:cs typeface="Arial"/>
              </a:rPr>
              <a:t>for </a:t>
            </a:r>
            <a:r>
              <a:rPr sz="1600" spc="-250" dirty="0">
                <a:latin typeface="Arial"/>
                <a:cs typeface="Arial"/>
              </a:rPr>
              <a:t>PHP </a:t>
            </a:r>
            <a:r>
              <a:rPr sz="1600" spc="-75" dirty="0">
                <a:latin typeface="Arial"/>
                <a:cs typeface="Arial"/>
              </a:rPr>
              <a:t>4.0.6 </a:t>
            </a:r>
            <a:r>
              <a:rPr sz="1600" spc="-15" dirty="0">
                <a:latin typeface="Arial"/>
                <a:cs typeface="Arial"/>
              </a:rPr>
              <a:t>or</a:t>
            </a:r>
            <a:r>
              <a:rPr sz="1600" spc="-155" dirty="0">
                <a:latin typeface="Arial"/>
                <a:cs typeface="Arial"/>
              </a:rPr>
              <a:t> </a:t>
            </a:r>
            <a:r>
              <a:rPr sz="1600" spc="-125" dirty="0">
                <a:latin typeface="Arial"/>
                <a:cs typeface="Arial"/>
              </a:rPr>
              <a:t>less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  <a:tabLst>
                <a:tab pos="756285" algn="l"/>
              </a:tabLst>
            </a:pPr>
            <a:r>
              <a:rPr sz="800" spc="28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10" dirty="0">
                <a:latin typeface="Courier New"/>
                <a:cs typeface="Courier New"/>
              </a:rPr>
              <a:t>session_register()</a:t>
            </a:r>
            <a:r>
              <a:rPr sz="1600" spc="-10" dirty="0">
                <a:latin typeface="Arial"/>
                <a:cs typeface="Arial"/>
              </a:rPr>
              <a:t>- </a:t>
            </a:r>
            <a:r>
              <a:rPr sz="1600" spc="-5" dirty="0">
                <a:latin typeface="Arial"/>
                <a:cs typeface="Arial"/>
              </a:rPr>
              <a:t>not </a:t>
            </a:r>
            <a:r>
              <a:rPr sz="1600" spc="-80" dirty="0">
                <a:latin typeface="Arial"/>
                <a:cs typeface="Arial"/>
              </a:rPr>
              <a:t>recommended </a:t>
            </a:r>
            <a:r>
              <a:rPr sz="1600" spc="-170" dirty="0">
                <a:latin typeface="Arial"/>
                <a:cs typeface="Arial"/>
              </a:rPr>
              <a:t>as </a:t>
            </a:r>
            <a:r>
              <a:rPr sz="1600" spc="55" dirty="0">
                <a:latin typeface="Arial"/>
                <a:cs typeface="Arial"/>
              </a:rPr>
              <a:t>it </a:t>
            </a:r>
            <a:r>
              <a:rPr sz="1600" spc="-135" dirty="0">
                <a:latin typeface="Arial"/>
                <a:cs typeface="Arial"/>
              </a:rPr>
              <a:t>has </a:t>
            </a:r>
            <a:r>
              <a:rPr sz="1600" spc="-85" dirty="0">
                <a:latin typeface="Arial"/>
                <a:cs typeface="Arial"/>
              </a:rPr>
              <a:t>been</a:t>
            </a:r>
            <a:r>
              <a:rPr sz="1600" spc="-32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deprecated</a:t>
            </a:r>
            <a:endParaRPr sz="1600" dirty="0">
              <a:latin typeface="Arial"/>
              <a:cs typeface="Arial"/>
            </a:endParaRPr>
          </a:p>
          <a:p>
            <a:pPr marL="355600" marR="885190" indent="-342900">
              <a:lnSpc>
                <a:spcPct val="100000"/>
              </a:lnSpc>
              <a:spcBef>
                <a:spcPts val="66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0" dirty="0">
                <a:latin typeface="Arial"/>
                <a:cs typeface="Arial"/>
              </a:rPr>
              <a:t>Session </a:t>
            </a:r>
            <a:r>
              <a:rPr sz="2000" spc="-100" dirty="0">
                <a:latin typeface="Arial"/>
                <a:cs typeface="Arial"/>
              </a:rPr>
              <a:t>variables </a:t>
            </a:r>
            <a:r>
              <a:rPr sz="2000" spc="-150" dirty="0">
                <a:latin typeface="Arial"/>
                <a:cs typeface="Arial"/>
              </a:rPr>
              <a:t>can </a:t>
            </a:r>
            <a:r>
              <a:rPr sz="2000" spc="-105" dirty="0">
                <a:latin typeface="Arial"/>
                <a:cs typeface="Arial"/>
              </a:rPr>
              <a:t>be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30" dirty="0">
                <a:latin typeface="Arial"/>
                <a:cs typeface="Arial"/>
              </a:rPr>
              <a:t>any </a:t>
            </a:r>
            <a:r>
              <a:rPr sz="2000" spc="-85" dirty="0">
                <a:latin typeface="Arial"/>
                <a:cs typeface="Arial"/>
              </a:rPr>
              <a:t>data </a:t>
            </a:r>
            <a:r>
              <a:rPr sz="2000" spc="-50" dirty="0">
                <a:latin typeface="Arial"/>
                <a:cs typeface="Arial"/>
              </a:rPr>
              <a:t>type </a:t>
            </a:r>
            <a:r>
              <a:rPr sz="2000" spc="-140" dirty="0">
                <a:latin typeface="Arial"/>
                <a:cs typeface="Arial"/>
              </a:rPr>
              <a:t>such </a:t>
            </a:r>
            <a:r>
              <a:rPr sz="2000" spc="-210" dirty="0">
                <a:latin typeface="Arial"/>
                <a:cs typeface="Arial"/>
              </a:rPr>
              <a:t>as </a:t>
            </a:r>
            <a:r>
              <a:rPr sz="2000" spc="-90" dirty="0">
                <a:latin typeface="Arial"/>
                <a:cs typeface="Arial"/>
              </a:rPr>
              <a:t>integer, </a:t>
            </a:r>
            <a:r>
              <a:rPr sz="2000" spc="-60" dirty="0">
                <a:latin typeface="Arial"/>
                <a:cs typeface="Arial"/>
              </a:rPr>
              <a:t>string,  </a:t>
            </a:r>
            <a:r>
              <a:rPr sz="2000" spc="-105" dirty="0">
                <a:latin typeface="Arial"/>
                <a:cs typeface="Arial"/>
              </a:rPr>
              <a:t>Boolean,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300" dirty="0">
                <a:latin typeface="Arial"/>
                <a:cs typeface="Arial"/>
              </a:rPr>
              <a:t>PHP </a:t>
            </a:r>
            <a:r>
              <a:rPr sz="2000" spc="-100" dirty="0">
                <a:latin typeface="Arial"/>
                <a:cs typeface="Arial"/>
              </a:rPr>
              <a:t>stores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session </a:t>
            </a:r>
            <a:r>
              <a:rPr sz="2000" spc="-100" dirty="0">
                <a:latin typeface="Arial"/>
                <a:cs typeface="Arial"/>
              </a:rPr>
              <a:t>variables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140" dirty="0">
                <a:latin typeface="Arial"/>
                <a:cs typeface="Arial"/>
              </a:rPr>
              <a:t>session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100" dirty="0">
                <a:latin typeface="Arial"/>
                <a:cs typeface="Arial"/>
              </a:rPr>
              <a:t>by </a:t>
            </a:r>
            <a:r>
              <a:rPr sz="2000" spc="-85" dirty="0">
                <a:latin typeface="Arial"/>
                <a:cs typeface="Arial"/>
              </a:rPr>
              <a:t>serializing</a:t>
            </a:r>
            <a:r>
              <a:rPr sz="2000" spc="-37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125" dirty="0">
                <a:latin typeface="Arial"/>
                <a:cs typeface="Arial"/>
              </a:rPr>
              <a:t>values</a:t>
            </a:r>
            <a:endParaRPr sz="2000" dirty="0">
              <a:latin typeface="Arial"/>
              <a:cs typeface="Arial"/>
            </a:endParaRPr>
          </a:p>
          <a:p>
            <a:pPr marL="355600" marR="887094" indent="-342900">
              <a:lnSpc>
                <a:spcPct val="100000"/>
              </a:lnSpc>
              <a:spcBef>
                <a:spcPts val="6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300" dirty="0">
                <a:latin typeface="Arial"/>
                <a:cs typeface="Arial"/>
              </a:rPr>
              <a:t>PHP </a:t>
            </a:r>
            <a:r>
              <a:rPr sz="2000" spc="-60" dirty="0">
                <a:latin typeface="Arial"/>
                <a:cs typeface="Arial"/>
              </a:rPr>
              <a:t>automatically </a:t>
            </a:r>
            <a:r>
              <a:rPr sz="2000" spc="-110" dirty="0">
                <a:latin typeface="Arial"/>
                <a:cs typeface="Arial"/>
              </a:rPr>
              <a:t>handles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35" dirty="0">
                <a:latin typeface="Arial"/>
                <a:cs typeface="Arial"/>
              </a:rPr>
              <a:t>process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85" dirty="0">
                <a:latin typeface="Arial"/>
                <a:cs typeface="Arial"/>
              </a:rPr>
              <a:t>serializing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session  </a:t>
            </a:r>
            <a:r>
              <a:rPr sz="2000" spc="-100" dirty="0">
                <a:latin typeface="Arial"/>
                <a:cs typeface="Arial"/>
              </a:rPr>
              <a:t>variables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110" y="2095707"/>
            <a:ext cx="5791200" cy="361251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10" dirty="0">
                <a:latin typeface="Courier New"/>
                <a:cs typeface="Courier New"/>
              </a:rPr>
              <a:t>session_start();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$_SESSION['myname']=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"Jessica";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&lt;HTML&gt;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0"/>
              </a:spcBef>
            </a:pPr>
            <a:r>
              <a:rPr sz="1400" spc="-5" dirty="0">
                <a:latin typeface="Courier New"/>
                <a:cs typeface="Courier New"/>
              </a:rPr>
              <a:t>&lt;HEAD&gt; &lt;TITLE&gt; Session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&lt;/TITLE&gt;&lt;/HEAD&gt;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90"/>
              </a:spcBef>
            </a:pPr>
            <a:r>
              <a:rPr sz="1400" spc="-5" dirty="0">
                <a:latin typeface="Courier New"/>
                <a:cs typeface="Courier New"/>
              </a:rPr>
              <a:t>&lt;BODY&gt;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0"/>
              </a:spcBef>
            </a:pPr>
            <a:r>
              <a:rPr sz="1400" spc="-5" dirty="0">
                <a:latin typeface="Courier New"/>
                <a:cs typeface="Courier New"/>
              </a:rPr>
              <a:t>&lt;A HREF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"mypage.php"&gt; Homepage of MyPage.com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&lt;/A&gt;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&lt;/BODY&gt;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&lt;/HTML&gt;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65" dirty="0"/>
              <a:t>R</a:t>
            </a:r>
            <a:r>
              <a:rPr spc="-140" dirty="0"/>
              <a:t>e</a:t>
            </a:r>
            <a:r>
              <a:rPr spc="-114" dirty="0"/>
              <a:t>g</a:t>
            </a:r>
            <a:r>
              <a:rPr spc="-90" dirty="0"/>
              <a:t>i</a:t>
            </a:r>
            <a:r>
              <a:rPr spc="-155" dirty="0"/>
              <a:t>s</a:t>
            </a:r>
            <a:r>
              <a:rPr spc="-170" dirty="0"/>
              <a:t>t</a:t>
            </a:r>
            <a:r>
              <a:rPr spc="-150" dirty="0"/>
              <a:t>eri</a:t>
            </a:r>
            <a:r>
              <a:rPr spc="-200" dirty="0"/>
              <a:t>n</a:t>
            </a:r>
            <a:r>
              <a:rPr spc="-75" dirty="0"/>
              <a:t>g</a:t>
            </a:r>
            <a:r>
              <a:rPr spc="-175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0" dirty="0"/>
              <a:t>S</a:t>
            </a:r>
            <a:r>
              <a:rPr spc="-114" dirty="0"/>
              <a:t>essio</a:t>
            </a:r>
            <a:r>
              <a:rPr spc="-140" dirty="0"/>
              <a:t>n</a:t>
            </a:r>
            <a:r>
              <a:rPr spc="-165" dirty="0"/>
              <a:t> </a:t>
            </a:r>
            <a:r>
              <a:rPr spc="-215" dirty="0"/>
              <a:t>V</a:t>
            </a:r>
            <a:r>
              <a:rPr spc="-120" dirty="0"/>
              <a:t>aria</a:t>
            </a:r>
            <a:r>
              <a:rPr spc="-150" dirty="0"/>
              <a:t>b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  <p:sp>
        <p:nvSpPr>
          <p:cNvPr id="4" name="object 4"/>
          <p:cNvSpPr txBox="1"/>
          <p:nvPr/>
        </p:nvSpPr>
        <p:spPr>
          <a:xfrm>
            <a:off x="304800" y="2232810"/>
            <a:ext cx="1981200" cy="39814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19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9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191" y="775461"/>
            <a:ext cx="7973059" cy="13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80" dirty="0">
                <a:latin typeface="Arial"/>
                <a:cs typeface="Arial"/>
              </a:rPr>
              <a:t>Steps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80" dirty="0">
                <a:latin typeface="Arial"/>
                <a:cs typeface="Arial"/>
              </a:rPr>
              <a:t>register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value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85" dirty="0">
                <a:latin typeface="Arial"/>
                <a:cs typeface="Arial"/>
              </a:rPr>
              <a:t>variable </a:t>
            </a:r>
            <a:r>
              <a:rPr sz="2000" spc="-110" dirty="0">
                <a:latin typeface="Arial"/>
                <a:cs typeface="Arial"/>
              </a:rPr>
              <a:t>are </a:t>
            </a:r>
            <a:r>
              <a:rPr sz="2000" spc="-225" dirty="0">
                <a:latin typeface="Arial"/>
                <a:cs typeface="Arial"/>
              </a:rPr>
              <a:t>as</a:t>
            </a:r>
            <a:r>
              <a:rPr sz="2000" spc="-484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follows:</a:t>
            </a:r>
            <a:endParaRPr sz="2000" dirty="0">
              <a:latin typeface="Arial"/>
              <a:cs typeface="Arial"/>
            </a:endParaRPr>
          </a:p>
          <a:p>
            <a:pPr marL="980440" lvl="1" indent="-335280">
              <a:lnSpc>
                <a:spcPct val="100000"/>
              </a:lnSpc>
              <a:spcBef>
                <a:spcPts val="1730"/>
              </a:spcBef>
              <a:buClr>
                <a:srgbClr val="1F487C"/>
              </a:buClr>
              <a:buSzPct val="90000"/>
              <a:buAutoNum type="arabicPeriod"/>
              <a:tabLst>
                <a:tab pos="980440" algn="l"/>
                <a:tab pos="981075" algn="l"/>
              </a:tabLst>
            </a:pPr>
            <a:r>
              <a:rPr spc="-120" dirty="0">
                <a:latin typeface="Arial"/>
                <a:cs typeface="Arial"/>
              </a:rPr>
              <a:t>Open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new </a:t>
            </a:r>
            <a:r>
              <a:rPr spc="-15" dirty="0">
                <a:latin typeface="Arial"/>
                <a:cs typeface="Arial"/>
              </a:rPr>
              <a:t>file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b="1" spc="-110" dirty="0">
                <a:latin typeface="Trebuchet MS"/>
                <a:cs typeface="Trebuchet MS"/>
              </a:rPr>
              <a:t>gedit </a:t>
            </a:r>
            <a:r>
              <a:rPr spc="-25" dirty="0">
                <a:latin typeface="Arial"/>
                <a:cs typeface="Arial"/>
              </a:rPr>
              <a:t>text</a:t>
            </a:r>
            <a:r>
              <a:rPr spc="-29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editor</a:t>
            </a:r>
            <a:endParaRPr dirty="0">
              <a:latin typeface="Arial"/>
              <a:cs typeface="Arial"/>
            </a:endParaRPr>
          </a:p>
          <a:p>
            <a:pPr marL="980440" lvl="1" indent="-335280">
              <a:lnSpc>
                <a:spcPct val="100000"/>
              </a:lnSpc>
              <a:spcBef>
                <a:spcPts val="1720"/>
              </a:spcBef>
              <a:buClr>
                <a:srgbClr val="1F487C"/>
              </a:buClr>
              <a:buSzPct val="90000"/>
              <a:buAutoNum type="arabicPeriod"/>
              <a:tabLst>
                <a:tab pos="980440" algn="l"/>
                <a:tab pos="981075" algn="l"/>
              </a:tabLst>
            </a:pPr>
            <a:r>
              <a:rPr spc="-90" dirty="0">
                <a:latin typeface="Arial"/>
                <a:cs typeface="Arial"/>
              </a:rPr>
              <a:t>Enter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40" dirty="0">
                <a:latin typeface="Arial"/>
                <a:cs typeface="Arial"/>
              </a:rPr>
              <a:t>following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code: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702309"/>
            <a:ext cx="8532495" cy="1950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5305">
              <a:lnSpc>
                <a:spcPts val="2360"/>
              </a:lnSpc>
              <a:spcBef>
                <a:spcPts val="105"/>
              </a:spcBef>
            </a:pPr>
            <a:r>
              <a:rPr sz="1600" spc="-70" dirty="0">
                <a:solidFill>
                  <a:srgbClr val="1F487C"/>
                </a:solidFill>
                <a:latin typeface="Arial"/>
                <a:cs typeface="Arial"/>
              </a:rPr>
              <a:t>3. </a:t>
            </a:r>
            <a:r>
              <a:rPr spc="-215" dirty="0">
                <a:latin typeface="Arial"/>
                <a:cs typeface="Arial"/>
              </a:rPr>
              <a:t>Save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5" dirty="0">
                <a:latin typeface="Arial"/>
                <a:cs typeface="Arial"/>
              </a:rPr>
              <a:t>file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b="1" spc="-105" dirty="0">
                <a:latin typeface="Trebuchet MS"/>
                <a:cs typeface="Trebuchet MS"/>
              </a:rPr>
              <a:t>sessionstart.php </a:t>
            </a:r>
            <a:r>
              <a:rPr spc="-25" dirty="0">
                <a:latin typeface="Arial"/>
                <a:cs typeface="Arial"/>
              </a:rPr>
              <a:t>in</a:t>
            </a:r>
            <a:r>
              <a:rPr spc="-17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endParaRPr dirty="0">
              <a:latin typeface="Arial"/>
              <a:cs typeface="Arial"/>
            </a:endParaRPr>
          </a:p>
          <a:p>
            <a:pPr marL="812800">
              <a:lnSpc>
                <a:spcPts val="2360"/>
              </a:lnSpc>
            </a:pPr>
            <a:r>
              <a:rPr spc="-15" dirty="0">
                <a:latin typeface="Courier New"/>
                <a:cs typeface="Courier New"/>
              </a:rPr>
              <a:t>/usr/local/apache2/htdocs/</a:t>
            </a:r>
            <a:r>
              <a:rPr spc="-15" dirty="0">
                <a:latin typeface="Arial"/>
                <a:cs typeface="Arial"/>
              </a:rPr>
              <a:t>directory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64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70" dirty="0">
                <a:latin typeface="Arial"/>
                <a:cs typeface="Arial"/>
              </a:rPr>
              <a:t>To </a:t>
            </a:r>
            <a:r>
              <a:rPr sz="2000" spc="-100" dirty="0">
                <a:latin typeface="Arial"/>
                <a:cs typeface="Arial"/>
              </a:rPr>
              <a:t>display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value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session </a:t>
            </a:r>
            <a:r>
              <a:rPr sz="2000" spc="-80" dirty="0">
                <a:latin typeface="Arial"/>
                <a:cs typeface="Arial"/>
              </a:rPr>
              <a:t>variable, </a:t>
            </a:r>
            <a:r>
              <a:rPr sz="2000" spc="-40" dirty="0">
                <a:latin typeface="Arial"/>
                <a:cs typeface="Arial"/>
              </a:rPr>
              <a:t>perform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following</a:t>
            </a:r>
            <a:r>
              <a:rPr sz="2000" spc="-30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steps:</a:t>
            </a:r>
            <a:endParaRPr sz="2000" dirty="0">
              <a:latin typeface="Arial"/>
              <a:cs typeface="Arial"/>
            </a:endParaRPr>
          </a:p>
          <a:p>
            <a:pPr marL="812800" lvl="1" indent="-277495">
              <a:lnSpc>
                <a:spcPct val="100000"/>
              </a:lnSpc>
              <a:spcBef>
                <a:spcPts val="625"/>
              </a:spcBef>
              <a:buClr>
                <a:srgbClr val="1F487C"/>
              </a:buClr>
              <a:buSzPct val="90000"/>
              <a:buAutoNum type="arabicPeriod"/>
              <a:tabLst>
                <a:tab pos="813435" algn="l"/>
              </a:tabLst>
            </a:pPr>
            <a:r>
              <a:rPr spc="-120" dirty="0">
                <a:latin typeface="Arial"/>
                <a:cs typeface="Arial"/>
              </a:rPr>
              <a:t>Open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new </a:t>
            </a:r>
            <a:r>
              <a:rPr spc="-15" dirty="0">
                <a:latin typeface="Arial"/>
                <a:cs typeface="Arial"/>
              </a:rPr>
              <a:t>file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b="1" spc="-110" dirty="0">
                <a:latin typeface="Trebuchet MS"/>
                <a:cs typeface="Trebuchet MS"/>
              </a:rPr>
              <a:t>gedit </a:t>
            </a:r>
            <a:r>
              <a:rPr spc="-25" dirty="0">
                <a:latin typeface="Arial"/>
                <a:cs typeface="Arial"/>
              </a:rPr>
              <a:t>text</a:t>
            </a:r>
            <a:r>
              <a:rPr spc="-29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editor.</a:t>
            </a:r>
            <a:endParaRPr dirty="0">
              <a:latin typeface="Arial"/>
              <a:cs typeface="Arial"/>
            </a:endParaRPr>
          </a:p>
          <a:p>
            <a:pPr marL="812800" lvl="1" indent="-277495">
              <a:lnSpc>
                <a:spcPct val="100000"/>
              </a:lnSpc>
              <a:spcBef>
                <a:spcPts val="600"/>
              </a:spcBef>
              <a:buClr>
                <a:srgbClr val="1F487C"/>
              </a:buClr>
              <a:buSzPct val="90000"/>
              <a:buAutoNum type="arabicPeriod"/>
              <a:tabLst>
                <a:tab pos="813435" algn="l"/>
              </a:tabLst>
            </a:pPr>
            <a:r>
              <a:rPr spc="-90" dirty="0">
                <a:latin typeface="Arial"/>
                <a:cs typeface="Arial"/>
              </a:rPr>
              <a:t>Enter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40" dirty="0">
                <a:latin typeface="Arial"/>
                <a:cs typeface="Arial"/>
              </a:rPr>
              <a:t>following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code: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24017"/>
            <a:ext cx="796446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Registering </a:t>
            </a:r>
            <a:r>
              <a:rPr spc="-150" dirty="0"/>
              <a:t>the </a:t>
            </a:r>
            <a:r>
              <a:rPr spc="-120" dirty="0"/>
              <a:t>Session</a:t>
            </a:r>
            <a:r>
              <a:rPr spc="-290" dirty="0"/>
              <a:t> </a:t>
            </a:r>
            <a:r>
              <a:rPr spc="-145" dirty="0"/>
              <a:t>Variable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76400" y="3054495"/>
            <a:ext cx="5791200" cy="33832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session_start();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90"/>
              </a:spcBef>
            </a:pPr>
            <a:r>
              <a:rPr sz="1400" spc="-5" dirty="0">
                <a:latin typeface="Courier New"/>
                <a:cs typeface="Courier New"/>
              </a:rPr>
              <a:t>$myname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$_SESSION['myname'];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8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75"/>
              </a:spcBef>
            </a:pPr>
            <a:r>
              <a:rPr sz="1400" spc="-5" dirty="0">
                <a:latin typeface="Courier New"/>
                <a:cs typeface="Courier New"/>
              </a:rPr>
              <a:t>&lt;HTML&gt;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95"/>
              </a:spcBef>
            </a:pPr>
            <a:r>
              <a:rPr sz="1400" spc="-5" dirty="0">
                <a:latin typeface="Courier New"/>
                <a:cs typeface="Courier New"/>
              </a:rPr>
              <a:t>&lt;HEAD&gt; &lt;TITLE&gt; Homepage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&lt;/TITLE&gt;&lt;/HEAD&gt;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&lt;BODY&gt;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Welcome &lt;?php echo </a:t>
            </a:r>
            <a:r>
              <a:rPr sz="1400" spc="-10" dirty="0">
                <a:latin typeface="Courier New"/>
                <a:cs typeface="Courier New"/>
              </a:rPr>
              <a:t>$myname ?&gt; </a:t>
            </a:r>
            <a:r>
              <a:rPr sz="1400" spc="-5" dirty="0">
                <a:latin typeface="Courier New"/>
                <a:cs typeface="Courier New"/>
              </a:rPr>
              <a:t>to </a:t>
            </a:r>
            <a:r>
              <a:rPr sz="1400" spc="-10" dirty="0">
                <a:latin typeface="Courier New"/>
                <a:cs typeface="Courier New"/>
              </a:rPr>
              <a:t>MyPage.com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&lt;br&gt;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95"/>
              </a:spcBef>
            </a:pPr>
            <a:r>
              <a:rPr sz="1400" spc="-5" dirty="0">
                <a:latin typeface="Courier New"/>
                <a:cs typeface="Courier New"/>
              </a:rPr>
              <a:t>&lt;/BODY&gt;</a:t>
            </a:r>
            <a:endParaRPr sz="1400" dirty="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&lt;/HTML&gt;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658255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2015"/>
            <a:ext cx="7656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Registering </a:t>
            </a:r>
            <a:r>
              <a:rPr spc="-150" dirty="0"/>
              <a:t>the </a:t>
            </a:r>
            <a:r>
              <a:rPr spc="-120" dirty="0"/>
              <a:t>Session</a:t>
            </a:r>
            <a:r>
              <a:rPr spc="-290" dirty="0"/>
              <a:t> </a:t>
            </a:r>
            <a:r>
              <a:rPr spc="-145" dirty="0"/>
              <a:t>Variable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1044" y="767841"/>
            <a:ext cx="7656195" cy="2475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390"/>
              </a:lnSpc>
              <a:spcBef>
                <a:spcPts val="105"/>
              </a:spcBef>
              <a:buClr>
                <a:srgbClr val="1F487C"/>
              </a:buClr>
              <a:buSzPct val="90000"/>
              <a:buAutoNum type="arabicPeriod" startAt="3"/>
              <a:tabLst>
                <a:tab pos="241300" algn="l"/>
              </a:tabLst>
            </a:pPr>
            <a:r>
              <a:rPr sz="2000" spc="-215" dirty="0">
                <a:latin typeface="Arial"/>
                <a:cs typeface="Arial"/>
              </a:rPr>
              <a:t>Save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185" dirty="0">
                <a:latin typeface="Arial"/>
                <a:cs typeface="Arial"/>
              </a:rPr>
              <a:t>as </a:t>
            </a:r>
            <a:r>
              <a:rPr sz="2000" spc="-5" dirty="0">
                <a:latin typeface="Courier New"/>
                <a:cs typeface="Courier New"/>
              </a:rPr>
              <a:t>mypage.php</a:t>
            </a:r>
            <a:r>
              <a:rPr sz="2000" spc="-77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241300">
              <a:lnSpc>
                <a:spcPts val="2390"/>
              </a:lnSpc>
            </a:pPr>
            <a:r>
              <a:rPr sz="2000" spc="-5" dirty="0">
                <a:latin typeface="Courier New"/>
                <a:cs typeface="Courier New"/>
              </a:rPr>
              <a:t>/usr/local/apache2/htdocs/directory</a:t>
            </a:r>
            <a:endParaRPr sz="2000" dirty="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1810"/>
              </a:spcBef>
              <a:buClr>
                <a:srgbClr val="1F487C"/>
              </a:buClr>
              <a:buSzPct val="90000"/>
              <a:buAutoNum type="arabicPeriod" startAt="4"/>
              <a:tabLst>
                <a:tab pos="241300" algn="l"/>
              </a:tabLst>
            </a:pPr>
            <a:r>
              <a:rPr sz="2000" spc="-120" dirty="0">
                <a:latin typeface="Arial"/>
                <a:cs typeface="Arial"/>
              </a:rPr>
              <a:t>Open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55" dirty="0">
                <a:latin typeface="Arial"/>
                <a:cs typeface="Arial"/>
              </a:rPr>
              <a:t>Mozilla </a:t>
            </a:r>
            <a:r>
              <a:rPr sz="2000" spc="-95" dirty="0">
                <a:latin typeface="Arial"/>
                <a:cs typeface="Arial"/>
              </a:rPr>
              <a:t>Firefox </a:t>
            </a:r>
            <a:r>
              <a:rPr sz="2000" spc="-114" dirty="0">
                <a:latin typeface="Arial"/>
                <a:cs typeface="Arial"/>
              </a:rPr>
              <a:t>Web</a:t>
            </a:r>
            <a:r>
              <a:rPr sz="2000" spc="-30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browser</a:t>
            </a:r>
            <a:endParaRPr sz="2000" dirty="0">
              <a:latin typeface="Arial"/>
              <a:cs typeface="Arial"/>
            </a:endParaRPr>
          </a:p>
          <a:p>
            <a:pPr marL="241300" marR="5080" indent="-228600">
              <a:lnSpc>
                <a:spcPct val="100000"/>
              </a:lnSpc>
              <a:spcBef>
                <a:spcPts val="1620"/>
              </a:spcBef>
              <a:buClr>
                <a:srgbClr val="1F487C"/>
              </a:buClr>
              <a:buSzPct val="90000"/>
              <a:buAutoNum type="arabicPeriod" startAt="4"/>
              <a:tabLst>
                <a:tab pos="241300" algn="l"/>
              </a:tabLst>
            </a:pPr>
            <a:r>
              <a:rPr sz="2000" spc="-90" dirty="0">
                <a:latin typeface="Arial"/>
                <a:cs typeface="Arial"/>
              </a:rPr>
              <a:t>Enter </a:t>
            </a:r>
            <a:r>
              <a:rPr sz="2000" spc="-5" dirty="0">
                <a:latin typeface="Arial"/>
                <a:cs typeface="Arial"/>
                <a:hlinkClick r:id="rId2"/>
              </a:rPr>
              <a:t>http</a:t>
            </a:r>
            <a:r>
              <a:rPr sz="2000" spc="-5" dirty="0">
                <a:latin typeface="Courier New"/>
                <a:cs typeface="Courier New"/>
                <a:hlinkClick r:id="rId2"/>
              </a:rPr>
              <a:t>://localhost/sessionstart.php</a:t>
            </a:r>
            <a:r>
              <a:rPr sz="2000" spc="-860" dirty="0">
                <a:latin typeface="Courier New"/>
                <a:cs typeface="Courier New"/>
                <a:hlinkClick r:id="rId2"/>
              </a:rPr>
              <a:t>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20" dirty="0">
                <a:latin typeface="Arial"/>
                <a:cs typeface="Arial"/>
              </a:rPr>
              <a:t>Address </a:t>
            </a:r>
            <a:r>
              <a:rPr sz="2000" spc="-60" dirty="0">
                <a:latin typeface="Arial"/>
                <a:cs typeface="Arial"/>
              </a:rPr>
              <a:t>bar 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25" dirty="0">
                <a:latin typeface="Arial"/>
                <a:cs typeface="Arial"/>
              </a:rPr>
              <a:t>press </a:t>
            </a:r>
            <a:r>
              <a:rPr sz="2000" b="1" spc="-145" dirty="0">
                <a:latin typeface="Trebuchet MS"/>
                <a:cs typeface="Trebuchet MS"/>
              </a:rPr>
              <a:t>Enter</a:t>
            </a:r>
            <a:endParaRPr sz="2000" dirty="0">
              <a:latin typeface="Trebuchet MS"/>
              <a:cs typeface="Trebuchet MS"/>
            </a:endParaRPr>
          </a:p>
          <a:p>
            <a:pPr marL="218440">
              <a:lnSpc>
                <a:spcPct val="100000"/>
              </a:lnSpc>
              <a:spcBef>
                <a:spcPts val="1480"/>
              </a:spcBef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following </a:t>
            </a:r>
            <a:r>
              <a:rPr sz="2000" spc="-5" dirty="0">
                <a:latin typeface="Arial"/>
                <a:cs typeface="Arial"/>
              </a:rPr>
              <a:t>output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displayed: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11845" y="3429000"/>
            <a:ext cx="5648741" cy="3049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9718"/>
            <a:ext cx="82880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Registering </a:t>
            </a:r>
            <a:r>
              <a:rPr spc="-150" dirty="0"/>
              <a:t>the </a:t>
            </a:r>
            <a:r>
              <a:rPr spc="-120" dirty="0"/>
              <a:t>Session</a:t>
            </a:r>
            <a:r>
              <a:rPr spc="-290" dirty="0"/>
              <a:t> </a:t>
            </a:r>
            <a:r>
              <a:rPr spc="-145" dirty="0"/>
              <a:t>Variable</a:t>
            </a:r>
          </a:p>
        </p:txBody>
      </p:sp>
      <p:sp>
        <p:nvSpPr>
          <p:cNvPr id="4" name="object 4"/>
          <p:cNvSpPr/>
          <p:nvPr/>
        </p:nvSpPr>
        <p:spPr>
          <a:xfrm>
            <a:off x="1919903" y="2647057"/>
            <a:ext cx="5062893" cy="2877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1893" y="912063"/>
            <a:ext cx="6219825" cy="155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150" spc="-80" dirty="0">
                <a:solidFill>
                  <a:srgbClr val="1F487C"/>
                </a:solidFill>
                <a:latin typeface="Arial"/>
                <a:cs typeface="Arial"/>
              </a:rPr>
              <a:t>6.	</a:t>
            </a:r>
            <a:r>
              <a:rPr sz="2400" spc="-150" dirty="0">
                <a:latin typeface="Arial"/>
                <a:cs typeface="Arial"/>
              </a:rPr>
              <a:t>Click Homepage </a:t>
            </a:r>
            <a:r>
              <a:rPr sz="2400" spc="-35" dirty="0">
                <a:latin typeface="Arial"/>
                <a:cs typeface="Arial"/>
              </a:rPr>
              <a:t>o</a:t>
            </a:r>
            <a:r>
              <a:rPr sz="2400" spc="-35" dirty="0">
                <a:latin typeface="Courier New"/>
                <a:cs typeface="Courier New"/>
              </a:rPr>
              <a:t>f</a:t>
            </a:r>
            <a:r>
              <a:rPr sz="2400" spc="-894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MyPage.com</a:t>
            </a:r>
            <a:endParaRPr sz="2400" dirty="0">
              <a:latin typeface="Courier New"/>
              <a:cs typeface="Courier New"/>
            </a:endParaRPr>
          </a:p>
          <a:p>
            <a:pPr marL="294640">
              <a:lnSpc>
                <a:spcPct val="100000"/>
              </a:lnSpc>
              <a:spcBef>
                <a:spcPts val="1805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50" dirty="0">
                <a:latin typeface="Arial"/>
                <a:cs typeface="Arial"/>
              </a:rPr>
              <a:t>Homepage </a:t>
            </a:r>
            <a:r>
              <a:rPr sz="2400" spc="-160" dirty="0">
                <a:latin typeface="Arial"/>
                <a:cs typeface="Arial"/>
              </a:rPr>
              <a:t>page </a:t>
            </a:r>
            <a:r>
              <a:rPr sz="2400" spc="-135" dirty="0">
                <a:latin typeface="Arial"/>
                <a:cs typeface="Arial"/>
              </a:rPr>
              <a:t>appears </a:t>
            </a:r>
            <a:r>
              <a:rPr sz="2400" spc="15" dirty="0">
                <a:latin typeface="Arial"/>
                <a:cs typeface="Arial"/>
              </a:rPr>
              <a:t>with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message,</a:t>
            </a:r>
            <a:endParaRPr sz="2400" dirty="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1570"/>
              </a:spcBef>
            </a:pPr>
            <a:r>
              <a:rPr sz="2400" spc="-10" dirty="0">
                <a:latin typeface="Courier New"/>
                <a:cs typeface="Courier New"/>
              </a:rPr>
              <a:t>Welcome Jessica </a:t>
            </a:r>
            <a:r>
              <a:rPr sz="2400" spc="-5" dirty="0">
                <a:latin typeface="Courier New"/>
                <a:cs typeface="Courier New"/>
              </a:rPr>
              <a:t>to</a:t>
            </a:r>
            <a:r>
              <a:rPr sz="2400" spc="-10" dirty="0">
                <a:latin typeface="Courier New"/>
                <a:cs typeface="Courier New"/>
              </a:rPr>
              <a:t> MyPage.com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40386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4470400"/>
            <a:ext cx="5791200" cy="27495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950"/>
              </a:lnSpc>
            </a:pPr>
            <a:r>
              <a:rPr sz="1800" spc="-10" dirty="0">
                <a:latin typeface="Courier New"/>
                <a:cs typeface="Courier New"/>
              </a:rPr>
              <a:t>session_destroy();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35128"/>
            <a:ext cx="8379459" cy="3464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z="4400" cap="all" spc="-14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Ending the Session	</a:t>
            </a:r>
            <a:endParaRPr sz="3500" dirty="0">
              <a:latin typeface="Times New Roman"/>
              <a:cs typeface="Times New Roman"/>
            </a:endParaRPr>
          </a:p>
          <a:p>
            <a:pPr marL="431800" marR="639445" indent="-342900">
              <a:lnSpc>
                <a:spcPts val="301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600" spc="-114" dirty="0">
                <a:latin typeface="Arial"/>
                <a:cs typeface="Arial"/>
              </a:rPr>
              <a:t>When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120" dirty="0">
                <a:latin typeface="Arial"/>
                <a:cs typeface="Arial"/>
              </a:rPr>
              <a:t>user </a:t>
            </a:r>
            <a:r>
              <a:rPr sz="2600" spc="-140" dirty="0">
                <a:latin typeface="Arial"/>
                <a:cs typeface="Arial"/>
              </a:rPr>
              <a:t>logs </a:t>
            </a:r>
            <a:r>
              <a:rPr sz="2600" spc="-5" dirty="0">
                <a:latin typeface="Arial"/>
                <a:cs typeface="Arial"/>
              </a:rPr>
              <a:t>out of</a:t>
            </a:r>
            <a:r>
              <a:rPr sz="2600" spc="-5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160" dirty="0">
                <a:latin typeface="Arial"/>
                <a:cs typeface="Arial"/>
              </a:rPr>
              <a:t>Web </a:t>
            </a:r>
            <a:r>
              <a:rPr sz="2600" spc="-75" dirty="0">
                <a:latin typeface="Arial"/>
                <a:cs typeface="Arial"/>
              </a:rPr>
              <a:t>site,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345" dirty="0">
                <a:latin typeface="Arial"/>
                <a:cs typeface="Arial"/>
              </a:rPr>
              <a:t>PHP </a:t>
            </a:r>
            <a:r>
              <a:rPr sz="2600" spc="-60" dirty="0">
                <a:latin typeface="Arial"/>
                <a:cs typeface="Arial"/>
              </a:rPr>
              <a:t>script  </a:t>
            </a:r>
            <a:r>
              <a:rPr sz="2600" spc="-150" dirty="0">
                <a:latin typeface="Arial"/>
                <a:cs typeface="Arial"/>
              </a:rPr>
              <a:t>executes </a:t>
            </a:r>
            <a:r>
              <a:rPr sz="2600" spc="-25" dirty="0">
                <a:latin typeface="Arial"/>
                <a:cs typeface="Arial"/>
              </a:rPr>
              <a:t>the</a:t>
            </a:r>
            <a:r>
              <a:rPr sz="2600" spc="-210" dirty="0">
                <a:latin typeface="Arial"/>
                <a:cs typeface="Arial"/>
              </a:rPr>
              <a:t> </a:t>
            </a:r>
            <a:r>
              <a:rPr sz="2600" spc="-15" dirty="0">
                <a:latin typeface="Courier New"/>
                <a:cs typeface="Courier New"/>
              </a:rPr>
              <a:t>session_destroy()</a:t>
            </a:r>
            <a:r>
              <a:rPr sz="2600" spc="-15" dirty="0">
                <a:latin typeface="Arial"/>
                <a:cs typeface="Arial"/>
              </a:rPr>
              <a:t>function</a:t>
            </a:r>
            <a:endParaRPr sz="2600" dirty="0">
              <a:latin typeface="Arial"/>
              <a:cs typeface="Arial"/>
            </a:endParaRPr>
          </a:p>
          <a:p>
            <a:pPr marL="431800" marR="5080" indent="-342900">
              <a:lnSpc>
                <a:spcPct val="103499"/>
              </a:lnSpc>
              <a:spcBef>
                <a:spcPts val="152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600" spc="-114" dirty="0">
                <a:latin typeface="Arial"/>
                <a:cs typeface="Arial"/>
              </a:rPr>
              <a:t>When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the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65" dirty="0">
                <a:latin typeface="Arial"/>
                <a:cs typeface="Arial"/>
              </a:rPr>
              <a:t>session </a:t>
            </a:r>
            <a:r>
              <a:rPr sz="2600" spc="-15" dirty="0">
                <a:latin typeface="Arial"/>
                <a:cs typeface="Arial"/>
              </a:rPr>
              <a:t>file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35" dirty="0">
                <a:latin typeface="Arial"/>
                <a:cs typeface="Arial"/>
              </a:rPr>
              <a:t>is </a:t>
            </a:r>
            <a:r>
              <a:rPr sz="2600" spc="-70" dirty="0">
                <a:latin typeface="Arial"/>
                <a:cs typeface="Arial"/>
              </a:rPr>
              <a:t>deleted,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the</a:t>
            </a:r>
            <a:r>
              <a:rPr sz="2600" spc="-215" dirty="0">
                <a:latin typeface="Arial"/>
                <a:cs typeface="Arial"/>
              </a:rPr>
              <a:t> </a:t>
            </a:r>
            <a:r>
              <a:rPr sz="2600" spc="-5" dirty="0">
                <a:latin typeface="Courier New"/>
                <a:cs typeface="Courier New"/>
              </a:rPr>
              <a:t>$PHPSESID</a:t>
            </a:r>
            <a:r>
              <a:rPr sz="2600" spc="-950" dirty="0">
                <a:latin typeface="Courier New"/>
                <a:cs typeface="Courier New"/>
              </a:rPr>
              <a:t> </a:t>
            </a:r>
            <a:r>
              <a:rPr sz="2600" spc="-110" dirty="0">
                <a:latin typeface="Arial"/>
                <a:cs typeface="Arial"/>
              </a:rPr>
              <a:t>cookie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35" dirty="0">
                <a:latin typeface="Arial"/>
                <a:cs typeface="Arial"/>
              </a:rPr>
              <a:t>is  </a:t>
            </a:r>
            <a:r>
              <a:rPr sz="2600" spc="-5" dirty="0">
                <a:latin typeface="Arial"/>
                <a:cs typeface="Arial"/>
              </a:rPr>
              <a:t>not </a:t>
            </a:r>
            <a:r>
              <a:rPr sz="2600" spc="-100" dirty="0">
                <a:latin typeface="Arial"/>
                <a:cs typeface="Arial"/>
              </a:rPr>
              <a:t>removed </a:t>
            </a:r>
            <a:r>
              <a:rPr sz="2600" spc="-25" dirty="0">
                <a:latin typeface="Arial"/>
                <a:cs typeface="Arial"/>
              </a:rPr>
              <a:t>from the </a:t>
            </a:r>
            <a:r>
              <a:rPr sz="2600" spc="-160" dirty="0">
                <a:latin typeface="Arial"/>
                <a:cs typeface="Arial"/>
              </a:rPr>
              <a:t>Web</a:t>
            </a:r>
            <a:r>
              <a:rPr sz="2600" spc="-54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browser</a:t>
            </a:r>
            <a:endParaRPr sz="2600" dirty="0">
              <a:latin typeface="Arial"/>
              <a:cs typeface="Arial"/>
            </a:endParaRPr>
          </a:p>
          <a:p>
            <a:pPr marL="431800" marR="327660" indent="-342900">
              <a:lnSpc>
                <a:spcPct val="103499"/>
              </a:lnSpc>
              <a:spcBef>
                <a:spcPts val="147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600" spc="-185" dirty="0">
                <a:latin typeface="Arial"/>
                <a:cs typeface="Arial"/>
              </a:rPr>
              <a:t>The </a:t>
            </a:r>
            <a:r>
              <a:rPr sz="2600" spc="-140" dirty="0">
                <a:latin typeface="Arial"/>
                <a:cs typeface="Arial"/>
              </a:rPr>
              <a:t>syntax </a:t>
            </a:r>
            <a:r>
              <a:rPr sz="2600" spc="-10" dirty="0">
                <a:latin typeface="Arial"/>
                <a:cs typeface="Arial"/>
              </a:rPr>
              <a:t>for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15" dirty="0">
                <a:latin typeface="Courier New"/>
                <a:cs typeface="Courier New"/>
              </a:rPr>
              <a:t>session_destroy()</a:t>
            </a:r>
            <a:r>
              <a:rPr sz="2600" spc="-15" dirty="0">
                <a:latin typeface="Arial"/>
                <a:cs typeface="Arial"/>
              </a:rPr>
              <a:t>function </a:t>
            </a:r>
            <a:r>
              <a:rPr sz="2600" spc="-130" dirty="0">
                <a:latin typeface="Arial"/>
                <a:cs typeface="Arial"/>
              </a:rPr>
              <a:t>is</a:t>
            </a:r>
            <a:r>
              <a:rPr sz="2600" spc="-500" dirty="0">
                <a:latin typeface="Arial"/>
                <a:cs typeface="Arial"/>
              </a:rPr>
              <a:t> </a:t>
            </a:r>
            <a:r>
              <a:rPr sz="2600" spc="-240" dirty="0">
                <a:latin typeface="Arial"/>
                <a:cs typeface="Arial"/>
              </a:rPr>
              <a:t>as  </a:t>
            </a:r>
            <a:r>
              <a:rPr sz="2600" spc="-65" dirty="0">
                <a:latin typeface="Arial"/>
                <a:cs typeface="Arial"/>
              </a:rPr>
              <a:t>follows: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155" y="682974"/>
            <a:ext cx="8441690" cy="3961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74625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380" dirty="0">
                <a:latin typeface="Arial"/>
                <a:cs typeface="Arial"/>
              </a:rPr>
              <a:t>PHP </a:t>
            </a:r>
            <a:r>
              <a:rPr sz="2800" spc="-225" dirty="0">
                <a:latin typeface="Arial"/>
                <a:cs typeface="Arial"/>
              </a:rPr>
              <a:t>uses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55" dirty="0">
                <a:latin typeface="Arial"/>
                <a:cs typeface="Arial"/>
              </a:rPr>
              <a:t>following </a:t>
            </a:r>
            <a:r>
              <a:rPr sz="2800" spc="-75" dirty="0">
                <a:latin typeface="Arial"/>
                <a:cs typeface="Arial"/>
              </a:rPr>
              <a:t>configuration </a:t>
            </a:r>
            <a:r>
              <a:rPr sz="2800" spc="-95" dirty="0">
                <a:latin typeface="Arial"/>
                <a:cs typeface="Arial"/>
              </a:rPr>
              <a:t>directives when </a:t>
            </a:r>
            <a:r>
              <a:rPr sz="2800" spc="-220" dirty="0">
                <a:latin typeface="Arial"/>
                <a:cs typeface="Arial"/>
              </a:rPr>
              <a:t>a  </a:t>
            </a:r>
            <a:r>
              <a:rPr sz="2800" spc="-180" dirty="0">
                <a:latin typeface="Arial"/>
                <a:cs typeface="Arial"/>
              </a:rPr>
              <a:t>session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ends:</a:t>
            </a:r>
            <a:endParaRPr sz="2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31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0" dirty="0">
                <a:latin typeface="Courier New"/>
                <a:cs typeface="Courier New"/>
              </a:rPr>
              <a:t>gc_maxlifetime()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1155700" marR="5080" indent="-228600">
              <a:lnSpc>
                <a:spcPct val="100000"/>
              </a:lnSpc>
              <a:spcBef>
                <a:spcPts val="994"/>
              </a:spcBef>
            </a:pPr>
            <a:r>
              <a:rPr sz="950" spc="31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400" spc="-170" dirty="0">
                <a:latin typeface="Arial"/>
                <a:cs typeface="Arial"/>
              </a:rPr>
              <a:t>Enables </a:t>
            </a: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55" dirty="0">
                <a:latin typeface="Arial"/>
                <a:cs typeface="Arial"/>
              </a:rPr>
              <a:t>determine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0" dirty="0">
                <a:latin typeface="Arial"/>
                <a:cs typeface="Arial"/>
              </a:rPr>
              <a:t>time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20" dirty="0">
                <a:latin typeface="Arial"/>
                <a:cs typeface="Arial"/>
              </a:rPr>
              <a:t>wait </a:t>
            </a:r>
            <a:r>
              <a:rPr sz="2400" spc="-75" dirty="0">
                <a:latin typeface="Arial"/>
                <a:cs typeface="Arial"/>
              </a:rPr>
              <a:t>before </a:t>
            </a:r>
            <a:r>
              <a:rPr sz="2400" spc="-95" dirty="0">
                <a:latin typeface="Arial"/>
                <a:cs typeface="Arial"/>
              </a:rPr>
              <a:t>ending</a:t>
            </a:r>
            <a:r>
              <a:rPr sz="2400" spc="-409" dirty="0">
                <a:latin typeface="Arial"/>
                <a:cs typeface="Arial"/>
              </a:rPr>
              <a:t> </a:t>
            </a:r>
            <a:r>
              <a:rPr sz="2400" spc="-450" dirty="0">
                <a:latin typeface="Arial"/>
                <a:cs typeface="Arial"/>
              </a:rPr>
              <a:t>a  </a:t>
            </a:r>
            <a:r>
              <a:rPr sz="2400" spc="-155" dirty="0">
                <a:latin typeface="Arial"/>
                <a:cs typeface="Arial"/>
              </a:rPr>
              <a:t>session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45" dirty="0">
                <a:latin typeface="Arial"/>
                <a:cs typeface="Arial"/>
              </a:rPr>
              <a:t>process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105" dirty="0">
                <a:latin typeface="Arial"/>
                <a:cs typeface="Arial"/>
              </a:rPr>
              <a:t>cleaning </a:t>
            </a:r>
            <a:r>
              <a:rPr sz="2400" spc="-80" dirty="0">
                <a:latin typeface="Arial"/>
                <a:cs typeface="Arial"/>
              </a:rPr>
              <a:t>up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95" dirty="0">
                <a:latin typeface="Arial"/>
                <a:cs typeface="Arial"/>
              </a:rPr>
              <a:t>called </a:t>
            </a:r>
            <a:r>
              <a:rPr sz="2400" spc="-225" dirty="0">
                <a:latin typeface="Arial"/>
                <a:cs typeface="Arial"/>
              </a:rPr>
              <a:t>as </a:t>
            </a:r>
            <a:r>
              <a:rPr sz="2400" spc="-150" dirty="0">
                <a:latin typeface="Arial"/>
                <a:cs typeface="Arial"/>
              </a:rPr>
              <a:t>garbage  </a:t>
            </a:r>
            <a:r>
              <a:rPr sz="2400" spc="-60" dirty="0">
                <a:latin typeface="Arial"/>
                <a:cs typeface="Arial"/>
              </a:rPr>
              <a:t>collection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0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0" dirty="0">
                <a:latin typeface="Courier New"/>
                <a:cs typeface="Courier New"/>
              </a:rPr>
              <a:t>gc_probability()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1155700" marR="863600" indent="-228600">
              <a:lnSpc>
                <a:spcPct val="100000"/>
              </a:lnSpc>
              <a:spcBef>
                <a:spcPts val="1000"/>
              </a:spcBef>
            </a:pPr>
            <a:r>
              <a:rPr sz="950" spc="31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400" spc="-170" dirty="0">
                <a:latin typeface="Arial"/>
                <a:cs typeface="Arial"/>
              </a:rPr>
              <a:t>Enables </a:t>
            </a: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55" dirty="0">
                <a:latin typeface="Arial"/>
                <a:cs typeface="Arial"/>
              </a:rPr>
              <a:t>determine </a:t>
            </a:r>
            <a:r>
              <a:rPr sz="2400" spc="15" dirty="0">
                <a:latin typeface="Arial"/>
                <a:cs typeface="Arial"/>
              </a:rPr>
              <a:t>with </a:t>
            </a:r>
            <a:r>
              <a:rPr sz="2400" spc="-45" dirty="0">
                <a:latin typeface="Arial"/>
                <a:cs typeface="Arial"/>
              </a:rPr>
              <a:t>what probability </a:t>
            </a:r>
            <a:r>
              <a:rPr sz="2400" spc="-295" dirty="0">
                <a:latin typeface="Arial"/>
                <a:cs typeface="Arial"/>
              </a:rPr>
              <a:t>the  </a:t>
            </a:r>
            <a:r>
              <a:rPr sz="2400" spc="-150" dirty="0">
                <a:latin typeface="Arial"/>
                <a:cs typeface="Arial"/>
              </a:rPr>
              <a:t>garbage </a:t>
            </a:r>
            <a:r>
              <a:rPr sz="2400" spc="-60" dirty="0">
                <a:latin typeface="Arial"/>
                <a:cs typeface="Arial"/>
              </a:rPr>
              <a:t>collection </a:t>
            </a:r>
            <a:r>
              <a:rPr sz="2400" spc="-30" dirty="0">
                <a:latin typeface="Arial"/>
                <a:cs typeface="Arial"/>
              </a:rPr>
              <a:t>routine </a:t>
            </a:r>
            <a:r>
              <a:rPr sz="2400" spc="-80" dirty="0">
                <a:latin typeface="Arial"/>
                <a:cs typeface="Arial"/>
              </a:rPr>
              <a:t>must </a:t>
            </a:r>
            <a:r>
              <a:rPr sz="2400" spc="-110" dirty="0">
                <a:latin typeface="Arial"/>
                <a:cs typeface="Arial"/>
              </a:rPr>
              <a:t>be</a:t>
            </a:r>
            <a:r>
              <a:rPr sz="2400" spc="-38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invoked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Ending</a:t>
            </a:r>
            <a:r>
              <a:rPr spc="-20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4" dirty="0"/>
              <a:t>Session</a:t>
            </a:r>
            <a:endParaRPr spc="-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39" y="-6317"/>
            <a:ext cx="531973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Ending </a:t>
            </a:r>
            <a:r>
              <a:rPr spc="-150" dirty="0"/>
              <a:t>the</a:t>
            </a:r>
            <a:r>
              <a:rPr spc="-310" dirty="0"/>
              <a:t> </a:t>
            </a:r>
            <a:r>
              <a:rPr spc="-114" dirty="0"/>
              <a:t>Session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19200" y="3048000"/>
            <a:ext cx="5791200" cy="308800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session_start();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$myname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$_SESSION['myname'];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Times New Roman"/>
              <a:cs typeface="Times New Roman"/>
            </a:endParaRPr>
          </a:p>
          <a:p>
            <a:pPr marL="68580" marR="59055">
              <a:lnSpc>
                <a:spcPct val="105000"/>
              </a:lnSpc>
            </a:pPr>
            <a:r>
              <a:rPr sz="1400" spc="-5" dirty="0">
                <a:latin typeface="Courier New"/>
                <a:cs typeface="Courier New"/>
              </a:rPr>
              <a:t>// </a:t>
            </a:r>
            <a:r>
              <a:rPr sz="1400" spc="-10" dirty="0">
                <a:latin typeface="Courier New"/>
                <a:cs typeface="Courier New"/>
              </a:rPr>
              <a:t>The </a:t>
            </a:r>
            <a:r>
              <a:rPr sz="1400" spc="-5" dirty="0">
                <a:latin typeface="Courier New"/>
                <a:cs typeface="Courier New"/>
              </a:rPr>
              <a:t>session_unset() </a:t>
            </a:r>
            <a:r>
              <a:rPr sz="1400" spc="-10" dirty="0">
                <a:latin typeface="Courier New"/>
                <a:cs typeface="Courier New"/>
              </a:rPr>
              <a:t>function unregisters </a:t>
            </a:r>
            <a:r>
              <a:rPr sz="1400" dirty="0">
                <a:latin typeface="Courier New"/>
                <a:cs typeface="Courier New"/>
              </a:rPr>
              <a:t>a </a:t>
            </a:r>
            <a:r>
              <a:rPr sz="1400" spc="-5" dirty="0">
                <a:latin typeface="Courier New"/>
                <a:cs typeface="Courier New"/>
              </a:rPr>
              <a:t>session  variable.</a:t>
            </a:r>
            <a:endParaRPr sz="1400">
              <a:latin typeface="Courier New"/>
              <a:cs typeface="Courier New"/>
            </a:endParaRPr>
          </a:p>
          <a:p>
            <a:pPr marL="68580" marR="3797935">
              <a:lnSpc>
                <a:spcPct val="205700"/>
              </a:lnSpc>
              <a:spcBef>
                <a:spcPts val="15"/>
              </a:spcBef>
            </a:pPr>
            <a:r>
              <a:rPr sz="1400" spc="-5" dirty="0">
                <a:latin typeface="Courier New"/>
                <a:cs typeface="Courier New"/>
              </a:rPr>
              <a:t>session_unset();  sessio</a:t>
            </a:r>
            <a:r>
              <a:rPr sz="1400" spc="-15" dirty="0">
                <a:latin typeface="Courier New"/>
                <a:cs typeface="Courier New"/>
              </a:rPr>
              <a:t>n</a:t>
            </a:r>
            <a:r>
              <a:rPr sz="1400" spc="-5" dirty="0">
                <a:latin typeface="Courier New"/>
                <a:cs typeface="Courier New"/>
              </a:rPr>
              <a:t>_de</a:t>
            </a:r>
            <a:r>
              <a:rPr sz="1400" spc="-20" dirty="0">
                <a:latin typeface="Courier New"/>
                <a:cs typeface="Courier New"/>
              </a:rPr>
              <a:t>s</a:t>
            </a:r>
            <a:r>
              <a:rPr sz="1400" spc="-5" dirty="0">
                <a:latin typeface="Courier New"/>
                <a:cs typeface="Courier New"/>
              </a:rPr>
              <a:t>tr</a:t>
            </a:r>
            <a:r>
              <a:rPr sz="1400" spc="-15" dirty="0">
                <a:latin typeface="Courier New"/>
                <a:cs typeface="Courier New"/>
              </a:rPr>
              <a:t>o</a:t>
            </a:r>
            <a:r>
              <a:rPr sz="1400" spc="-5" dirty="0">
                <a:latin typeface="Courier New"/>
                <a:cs typeface="Courier New"/>
              </a:rPr>
              <a:t>y()</a:t>
            </a:r>
            <a:r>
              <a:rPr sz="1400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"Session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destroyed!";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200" y="2616707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351" y="718027"/>
            <a:ext cx="6988809" cy="1588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310" dirty="0">
                <a:latin typeface="Arial"/>
                <a:cs typeface="Arial"/>
              </a:rPr>
              <a:t>To </a:t>
            </a:r>
            <a:r>
              <a:rPr sz="2600" spc="-90" dirty="0">
                <a:latin typeface="Arial"/>
                <a:cs typeface="Arial"/>
              </a:rPr>
              <a:t>destroy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155" dirty="0">
                <a:latin typeface="Arial"/>
                <a:cs typeface="Arial"/>
              </a:rPr>
              <a:t>session, </a:t>
            </a:r>
            <a:r>
              <a:rPr sz="2600" spc="-50" dirty="0">
                <a:latin typeface="Arial"/>
                <a:cs typeface="Arial"/>
              </a:rPr>
              <a:t>perform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16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steps:</a:t>
            </a:r>
            <a:endParaRPr sz="2600" dirty="0">
              <a:latin typeface="Arial"/>
              <a:cs typeface="Arial"/>
            </a:endParaRPr>
          </a:p>
          <a:p>
            <a:pPr marL="812800" lvl="1" indent="-228600">
              <a:lnSpc>
                <a:spcPct val="100000"/>
              </a:lnSpc>
              <a:spcBef>
                <a:spcPts val="1710"/>
              </a:spcBef>
              <a:buClr>
                <a:srgbClr val="1F487C"/>
              </a:buClr>
              <a:buSzPct val="89583"/>
              <a:buAutoNum type="arabicPeriod"/>
              <a:tabLst>
                <a:tab pos="813435" algn="l"/>
              </a:tabLst>
            </a:pPr>
            <a:r>
              <a:rPr sz="2400" spc="-145" dirty="0">
                <a:latin typeface="Arial"/>
                <a:cs typeface="Arial"/>
              </a:rPr>
              <a:t>Open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new </a:t>
            </a:r>
            <a:r>
              <a:rPr sz="2400" spc="-15" dirty="0">
                <a:latin typeface="Arial"/>
                <a:cs typeface="Arial"/>
              </a:rPr>
              <a:t>file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b="1" spc="-125" dirty="0">
                <a:latin typeface="Trebuchet MS"/>
                <a:cs typeface="Trebuchet MS"/>
              </a:rPr>
              <a:t>gedit </a:t>
            </a:r>
            <a:r>
              <a:rPr sz="2400" spc="-20" dirty="0">
                <a:latin typeface="Arial"/>
                <a:cs typeface="Arial"/>
              </a:rPr>
              <a:t>text</a:t>
            </a:r>
            <a:r>
              <a:rPr sz="2400" spc="-4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editor</a:t>
            </a:r>
            <a:endParaRPr sz="2400" dirty="0">
              <a:latin typeface="Arial"/>
              <a:cs typeface="Arial"/>
            </a:endParaRPr>
          </a:p>
          <a:p>
            <a:pPr marL="812800" lvl="1" indent="-2286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89583"/>
              <a:buAutoNum type="arabicPeriod"/>
              <a:tabLst>
                <a:tab pos="813435" algn="l"/>
              </a:tabLst>
            </a:pPr>
            <a:r>
              <a:rPr sz="2400" spc="-105" dirty="0">
                <a:latin typeface="Arial"/>
                <a:cs typeface="Arial"/>
              </a:rPr>
              <a:t>Enter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0" dirty="0">
                <a:latin typeface="Arial"/>
                <a:cs typeface="Arial"/>
              </a:rPr>
              <a:t>following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code: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39" y="-6317"/>
            <a:ext cx="50883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Ending </a:t>
            </a:r>
            <a:r>
              <a:rPr spc="-150" dirty="0"/>
              <a:t>the</a:t>
            </a:r>
            <a:r>
              <a:rPr spc="-310" dirty="0"/>
              <a:t> </a:t>
            </a:r>
            <a:r>
              <a:rPr spc="-114" dirty="0"/>
              <a:t>Session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800" y="914400"/>
            <a:ext cx="5943600" cy="23622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0"/>
              </a:lnSpc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0"/>
              </a:spcBef>
            </a:pPr>
            <a:r>
              <a:rPr sz="1400" spc="-5" dirty="0"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&lt;HEAD&gt; &lt;TITLE&gt; Session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&lt;/TITLE&gt;&lt;/HEAD&gt;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&lt;br&gt;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&lt;A HREF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"mypage.php"&gt; Homepage of MyPage.com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&lt;/A&gt;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928" y="3433953"/>
            <a:ext cx="6193155" cy="1157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640" indent="-281940">
              <a:lnSpc>
                <a:spcPts val="2630"/>
              </a:lnSpc>
              <a:spcBef>
                <a:spcPts val="95"/>
              </a:spcBef>
              <a:buClr>
                <a:srgbClr val="1F487C"/>
              </a:buClr>
              <a:buSzPct val="88636"/>
              <a:buAutoNum type="arabicPeriod" startAt="3"/>
              <a:tabLst>
                <a:tab pos="294640" algn="l"/>
              </a:tabLst>
            </a:pPr>
            <a:r>
              <a:rPr sz="2200" spc="-235" dirty="0">
                <a:latin typeface="Arial"/>
                <a:cs typeface="Arial"/>
              </a:rPr>
              <a:t>Save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5" dirty="0">
                <a:latin typeface="Arial"/>
                <a:cs typeface="Arial"/>
              </a:rPr>
              <a:t>file </a:t>
            </a:r>
            <a:r>
              <a:rPr sz="2200" spc="-204" dirty="0">
                <a:latin typeface="Arial"/>
                <a:cs typeface="Arial"/>
              </a:rPr>
              <a:t>as </a:t>
            </a:r>
            <a:r>
              <a:rPr sz="2200" b="1" spc="-5" dirty="0">
                <a:latin typeface="Courier New"/>
                <a:cs typeface="Courier New"/>
              </a:rPr>
              <a:t>sessiondestroy.php</a:t>
            </a:r>
            <a:r>
              <a:rPr sz="2200" b="1" spc="-80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Arial"/>
                <a:cs typeface="Arial"/>
              </a:rPr>
              <a:t>in the</a:t>
            </a:r>
            <a:endParaRPr sz="2200">
              <a:latin typeface="Arial"/>
              <a:cs typeface="Arial"/>
            </a:endParaRPr>
          </a:p>
          <a:p>
            <a:pPr marL="294005">
              <a:lnSpc>
                <a:spcPts val="2630"/>
              </a:lnSpc>
            </a:pPr>
            <a:r>
              <a:rPr sz="2200" dirty="0">
                <a:latin typeface="Courier New"/>
                <a:cs typeface="Courier New"/>
              </a:rPr>
              <a:t>/usr/local/apache2/htdocs/directory</a:t>
            </a:r>
            <a:endParaRPr sz="2200">
              <a:latin typeface="Courier New"/>
              <a:cs typeface="Courier New"/>
            </a:endParaRPr>
          </a:p>
          <a:p>
            <a:pPr marL="294640" indent="-281940">
              <a:lnSpc>
                <a:spcPct val="100000"/>
              </a:lnSpc>
              <a:spcBef>
                <a:spcPts val="1019"/>
              </a:spcBef>
              <a:buClr>
                <a:srgbClr val="1F487C"/>
              </a:buClr>
              <a:buSzPct val="88636"/>
              <a:buAutoNum type="arabicPeriod" startAt="4"/>
              <a:tabLst>
                <a:tab pos="294640" algn="l"/>
              </a:tabLst>
            </a:pPr>
            <a:r>
              <a:rPr sz="2200" spc="-140" dirty="0">
                <a:latin typeface="Arial"/>
                <a:cs typeface="Arial"/>
              </a:rPr>
              <a:t>Open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60" dirty="0">
                <a:latin typeface="Arial"/>
                <a:cs typeface="Arial"/>
              </a:rPr>
              <a:t>Mozilla </a:t>
            </a:r>
            <a:r>
              <a:rPr sz="2200" spc="-110" dirty="0">
                <a:latin typeface="Arial"/>
                <a:cs typeface="Arial"/>
              </a:rPr>
              <a:t>Firefox </a:t>
            </a:r>
            <a:r>
              <a:rPr sz="2200" spc="-140" dirty="0">
                <a:latin typeface="Arial"/>
                <a:cs typeface="Arial"/>
              </a:rPr>
              <a:t>Web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browser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893" y="918717"/>
            <a:ext cx="7760334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>
              <a:lnSpc>
                <a:spcPct val="103600"/>
              </a:lnSpc>
              <a:tabLst>
                <a:tab pos="469265" algn="l"/>
              </a:tabLst>
            </a:pPr>
            <a:r>
              <a:rPr sz="1950" spc="-65" dirty="0">
                <a:solidFill>
                  <a:srgbClr val="1F487C"/>
                </a:solidFill>
                <a:latin typeface="Arial"/>
                <a:cs typeface="Arial"/>
              </a:rPr>
              <a:t>5.	</a:t>
            </a:r>
            <a:r>
              <a:rPr sz="2200" spc="-105" dirty="0">
                <a:latin typeface="Arial"/>
                <a:cs typeface="Arial"/>
              </a:rPr>
              <a:t>Enter </a:t>
            </a:r>
            <a:r>
              <a:rPr sz="2200" dirty="0">
                <a:latin typeface="Courier New"/>
                <a:cs typeface="Courier New"/>
                <a:hlinkClick r:id="rId2"/>
              </a:rPr>
              <a:t>http://localhost/sessiondestroy.php</a:t>
            </a:r>
            <a:r>
              <a:rPr sz="2200" spc="-844" dirty="0">
                <a:latin typeface="Courier New"/>
                <a:cs typeface="Courier New"/>
                <a:hlinkClick r:id="rId2"/>
              </a:rPr>
              <a:t> </a:t>
            </a:r>
            <a:r>
              <a:rPr sz="2200" spc="-30" dirty="0">
                <a:latin typeface="Arial"/>
                <a:cs typeface="Arial"/>
              </a:rPr>
              <a:t>in the  </a:t>
            </a:r>
            <a:r>
              <a:rPr sz="2200" spc="-135" dirty="0">
                <a:latin typeface="Arial"/>
                <a:cs typeface="Arial"/>
              </a:rPr>
              <a:t>Address </a:t>
            </a:r>
            <a:r>
              <a:rPr sz="2200" spc="-75" dirty="0">
                <a:latin typeface="Arial"/>
                <a:cs typeface="Arial"/>
              </a:rPr>
              <a:t>bar </a:t>
            </a:r>
            <a:r>
              <a:rPr sz="2200" spc="-105" dirty="0">
                <a:latin typeface="Arial"/>
                <a:cs typeface="Arial"/>
              </a:rPr>
              <a:t>and </a:t>
            </a:r>
            <a:r>
              <a:rPr sz="2200" spc="-140" dirty="0">
                <a:latin typeface="Arial"/>
                <a:cs typeface="Arial"/>
              </a:rPr>
              <a:t>press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b="1" spc="-165" dirty="0">
                <a:latin typeface="Trebuchet MS"/>
                <a:cs typeface="Trebuchet MS"/>
              </a:rPr>
              <a:t>Enter</a:t>
            </a:r>
            <a:endParaRPr sz="2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80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45" dirty="0">
                <a:latin typeface="Arial"/>
                <a:cs typeface="Arial"/>
              </a:rPr>
              <a:t>following </a:t>
            </a:r>
            <a:r>
              <a:rPr sz="2400" spc="-5" dirty="0">
                <a:latin typeface="Arial"/>
                <a:cs typeface="Arial"/>
              </a:rPr>
              <a:t>output </a:t>
            </a:r>
            <a:r>
              <a:rPr sz="2400" spc="-130" dirty="0">
                <a:latin typeface="Arial"/>
                <a:cs typeface="Arial"/>
              </a:rPr>
              <a:t>is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displayed: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Ending</a:t>
            </a:r>
            <a:r>
              <a:rPr spc="-20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sp>
        <p:nvSpPr>
          <p:cNvPr id="4" name="object 4"/>
          <p:cNvSpPr/>
          <p:nvPr/>
        </p:nvSpPr>
        <p:spPr>
          <a:xfrm>
            <a:off x="1142999" y="2438361"/>
            <a:ext cx="5621620" cy="29412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77609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Ending</a:t>
            </a:r>
            <a:r>
              <a:rPr spc="-20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14" dirty="0"/>
              <a:t>Session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/>
          <p:nvPr/>
        </p:nvSpPr>
        <p:spPr>
          <a:xfrm>
            <a:off x="1316736" y="2286049"/>
            <a:ext cx="5355153" cy="3116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4345" y="5573270"/>
            <a:ext cx="5029200" cy="838200"/>
          </a:xfrm>
          <a:custGeom>
            <a:avLst/>
            <a:gdLst/>
            <a:ahLst/>
            <a:cxnLst/>
            <a:rect l="l" t="t" r="r" b="b"/>
            <a:pathLst>
              <a:path w="5029200" h="838200">
                <a:moveTo>
                  <a:pt x="5029200" y="0"/>
                </a:moveTo>
                <a:lnTo>
                  <a:pt x="392556" y="0"/>
                </a:lnTo>
                <a:lnTo>
                  <a:pt x="343318" y="3058"/>
                </a:lnTo>
                <a:lnTo>
                  <a:pt x="295903" y="11987"/>
                </a:lnTo>
                <a:lnTo>
                  <a:pt x="250681" y="26419"/>
                </a:lnTo>
                <a:lnTo>
                  <a:pt x="208020" y="45987"/>
                </a:lnTo>
                <a:lnTo>
                  <a:pt x="168286" y="70322"/>
                </a:lnTo>
                <a:lnTo>
                  <a:pt x="131849" y="99057"/>
                </a:lnTo>
                <a:lnTo>
                  <a:pt x="99077" y="131824"/>
                </a:lnTo>
                <a:lnTo>
                  <a:pt x="70337" y="168255"/>
                </a:lnTo>
                <a:lnTo>
                  <a:pt x="45997" y="207982"/>
                </a:lnTo>
                <a:lnTo>
                  <a:pt x="26425" y="250637"/>
                </a:lnTo>
                <a:lnTo>
                  <a:pt x="11989" y="295852"/>
                </a:lnTo>
                <a:lnTo>
                  <a:pt x="3058" y="343260"/>
                </a:lnTo>
                <a:lnTo>
                  <a:pt x="0" y="392493"/>
                </a:lnTo>
                <a:lnTo>
                  <a:pt x="0" y="838200"/>
                </a:lnTo>
                <a:lnTo>
                  <a:pt x="5029200" y="838200"/>
                </a:lnTo>
                <a:lnTo>
                  <a:pt x="50292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14345" y="5573270"/>
            <a:ext cx="5029200" cy="838200"/>
          </a:xfrm>
          <a:custGeom>
            <a:avLst/>
            <a:gdLst/>
            <a:ahLst/>
            <a:cxnLst/>
            <a:rect l="l" t="t" r="r" b="b"/>
            <a:pathLst>
              <a:path w="5029200" h="838200">
                <a:moveTo>
                  <a:pt x="392556" y="0"/>
                </a:moveTo>
                <a:lnTo>
                  <a:pt x="5029200" y="0"/>
                </a:lnTo>
                <a:lnTo>
                  <a:pt x="5029200" y="838200"/>
                </a:lnTo>
                <a:lnTo>
                  <a:pt x="0" y="838200"/>
                </a:lnTo>
                <a:lnTo>
                  <a:pt x="0" y="392493"/>
                </a:lnTo>
                <a:lnTo>
                  <a:pt x="3058" y="343260"/>
                </a:lnTo>
                <a:lnTo>
                  <a:pt x="11989" y="295852"/>
                </a:lnTo>
                <a:lnTo>
                  <a:pt x="26425" y="250637"/>
                </a:lnTo>
                <a:lnTo>
                  <a:pt x="45997" y="207982"/>
                </a:lnTo>
                <a:lnTo>
                  <a:pt x="70337" y="168255"/>
                </a:lnTo>
                <a:lnTo>
                  <a:pt x="99077" y="131824"/>
                </a:lnTo>
                <a:lnTo>
                  <a:pt x="131849" y="99057"/>
                </a:lnTo>
                <a:lnTo>
                  <a:pt x="168286" y="70322"/>
                </a:lnTo>
                <a:lnTo>
                  <a:pt x="208020" y="45987"/>
                </a:lnTo>
                <a:lnTo>
                  <a:pt x="250681" y="26419"/>
                </a:lnTo>
                <a:lnTo>
                  <a:pt x="295903" y="11987"/>
                </a:lnTo>
                <a:lnTo>
                  <a:pt x="343318" y="3058"/>
                </a:lnTo>
                <a:lnTo>
                  <a:pt x="392556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89910" y="5805322"/>
            <a:ext cx="4483735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1800" b="1" spc="-5" dirty="0">
                <a:solidFill>
                  <a:srgbClr val="FFFFFF"/>
                </a:solidFill>
                <a:latin typeface="Courier New"/>
                <a:cs typeface="Courier New"/>
              </a:rPr>
              <a:t>Jessica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does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appear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message 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because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variable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has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cleared.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972692"/>
            <a:ext cx="7507605" cy="1258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0" marR="5080" indent="-349885">
              <a:lnSpc>
                <a:spcPct val="100000"/>
              </a:lnSpc>
              <a:spcBef>
                <a:spcPts val="95"/>
              </a:spcBef>
              <a:tabLst>
                <a:tab pos="361315" algn="l"/>
              </a:tabLst>
            </a:pPr>
            <a:r>
              <a:rPr sz="1950" spc="-65" dirty="0">
                <a:solidFill>
                  <a:srgbClr val="1F487C"/>
                </a:solidFill>
                <a:latin typeface="Arial"/>
                <a:cs typeface="Arial"/>
              </a:rPr>
              <a:t>6.	</a:t>
            </a:r>
            <a:r>
              <a:rPr sz="2200" spc="-270" dirty="0">
                <a:latin typeface="Arial"/>
                <a:cs typeface="Arial"/>
              </a:rPr>
              <a:t>To </a:t>
            </a:r>
            <a:r>
              <a:rPr sz="2200" spc="-65" dirty="0">
                <a:latin typeface="Arial"/>
                <a:cs typeface="Arial"/>
              </a:rPr>
              <a:t>view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85" dirty="0">
                <a:latin typeface="Arial"/>
                <a:cs typeface="Arial"/>
              </a:rPr>
              <a:t>execution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235" dirty="0">
                <a:latin typeface="Arial"/>
                <a:cs typeface="Arial"/>
              </a:rPr>
              <a:t> </a:t>
            </a:r>
            <a:r>
              <a:rPr sz="2200" spc="-15" dirty="0">
                <a:latin typeface="Courier New"/>
                <a:cs typeface="Courier New"/>
              </a:rPr>
              <a:t>session_destroy()</a:t>
            </a:r>
            <a:r>
              <a:rPr sz="2200" spc="-15" dirty="0">
                <a:latin typeface="Arial"/>
                <a:cs typeface="Arial"/>
              </a:rPr>
              <a:t>function,  </a:t>
            </a:r>
            <a:r>
              <a:rPr sz="2200" spc="-85" dirty="0">
                <a:latin typeface="Arial"/>
                <a:cs typeface="Arial"/>
              </a:rPr>
              <a:t>click </a:t>
            </a:r>
            <a:r>
              <a:rPr sz="2200" spc="-35" dirty="0">
                <a:latin typeface="Arial"/>
                <a:cs typeface="Arial"/>
              </a:rPr>
              <a:t>the </a:t>
            </a:r>
            <a:r>
              <a:rPr sz="2200" spc="-140" dirty="0">
                <a:latin typeface="Arial"/>
                <a:cs typeface="Arial"/>
              </a:rPr>
              <a:t>Homepage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5" dirty="0">
                <a:latin typeface="Courier New"/>
                <a:cs typeface="Courier New"/>
              </a:rPr>
              <a:t>MyPage.com</a:t>
            </a:r>
            <a:r>
              <a:rPr sz="2200" spc="-919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Arial"/>
                <a:cs typeface="Arial"/>
              </a:rPr>
              <a:t>hyperlink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89"/>
              </a:spcBef>
            </a:pPr>
            <a:r>
              <a:rPr sz="2200" spc="-165" dirty="0">
                <a:latin typeface="Arial"/>
                <a:cs typeface="Arial"/>
              </a:rPr>
              <a:t>The </a:t>
            </a:r>
            <a:r>
              <a:rPr sz="2200" spc="-45" dirty="0">
                <a:latin typeface="Arial"/>
                <a:cs typeface="Arial"/>
              </a:rPr>
              <a:t>following </a:t>
            </a:r>
            <a:r>
              <a:rPr sz="2200" spc="-10" dirty="0">
                <a:latin typeface="Arial"/>
                <a:cs typeface="Arial"/>
              </a:rPr>
              <a:t>output </a:t>
            </a:r>
            <a:r>
              <a:rPr sz="2200" spc="-114" dirty="0">
                <a:latin typeface="Arial"/>
                <a:cs typeface="Arial"/>
              </a:rPr>
              <a:t>is</a:t>
            </a:r>
            <a:r>
              <a:rPr sz="2200" spc="-24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displayed: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4017"/>
            <a:ext cx="695158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 php.ini</a:t>
            </a:r>
            <a:r>
              <a:rPr spc="-420" dirty="0"/>
              <a:t> </a:t>
            </a:r>
            <a:r>
              <a:rPr spc="-195" dirty="0"/>
              <a:t>File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842517"/>
            <a:ext cx="7935595" cy="48370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35" dirty="0">
                <a:latin typeface="Arial"/>
                <a:cs typeface="Arial"/>
              </a:rPr>
              <a:t>Web </a:t>
            </a:r>
            <a:r>
              <a:rPr sz="2000" spc="-90" dirty="0">
                <a:latin typeface="Arial"/>
                <a:cs typeface="Arial"/>
              </a:rPr>
              <a:t>server </a:t>
            </a:r>
            <a:r>
              <a:rPr sz="2000" spc="-150" dirty="0">
                <a:latin typeface="Arial"/>
                <a:cs typeface="Arial"/>
              </a:rPr>
              <a:t>can </a:t>
            </a:r>
            <a:r>
              <a:rPr sz="2000" spc="-70" dirty="0">
                <a:latin typeface="Arial"/>
                <a:cs typeface="Arial"/>
              </a:rPr>
              <a:t>contain </a:t>
            </a:r>
            <a:r>
              <a:rPr sz="2000" spc="-25" dirty="0">
                <a:latin typeface="Arial"/>
                <a:cs typeface="Arial"/>
              </a:rPr>
              <a:t>multiple </a:t>
            </a:r>
            <a:r>
              <a:rPr sz="2000" spc="-5" dirty="0">
                <a:latin typeface="Courier New"/>
                <a:cs typeface="Courier New"/>
              </a:rPr>
              <a:t>php.ini</a:t>
            </a:r>
            <a:r>
              <a:rPr sz="2000" spc="-819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Arial"/>
                <a:cs typeface="Arial"/>
              </a:rPr>
              <a:t>files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30" dirty="0">
                <a:latin typeface="Arial"/>
                <a:cs typeface="Arial"/>
              </a:rPr>
              <a:t>Create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php.ini</a:t>
            </a:r>
            <a:r>
              <a:rPr sz="2000" spc="-77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Arial"/>
                <a:cs typeface="Arial"/>
              </a:rPr>
              <a:t>file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if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does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exist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on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Web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server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ts val="2600"/>
              </a:lnSpc>
              <a:spcBef>
                <a:spcPts val="17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5" dirty="0">
                <a:latin typeface="Arial"/>
                <a:cs typeface="Arial"/>
              </a:rPr>
              <a:t>The </a:t>
            </a:r>
            <a:r>
              <a:rPr sz="2000" spc="-75" dirty="0">
                <a:latin typeface="Arial"/>
                <a:cs typeface="Arial"/>
              </a:rPr>
              <a:t>complete </a:t>
            </a:r>
            <a:r>
              <a:rPr sz="2000" spc="-114" dirty="0">
                <a:latin typeface="Arial"/>
                <a:cs typeface="Arial"/>
              </a:rPr>
              <a:t>source </a:t>
            </a:r>
            <a:r>
              <a:rPr sz="2000" spc="-120" dirty="0">
                <a:latin typeface="Arial"/>
                <a:cs typeface="Arial"/>
              </a:rPr>
              <a:t>code </a:t>
            </a:r>
            <a:r>
              <a:rPr sz="2000" spc="-70" dirty="0">
                <a:latin typeface="Arial"/>
                <a:cs typeface="Arial"/>
              </a:rPr>
              <a:t>must </a:t>
            </a:r>
            <a:r>
              <a:rPr sz="2000" spc="-105" dirty="0">
                <a:latin typeface="Arial"/>
                <a:cs typeface="Arial"/>
              </a:rPr>
              <a:t>be </a:t>
            </a:r>
            <a:r>
              <a:rPr sz="2000" spc="-75" dirty="0">
                <a:latin typeface="Arial"/>
                <a:cs typeface="Arial"/>
              </a:rPr>
              <a:t>downloaded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90" dirty="0">
                <a:latin typeface="Arial"/>
                <a:cs typeface="Arial"/>
              </a:rPr>
              <a:t>create </a:t>
            </a:r>
            <a:r>
              <a:rPr sz="2000" spc="-175" dirty="0">
                <a:latin typeface="Arial"/>
                <a:cs typeface="Arial"/>
              </a:rPr>
              <a:t>a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new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ts val="2600"/>
              </a:lnSpc>
            </a:pPr>
            <a:r>
              <a:rPr sz="2000" spc="-5" dirty="0">
                <a:latin typeface="Courier New"/>
                <a:cs typeface="Courier New"/>
              </a:rPr>
              <a:t>php.ini</a:t>
            </a:r>
            <a:r>
              <a:rPr sz="2000" spc="-8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ts val="2590"/>
              </a:lnSpc>
              <a:spcBef>
                <a:spcPts val="179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300" dirty="0">
                <a:latin typeface="Arial"/>
                <a:cs typeface="Arial"/>
              </a:rPr>
              <a:t>PHP </a:t>
            </a:r>
            <a:r>
              <a:rPr sz="2000" spc="-30" dirty="0">
                <a:latin typeface="Arial"/>
                <a:cs typeface="Arial"/>
              </a:rPr>
              <a:t>interpreter </a:t>
            </a:r>
            <a:r>
              <a:rPr sz="2000" spc="-90" dirty="0">
                <a:latin typeface="Arial"/>
                <a:cs typeface="Arial"/>
              </a:rPr>
              <a:t>works </a:t>
            </a:r>
            <a:r>
              <a:rPr sz="2000" spc="-105" dirty="0">
                <a:latin typeface="Arial"/>
                <a:cs typeface="Arial"/>
              </a:rPr>
              <a:t>according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55" dirty="0">
                <a:latin typeface="Arial"/>
                <a:cs typeface="Arial"/>
              </a:rPr>
              <a:t>instructions </a:t>
            </a:r>
            <a:r>
              <a:rPr sz="2000" spc="-70" dirty="0">
                <a:latin typeface="Arial"/>
                <a:cs typeface="Arial"/>
              </a:rPr>
              <a:t>included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ts val="2590"/>
              </a:lnSpc>
            </a:pPr>
            <a:r>
              <a:rPr sz="2000" spc="-5" dirty="0">
                <a:latin typeface="Courier New"/>
                <a:cs typeface="Courier New"/>
              </a:rPr>
              <a:t>php.ini</a:t>
            </a:r>
            <a:r>
              <a:rPr sz="2000" spc="-80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Arial"/>
                <a:cs typeface="Arial"/>
              </a:rPr>
              <a:t>file</a:t>
            </a:r>
            <a:endParaRPr sz="2000" dirty="0">
              <a:latin typeface="Arial"/>
              <a:cs typeface="Arial"/>
            </a:endParaRPr>
          </a:p>
          <a:p>
            <a:pPr marL="355600" marR="100330" indent="-342900">
              <a:lnSpc>
                <a:spcPct val="103200"/>
              </a:lnSpc>
              <a:spcBef>
                <a:spcPts val="162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5" dirty="0">
                <a:latin typeface="Arial"/>
                <a:cs typeface="Arial"/>
              </a:rPr>
              <a:t>The </a:t>
            </a:r>
            <a:r>
              <a:rPr sz="2000" spc="-135" dirty="0">
                <a:latin typeface="Arial"/>
                <a:cs typeface="Arial"/>
              </a:rPr>
              <a:t>Web </a:t>
            </a:r>
            <a:r>
              <a:rPr sz="2000" spc="-90" dirty="0">
                <a:latin typeface="Arial"/>
                <a:cs typeface="Arial"/>
              </a:rPr>
              <a:t>server </a:t>
            </a:r>
            <a:r>
              <a:rPr sz="2000" spc="-145" dirty="0">
                <a:latin typeface="Arial"/>
                <a:cs typeface="Arial"/>
              </a:rPr>
              <a:t>searches </a:t>
            </a:r>
            <a:r>
              <a:rPr sz="2000" spc="-70" dirty="0">
                <a:latin typeface="Arial"/>
                <a:cs typeface="Arial"/>
              </a:rPr>
              <a:t>sequentially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5" dirty="0">
                <a:latin typeface="Courier New"/>
                <a:cs typeface="Courier New"/>
              </a:rPr>
              <a:t>php.ini</a:t>
            </a:r>
            <a:r>
              <a:rPr sz="2000" spc="-1155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Arial"/>
                <a:cs typeface="Arial"/>
              </a:rPr>
              <a:t>file </a:t>
            </a:r>
            <a:r>
              <a:rPr sz="2000" spc="-30" dirty="0">
                <a:latin typeface="Arial"/>
                <a:cs typeface="Arial"/>
              </a:rPr>
              <a:t>in the  </a:t>
            </a:r>
            <a:r>
              <a:rPr sz="2000" spc="-40" dirty="0">
                <a:latin typeface="Arial"/>
                <a:cs typeface="Arial"/>
              </a:rPr>
              <a:t>following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locations: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30"/>
              </a:spcBef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55" dirty="0">
                <a:latin typeface="Arial"/>
                <a:cs typeface="Arial"/>
              </a:rPr>
              <a:t>Directory where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250" dirty="0">
                <a:latin typeface="Arial"/>
                <a:cs typeface="Arial"/>
              </a:rPr>
              <a:t>PHP </a:t>
            </a:r>
            <a:r>
              <a:rPr sz="1600" spc="-50" dirty="0">
                <a:latin typeface="Arial"/>
                <a:cs typeface="Arial"/>
              </a:rPr>
              <a:t>script </a:t>
            </a:r>
            <a:r>
              <a:rPr sz="1600" spc="-125" dirty="0">
                <a:latin typeface="Arial"/>
                <a:cs typeface="Arial"/>
              </a:rPr>
              <a:t>was</a:t>
            </a:r>
            <a:r>
              <a:rPr sz="1600" spc="-33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called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95" dirty="0">
                <a:latin typeface="Arial"/>
                <a:cs typeface="Arial"/>
              </a:rPr>
              <a:t>Root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110" dirty="0">
                <a:latin typeface="Arial"/>
                <a:cs typeface="Arial"/>
              </a:rPr>
              <a:t>Web</a:t>
            </a:r>
            <a:r>
              <a:rPr sz="1600" spc="-24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directory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55" dirty="0">
                <a:latin typeface="Arial"/>
                <a:cs typeface="Arial"/>
              </a:rPr>
              <a:t>Directory </a:t>
            </a:r>
            <a:r>
              <a:rPr sz="1600" spc="-60" dirty="0">
                <a:latin typeface="Arial"/>
                <a:cs typeface="Arial"/>
              </a:rPr>
              <a:t>containing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10" dirty="0">
                <a:latin typeface="Courier New"/>
                <a:cs typeface="Courier New"/>
              </a:rPr>
              <a:t>default.ini</a:t>
            </a:r>
            <a:r>
              <a:rPr sz="1600" spc="-92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Arial"/>
                <a:cs typeface="Arial"/>
              </a:rPr>
              <a:t>file </a:t>
            </a:r>
            <a:r>
              <a:rPr sz="1600" spc="-60" dirty="0">
                <a:latin typeface="Arial"/>
                <a:cs typeface="Arial"/>
              </a:rPr>
              <a:t>on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110" dirty="0">
                <a:latin typeface="Arial"/>
                <a:cs typeface="Arial"/>
              </a:rPr>
              <a:t>Web </a:t>
            </a:r>
            <a:r>
              <a:rPr sz="1600" spc="-75" dirty="0">
                <a:latin typeface="Arial"/>
                <a:cs typeface="Arial"/>
              </a:rPr>
              <a:t>server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0"/>
            <a:ext cx="768310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 php.ini</a:t>
            </a:r>
            <a:r>
              <a:rPr spc="-420" dirty="0"/>
              <a:t> </a:t>
            </a:r>
            <a:r>
              <a:rPr spc="-195" dirty="0"/>
              <a:t>File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675507"/>
            <a:ext cx="58280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35" dirty="0">
                <a:latin typeface="Arial"/>
                <a:cs typeface="Arial"/>
              </a:rPr>
              <a:t>Figure </a:t>
            </a:r>
            <a:r>
              <a:rPr sz="2600" spc="-140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350" dirty="0">
                <a:latin typeface="Arial"/>
                <a:cs typeface="Arial"/>
              </a:rPr>
              <a:t>PHP </a:t>
            </a:r>
            <a:r>
              <a:rPr sz="2600" spc="-65" dirty="0">
                <a:latin typeface="Arial"/>
                <a:cs typeface="Arial"/>
              </a:rPr>
              <a:t>configuration</a:t>
            </a:r>
            <a:r>
              <a:rPr sz="2600" spc="-509" dirty="0">
                <a:latin typeface="Arial"/>
                <a:cs typeface="Arial"/>
              </a:rPr>
              <a:t> </a:t>
            </a:r>
            <a:r>
              <a:rPr sz="2600" spc="-15" dirty="0">
                <a:latin typeface="Arial"/>
                <a:cs typeface="Arial"/>
              </a:rPr>
              <a:t>file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1503" y="1244948"/>
            <a:ext cx="5010911" cy="38389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10561" y="5639561"/>
            <a:ext cx="4572000" cy="838200"/>
          </a:xfrm>
          <a:custGeom>
            <a:avLst/>
            <a:gdLst/>
            <a:ahLst/>
            <a:cxnLst/>
            <a:rect l="l" t="t" r="r" b="b"/>
            <a:pathLst>
              <a:path w="4572000" h="838200">
                <a:moveTo>
                  <a:pt x="4572000" y="0"/>
                </a:moveTo>
                <a:lnTo>
                  <a:pt x="392556" y="0"/>
                </a:lnTo>
                <a:lnTo>
                  <a:pt x="343318" y="3058"/>
                </a:lnTo>
                <a:lnTo>
                  <a:pt x="295903" y="11987"/>
                </a:lnTo>
                <a:lnTo>
                  <a:pt x="250681" y="26419"/>
                </a:lnTo>
                <a:lnTo>
                  <a:pt x="208020" y="45987"/>
                </a:lnTo>
                <a:lnTo>
                  <a:pt x="168286" y="70322"/>
                </a:lnTo>
                <a:lnTo>
                  <a:pt x="131849" y="99057"/>
                </a:lnTo>
                <a:lnTo>
                  <a:pt x="99077" y="131824"/>
                </a:lnTo>
                <a:lnTo>
                  <a:pt x="70337" y="168255"/>
                </a:lnTo>
                <a:lnTo>
                  <a:pt x="45997" y="207982"/>
                </a:lnTo>
                <a:lnTo>
                  <a:pt x="26425" y="250637"/>
                </a:lnTo>
                <a:lnTo>
                  <a:pt x="11989" y="295852"/>
                </a:lnTo>
                <a:lnTo>
                  <a:pt x="3058" y="343260"/>
                </a:lnTo>
                <a:lnTo>
                  <a:pt x="0" y="392493"/>
                </a:lnTo>
                <a:lnTo>
                  <a:pt x="0" y="838200"/>
                </a:lnTo>
                <a:lnTo>
                  <a:pt x="4572000" y="838200"/>
                </a:lnTo>
                <a:lnTo>
                  <a:pt x="45720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0561" y="5639561"/>
            <a:ext cx="4572000" cy="838200"/>
          </a:xfrm>
          <a:custGeom>
            <a:avLst/>
            <a:gdLst/>
            <a:ahLst/>
            <a:cxnLst/>
            <a:rect l="l" t="t" r="r" b="b"/>
            <a:pathLst>
              <a:path w="4572000" h="838200">
                <a:moveTo>
                  <a:pt x="392556" y="0"/>
                </a:moveTo>
                <a:lnTo>
                  <a:pt x="4572000" y="0"/>
                </a:lnTo>
                <a:lnTo>
                  <a:pt x="4572000" y="838200"/>
                </a:lnTo>
                <a:lnTo>
                  <a:pt x="0" y="838200"/>
                </a:lnTo>
                <a:lnTo>
                  <a:pt x="0" y="392493"/>
                </a:lnTo>
                <a:lnTo>
                  <a:pt x="3058" y="343260"/>
                </a:lnTo>
                <a:lnTo>
                  <a:pt x="11989" y="295852"/>
                </a:lnTo>
                <a:lnTo>
                  <a:pt x="26425" y="250637"/>
                </a:lnTo>
                <a:lnTo>
                  <a:pt x="45997" y="207982"/>
                </a:lnTo>
                <a:lnTo>
                  <a:pt x="70337" y="168255"/>
                </a:lnTo>
                <a:lnTo>
                  <a:pt x="99077" y="131824"/>
                </a:lnTo>
                <a:lnTo>
                  <a:pt x="131849" y="99057"/>
                </a:lnTo>
                <a:lnTo>
                  <a:pt x="168286" y="70322"/>
                </a:lnTo>
                <a:lnTo>
                  <a:pt x="208020" y="45987"/>
                </a:lnTo>
                <a:lnTo>
                  <a:pt x="250681" y="26419"/>
                </a:lnTo>
                <a:lnTo>
                  <a:pt x="295903" y="11987"/>
                </a:lnTo>
                <a:lnTo>
                  <a:pt x="343318" y="3058"/>
                </a:lnTo>
                <a:lnTo>
                  <a:pt x="392556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04110" y="5714796"/>
            <a:ext cx="4212590" cy="76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php.ini</a:t>
            </a:r>
            <a:r>
              <a:rPr sz="1400" b="1" spc="-5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contains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directive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listed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directive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format.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use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semicolon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add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comment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file.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13937"/>
            <a:ext cx="74017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 php.ini</a:t>
            </a:r>
            <a:r>
              <a:rPr spc="-420" dirty="0"/>
              <a:t> </a:t>
            </a:r>
            <a:r>
              <a:rPr spc="-195" dirty="0"/>
              <a:t>File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2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5"/>
              <a:t>Session Management </a:t>
            </a:r>
            <a:r>
              <a:rPr lang="en-US" spc="-10"/>
              <a:t>in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21 /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10"/>
                </a:spcBef>
              </a:pPr>
              <a:t>34</a:t>
            </a:fld>
            <a:r>
              <a:rPr lang="en-US" spc="-5"/>
              <a:t> of</a:t>
            </a:r>
            <a:r>
              <a:rPr lang="en-US" spc="-80"/>
              <a:t> </a:t>
            </a:r>
            <a:r>
              <a:rPr lang="en-US" spc="-10"/>
              <a:t>42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59740" y="763270"/>
            <a:ext cx="5624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0" dirty="0">
                <a:latin typeface="Arial"/>
                <a:cs typeface="Arial"/>
              </a:rPr>
              <a:t>Table </a:t>
            </a:r>
            <a:r>
              <a:rPr sz="2400" spc="-80" dirty="0">
                <a:latin typeface="Arial"/>
                <a:cs typeface="Arial"/>
              </a:rPr>
              <a:t>lists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categories </a:t>
            </a:r>
            <a:r>
              <a:rPr sz="2400" spc="-30" dirty="0">
                <a:latin typeface="Arial"/>
                <a:cs typeface="Arial"/>
              </a:rPr>
              <a:t>in the </a:t>
            </a:r>
            <a:r>
              <a:rPr sz="2400" spc="-5" dirty="0">
                <a:latin typeface="Courier New"/>
                <a:cs typeface="Courier New"/>
              </a:rPr>
              <a:t>php.ini</a:t>
            </a:r>
            <a:r>
              <a:rPr sz="2400" spc="-1260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1212850"/>
          <a:ext cx="8534400" cy="527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4933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80" dirty="0">
                          <a:latin typeface="Trebuchet MS"/>
                          <a:cs typeface="Trebuchet MS"/>
                        </a:rPr>
                        <a:t>Categories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60" dirty="0">
                          <a:latin typeface="Trebuchet MS"/>
                          <a:cs typeface="Trebuchet MS"/>
                        </a:rPr>
                        <a:t>Options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3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10" dirty="0">
                          <a:latin typeface="Arial"/>
                          <a:cs typeface="Arial"/>
                        </a:rPr>
                        <a:t>Language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Options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90" dirty="0">
                          <a:latin typeface="Arial"/>
                          <a:cs typeface="Arial"/>
                        </a:rPr>
                        <a:t>Enable 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scripting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language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engine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under</a:t>
                      </a:r>
                      <a:r>
                        <a:rPr sz="1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Apache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30" dirty="0">
                          <a:latin typeface="Arial"/>
                          <a:cs typeface="Arial"/>
                        </a:rPr>
                        <a:t>Allow </a:t>
                      </a:r>
                      <a:r>
                        <a:rPr sz="1400" spc="-204" dirty="0">
                          <a:latin typeface="Arial"/>
                          <a:cs typeface="Arial"/>
                        </a:rPr>
                        <a:t>ASP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style</a:t>
                      </a:r>
                      <a:r>
                        <a:rPr sz="1400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tags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Enforce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year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2000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compliance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 rowSpan="3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25" dirty="0">
                          <a:latin typeface="Arial"/>
                          <a:cs typeface="Arial"/>
                        </a:rPr>
                        <a:t>Safe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Mode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Perform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UID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compare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check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opening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files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30" dirty="0">
                          <a:latin typeface="Arial"/>
                          <a:cs typeface="Arial"/>
                        </a:rPr>
                        <a:t>Allow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executables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under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specific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directories 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be executed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via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exec</a:t>
                      </a:r>
                      <a:r>
                        <a:rPr sz="1400" spc="-25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family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30" dirty="0">
                          <a:latin typeface="Arial"/>
                          <a:cs typeface="Arial"/>
                        </a:rPr>
                        <a:t>Allow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user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set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environment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variables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begin 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prefix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65" dirty="0">
                          <a:latin typeface="Arial"/>
                          <a:cs typeface="Arial"/>
                        </a:rPr>
                        <a:t>Font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Colors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colors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114" dirty="0">
                          <a:latin typeface="Arial"/>
                          <a:cs typeface="Arial"/>
                        </a:rPr>
                        <a:t>uses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highlighting</a:t>
                      </a:r>
                      <a:r>
                        <a:rPr sz="14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syntax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Misc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whether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PHP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discloses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fact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45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is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installed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server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215">
                <a:tc rowSpan="3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Limits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maximum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time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400" spc="-3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script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execution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maximum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time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400" spc="-2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parsing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request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data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2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maximum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amount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memory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script</a:t>
                      </a:r>
                      <a:r>
                        <a:rPr sz="1400" spc="-3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requires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2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Handling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Control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list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separators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185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generated </a:t>
                      </a:r>
                      <a:r>
                        <a:rPr sz="1400" spc="-180" dirty="0">
                          <a:latin typeface="Arial"/>
                          <a:cs typeface="Arial"/>
                        </a:rPr>
                        <a:t>URLs 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separate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arguments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7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5321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75" dirty="0">
                          <a:latin typeface="Arial"/>
                          <a:cs typeface="Arial"/>
                        </a:rPr>
                        <a:t>Describe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order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which 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registers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Get,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Post,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Cookie,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Environment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built-in 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variables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32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Path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Directories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Specifies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name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directory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under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which </a:t>
                      </a:r>
                      <a:r>
                        <a:rPr sz="1400" spc="-190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opens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script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32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Specifies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name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directory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under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which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loadable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extensions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exist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51998"/>
            <a:ext cx="744395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 php.ini</a:t>
            </a:r>
            <a:r>
              <a:rPr spc="-420" dirty="0"/>
              <a:t> </a:t>
            </a:r>
            <a:r>
              <a:rPr spc="-195" dirty="0"/>
              <a:t>File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470375"/>
              </p:ext>
            </p:extLst>
          </p:nvPr>
        </p:nvGraphicFramePr>
        <p:xfrm>
          <a:off x="304800" y="702627"/>
          <a:ext cx="8534400" cy="5452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marL="7626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80" dirty="0">
                          <a:latin typeface="Trebuchet MS"/>
                          <a:cs typeface="Trebuchet MS"/>
                        </a:rPr>
                        <a:t>Categories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60" dirty="0">
                          <a:latin typeface="Trebuchet MS"/>
                          <a:cs typeface="Trebuchet MS"/>
                        </a:rPr>
                        <a:t>Options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05">
                <a:tc rowSpan="6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Error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handling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logging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Report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errors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1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warnings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Report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fatal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compile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1400" spc="-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errors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Report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fatal run-time</a:t>
                      </a:r>
                      <a:r>
                        <a:rPr sz="1400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errors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Report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non-fatal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error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4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Report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fatal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errors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occur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during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initial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startup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85" dirty="0">
                          <a:latin typeface="Arial"/>
                          <a:cs typeface="Arial"/>
                        </a:rPr>
                        <a:t>PHP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4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5" dirty="0">
                          <a:latin typeface="Arial"/>
                          <a:cs typeface="Arial"/>
                        </a:rPr>
                        <a:t>Report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user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generated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errors,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warnings,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14" dirty="0">
                          <a:latin typeface="Arial"/>
                          <a:cs typeface="Arial"/>
                        </a:rPr>
                        <a:t>messages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 rowSpan="3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Magic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Quotes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5" dirty="0">
                          <a:latin typeface="Arial"/>
                          <a:cs typeface="Arial"/>
                        </a:rPr>
                        <a:t>Set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magic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quotes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incoming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Get,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Post, Cookie</a:t>
                      </a:r>
                      <a:r>
                        <a:rPr sz="1400" spc="-1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data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14" dirty="0">
                          <a:latin typeface="Arial"/>
                          <a:cs typeface="Arial"/>
                        </a:rPr>
                        <a:t>Use </a:t>
                      </a:r>
                      <a:r>
                        <a:rPr sz="1400" spc="-125" dirty="0">
                          <a:latin typeface="Arial"/>
                          <a:cs typeface="Arial"/>
                        </a:rPr>
                        <a:t>Sybase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style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magic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quotes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40" dirty="0">
                          <a:latin typeface="Arial"/>
                          <a:cs typeface="Arial"/>
                        </a:rPr>
                        <a:t>Automatically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adds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file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before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after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1400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85" dirty="0">
                          <a:latin typeface="Arial"/>
                          <a:cs typeface="Arial"/>
                        </a:rPr>
                        <a:t>PHP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document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 rowSpan="3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70" dirty="0">
                          <a:latin typeface="Arial"/>
                          <a:cs typeface="Arial"/>
                        </a:rPr>
                        <a:t>File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Uploads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whether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allow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70" dirty="0">
                          <a:latin typeface="Arial"/>
                          <a:cs typeface="Arial"/>
                        </a:rPr>
                        <a:t>HTTP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file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uploads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temporary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directory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400" spc="-170" dirty="0">
                          <a:latin typeface="Arial"/>
                          <a:cs typeface="Arial"/>
                        </a:rPr>
                        <a:t>HTTP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uploaded</a:t>
                      </a:r>
                      <a:r>
                        <a:rPr sz="14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files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4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maximum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allowed 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size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upload</a:t>
                      </a:r>
                      <a:r>
                        <a:rPr sz="1400" spc="-2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files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 rowSpan="4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10" dirty="0">
                          <a:latin typeface="Arial"/>
                          <a:cs typeface="Arial"/>
                        </a:rPr>
                        <a:t>Session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70" dirty="0">
                          <a:latin typeface="Arial"/>
                          <a:cs typeface="Arial"/>
                        </a:rPr>
                        <a:t>Store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retrieve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data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Indicate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whether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or not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cookies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should</a:t>
                      </a:r>
                      <a:r>
                        <a:rPr sz="1400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Initializes 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session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request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startup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85" dirty="0">
                          <a:latin typeface="Arial"/>
                          <a:cs typeface="Arial"/>
                        </a:rPr>
                        <a:t>Serializes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data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84035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72425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75" dirty="0"/>
              <a:t>php</a:t>
            </a:r>
            <a:r>
              <a:rPr spc="-105" dirty="0"/>
              <a:t>.</a:t>
            </a:r>
            <a:r>
              <a:rPr spc="-135" dirty="0"/>
              <a:t>ini</a:t>
            </a:r>
            <a:r>
              <a:rPr spc="-225" dirty="0"/>
              <a:t> </a:t>
            </a:r>
            <a:r>
              <a:rPr spc="-300" dirty="0"/>
              <a:t>F</a:t>
            </a:r>
            <a:r>
              <a:rPr spc="-165" dirty="0"/>
              <a:t>i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11098"/>
            <a:ext cx="8245475" cy="39820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marR="60325" indent="-342900">
              <a:lnSpc>
                <a:spcPts val="3470"/>
              </a:lnSpc>
              <a:spcBef>
                <a:spcPts val="12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225" dirty="0">
                <a:latin typeface="Arial"/>
                <a:cs typeface="Arial"/>
              </a:rPr>
              <a:t>Session </a:t>
            </a:r>
            <a:r>
              <a:rPr sz="2800" spc="-120" dirty="0">
                <a:latin typeface="Arial"/>
                <a:cs typeface="Arial"/>
              </a:rPr>
              <a:t>category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5" dirty="0">
                <a:latin typeface="Courier New"/>
                <a:cs typeface="Courier New"/>
              </a:rPr>
              <a:t>php.ini</a:t>
            </a:r>
            <a:r>
              <a:rPr sz="2800" spc="-1435" dirty="0">
                <a:latin typeface="Courier New"/>
                <a:cs typeface="Courier New"/>
              </a:rPr>
              <a:t> </a:t>
            </a:r>
            <a:r>
              <a:rPr sz="2800" spc="-20" dirty="0">
                <a:latin typeface="Arial"/>
                <a:cs typeface="Arial"/>
              </a:rPr>
              <a:t>file </a:t>
            </a:r>
            <a:r>
              <a:rPr sz="2800" spc="-90" dirty="0">
                <a:latin typeface="Arial"/>
                <a:cs typeface="Arial"/>
              </a:rPr>
              <a:t>include </a:t>
            </a:r>
            <a:r>
              <a:rPr sz="2800" spc="-75" dirty="0">
                <a:latin typeface="Arial"/>
                <a:cs typeface="Arial"/>
              </a:rPr>
              <a:t>options,  </a:t>
            </a:r>
            <a:r>
              <a:rPr sz="2800" spc="-80" dirty="0">
                <a:latin typeface="Arial"/>
                <a:cs typeface="Arial"/>
              </a:rPr>
              <a:t>which </a:t>
            </a:r>
            <a:r>
              <a:rPr sz="2800" spc="-130" dirty="0">
                <a:latin typeface="Arial"/>
                <a:cs typeface="Arial"/>
              </a:rPr>
              <a:t>are </a:t>
            </a:r>
            <a:r>
              <a:rPr sz="2800" spc="-265" dirty="0">
                <a:latin typeface="Arial"/>
                <a:cs typeface="Arial"/>
              </a:rPr>
              <a:t>as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follows:</a:t>
            </a:r>
            <a:endParaRPr sz="2800">
              <a:latin typeface="Arial"/>
              <a:cs typeface="Arial"/>
            </a:endParaRPr>
          </a:p>
          <a:p>
            <a:pPr marL="756285" marR="5080" indent="-287020">
              <a:lnSpc>
                <a:spcPct val="103299"/>
              </a:lnSpc>
              <a:spcBef>
                <a:spcPts val="140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0" dirty="0">
                <a:latin typeface="Courier New"/>
                <a:cs typeface="Courier New"/>
              </a:rPr>
              <a:t>session.save_handler</a:t>
            </a:r>
            <a:r>
              <a:rPr sz="2400" spc="-118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65" dirty="0">
                <a:latin typeface="Arial"/>
                <a:cs typeface="Arial"/>
              </a:rPr>
              <a:t>how </a:t>
            </a:r>
            <a:r>
              <a:rPr sz="2400" spc="-325" dirty="0">
                <a:latin typeface="Arial"/>
                <a:cs typeface="Arial"/>
              </a:rPr>
              <a:t>PHP </a:t>
            </a:r>
            <a:r>
              <a:rPr sz="2400" spc="-110" dirty="0">
                <a:latin typeface="Arial"/>
                <a:cs typeface="Arial"/>
              </a:rPr>
              <a:t>stores </a:t>
            </a:r>
            <a:r>
              <a:rPr sz="2400" spc="-114" dirty="0">
                <a:latin typeface="Arial"/>
                <a:cs typeface="Arial"/>
              </a:rPr>
              <a:t>and  </a:t>
            </a:r>
            <a:r>
              <a:rPr sz="2400" spc="-75" dirty="0">
                <a:latin typeface="Arial"/>
                <a:cs typeface="Arial"/>
              </a:rPr>
              <a:t>retrieves </a:t>
            </a:r>
            <a:r>
              <a:rPr sz="2400" spc="-155" dirty="0">
                <a:latin typeface="Arial"/>
                <a:cs typeface="Arial"/>
              </a:rPr>
              <a:t>session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variables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80" dirty="0">
                <a:latin typeface="Arial"/>
                <a:cs typeface="Arial"/>
              </a:rPr>
              <a:t>Either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following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values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can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be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used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this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option: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640"/>
              </a:spcBef>
              <a:tabLst>
                <a:tab pos="1155700" algn="l"/>
              </a:tabLst>
            </a:pPr>
            <a:r>
              <a:rPr sz="800" spc="254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2000" spc="-10" dirty="0">
                <a:latin typeface="Courier New"/>
                <a:cs typeface="Courier New"/>
              </a:rPr>
              <a:t>files</a:t>
            </a:r>
            <a:r>
              <a:rPr sz="2000" spc="-10" dirty="0">
                <a:latin typeface="Arial"/>
                <a:cs typeface="Arial"/>
              </a:rPr>
              <a:t>: </a:t>
            </a:r>
            <a:r>
              <a:rPr sz="2000" spc="-80" dirty="0">
                <a:latin typeface="Arial"/>
                <a:cs typeface="Arial"/>
              </a:rPr>
              <a:t>indicates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35" dirty="0">
                <a:latin typeface="Arial"/>
                <a:cs typeface="Arial"/>
              </a:rPr>
              <a:t>use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34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session </a:t>
            </a:r>
            <a:r>
              <a:rPr sz="2000" spc="-55" dirty="0">
                <a:latin typeface="Arial"/>
                <a:cs typeface="Arial"/>
              </a:rPr>
              <a:t>files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700"/>
              </a:spcBef>
              <a:tabLst>
                <a:tab pos="1155700" algn="l"/>
              </a:tabLst>
            </a:pPr>
            <a:r>
              <a:rPr sz="800" spc="254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2000" spc="-10" dirty="0">
                <a:latin typeface="Courier New"/>
                <a:cs typeface="Courier New"/>
              </a:rPr>
              <a:t>mm</a:t>
            </a:r>
            <a:r>
              <a:rPr sz="2000" spc="-10" dirty="0">
                <a:latin typeface="Arial"/>
                <a:cs typeface="Arial"/>
              </a:rPr>
              <a:t>: </a:t>
            </a:r>
            <a:r>
              <a:rPr sz="2000" spc="-95" dirty="0">
                <a:latin typeface="Arial"/>
                <a:cs typeface="Arial"/>
              </a:rPr>
              <a:t>stores and </a:t>
            </a:r>
            <a:r>
              <a:rPr sz="2000" spc="-65" dirty="0">
                <a:latin typeface="Arial"/>
                <a:cs typeface="Arial"/>
              </a:rPr>
              <a:t>retrieves </a:t>
            </a:r>
            <a:r>
              <a:rPr sz="2000" spc="-80" dirty="0">
                <a:latin typeface="Arial"/>
                <a:cs typeface="Arial"/>
              </a:rPr>
              <a:t>data </a:t>
            </a:r>
            <a:r>
              <a:rPr sz="2000" spc="-25" dirty="0">
                <a:latin typeface="Arial"/>
                <a:cs typeface="Arial"/>
              </a:rPr>
              <a:t>from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105" dirty="0">
                <a:latin typeface="Arial"/>
                <a:cs typeface="Arial"/>
              </a:rPr>
              <a:t>shared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memory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705"/>
              </a:spcBef>
              <a:tabLst>
                <a:tab pos="1155700" algn="l"/>
              </a:tabLst>
            </a:pPr>
            <a:r>
              <a:rPr sz="800" spc="254" dirty="0">
                <a:solidFill>
                  <a:srgbClr val="1F487C"/>
                </a:solidFill>
                <a:latin typeface="Arial"/>
                <a:cs typeface="Arial"/>
              </a:rPr>
              <a:t>	</a:t>
            </a:r>
            <a:r>
              <a:rPr sz="2000" spc="-5" dirty="0">
                <a:latin typeface="Courier New"/>
                <a:cs typeface="Courier New"/>
              </a:rPr>
              <a:t>user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spc="-95" dirty="0">
                <a:latin typeface="Arial"/>
                <a:cs typeface="Arial"/>
              </a:rPr>
              <a:t>stores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65" dirty="0">
                <a:latin typeface="Arial"/>
                <a:cs typeface="Arial"/>
              </a:rPr>
              <a:t>retrieves </a:t>
            </a:r>
            <a:r>
              <a:rPr sz="2000" spc="-90" dirty="0">
                <a:latin typeface="Arial"/>
                <a:cs typeface="Arial"/>
              </a:rPr>
              <a:t>variables </a:t>
            </a:r>
            <a:r>
              <a:rPr sz="2000" spc="10" dirty="0">
                <a:latin typeface="Arial"/>
                <a:cs typeface="Arial"/>
              </a:rPr>
              <a:t>with </a:t>
            </a:r>
            <a:r>
              <a:rPr sz="2000" spc="-85" dirty="0">
                <a:latin typeface="Arial"/>
                <a:cs typeface="Arial"/>
              </a:rPr>
              <a:t>custom </a:t>
            </a:r>
            <a:r>
              <a:rPr sz="2000" spc="-55" dirty="0">
                <a:latin typeface="Arial"/>
                <a:cs typeface="Arial"/>
              </a:rPr>
              <a:t>defined</a:t>
            </a:r>
            <a:r>
              <a:rPr sz="2000" spc="-3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handlers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84035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72425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75" dirty="0"/>
              <a:t>php</a:t>
            </a:r>
            <a:r>
              <a:rPr spc="-105" dirty="0"/>
              <a:t>.</a:t>
            </a:r>
            <a:r>
              <a:rPr spc="-135" dirty="0"/>
              <a:t>ini</a:t>
            </a:r>
            <a:r>
              <a:rPr spc="-225" dirty="0"/>
              <a:t> </a:t>
            </a:r>
            <a:r>
              <a:rPr spc="-300" dirty="0"/>
              <a:t>F</a:t>
            </a:r>
            <a:r>
              <a:rPr spc="-165" dirty="0"/>
              <a:t>i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841044" y="915670"/>
            <a:ext cx="7952740" cy="4344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99085" marR="5080" indent="-287020">
              <a:lnSpc>
                <a:spcPct val="103299"/>
              </a:lnSpc>
              <a:spcBef>
                <a:spcPts val="5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session.save_path</a:t>
            </a:r>
            <a:r>
              <a:rPr sz="2400" spc="-944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specifies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name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directory  </a:t>
            </a:r>
            <a:r>
              <a:rPr sz="2400" spc="-75" dirty="0">
                <a:latin typeface="Arial"/>
                <a:cs typeface="Arial"/>
              </a:rPr>
              <a:t>where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55" dirty="0">
                <a:latin typeface="Arial"/>
                <a:cs typeface="Arial"/>
              </a:rPr>
              <a:t>session </a:t>
            </a:r>
            <a:r>
              <a:rPr sz="2400" spc="-65" dirty="0">
                <a:latin typeface="Arial"/>
                <a:cs typeface="Arial"/>
              </a:rPr>
              <a:t>files </a:t>
            </a:r>
            <a:r>
              <a:rPr sz="2400" spc="5" dirty="0">
                <a:latin typeface="Arial"/>
                <a:cs typeface="Arial"/>
              </a:rPr>
              <a:t>will </a:t>
            </a:r>
            <a:r>
              <a:rPr sz="2400" spc="-110" dirty="0">
                <a:latin typeface="Arial"/>
                <a:cs typeface="Arial"/>
              </a:rPr>
              <a:t>be</a:t>
            </a:r>
            <a:r>
              <a:rPr sz="2400" spc="-4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stored</a:t>
            </a:r>
            <a:endParaRPr sz="2400">
              <a:latin typeface="Arial"/>
              <a:cs typeface="Arial"/>
            </a:endParaRPr>
          </a:p>
          <a:p>
            <a:pPr marL="299085" marR="255904" indent="-287020">
              <a:lnSpc>
                <a:spcPct val="101699"/>
              </a:lnSpc>
              <a:spcBef>
                <a:spcPts val="1560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0" dirty="0">
                <a:latin typeface="Courier New"/>
                <a:cs typeface="Courier New"/>
              </a:rPr>
              <a:t>session.use_cookies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95" dirty="0">
                <a:latin typeface="Arial"/>
                <a:cs typeface="Arial"/>
              </a:rPr>
              <a:t>indicates </a:t>
            </a:r>
            <a:r>
              <a:rPr sz="2400" spc="-45" dirty="0">
                <a:latin typeface="Arial"/>
                <a:cs typeface="Arial"/>
              </a:rPr>
              <a:t>whether </a:t>
            </a:r>
            <a:r>
              <a:rPr sz="2400" spc="-325" dirty="0">
                <a:latin typeface="Arial"/>
                <a:cs typeface="Arial"/>
              </a:rPr>
              <a:t>PHP </a:t>
            </a:r>
            <a:r>
              <a:rPr sz="2400" spc="-80" dirty="0">
                <a:latin typeface="Arial"/>
                <a:cs typeface="Arial"/>
              </a:rPr>
              <a:t>must  </a:t>
            </a:r>
            <a:r>
              <a:rPr sz="2400" spc="-145" dirty="0">
                <a:latin typeface="Arial"/>
                <a:cs typeface="Arial"/>
              </a:rPr>
              <a:t>send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55" dirty="0">
                <a:latin typeface="Arial"/>
                <a:cs typeface="Arial"/>
              </a:rPr>
              <a:t>session </a:t>
            </a:r>
            <a:r>
              <a:rPr sz="2400" spc="-165" dirty="0">
                <a:latin typeface="Arial"/>
                <a:cs typeface="Arial"/>
              </a:rPr>
              <a:t>ID </a:t>
            </a:r>
            <a:r>
              <a:rPr sz="2400" spc="15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85" dirty="0">
                <a:latin typeface="Arial"/>
                <a:cs typeface="Arial"/>
              </a:rPr>
              <a:t>browser </a:t>
            </a:r>
            <a:r>
              <a:rPr sz="2400" spc="-55" dirty="0">
                <a:latin typeface="Arial"/>
                <a:cs typeface="Arial"/>
              </a:rPr>
              <a:t>through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95" dirty="0">
                <a:latin typeface="Arial"/>
                <a:cs typeface="Arial"/>
              </a:rPr>
              <a:t>cookie.</a:t>
            </a:r>
            <a:r>
              <a:rPr sz="2400" spc="-285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The  </a:t>
            </a:r>
            <a:r>
              <a:rPr sz="2400" spc="-110" dirty="0">
                <a:latin typeface="Arial"/>
                <a:cs typeface="Arial"/>
              </a:rPr>
              <a:t>value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105" dirty="0">
                <a:latin typeface="Arial"/>
                <a:cs typeface="Arial"/>
              </a:rPr>
              <a:t>enable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00" dirty="0">
                <a:latin typeface="Arial"/>
                <a:cs typeface="Arial"/>
              </a:rPr>
              <a:t>cookie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80" dirty="0">
                <a:latin typeface="Arial"/>
                <a:cs typeface="Arial"/>
              </a:rPr>
              <a:t>store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55" dirty="0">
                <a:latin typeface="Arial"/>
                <a:cs typeface="Arial"/>
              </a:rPr>
              <a:t>session </a:t>
            </a:r>
            <a:r>
              <a:rPr sz="2400" spc="-160" dirty="0">
                <a:latin typeface="Arial"/>
                <a:cs typeface="Arial"/>
              </a:rPr>
              <a:t>ID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40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299085" marR="331470" indent="-287020">
              <a:lnSpc>
                <a:spcPct val="101899"/>
              </a:lnSpc>
              <a:spcBef>
                <a:spcPts val="1540"/>
              </a:spcBef>
              <a:tabLst>
                <a:tab pos="299085" algn="l"/>
              </a:tabLst>
            </a:pPr>
            <a:r>
              <a:rPr sz="1200" spc="3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session.use_only_cookies</a:t>
            </a:r>
            <a:r>
              <a:rPr sz="2400" spc="-117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95" dirty="0">
                <a:latin typeface="Arial"/>
                <a:cs typeface="Arial"/>
              </a:rPr>
              <a:t>indicates </a:t>
            </a:r>
            <a:r>
              <a:rPr sz="2400" spc="-40" dirty="0">
                <a:latin typeface="Arial"/>
                <a:cs typeface="Arial"/>
              </a:rPr>
              <a:t>whether </a:t>
            </a:r>
            <a:r>
              <a:rPr sz="2400" spc="-25" dirty="0">
                <a:latin typeface="Arial"/>
                <a:cs typeface="Arial"/>
              </a:rPr>
              <a:t>the  </a:t>
            </a:r>
            <a:r>
              <a:rPr sz="2400" spc="-100" dirty="0">
                <a:latin typeface="Arial"/>
                <a:cs typeface="Arial"/>
              </a:rPr>
              <a:t>modules </a:t>
            </a:r>
            <a:r>
              <a:rPr sz="2400" spc="-160" dirty="0">
                <a:latin typeface="Arial"/>
                <a:cs typeface="Arial"/>
              </a:rPr>
              <a:t>can </a:t>
            </a:r>
            <a:r>
              <a:rPr sz="2400" spc="-165" dirty="0">
                <a:latin typeface="Arial"/>
                <a:cs typeface="Arial"/>
              </a:rPr>
              <a:t>use </a:t>
            </a:r>
            <a:r>
              <a:rPr sz="2400" spc="-65" dirty="0">
                <a:latin typeface="Arial"/>
                <a:cs typeface="Arial"/>
              </a:rPr>
              <a:t>only </a:t>
            </a:r>
            <a:r>
              <a:rPr sz="2400" spc="-125" dirty="0">
                <a:latin typeface="Arial"/>
                <a:cs typeface="Arial"/>
              </a:rPr>
              <a:t>cookies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75" dirty="0">
                <a:latin typeface="Arial"/>
                <a:cs typeface="Arial"/>
              </a:rPr>
              <a:t>storing </a:t>
            </a:r>
            <a:r>
              <a:rPr sz="2400" spc="-155" dirty="0">
                <a:latin typeface="Arial"/>
                <a:cs typeface="Arial"/>
              </a:rPr>
              <a:t>session </a:t>
            </a:r>
            <a:r>
              <a:rPr sz="2400" spc="-170" dirty="0">
                <a:latin typeface="Arial"/>
                <a:cs typeface="Arial"/>
              </a:rPr>
              <a:t>IDs. </a:t>
            </a:r>
            <a:r>
              <a:rPr sz="2400" spc="-220" dirty="0">
                <a:latin typeface="Arial"/>
                <a:cs typeface="Arial"/>
              </a:rPr>
              <a:t>By  </a:t>
            </a:r>
            <a:r>
              <a:rPr sz="2400" spc="-55" dirty="0">
                <a:latin typeface="Arial"/>
                <a:cs typeface="Arial"/>
              </a:rPr>
              <a:t>default, </a:t>
            </a:r>
            <a:r>
              <a:rPr sz="2400" spc="-50" dirty="0">
                <a:latin typeface="Arial"/>
                <a:cs typeface="Arial"/>
              </a:rPr>
              <a:t>this </a:t>
            </a:r>
            <a:r>
              <a:rPr sz="2400" spc="-30" dirty="0">
                <a:latin typeface="Arial"/>
                <a:cs typeface="Arial"/>
              </a:rPr>
              <a:t>option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38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disabled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session.cookie_lifetime</a:t>
            </a:r>
            <a:r>
              <a:rPr sz="2400" spc="-124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25" dirty="0">
                <a:latin typeface="Arial"/>
                <a:cs typeface="Arial"/>
              </a:rPr>
              <a:t>the lifetime </a:t>
            </a:r>
            <a:r>
              <a:rPr sz="2400" spc="-10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95"/>
              </a:spcBef>
            </a:pP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00" dirty="0">
                <a:latin typeface="Arial"/>
                <a:cs typeface="Arial"/>
              </a:rPr>
              <a:t>cookie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value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90" dirty="0">
                <a:latin typeface="Arial"/>
                <a:cs typeface="Arial"/>
              </a:rPr>
              <a:t>specified </a:t>
            </a:r>
            <a:r>
              <a:rPr sz="2400" spc="-30" dirty="0">
                <a:latin typeface="Arial"/>
                <a:cs typeface="Arial"/>
              </a:rPr>
              <a:t>in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seconds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84035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72425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75" dirty="0"/>
              <a:t>php</a:t>
            </a:r>
            <a:r>
              <a:rPr spc="-105" dirty="0"/>
              <a:t>.</a:t>
            </a:r>
            <a:r>
              <a:rPr spc="-135" dirty="0"/>
              <a:t>ini</a:t>
            </a:r>
            <a:r>
              <a:rPr spc="-225" dirty="0"/>
              <a:t> </a:t>
            </a:r>
            <a:r>
              <a:rPr spc="-300" dirty="0"/>
              <a:t>F</a:t>
            </a:r>
            <a:r>
              <a:rPr spc="-165" dirty="0"/>
              <a:t>i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841044" y="915670"/>
            <a:ext cx="7974330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session.name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65" dirty="0">
                <a:latin typeface="Arial"/>
                <a:cs typeface="Arial"/>
              </a:rPr>
              <a:t>manages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00" dirty="0">
                <a:latin typeface="Arial"/>
                <a:cs typeface="Arial"/>
              </a:rPr>
              <a:t>cookie </a:t>
            </a:r>
            <a:r>
              <a:rPr sz="2400" spc="-125" dirty="0">
                <a:latin typeface="Arial"/>
                <a:cs typeface="Arial"/>
              </a:rPr>
              <a:t>name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30" dirty="0">
                <a:latin typeface="Arial"/>
                <a:cs typeface="Arial"/>
              </a:rPr>
              <a:t>form  </a:t>
            </a:r>
            <a:r>
              <a:rPr sz="2400" spc="-40" dirty="0">
                <a:latin typeface="Arial"/>
                <a:cs typeface="Arial"/>
              </a:rPr>
              <a:t>attributes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such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GET</a:t>
            </a:r>
            <a:r>
              <a:rPr sz="2400" spc="-900" dirty="0">
                <a:latin typeface="Courier New"/>
                <a:cs typeface="Courier New"/>
              </a:rPr>
              <a:t>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POST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holds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session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ID.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20" dirty="0">
                <a:latin typeface="Arial"/>
                <a:cs typeface="Arial"/>
              </a:rPr>
              <a:t>By  </a:t>
            </a:r>
            <a:r>
              <a:rPr sz="2400" spc="-50" dirty="0">
                <a:latin typeface="Arial"/>
                <a:cs typeface="Arial"/>
              </a:rPr>
              <a:t>default,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value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this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option</a:t>
            </a:r>
            <a:r>
              <a:rPr sz="2400" spc="-125" dirty="0">
                <a:latin typeface="Arial"/>
                <a:cs typeface="Arial"/>
              </a:rPr>
              <a:t> is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PHPSESSID</a:t>
            </a:r>
            <a:endParaRPr sz="2400">
              <a:latin typeface="Courier New"/>
              <a:cs typeface="Courier New"/>
            </a:endParaRPr>
          </a:p>
          <a:p>
            <a:pPr marL="299085" marR="32384" indent="-287020">
              <a:lnSpc>
                <a:spcPct val="103299"/>
              </a:lnSpc>
              <a:spcBef>
                <a:spcPts val="1610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0" dirty="0">
                <a:latin typeface="Courier New"/>
                <a:cs typeface="Courier New"/>
              </a:rPr>
              <a:t>session.auto_start</a:t>
            </a:r>
            <a:r>
              <a:rPr sz="2400" spc="-110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25" dirty="0">
                <a:latin typeface="Arial"/>
                <a:cs typeface="Arial"/>
              </a:rPr>
              <a:t>enables </a:t>
            </a:r>
            <a:r>
              <a:rPr sz="2400" spc="-170" dirty="0">
                <a:latin typeface="Arial"/>
                <a:cs typeface="Arial"/>
              </a:rPr>
              <a:t>sessions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65" dirty="0">
                <a:latin typeface="Arial"/>
                <a:cs typeface="Arial"/>
              </a:rPr>
              <a:t>automatically  </a:t>
            </a:r>
            <a:r>
              <a:rPr sz="2400" spc="-50" dirty="0">
                <a:latin typeface="Arial"/>
                <a:cs typeface="Arial"/>
              </a:rPr>
              <a:t>initialize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40" dirty="0">
                <a:latin typeface="Arial"/>
                <a:cs typeface="Arial"/>
              </a:rPr>
              <a:t>if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session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ID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10" dirty="0">
                <a:latin typeface="Arial"/>
                <a:cs typeface="Arial"/>
              </a:rPr>
              <a:t>not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found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browser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request</a:t>
            </a:r>
            <a:endParaRPr sz="2400">
              <a:latin typeface="Arial"/>
              <a:cs typeface="Arial"/>
            </a:endParaRPr>
          </a:p>
          <a:p>
            <a:pPr marL="299085" marR="377190" indent="-287020">
              <a:lnSpc>
                <a:spcPct val="101899"/>
              </a:lnSpc>
              <a:spcBef>
                <a:spcPts val="1540"/>
              </a:spcBef>
              <a:tabLst>
                <a:tab pos="299085" algn="l"/>
              </a:tabLst>
            </a:pPr>
            <a:r>
              <a:rPr sz="1200" spc="3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session.cookie_secure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40" dirty="0">
                <a:latin typeface="Arial"/>
                <a:cs typeface="Arial"/>
              </a:rPr>
              <a:t>whether </a:t>
            </a:r>
            <a:r>
              <a:rPr sz="2400" spc="-25" dirty="0">
                <a:latin typeface="Arial"/>
                <a:cs typeface="Arial"/>
              </a:rPr>
              <a:t>the  </a:t>
            </a:r>
            <a:r>
              <a:rPr sz="2400" spc="-125" dirty="0">
                <a:latin typeface="Arial"/>
                <a:cs typeface="Arial"/>
              </a:rPr>
              <a:t>cookies </a:t>
            </a:r>
            <a:r>
              <a:rPr sz="2400" spc="-80" dirty="0">
                <a:latin typeface="Arial"/>
                <a:cs typeface="Arial"/>
              </a:rPr>
              <a:t>must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95" dirty="0">
                <a:latin typeface="Arial"/>
                <a:cs typeface="Arial"/>
              </a:rPr>
              <a:t>sent </a:t>
            </a:r>
            <a:r>
              <a:rPr sz="2400" spc="-85" dirty="0">
                <a:latin typeface="Arial"/>
                <a:cs typeface="Arial"/>
              </a:rPr>
              <a:t>over </a:t>
            </a:r>
            <a:r>
              <a:rPr sz="2400" spc="-130" dirty="0">
                <a:latin typeface="Arial"/>
                <a:cs typeface="Arial"/>
              </a:rPr>
              <a:t>secured </a:t>
            </a:r>
            <a:r>
              <a:rPr sz="2400" spc="-95" dirty="0">
                <a:latin typeface="Arial"/>
                <a:cs typeface="Arial"/>
              </a:rPr>
              <a:t>connections. </a:t>
            </a:r>
            <a:r>
              <a:rPr sz="2400" spc="-220" dirty="0">
                <a:latin typeface="Arial"/>
                <a:cs typeface="Arial"/>
              </a:rPr>
              <a:t>By </a:t>
            </a:r>
            <a:r>
              <a:rPr sz="2400" spc="-55" dirty="0">
                <a:latin typeface="Arial"/>
                <a:cs typeface="Arial"/>
              </a:rPr>
              <a:t>default, 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cookies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10" dirty="0">
                <a:latin typeface="Arial"/>
                <a:cs typeface="Arial"/>
              </a:rPr>
              <a:t>not </a:t>
            </a:r>
            <a:r>
              <a:rPr sz="2400" spc="-95" dirty="0">
                <a:latin typeface="Arial"/>
                <a:cs typeface="Arial"/>
              </a:rPr>
              <a:t>sent </a:t>
            </a:r>
            <a:r>
              <a:rPr sz="2400" spc="-55" dirty="0">
                <a:latin typeface="Arial"/>
                <a:cs typeface="Arial"/>
              </a:rPr>
              <a:t>through </a:t>
            </a:r>
            <a:r>
              <a:rPr sz="2400" spc="-130" dirty="0">
                <a:latin typeface="Arial"/>
                <a:cs typeface="Arial"/>
              </a:rPr>
              <a:t>secured</a:t>
            </a:r>
            <a:r>
              <a:rPr sz="2400" spc="-47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connections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84035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72425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75" dirty="0"/>
              <a:t>php</a:t>
            </a:r>
            <a:r>
              <a:rPr spc="-105" dirty="0"/>
              <a:t>.</a:t>
            </a:r>
            <a:r>
              <a:rPr spc="-135" dirty="0"/>
              <a:t>ini</a:t>
            </a:r>
            <a:r>
              <a:rPr spc="-225" dirty="0"/>
              <a:t> </a:t>
            </a:r>
            <a:r>
              <a:rPr spc="-300" dirty="0"/>
              <a:t>F</a:t>
            </a:r>
            <a:r>
              <a:rPr spc="-165" dirty="0"/>
              <a:t>i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0" y="682974"/>
            <a:ext cx="8452485" cy="569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70" dirty="0">
                <a:latin typeface="Arial"/>
                <a:cs typeface="Arial"/>
              </a:rPr>
              <a:t>Other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settings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can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also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be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modified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dirty="0">
                <a:latin typeface="Courier New"/>
                <a:cs typeface="Courier New"/>
              </a:rPr>
              <a:t>php.ini</a:t>
            </a:r>
            <a:r>
              <a:rPr sz="2400" spc="-93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Arial"/>
                <a:cs typeface="Arial"/>
              </a:rPr>
              <a:t>file,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such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as: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20"/>
              </a:spcBef>
              <a:tabLst>
                <a:tab pos="756285" algn="l"/>
              </a:tabLst>
            </a:pPr>
            <a:r>
              <a:rPr sz="1000" spc="30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5" dirty="0">
                <a:latin typeface="Courier New"/>
                <a:cs typeface="Courier New"/>
              </a:rPr>
              <a:t>register_globals</a:t>
            </a:r>
            <a:r>
              <a:rPr sz="2000" spc="-79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Arial"/>
                <a:cs typeface="Arial"/>
              </a:rPr>
              <a:t>-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controls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functioning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server,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forms,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and</a:t>
            </a:r>
            <a:endParaRPr sz="18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114"/>
              </a:spcBef>
            </a:pPr>
            <a:r>
              <a:rPr sz="1800" spc="-50" dirty="0">
                <a:latin typeface="Arial"/>
                <a:cs typeface="Arial"/>
              </a:rPr>
              <a:t>environment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variables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73215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If </a:t>
            </a:r>
            <a:r>
              <a:rPr sz="1800" spc="-40" dirty="0">
                <a:latin typeface="Arial"/>
                <a:cs typeface="Arial"/>
              </a:rPr>
              <a:t>this </a:t>
            </a:r>
            <a:r>
              <a:rPr sz="1800" spc="-25" dirty="0">
                <a:latin typeface="Arial"/>
                <a:cs typeface="Arial"/>
              </a:rPr>
              <a:t>option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75" dirty="0">
                <a:latin typeface="Arial"/>
                <a:cs typeface="Arial"/>
              </a:rPr>
              <a:t>disabled, </a:t>
            </a:r>
            <a:r>
              <a:rPr sz="1800" spc="-80" dirty="0">
                <a:latin typeface="Arial"/>
                <a:cs typeface="Arial"/>
              </a:rPr>
              <a:t>variables </a:t>
            </a:r>
            <a:r>
              <a:rPr sz="1800" spc="-120" dirty="0">
                <a:latin typeface="Arial"/>
                <a:cs typeface="Arial"/>
              </a:rPr>
              <a:t>can </a:t>
            </a:r>
            <a:r>
              <a:rPr sz="1800" spc="-85" dirty="0">
                <a:latin typeface="Arial"/>
                <a:cs typeface="Arial"/>
              </a:rPr>
              <a:t>be </a:t>
            </a:r>
            <a:r>
              <a:rPr sz="1800" spc="-45" dirty="0">
                <a:latin typeface="Arial"/>
                <a:cs typeface="Arial"/>
              </a:rPr>
              <a:t>retrieved </a:t>
            </a:r>
            <a:r>
              <a:rPr sz="1800" spc="-95" dirty="0">
                <a:latin typeface="Arial"/>
                <a:cs typeface="Arial"/>
              </a:rPr>
              <a:t>using </a:t>
            </a:r>
            <a:r>
              <a:rPr sz="1800" spc="-20" dirty="0">
                <a:latin typeface="Arial"/>
                <a:cs typeface="Arial"/>
              </a:rPr>
              <a:t>the </a:t>
            </a:r>
            <a:r>
              <a:rPr sz="1800" spc="-5" dirty="0">
                <a:latin typeface="Courier New"/>
                <a:cs typeface="Courier New"/>
              </a:rPr>
              <a:t>GET</a:t>
            </a:r>
            <a:r>
              <a:rPr sz="1800" spc="-960" dirty="0">
                <a:latin typeface="Courier New"/>
                <a:cs typeface="Courier New"/>
              </a:rPr>
              <a:t> </a:t>
            </a:r>
            <a:r>
              <a:rPr sz="1800" spc="-15" dirty="0">
                <a:latin typeface="Arial"/>
                <a:cs typeface="Arial"/>
              </a:rPr>
              <a:t>or </a:t>
            </a:r>
            <a:r>
              <a:rPr sz="1800" spc="-5" dirty="0">
                <a:latin typeface="Courier New"/>
                <a:cs typeface="Courier New"/>
              </a:rPr>
              <a:t>POST</a:t>
            </a:r>
            <a:endParaRPr sz="1800" dirty="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  <a:spcBef>
                <a:spcPts val="70"/>
              </a:spcBef>
            </a:pPr>
            <a:r>
              <a:rPr sz="1800" spc="-65" dirty="0">
                <a:latin typeface="Arial"/>
                <a:cs typeface="Arial"/>
              </a:rPr>
              <a:t>methods </a:t>
            </a:r>
            <a:r>
              <a:rPr sz="1800" spc="-170" dirty="0">
                <a:latin typeface="Arial"/>
                <a:cs typeface="Arial"/>
              </a:rPr>
              <a:t>as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follows:</a:t>
            </a:r>
            <a:endParaRPr sz="1800" dirty="0">
              <a:latin typeface="Arial"/>
              <a:cs typeface="Arial"/>
            </a:endParaRPr>
          </a:p>
          <a:p>
            <a:pPr marL="744220">
              <a:lnSpc>
                <a:spcPct val="100000"/>
              </a:lnSpc>
              <a:spcBef>
                <a:spcPts val="1600"/>
              </a:spcBef>
            </a:pPr>
            <a:r>
              <a:rPr sz="1800" spc="-10" dirty="0">
                <a:latin typeface="Courier New"/>
                <a:cs typeface="Courier New"/>
              </a:rPr>
              <a:t>$_POST['$variable_name'];</a:t>
            </a:r>
            <a:endParaRPr sz="1800" dirty="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805"/>
              </a:spcBef>
            </a:pPr>
            <a:r>
              <a:rPr sz="1800" spc="-10" dirty="0">
                <a:latin typeface="Courier New"/>
                <a:cs typeface="Courier New"/>
              </a:rPr>
              <a:t>$_GET['$variable_name'];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756285" marR="235585" indent="27305">
              <a:lnSpc>
                <a:spcPct val="107200"/>
              </a:lnSpc>
            </a:pPr>
            <a:r>
              <a:rPr sz="1800" dirty="0">
                <a:latin typeface="Arial"/>
                <a:cs typeface="Arial"/>
              </a:rPr>
              <a:t>If </a:t>
            </a:r>
            <a:r>
              <a:rPr sz="1800" spc="-10" dirty="0">
                <a:latin typeface="Courier New"/>
                <a:cs typeface="Courier New"/>
              </a:rPr>
              <a:t>register_globals</a:t>
            </a:r>
            <a:r>
              <a:rPr sz="1800" spc="-645" dirty="0">
                <a:latin typeface="Courier New"/>
                <a:cs typeface="Courier New"/>
              </a:rPr>
              <a:t>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70" dirty="0">
                <a:latin typeface="Arial"/>
                <a:cs typeface="Arial"/>
              </a:rPr>
              <a:t>enabled, </a:t>
            </a:r>
            <a:r>
              <a:rPr sz="1800" spc="-20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variable </a:t>
            </a:r>
            <a:r>
              <a:rPr sz="1800" spc="-120" dirty="0">
                <a:latin typeface="Arial"/>
                <a:cs typeface="Arial"/>
              </a:rPr>
              <a:t>can </a:t>
            </a:r>
            <a:r>
              <a:rPr sz="1800" spc="-85" dirty="0">
                <a:latin typeface="Arial"/>
                <a:cs typeface="Arial"/>
              </a:rPr>
              <a:t>be </a:t>
            </a:r>
            <a:r>
              <a:rPr sz="1800" spc="-40" dirty="0">
                <a:latin typeface="Arial"/>
                <a:cs typeface="Arial"/>
              </a:rPr>
              <a:t>directly </a:t>
            </a:r>
            <a:r>
              <a:rPr sz="1800" spc="-135" dirty="0">
                <a:latin typeface="Arial"/>
                <a:cs typeface="Arial"/>
              </a:rPr>
              <a:t>accessed </a:t>
            </a:r>
            <a:r>
              <a:rPr sz="1800" spc="-95" dirty="0">
                <a:latin typeface="Arial"/>
                <a:cs typeface="Arial"/>
              </a:rPr>
              <a:t>using  </a:t>
            </a:r>
            <a:r>
              <a:rPr sz="1800" spc="-20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variable </a:t>
            </a:r>
            <a:r>
              <a:rPr sz="1800" spc="-95" dirty="0">
                <a:latin typeface="Arial"/>
                <a:cs typeface="Arial"/>
              </a:rPr>
              <a:t>name </a:t>
            </a:r>
            <a:r>
              <a:rPr sz="1800" spc="-170" dirty="0">
                <a:latin typeface="Arial"/>
                <a:cs typeface="Arial"/>
              </a:rPr>
              <a:t>as</a:t>
            </a:r>
            <a:r>
              <a:rPr sz="1800" spc="-18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follows: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786765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$storeValue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$variable_name;</a:t>
            </a:r>
            <a:endParaRPr sz="1800" dirty="0">
              <a:latin typeface="Courier New"/>
              <a:cs typeface="Courier New"/>
            </a:endParaRPr>
          </a:p>
          <a:p>
            <a:pPr marL="756285" marR="198755" indent="-13970">
              <a:lnSpc>
                <a:spcPct val="103299"/>
              </a:lnSpc>
              <a:spcBef>
                <a:spcPts val="1615"/>
              </a:spcBef>
            </a:pPr>
            <a:r>
              <a:rPr sz="1800" spc="-10" dirty="0">
                <a:latin typeface="Courier New"/>
                <a:cs typeface="Courier New"/>
              </a:rPr>
              <a:t>$variable_name</a:t>
            </a:r>
            <a:r>
              <a:rPr sz="1800" spc="-685" dirty="0">
                <a:latin typeface="Courier New"/>
                <a:cs typeface="Courier New"/>
              </a:rPr>
              <a:t> </a:t>
            </a:r>
            <a:r>
              <a:rPr sz="1800" spc="-95" dirty="0">
                <a:latin typeface="Arial"/>
                <a:cs typeface="Arial"/>
              </a:rPr>
              <a:t>is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name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variable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that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contains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session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data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of  </a:t>
            </a:r>
            <a:r>
              <a:rPr sz="1800" spc="-40" dirty="0">
                <a:latin typeface="Arial"/>
                <a:cs typeface="Arial"/>
              </a:rPr>
              <a:t>another </a:t>
            </a:r>
            <a:r>
              <a:rPr sz="1800" spc="-110" dirty="0">
                <a:latin typeface="Arial"/>
                <a:cs typeface="Arial"/>
              </a:rPr>
              <a:t>Web</a:t>
            </a:r>
            <a:r>
              <a:rPr sz="1800" spc="-14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page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732155">
              <a:lnSpc>
                <a:spcPts val="2150"/>
              </a:lnSpc>
            </a:pPr>
            <a:r>
              <a:rPr sz="1800" spc="-130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variable </a:t>
            </a:r>
            <a:r>
              <a:rPr sz="1800" spc="-5" dirty="0">
                <a:latin typeface="Courier New"/>
                <a:cs typeface="Courier New"/>
              </a:rPr>
              <a:t>$storeValue</a:t>
            </a:r>
            <a:r>
              <a:rPr sz="1800" spc="-960" dirty="0">
                <a:latin typeface="Courier New"/>
                <a:cs typeface="Courier New"/>
              </a:rPr>
              <a:t> </a:t>
            </a:r>
            <a:r>
              <a:rPr sz="1800" spc="-85" dirty="0">
                <a:latin typeface="Arial"/>
                <a:cs typeface="Arial"/>
              </a:rPr>
              <a:t>stores </a:t>
            </a:r>
            <a:r>
              <a:rPr sz="1800" spc="-20" dirty="0">
                <a:latin typeface="Arial"/>
                <a:cs typeface="Arial"/>
              </a:rPr>
              <a:t>the </a:t>
            </a:r>
            <a:r>
              <a:rPr sz="1800" spc="-30" dirty="0">
                <a:latin typeface="Arial"/>
                <a:cs typeface="Arial"/>
              </a:rPr>
              <a:t>information </a:t>
            </a:r>
            <a:r>
              <a:rPr sz="1800" spc="-60" dirty="0">
                <a:latin typeface="Arial"/>
                <a:cs typeface="Arial"/>
              </a:rPr>
              <a:t>included </a:t>
            </a:r>
            <a:r>
              <a:rPr sz="1800" spc="-30" dirty="0">
                <a:latin typeface="Arial"/>
                <a:cs typeface="Arial"/>
              </a:rPr>
              <a:t>in </a:t>
            </a:r>
            <a:r>
              <a:rPr sz="1800" spc="-20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variable</a:t>
            </a:r>
            <a:endParaRPr sz="1800" dirty="0">
              <a:latin typeface="Arial"/>
              <a:cs typeface="Arial"/>
            </a:endParaRPr>
          </a:p>
          <a:p>
            <a:pPr marL="756285">
              <a:lnSpc>
                <a:spcPts val="2150"/>
              </a:lnSpc>
            </a:pPr>
            <a:r>
              <a:rPr sz="1800" spc="-10" dirty="0">
                <a:latin typeface="Courier New"/>
                <a:cs typeface="Courier New"/>
              </a:rPr>
              <a:t>variable_name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268" y="915670"/>
            <a:ext cx="7959725" cy="26670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99085" marR="192405" indent="-287020">
              <a:lnSpc>
                <a:spcPct val="103299"/>
              </a:lnSpc>
              <a:spcBef>
                <a:spcPts val="5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upload_tmp_dir</a:t>
            </a:r>
            <a:r>
              <a:rPr sz="2400" spc="-93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sets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location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temporary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file  </a:t>
            </a:r>
            <a:r>
              <a:rPr sz="2400" spc="-5" dirty="0">
                <a:latin typeface="Arial"/>
                <a:cs typeface="Arial"/>
              </a:rPr>
              <a:t>that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90" dirty="0">
                <a:latin typeface="Arial"/>
                <a:cs typeface="Arial"/>
              </a:rPr>
              <a:t>uploaded </a:t>
            </a:r>
            <a:r>
              <a:rPr sz="2400" spc="15" dirty="0">
                <a:latin typeface="Arial"/>
                <a:cs typeface="Arial"/>
              </a:rPr>
              <a:t>with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37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HTML </a:t>
            </a:r>
            <a:r>
              <a:rPr sz="2400" spc="-30" dirty="0">
                <a:latin typeface="Arial"/>
                <a:cs typeface="Arial"/>
              </a:rPr>
              <a:t>form</a:t>
            </a:r>
            <a:endParaRPr sz="2400">
              <a:latin typeface="Arial"/>
              <a:cs typeface="Arial"/>
            </a:endParaRPr>
          </a:p>
          <a:p>
            <a:pPr marL="299085" marR="5080" indent="-287020">
              <a:lnSpc>
                <a:spcPct val="103299"/>
              </a:lnSpc>
              <a:spcBef>
                <a:spcPts val="1515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display_errors and </a:t>
            </a:r>
            <a:r>
              <a:rPr sz="2400" spc="-10" dirty="0">
                <a:latin typeface="Courier New"/>
                <a:cs typeface="Courier New"/>
              </a:rPr>
              <a:t>display_startup_errors</a:t>
            </a:r>
            <a:r>
              <a:rPr sz="2400" spc="-969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 </a:t>
            </a:r>
            <a:r>
              <a:rPr sz="2400" spc="-125" dirty="0">
                <a:latin typeface="Arial"/>
                <a:cs typeface="Arial"/>
              </a:rPr>
              <a:t>enables </a:t>
            </a: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110" dirty="0">
                <a:latin typeface="Arial"/>
                <a:cs typeface="Arial"/>
              </a:rPr>
              <a:t>display </a:t>
            </a:r>
            <a:r>
              <a:rPr sz="2400" spc="-75" dirty="0">
                <a:latin typeface="Arial"/>
                <a:cs typeface="Arial"/>
              </a:rPr>
              <a:t>errors on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45" dirty="0">
                <a:latin typeface="Arial"/>
                <a:cs typeface="Arial"/>
              </a:rPr>
              <a:t>Web</a:t>
            </a:r>
            <a:r>
              <a:rPr sz="2400" spc="-36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  <a:p>
            <a:pPr marL="299085" marR="254635" indent="-287020">
              <a:lnSpc>
                <a:spcPct val="104200"/>
              </a:lnSpc>
              <a:spcBef>
                <a:spcPts val="1475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5" dirty="0">
                <a:latin typeface="Courier New"/>
                <a:cs typeface="Courier New"/>
              </a:rPr>
              <a:t>log_errors and error_log</a:t>
            </a:r>
            <a:r>
              <a:rPr sz="2400" spc="-104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25" dirty="0">
                <a:latin typeface="Arial"/>
                <a:cs typeface="Arial"/>
              </a:rPr>
              <a:t>enables </a:t>
            </a: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110" dirty="0">
                <a:latin typeface="Arial"/>
                <a:cs typeface="Arial"/>
              </a:rPr>
              <a:t>display  </a:t>
            </a:r>
            <a:r>
              <a:rPr sz="2400" spc="-30" dirty="0">
                <a:latin typeface="Arial"/>
                <a:cs typeface="Arial"/>
              </a:rPr>
              <a:t>error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logs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6317"/>
            <a:ext cx="84035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72425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175" dirty="0"/>
              <a:t>php</a:t>
            </a:r>
            <a:r>
              <a:rPr spc="-105" dirty="0"/>
              <a:t>.</a:t>
            </a:r>
            <a:r>
              <a:rPr spc="-135" dirty="0"/>
              <a:t>ini</a:t>
            </a:r>
            <a:r>
              <a:rPr spc="-225" dirty="0"/>
              <a:t> </a:t>
            </a:r>
            <a:r>
              <a:rPr spc="-300" dirty="0"/>
              <a:t>F</a:t>
            </a:r>
            <a:r>
              <a:rPr spc="-165" dirty="0"/>
              <a:t>i</a:t>
            </a:r>
            <a:r>
              <a:rPr spc="-155" dirty="0"/>
              <a:t>le</a:t>
            </a:r>
            <a:r>
              <a:rPr dirty="0"/>
              <a:t>	</a:t>
            </a:r>
            <a:endParaRPr spc="-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39" y="12078"/>
            <a:ext cx="405364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Summa</a:t>
            </a:r>
            <a:r>
              <a:rPr spc="-75" dirty="0"/>
              <a:t>r</a:t>
            </a:r>
            <a:r>
              <a:rPr spc="-15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51661"/>
            <a:ext cx="8422640" cy="4488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3787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0" dirty="0">
                <a:latin typeface="Arial"/>
                <a:cs typeface="Arial"/>
              </a:rPr>
              <a:t>Cookies </a:t>
            </a:r>
            <a:r>
              <a:rPr sz="2000" spc="-70" dirty="0">
                <a:latin typeface="Arial"/>
                <a:cs typeface="Arial"/>
              </a:rPr>
              <a:t>provide </a:t>
            </a:r>
            <a:r>
              <a:rPr sz="2000" spc="-30" dirty="0">
                <a:latin typeface="Arial"/>
                <a:cs typeface="Arial"/>
              </a:rPr>
              <a:t>the functionality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47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storing </a:t>
            </a:r>
            <a:r>
              <a:rPr sz="2000" spc="-60" dirty="0">
                <a:latin typeface="Arial"/>
                <a:cs typeface="Arial"/>
              </a:rPr>
              <a:t>temporary </a:t>
            </a:r>
            <a:r>
              <a:rPr sz="2000" spc="-114" dirty="0">
                <a:latin typeface="Arial"/>
                <a:cs typeface="Arial"/>
              </a:rPr>
              <a:t>user 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80" dirty="0">
                <a:latin typeface="Arial"/>
                <a:cs typeface="Arial"/>
              </a:rPr>
              <a:t>on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local</a:t>
            </a:r>
            <a:r>
              <a:rPr sz="2000" spc="-3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computer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00" dirty="0">
                <a:latin typeface="Arial"/>
                <a:cs typeface="Arial"/>
              </a:rPr>
              <a:t>Sessions </a:t>
            </a:r>
            <a:r>
              <a:rPr sz="2000" spc="-100" dirty="0">
                <a:latin typeface="Arial"/>
                <a:cs typeface="Arial"/>
              </a:rPr>
              <a:t>enable </a:t>
            </a:r>
            <a:r>
              <a:rPr sz="2000" spc="-320" dirty="0">
                <a:latin typeface="Arial"/>
                <a:cs typeface="Arial"/>
              </a:rPr>
              <a:t>PHP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80" dirty="0">
                <a:latin typeface="Arial"/>
                <a:cs typeface="Arial"/>
              </a:rPr>
              <a:t>store </a:t>
            </a:r>
            <a:r>
              <a:rPr sz="2000" spc="-114" dirty="0">
                <a:latin typeface="Arial"/>
                <a:cs typeface="Arial"/>
              </a:rPr>
              <a:t>user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75" dirty="0">
                <a:latin typeface="Arial"/>
                <a:cs typeface="Arial"/>
              </a:rPr>
              <a:t>on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3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server</a:t>
            </a:r>
            <a:endParaRPr sz="2000" dirty="0">
              <a:latin typeface="Arial"/>
              <a:cs typeface="Arial"/>
            </a:endParaRPr>
          </a:p>
          <a:p>
            <a:pPr marL="355600" marR="67183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95" dirty="0">
                <a:latin typeface="Arial"/>
                <a:cs typeface="Arial"/>
              </a:rPr>
              <a:t>HTTP </a:t>
            </a:r>
            <a:r>
              <a:rPr sz="2000" spc="-125" dirty="0">
                <a:latin typeface="Arial"/>
                <a:cs typeface="Arial"/>
              </a:rPr>
              <a:t>is </a:t>
            </a:r>
            <a:r>
              <a:rPr sz="2000" spc="-105" dirty="0">
                <a:latin typeface="Arial"/>
                <a:cs typeface="Arial"/>
              </a:rPr>
              <a:t>considered </a:t>
            </a:r>
            <a:r>
              <a:rPr sz="2000" spc="-225" dirty="0">
                <a:latin typeface="Arial"/>
                <a:cs typeface="Arial"/>
              </a:rPr>
              <a:t>as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stateless </a:t>
            </a:r>
            <a:r>
              <a:rPr sz="2000" spc="-50" dirty="0">
                <a:latin typeface="Arial"/>
                <a:cs typeface="Arial"/>
              </a:rPr>
              <a:t>protocol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125" dirty="0">
                <a:latin typeface="Arial"/>
                <a:cs typeface="Arial"/>
              </a:rPr>
              <a:t>enables </a:t>
            </a:r>
            <a:r>
              <a:rPr sz="2000" spc="-145" dirty="0">
                <a:latin typeface="Arial"/>
                <a:cs typeface="Arial"/>
              </a:rPr>
              <a:t>Web  </a:t>
            </a:r>
            <a:r>
              <a:rPr sz="2000" spc="-110" dirty="0">
                <a:latin typeface="Arial"/>
                <a:cs typeface="Arial"/>
              </a:rPr>
              <a:t>browsers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95" dirty="0">
                <a:latin typeface="Arial"/>
                <a:cs typeface="Arial"/>
              </a:rPr>
              <a:t>communicate </a:t>
            </a:r>
            <a:r>
              <a:rPr sz="2000" spc="15" dirty="0">
                <a:latin typeface="Arial"/>
                <a:cs typeface="Arial"/>
              </a:rPr>
              <a:t>with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47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30" dirty="0">
                <a:latin typeface="Arial"/>
                <a:cs typeface="Arial"/>
              </a:rPr>
              <a:t>servers</a:t>
            </a:r>
            <a:endParaRPr sz="2000" dirty="0">
              <a:latin typeface="Arial"/>
              <a:cs typeface="Arial"/>
            </a:endParaRPr>
          </a:p>
          <a:p>
            <a:pPr marL="355600" marR="17145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90" dirty="0">
                <a:latin typeface="Arial"/>
                <a:cs typeface="Arial"/>
              </a:rPr>
              <a:t>Session </a:t>
            </a:r>
            <a:r>
              <a:rPr sz="2000" spc="-90" dirty="0">
                <a:latin typeface="Arial"/>
                <a:cs typeface="Arial"/>
              </a:rPr>
              <a:t>refers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total </a:t>
            </a:r>
            <a:r>
              <a:rPr sz="2000" spc="-20" dirty="0">
                <a:latin typeface="Arial"/>
                <a:cs typeface="Arial"/>
              </a:rPr>
              <a:t>time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14" dirty="0">
                <a:latin typeface="Arial"/>
                <a:cs typeface="Arial"/>
              </a:rPr>
              <a:t>user </a:t>
            </a:r>
            <a:r>
              <a:rPr sz="2000" spc="-204" dirty="0">
                <a:latin typeface="Arial"/>
                <a:cs typeface="Arial"/>
              </a:rPr>
              <a:t>accesses </a:t>
            </a:r>
            <a:r>
              <a:rPr sz="2000" spc="-35" dirty="0">
                <a:latin typeface="Arial"/>
                <a:cs typeface="Arial"/>
              </a:rPr>
              <a:t>information</a:t>
            </a:r>
            <a:r>
              <a:rPr sz="2000" spc="-46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on </a:t>
            </a:r>
            <a:r>
              <a:rPr sz="2000" spc="-190" dirty="0">
                <a:latin typeface="Arial"/>
                <a:cs typeface="Arial"/>
              </a:rPr>
              <a:t>a  </a:t>
            </a:r>
            <a:r>
              <a:rPr sz="2000" spc="-45" dirty="0">
                <a:latin typeface="Arial"/>
                <a:cs typeface="Arial"/>
              </a:rPr>
              <a:t>particular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70" dirty="0">
                <a:latin typeface="Arial"/>
                <a:cs typeface="Arial"/>
              </a:rPr>
              <a:t>site </a:t>
            </a:r>
            <a:r>
              <a:rPr sz="2000" spc="-75" dirty="0">
                <a:latin typeface="Arial"/>
                <a:cs typeface="Arial"/>
              </a:rPr>
              <a:t>before </a:t>
            </a:r>
            <a:r>
              <a:rPr sz="2000" spc="-65" dirty="0">
                <a:latin typeface="Arial"/>
                <a:cs typeface="Arial"/>
              </a:rPr>
              <a:t>exiting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</a:t>
            </a:r>
            <a:r>
              <a:rPr sz="2000" spc="-46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site</a:t>
            </a:r>
            <a:endParaRPr sz="2000" dirty="0">
              <a:latin typeface="Arial"/>
              <a:cs typeface="Arial"/>
            </a:endParaRPr>
          </a:p>
          <a:p>
            <a:pPr marL="355600" marR="909955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15" dirty="0">
                <a:latin typeface="Arial"/>
                <a:cs typeface="Arial"/>
              </a:rPr>
              <a:t>A </a:t>
            </a:r>
            <a:r>
              <a:rPr sz="2000" spc="-325" dirty="0">
                <a:latin typeface="Arial"/>
                <a:cs typeface="Arial"/>
              </a:rPr>
              <a:t>PHP </a:t>
            </a:r>
            <a:r>
              <a:rPr sz="2000" spc="-60" dirty="0">
                <a:latin typeface="Arial"/>
                <a:cs typeface="Arial"/>
              </a:rPr>
              <a:t>script </a:t>
            </a:r>
            <a:r>
              <a:rPr sz="2000" spc="-155" dirty="0">
                <a:latin typeface="Arial"/>
                <a:cs typeface="Arial"/>
              </a:rPr>
              <a:t>can </a:t>
            </a:r>
            <a:r>
              <a:rPr sz="2000" spc="-204" dirty="0">
                <a:latin typeface="Arial"/>
                <a:cs typeface="Arial"/>
              </a:rPr>
              <a:t>access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160" dirty="0">
                <a:latin typeface="Arial"/>
                <a:cs typeface="Arial"/>
              </a:rPr>
              <a:t>ID </a:t>
            </a:r>
            <a:r>
              <a:rPr sz="2000" spc="-75" dirty="0">
                <a:latin typeface="Arial"/>
                <a:cs typeface="Arial"/>
              </a:rPr>
              <a:t>when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14" dirty="0">
                <a:latin typeface="Arial"/>
                <a:cs typeface="Arial"/>
              </a:rPr>
              <a:t>user  </a:t>
            </a:r>
            <a:r>
              <a:rPr sz="2000" spc="-125" dirty="0">
                <a:latin typeface="Arial"/>
                <a:cs typeface="Arial"/>
              </a:rPr>
              <a:t>enables </a:t>
            </a:r>
            <a:r>
              <a:rPr sz="2000" spc="-20" dirty="0">
                <a:latin typeface="Arial"/>
                <a:cs typeface="Arial"/>
              </a:rPr>
              <a:t>or </a:t>
            </a:r>
            <a:r>
              <a:rPr sz="2000" spc="-125" dirty="0">
                <a:latin typeface="Arial"/>
                <a:cs typeface="Arial"/>
              </a:rPr>
              <a:t>disables</a:t>
            </a:r>
            <a:r>
              <a:rPr sz="2000" spc="-24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cookies</a:t>
            </a:r>
            <a:endParaRPr sz="2000" dirty="0">
              <a:latin typeface="Arial"/>
              <a:cs typeface="Arial"/>
            </a:endParaRPr>
          </a:p>
          <a:p>
            <a:pPr marL="355600" marR="74549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three </a:t>
            </a:r>
            <a:r>
              <a:rPr sz="2000" spc="-165" dirty="0">
                <a:latin typeface="Arial"/>
                <a:cs typeface="Arial"/>
              </a:rPr>
              <a:t>stages </a:t>
            </a:r>
            <a:r>
              <a:rPr sz="2000" spc="-30" dirty="0">
                <a:latin typeface="Arial"/>
                <a:cs typeface="Arial"/>
              </a:rPr>
              <a:t>in the </a:t>
            </a:r>
            <a:r>
              <a:rPr sz="2000" spc="-25" dirty="0">
                <a:latin typeface="Arial"/>
                <a:cs typeface="Arial"/>
              </a:rPr>
              <a:t>life </a:t>
            </a:r>
            <a:r>
              <a:rPr sz="2000" spc="-130" dirty="0">
                <a:latin typeface="Arial"/>
                <a:cs typeface="Arial"/>
              </a:rPr>
              <a:t>cycle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85" dirty="0">
                <a:latin typeface="Arial"/>
                <a:cs typeface="Arial"/>
              </a:rPr>
              <a:t>are: </a:t>
            </a:r>
            <a:r>
              <a:rPr sz="2000" spc="-60" dirty="0">
                <a:latin typeface="Arial"/>
                <a:cs typeface="Arial"/>
              </a:rPr>
              <a:t>starting </a:t>
            </a:r>
            <a:r>
              <a:rPr sz="2000" spc="-190" dirty="0">
                <a:latin typeface="Arial"/>
                <a:cs typeface="Arial"/>
              </a:rPr>
              <a:t>a  </a:t>
            </a:r>
            <a:r>
              <a:rPr sz="2000" spc="-145" dirty="0">
                <a:latin typeface="Arial"/>
                <a:cs typeface="Arial"/>
              </a:rPr>
              <a:t>session, </a:t>
            </a:r>
            <a:r>
              <a:rPr sz="2000" spc="-80" dirty="0">
                <a:latin typeface="Arial"/>
                <a:cs typeface="Arial"/>
              </a:rPr>
              <a:t>registering 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155" dirty="0">
                <a:latin typeface="Arial"/>
                <a:cs typeface="Arial"/>
              </a:rPr>
              <a:t>session </a:t>
            </a:r>
            <a:r>
              <a:rPr sz="2000" spc="-85" dirty="0">
                <a:latin typeface="Arial"/>
                <a:cs typeface="Arial"/>
              </a:rPr>
              <a:t>variable,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95" dirty="0">
                <a:latin typeface="Arial"/>
                <a:cs typeface="Arial"/>
              </a:rPr>
              <a:t>ending </a:t>
            </a:r>
            <a:r>
              <a:rPr sz="2000" spc="-190" dirty="0">
                <a:latin typeface="Arial"/>
                <a:cs typeface="Arial"/>
              </a:rPr>
              <a:t>a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session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460</TotalTime>
  <Words>3177</Words>
  <Application>Microsoft Office PowerPoint</Application>
  <PresentationFormat>On-screen Show (4:3)</PresentationFormat>
  <Paragraphs>353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Courier New</vt:lpstr>
      <vt:lpstr>Impact</vt:lpstr>
      <vt:lpstr>Tahoma</vt:lpstr>
      <vt:lpstr>Times New Roman</vt:lpstr>
      <vt:lpstr>Trebuchet MS</vt:lpstr>
      <vt:lpstr>Verdana</vt:lpstr>
      <vt:lpstr>Wingdings</vt:lpstr>
      <vt:lpstr>Main Event</vt:lpstr>
      <vt:lpstr>Session  Management in PHP</vt:lpstr>
      <vt:lpstr>PowerPoint Presentation</vt:lpstr>
      <vt:lpstr>PowerPoint Presentation</vt:lpstr>
      <vt:lpstr>Sessions </vt:lpstr>
      <vt:lpstr>Importance of a Session </vt:lpstr>
      <vt:lpstr>Importance of a Session </vt:lpstr>
      <vt:lpstr>Importance of a Session</vt:lpstr>
      <vt:lpstr>Importance of a Session </vt:lpstr>
      <vt:lpstr>Importance of a Session</vt:lpstr>
      <vt:lpstr>Importance of a Session</vt:lpstr>
      <vt:lpstr>Importance of a Session </vt:lpstr>
      <vt:lpstr>Working with Sessions </vt:lpstr>
      <vt:lpstr>Working with Sessions</vt:lpstr>
      <vt:lpstr>Working with Sessions</vt:lpstr>
      <vt:lpstr>Working with Sessions</vt:lpstr>
      <vt:lpstr>PowerPoint Presentation</vt:lpstr>
      <vt:lpstr>Starting the Session </vt:lpstr>
      <vt:lpstr>Starting the Session</vt:lpstr>
      <vt:lpstr>Starting the Session</vt:lpstr>
      <vt:lpstr>Starting the Session </vt:lpstr>
      <vt:lpstr>Registering the Session Variable </vt:lpstr>
      <vt:lpstr>Registering the Session Variable </vt:lpstr>
      <vt:lpstr>Registering the Session Variable</vt:lpstr>
      <vt:lpstr>Registering the Session Variable</vt:lpstr>
      <vt:lpstr>Registering the Session Variable</vt:lpstr>
      <vt:lpstr>PowerPoint Presentation</vt:lpstr>
      <vt:lpstr>Ending the Session</vt:lpstr>
      <vt:lpstr>Ending the Session</vt:lpstr>
      <vt:lpstr>Ending the Session</vt:lpstr>
      <vt:lpstr>Ending the Session </vt:lpstr>
      <vt:lpstr>Ending the Session </vt:lpstr>
      <vt:lpstr>Working with the php.ini File</vt:lpstr>
      <vt:lpstr>Working with the php.ini File</vt:lpstr>
      <vt:lpstr>Working with the php.ini File</vt:lpstr>
      <vt:lpstr>Working with the php.ini File</vt:lpstr>
      <vt:lpstr>Working with the php.ini File </vt:lpstr>
      <vt:lpstr>Working with the php.ini File </vt:lpstr>
      <vt:lpstr>Working with the php.ini File </vt:lpstr>
      <vt:lpstr>Working with the php.ini File </vt:lpstr>
      <vt:lpstr>Working with the php.ini File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Momina Wasiq</dc:creator>
  <cp:lastModifiedBy>Aatika</cp:lastModifiedBy>
  <cp:revision>60</cp:revision>
  <dcterms:created xsi:type="dcterms:W3CDTF">2018-09-20T14:50:16Z</dcterms:created>
  <dcterms:modified xsi:type="dcterms:W3CDTF">2020-03-18T11:00:02Z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1033-10.2.0.7456</vt:lpwstr>
  </property>
</Properties>
</file>