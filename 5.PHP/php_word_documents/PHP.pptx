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83"/>
  </p:notesMasterIdLst>
  <p:sldIdLst>
    <p:sldId id="257" r:id="rId2"/>
    <p:sldId id="259" r:id="rId3"/>
    <p:sldId id="260" r:id="rId4"/>
    <p:sldId id="261" r:id="rId5"/>
    <p:sldId id="262" r:id="rId6"/>
    <p:sldId id="263" r:id="rId7"/>
    <p:sldId id="264" r:id="rId8"/>
    <p:sldId id="265" r:id="rId9"/>
    <p:sldId id="266" r:id="rId10"/>
    <p:sldId id="267" r:id="rId11"/>
    <p:sldId id="268" r:id="rId12"/>
    <p:sldId id="277" r:id="rId13"/>
    <p:sldId id="285" r:id="rId14"/>
    <p:sldId id="286" r:id="rId15"/>
    <p:sldId id="287" r:id="rId16"/>
    <p:sldId id="288" r:id="rId17"/>
    <p:sldId id="289" r:id="rId18"/>
    <p:sldId id="290" r:id="rId19"/>
    <p:sldId id="291" r:id="rId20"/>
    <p:sldId id="292" r:id="rId21"/>
    <p:sldId id="293" r:id="rId22"/>
    <p:sldId id="278" r:id="rId23"/>
    <p:sldId id="279" r:id="rId24"/>
    <p:sldId id="280" r:id="rId25"/>
    <p:sldId id="281" r:id="rId26"/>
    <p:sldId id="282" r:id="rId27"/>
    <p:sldId id="283" r:id="rId28"/>
    <p:sldId id="284" r:id="rId29"/>
    <p:sldId id="298" r:id="rId30"/>
    <p:sldId id="299" r:id="rId31"/>
    <p:sldId id="296" r:id="rId32"/>
    <p:sldId id="297" r:id="rId33"/>
    <p:sldId id="301" r:id="rId34"/>
    <p:sldId id="302" r:id="rId35"/>
    <p:sldId id="303" r:id="rId36"/>
    <p:sldId id="304" r:id="rId37"/>
    <p:sldId id="305" r:id="rId38"/>
    <p:sldId id="306" r:id="rId39"/>
    <p:sldId id="307" r:id="rId40"/>
    <p:sldId id="308" r:id="rId41"/>
    <p:sldId id="309" r:id="rId42"/>
    <p:sldId id="310" r:id="rId43"/>
    <p:sldId id="311" r:id="rId44"/>
    <p:sldId id="312" r:id="rId45"/>
    <p:sldId id="313" r:id="rId46"/>
    <p:sldId id="314" r:id="rId47"/>
    <p:sldId id="315" r:id="rId48"/>
    <p:sldId id="316" r:id="rId49"/>
    <p:sldId id="317" r:id="rId50"/>
    <p:sldId id="318" r:id="rId51"/>
    <p:sldId id="319" r:id="rId52"/>
    <p:sldId id="320" r:id="rId53"/>
    <p:sldId id="321" r:id="rId54"/>
    <p:sldId id="322" r:id="rId55"/>
    <p:sldId id="324" r:id="rId56"/>
    <p:sldId id="326" r:id="rId57"/>
    <p:sldId id="327" r:id="rId58"/>
    <p:sldId id="328" r:id="rId59"/>
    <p:sldId id="329" r:id="rId60"/>
    <p:sldId id="330" r:id="rId61"/>
    <p:sldId id="331" r:id="rId62"/>
    <p:sldId id="333" r:id="rId63"/>
    <p:sldId id="334" r:id="rId64"/>
    <p:sldId id="335" r:id="rId65"/>
    <p:sldId id="336" r:id="rId66"/>
    <p:sldId id="337" r:id="rId67"/>
    <p:sldId id="338" r:id="rId68"/>
    <p:sldId id="339" r:id="rId69"/>
    <p:sldId id="342" r:id="rId70"/>
    <p:sldId id="343" r:id="rId71"/>
    <p:sldId id="344" r:id="rId72"/>
    <p:sldId id="345" r:id="rId73"/>
    <p:sldId id="346" r:id="rId74"/>
    <p:sldId id="347" r:id="rId75"/>
    <p:sldId id="348" r:id="rId76"/>
    <p:sldId id="349" r:id="rId77"/>
    <p:sldId id="350" r:id="rId78"/>
    <p:sldId id="351" r:id="rId79"/>
    <p:sldId id="352" r:id="rId80"/>
    <p:sldId id="353" r:id="rId81"/>
    <p:sldId id="354" r:id="rId8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5" d="100"/>
          <a:sy n="85" d="100"/>
        </p:scale>
        <p:origin x="1152"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9437E8-E0B3-45CA-9E23-E636B350B0FF}" type="datetimeFigureOut">
              <a:rPr lang="en-US" smtClean="0"/>
              <a:t>8/26/2024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ECF8E7-38EF-4816-906E-8CFAB81187C2}" type="slidenum">
              <a:rPr lang="en-US" smtClean="0"/>
              <a:t>‹#›</a:t>
            </a:fld>
            <a:endParaRPr lang="en-US"/>
          </a:p>
        </p:txBody>
      </p:sp>
    </p:spTree>
    <p:extLst>
      <p:ext uri="{BB962C8B-B14F-4D97-AF65-F5344CB8AC3E}">
        <p14:creationId xmlns:p14="http://schemas.microsoft.com/office/powerpoint/2010/main" val="3409978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Date Placeholder 4"/>
          <p:cNvSpPr>
            <a:spLocks noGrp="1"/>
          </p:cNvSpPr>
          <p:nvPr>
            <p:ph type="dt"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525579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F55F8CB-8BDB-43AA-96AD-5E34AC49A418}"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3FBE46-D206-40BD-801A-5F3D1E55A75C}" type="slidenum">
              <a:rPr lang="en-US" smtClean="0"/>
              <a:t>‹#›</a:t>
            </a:fld>
            <a:endParaRPr lang="en-US"/>
          </a:p>
        </p:txBody>
      </p:sp>
    </p:spTree>
    <p:extLst>
      <p:ext uri="{BB962C8B-B14F-4D97-AF65-F5344CB8AC3E}">
        <p14:creationId xmlns:p14="http://schemas.microsoft.com/office/powerpoint/2010/main" val="1962628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55F8CB-8BDB-43AA-96AD-5E34AC49A418}"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3FBE46-D206-40BD-801A-5F3D1E55A75C}" type="slidenum">
              <a:rPr lang="en-US" smtClean="0"/>
              <a:t>‹#›</a:t>
            </a:fld>
            <a:endParaRPr lang="en-US"/>
          </a:p>
        </p:txBody>
      </p:sp>
    </p:spTree>
    <p:extLst>
      <p:ext uri="{BB962C8B-B14F-4D97-AF65-F5344CB8AC3E}">
        <p14:creationId xmlns:p14="http://schemas.microsoft.com/office/powerpoint/2010/main" val="3099674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55F8CB-8BDB-43AA-96AD-5E34AC49A418}"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3FBE46-D206-40BD-801A-5F3D1E55A75C}" type="slidenum">
              <a:rPr lang="en-US" smtClean="0"/>
              <a:t>‹#›</a:t>
            </a:fld>
            <a:endParaRPr lang="en-US"/>
          </a:p>
        </p:txBody>
      </p:sp>
    </p:spTree>
    <p:extLst>
      <p:ext uri="{BB962C8B-B14F-4D97-AF65-F5344CB8AC3E}">
        <p14:creationId xmlns:p14="http://schemas.microsoft.com/office/powerpoint/2010/main" val="1448665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F55F8CB-8BDB-43AA-96AD-5E34AC49A418}" type="datetimeFigureOut">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3FBE46-D206-40BD-801A-5F3D1E55A75C}" type="slidenum">
              <a:rPr lang="en-US" smtClean="0"/>
              <a:t>‹#›</a:t>
            </a:fld>
            <a:endParaRPr lang="en-US"/>
          </a:p>
        </p:txBody>
      </p:sp>
    </p:spTree>
    <p:extLst>
      <p:ext uri="{BB962C8B-B14F-4D97-AF65-F5344CB8AC3E}">
        <p14:creationId xmlns:p14="http://schemas.microsoft.com/office/powerpoint/2010/main" val="1157666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F55F8CB-8BDB-43AA-96AD-5E34AC49A418}" type="datetimeFigureOut">
              <a:rPr lang="en-US" smtClean="0"/>
              <a:t>8/26/2024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93FBE46-D206-40BD-801A-5F3D1E55A75C}" type="slidenum">
              <a:rPr lang="en-US" smtClean="0"/>
              <a:t>‹#›</a:t>
            </a:fld>
            <a:endParaRPr lang="en-US"/>
          </a:p>
        </p:txBody>
      </p:sp>
    </p:spTree>
    <p:extLst>
      <p:ext uri="{BB962C8B-B14F-4D97-AF65-F5344CB8AC3E}">
        <p14:creationId xmlns:p14="http://schemas.microsoft.com/office/powerpoint/2010/main" val="553716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F55F8CB-8BDB-43AA-96AD-5E34AC49A418}" type="datetimeFigureOut">
              <a:rPr lang="en-US" smtClean="0"/>
              <a:t>8/26/2024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93FBE46-D206-40BD-801A-5F3D1E55A75C}" type="slidenum">
              <a:rPr lang="en-US" smtClean="0"/>
              <a:t>‹#›</a:t>
            </a:fld>
            <a:endParaRPr lang="en-US"/>
          </a:p>
        </p:txBody>
      </p:sp>
    </p:spTree>
    <p:extLst>
      <p:ext uri="{BB962C8B-B14F-4D97-AF65-F5344CB8AC3E}">
        <p14:creationId xmlns:p14="http://schemas.microsoft.com/office/powerpoint/2010/main" val="1558394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55F8CB-8BDB-43AA-96AD-5E34AC49A418}" type="datetimeFigureOut">
              <a:rPr lang="en-US" smtClean="0"/>
              <a:t>8/26/2024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93FBE46-D206-40BD-801A-5F3D1E55A75C}" type="slidenum">
              <a:rPr lang="en-US" smtClean="0"/>
              <a:t>‹#›</a:t>
            </a:fld>
            <a:endParaRPr lang="en-US"/>
          </a:p>
        </p:txBody>
      </p:sp>
    </p:spTree>
    <p:extLst>
      <p:ext uri="{BB962C8B-B14F-4D97-AF65-F5344CB8AC3E}">
        <p14:creationId xmlns:p14="http://schemas.microsoft.com/office/powerpoint/2010/main" val="235640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F55F8CB-8BDB-43AA-96AD-5E34AC49A418}" type="datetimeFigureOut">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3FBE46-D206-40BD-801A-5F3D1E55A75C}" type="slidenum">
              <a:rPr lang="en-US" smtClean="0"/>
              <a:t>‹#›</a:t>
            </a:fld>
            <a:endParaRPr lang="en-US"/>
          </a:p>
        </p:txBody>
      </p:sp>
    </p:spTree>
    <p:extLst>
      <p:ext uri="{BB962C8B-B14F-4D97-AF65-F5344CB8AC3E}">
        <p14:creationId xmlns:p14="http://schemas.microsoft.com/office/powerpoint/2010/main" val="1211841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55F8CB-8BDB-43AA-96AD-5E34AC49A418}" type="datetimeFigureOut">
              <a:rPr lang="en-US" smtClean="0"/>
              <a:t>8/26/2024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3FBE46-D206-40BD-801A-5F3D1E55A75C}" type="slidenum">
              <a:rPr lang="en-US" smtClean="0"/>
              <a:t>‹#›</a:t>
            </a:fld>
            <a:endParaRPr lang="en-US"/>
          </a:p>
        </p:txBody>
      </p:sp>
    </p:spTree>
    <p:extLst>
      <p:ext uri="{BB962C8B-B14F-4D97-AF65-F5344CB8AC3E}">
        <p14:creationId xmlns:p14="http://schemas.microsoft.com/office/powerpoint/2010/main" val="2244655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55F8CB-8BDB-43AA-96AD-5E34AC49A418}"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3FBE46-D206-40BD-801A-5F3D1E55A75C}" type="slidenum">
              <a:rPr lang="en-US" smtClean="0"/>
              <a:t>‹#›</a:t>
            </a:fld>
            <a:endParaRPr lang="en-US"/>
          </a:p>
        </p:txBody>
      </p:sp>
    </p:spTree>
    <p:extLst>
      <p:ext uri="{BB962C8B-B14F-4D97-AF65-F5344CB8AC3E}">
        <p14:creationId xmlns:p14="http://schemas.microsoft.com/office/powerpoint/2010/main" val="2971909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55F8CB-8BDB-43AA-96AD-5E34AC49A418}"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3FBE46-D206-40BD-801A-5F3D1E55A75C}"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91910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55F8CB-8BDB-43AA-96AD-5E34AC49A418}"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3FBE46-D206-40BD-801A-5F3D1E55A75C}" type="slidenum">
              <a:rPr lang="en-US" smtClean="0"/>
              <a:t>‹#›</a:t>
            </a:fld>
            <a:endParaRPr lang="en-US"/>
          </a:p>
        </p:txBody>
      </p:sp>
    </p:spTree>
    <p:extLst>
      <p:ext uri="{BB962C8B-B14F-4D97-AF65-F5344CB8AC3E}">
        <p14:creationId xmlns:p14="http://schemas.microsoft.com/office/powerpoint/2010/main" val="17641597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55F8CB-8BDB-43AA-96AD-5E34AC49A418}"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3FBE46-D206-40BD-801A-5F3D1E55A75C}"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83591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55F8CB-8BDB-43AA-96AD-5E34AC49A418}"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3FBE46-D206-40BD-801A-5F3D1E55A75C}" type="slidenum">
              <a:rPr lang="en-US" smtClean="0"/>
              <a:t>‹#›</a:t>
            </a:fld>
            <a:endParaRPr lang="en-US"/>
          </a:p>
        </p:txBody>
      </p:sp>
    </p:spTree>
    <p:extLst>
      <p:ext uri="{BB962C8B-B14F-4D97-AF65-F5344CB8AC3E}">
        <p14:creationId xmlns:p14="http://schemas.microsoft.com/office/powerpoint/2010/main" val="34622724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55F8CB-8BDB-43AA-96AD-5E34AC49A418}"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3FBE46-D206-40BD-801A-5F3D1E55A75C}" type="slidenum">
              <a:rPr lang="en-US" smtClean="0"/>
              <a:t>‹#›</a:t>
            </a:fld>
            <a:endParaRPr lang="en-US"/>
          </a:p>
        </p:txBody>
      </p:sp>
    </p:spTree>
    <p:extLst>
      <p:ext uri="{BB962C8B-B14F-4D97-AF65-F5344CB8AC3E}">
        <p14:creationId xmlns:p14="http://schemas.microsoft.com/office/powerpoint/2010/main" val="12081587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55F8CB-8BDB-43AA-96AD-5E34AC49A418}" type="datetimeFigureOut">
              <a:rPr lang="en-US" smtClean="0"/>
              <a:t>8/26/2024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3FBE46-D206-40BD-801A-5F3D1E55A75C}" type="slidenum">
              <a:rPr lang="en-US" smtClean="0"/>
              <a:t>‹#›</a:t>
            </a:fld>
            <a:endParaRPr lang="en-US"/>
          </a:p>
        </p:txBody>
      </p:sp>
    </p:spTree>
    <p:extLst>
      <p:ext uri="{BB962C8B-B14F-4D97-AF65-F5344CB8AC3E}">
        <p14:creationId xmlns:p14="http://schemas.microsoft.com/office/powerpoint/2010/main" val="1752406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F55F8CB-8BDB-43AA-96AD-5E34AC49A418}" type="datetimeFigureOut">
              <a:rPr lang="en-US" smtClean="0"/>
              <a:t>8/26/2024</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93FBE46-D206-40BD-801A-5F3D1E55A75C}" type="slidenum">
              <a:rPr lang="en-US" smtClean="0"/>
              <a:t>‹#›</a:t>
            </a:fld>
            <a:endParaRPr lang="en-US"/>
          </a:p>
        </p:txBody>
      </p:sp>
    </p:spTree>
    <p:extLst>
      <p:ext uri="{BB962C8B-B14F-4D97-AF65-F5344CB8AC3E}">
        <p14:creationId xmlns:p14="http://schemas.microsoft.com/office/powerpoint/2010/main" val="2906964902"/>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php.ne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www.tutorialrepublic.com/sql-tutorial/sql-injection.php"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621FF-1364-DFDE-1BCF-F43B1A4A1D05}"/>
              </a:ext>
            </a:extLst>
          </p:cNvPr>
          <p:cNvSpPr>
            <a:spLocks noGrp="1"/>
          </p:cNvSpPr>
          <p:nvPr>
            <p:ph type="ctrTitle"/>
          </p:nvPr>
        </p:nvSpPr>
        <p:spPr/>
        <p:txBody>
          <a:bodyPr/>
          <a:lstStyle/>
          <a:p>
            <a:r>
              <a:rPr lang="en-US" dirty="0"/>
              <a:t>PHP</a:t>
            </a:r>
          </a:p>
        </p:txBody>
      </p:sp>
      <p:sp>
        <p:nvSpPr>
          <p:cNvPr id="3" name="Subtitle 2">
            <a:extLst>
              <a:ext uri="{FF2B5EF4-FFF2-40B4-BE49-F238E27FC236}">
                <a16:creationId xmlns:a16="http://schemas.microsoft.com/office/drawing/2014/main" id="{7B245325-6E17-141C-986D-EBF170AAE7F6}"/>
              </a:ext>
            </a:extLst>
          </p:cNvPr>
          <p:cNvSpPr>
            <a:spLocks noGrp="1"/>
          </p:cNvSpPr>
          <p:nvPr>
            <p:ph type="subTitle" idx="1"/>
          </p:nvPr>
        </p:nvSpPr>
        <p:spPr/>
        <p:txBody>
          <a:bodyPr/>
          <a:lstStyle/>
          <a:p>
            <a:r>
              <a:rPr lang="en-US" dirty="0"/>
              <a:t> PHP: Hypertext Preprocessor</a:t>
            </a:r>
          </a:p>
        </p:txBody>
      </p:sp>
    </p:spTree>
    <p:extLst>
      <p:ext uri="{BB962C8B-B14F-4D97-AF65-F5344CB8AC3E}">
        <p14:creationId xmlns:p14="http://schemas.microsoft.com/office/powerpoint/2010/main" val="207476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Server-side Technologies</a:t>
            </a:r>
          </a:p>
        </p:txBody>
      </p:sp>
      <p:sp>
        <p:nvSpPr>
          <p:cNvPr id="5" name="Content Placeholder 4"/>
          <p:cNvSpPr>
            <a:spLocks noGrp="1"/>
          </p:cNvSpPr>
          <p:nvPr>
            <p:ph idx="1"/>
          </p:nvPr>
        </p:nvSpPr>
        <p:spPr/>
        <p:txBody>
          <a:bodyPr/>
          <a:lstStyle/>
          <a:p>
            <a:r>
              <a:rPr lang="en-US" dirty="0"/>
              <a:t>Server-side technologies are the software components and frameworks that run on the server-side of web applications. </a:t>
            </a:r>
          </a:p>
          <a:p>
            <a:r>
              <a:rPr lang="en-US" dirty="0"/>
              <a:t>These technologies handle the processing and logic behind the scenes, interacting with databases, managing user sessions, and generating dynamic content to be sent to the client's web browser.</a:t>
            </a:r>
          </a:p>
        </p:txBody>
      </p:sp>
    </p:spTree>
    <p:extLst>
      <p:ext uri="{BB962C8B-B14F-4D97-AF65-F5344CB8AC3E}">
        <p14:creationId xmlns:p14="http://schemas.microsoft.com/office/powerpoint/2010/main" val="3626617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88912"/>
            <a:ext cx="5255260" cy="690574"/>
          </a:xfrm>
          <a:prstGeom prst="rect">
            <a:avLst/>
          </a:prstGeom>
        </p:spPr>
        <p:txBody>
          <a:bodyPr vert="horz" wrap="square" lIns="0" tIns="13335" rIns="0" bIns="0" rtlCol="0">
            <a:spAutoFit/>
          </a:bodyPr>
          <a:lstStyle/>
          <a:p>
            <a:pPr marL="12700" algn="l">
              <a:lnSpc>
                <a:spcPct val="100000"/>
              </a:lnSpc>
              <a:spcBef>
                <a:spcPts val="105"/>
              </a:spcBef>
            </a:pPr>
            <a:r>
              <a:rPr dirty="0"/>
              <a:t>What is</a:t>
            </a:r>
            <a:r>
              <a:rPr spc="-95" dirty="0"/>
              <a:t> </a:t>
            </a:r>
            <a:r>
              <a:rPr dirty="0"/>
              <a:t>PHP?</a:t>
            </a:r>
          </a:p>
        </p:txBody>
      </p:sp>
      <p:sp>
        <p:nvSpPr>
          <p:cNvPr id="3" name="object 3"/>
          <p:cNvSpPr txBox="1"/>
          <p:nvPr/>
        </p:nvSpPr>
        <p:spPr>
          <a:xfrm>
            <a:off x="535940" y="1447800"/>
            <a:ext cx="8074660" cy="2397451"/>
          </a:xfrm>
          <a:prstGeom prst="rect">
            <a:avLst/>
          </a:prstGeom>
        </p:spPr>
        <p:txBody>
          <a:bodyPr vert="horz" wrap="square" lIns="0" tIns="88265" rIns="0" bIns="0" rtlCol="0">
            <a:spAutoFit/>
          </a:bodyPr>
          <a:lstStyle/>
          <a:p>
            <a:pPr marL="469900" indent="-457200">
              <a:lnSpc>
                <a:spcPct val="100000"/>
              </a:lnSpc>
              <a:spcBef>
                <a:spcPts val="695"/>
              </a:spcBef>
              <a:buClr>
                <a:srgbClr val="717BA2"/>
              </a:buClr>
              <a:buSzPct val="75000"/>
              <a:buFont typeface="Arial" panose="020B0604020202020204" pitchFamily="34" charset="0"/>
              <a:buChar char="•"/>
              <a:tabLst>
                <a:tab pos="286385" algn="l"/>
                <a:tab pos="287020" algn="l"/>
              </a:tabLst>
            </a:pPr>
            <a:r>
              <a:rPr sz="2600" dirty="0">
                <a:latin typeface="+mj-lt"/>
                <a:cs typeface="Arial"/>
              </a:rPr>
              <a:t>PHP stands for </a:t>
            </a:r>
            <a:r>
              <a:rPr sz="2600" b="1" dirty="0">
                <a:latin typeface="+mj-lt"/>
                <a:cs typeface="Arial"/>
              </a:rPr>
              <a:t>P</a:t>
            </a:r>
            <a:r>
              <a:rPr sz="2600" dirty="0">
                <a:latin typeface="+mj-lt"/>
                <a:cs typeface="Arial"/>
              </a:rPr>
              <a:t>HP: </a:t>
            </a:r>
            <a:r>
              <a:rPr sz="2600" b="1" dirty="0">
                <a:latin typeface="+mj-lt"/>
                <a:cs typeface="Arial"/>
              </a:rPr>
              <a:t>H</a:t>
            </a:r>
            <a:r>
              <a:rPr sz="2600" dirty="0">
                <a:latin typeface="+mj-lt"/>
                <a:cs typeface="Arial"/>
              </a:rPr>
              <a:t>ypertext</a:t>
            </a:r>
            <a:r>
              <a:rPr sz="2600" spc="-80" dirty="0">
                <a:latin typeface="+mj-lt"/>
                <a:cs typeface="Arial"/>
              </a:rPr>
              <a:t> </a:t>
            </a:r>
            <a:r>
              <a:rPr sz="2600" b="1" dirty="0">
                <a:latin typeface="+mj-lt"/>
                <a:cs typeface="Arial"/>
              </a:rPr>
              <a:t>P</a:t>
            </a:r>
            <a:r>
              <a:rPr sz="2600" dirty="0">
                <a:latin typeface="+mj-lt"/>
                <a:cs typeface="Arial"/>
              </a:rPr>
              <a:t>reprocessor</a:t>
            </a:r>
          </a:p>
          <a:p>
            <a:pPr marL="469265" marR="210820" indent="-457200">
              <a:lnSpc>
                <a:spcPct val="100000"/>
              </a:lnSpc>
              <a:spcBef>
                <a:spcPts val="600"/>
              </a:spcBef>
              <a:buClr>
                <a:srgbClr val="717BA2"/>
              </a:buClr>
              <a:buSzPct val="75000"/>
              <a:buFont typeface="Arial" panose="020B0604020202020204" pitchFamily="34" charset="0"/>
              <a:buChar char="•"/>
              <a:tabLst>
                <a:tab pos="286385" algn="l"/>
                <a:tab pos="287020" algn="l"/>
              </a:tabLst>
            </a:pPr>
            <a:r>
              <a:rPr sz="2600" dirty="0">
                <a:latin typeface="+mj-lt"/>
                <a:cs typeface="Arial"/>
              </a:rPr>
              <a:t>PHP is a widely-used, open source</a:t>
            </a:r>
            <a:r>
              <a:rPr sz="2600" spc="-100" dirty="0">
                <a:latin typeface="+mj-lt"/>
                <a:cs typeface="Arial"/>
              </a:rPr>
              <a:t> </a:t>
            </a:r>
            <a:r>
              <a:rPr sz="2600" dirty="0">
                <a:latin typeface="+mj-lt"/>
                <a:cs typeface="Arial"/>
              </a:rPr>
              <a:t>scripting  language</a:t>
            </a:r>
          </a:p>
          <a:p>
            <a:pPr marL="469900" indent="-457200">
              <a:lnSpc>
                <a:spcPct val="100000"/>
              </a:lnSpc>
              <a:spcBef>
                <a:spcPts val="605"/>
              </a:spcBef>
              <a:buClr>
                <a:srgbClr val="717BA2"/>
              </a:buClr>
              <a:buSzPct val="75000"/>
              <a:buFont typeface="Arial" panose="020B0604020202020204" pitchFamily="34" charset="0"/>
              <a:buChar char="•"/>
              <a:tabLst>
                <a:tab pos="286385" algn="l"/>
                <a:tab pos="287020" algn="l"/>
              </a:tabLst>
            </a:pPr>
            <a:r>
              <a:rPr sz="2600" dirty="0">
                <a:latin typeface="+mj-lt"/>
                <a:cs typeface="Arial"/>
              </a:rPr>
              <a:t>PHP scripts are executed on the</a:t>
            </a:r>
            <a:r>
              <a:rPr sz="2600" spc="-95" dirty="0">
                <a:latin typeface="+mj-lt"/>
                <a:cs typeface="Arial"/>
              </a:rPr>
              <a:t> </a:t>
            </a:r>
            <a:r>
              <a:rPr sz="2600" dirty="0">
                <a:latin typeface="+mj-lt"/>
                <a:cs typeface="Arial"/>
              </a:rPr>
              <a:t>server</a:t>
            </a:r>
          </a:p>
          <a:p>
            <a:pPr marL="469900" indent="-457200">
              <a:lnSpc>
                <a:spcPct val="100000"/>
              </a:lnSpc>
              <a:spcBef>
                <a:spcPts val="600"/>
              </a:spcBef>
              <a:buClr>
                <a:srgbClr val="717BA2"/>
              </a:buClr>
              <a:buSzPct val="75000"/>
              <a:buFont typeface="Arial" panose="020B0604020202020204" pitchFamily="34" charset="0"/>
              <a:buChar char="•"/>
              <a:tabLst>
                <a:tab pos="286385" algn="l"/>
                <a:tab pos="287020" algn="l"/>
              </a:tabLst>
            </a:pPr>
            <a:r>
              <a:rPr sz="2600" dirty="0">
                <a:latin typeface="+mj-lt"/>
                <a:cs typeface="Arial"/>
              </a:rPr>
              <a:t>PHP is free to download and</a:t>
            </a:r>
            <a:r>
              <a:rPr sz="2600" spc="-80" dirty="0">
                <a:latin typeface="+mj-lt"/>
                <a:cs typeface="Arial"/>
              </a:rPr>
              <a:t> </a:t>
            </a:r>
            <a:r>
              <a:rPr sz="2600" dirty="0">
                <a:latin typeface="+mj-lt"/>
                <a:cs typeface="Arial"/>
              </a:rPr>
              <a:t>use</a:t>
            </a:r>
            <a:endParaRPr lang="en-US" sz="2600" dirty="0">
              <a:latin typeface="+mj-lt"/>
              <a:cs typeface="Arial"/>
            </a:endParaRPr>
          </a:p>
          <a:p>
            <a:pPr marL="469900" indent="-457200">
              <a:lnSpc>
                <a:spcPct val="100000"/>
              </a:lnSpc>
              <a:spcBef>
                <a:spcPts val="600"/>
              </a:spcBef>
              <a:buClr>
                <a:srgbClr val="717BA2"/>
              </a:buClr>
              <a:buSzPct val="75000"/>
              <a:buFont typeface="Arial" panose="020B0604020202020204" pitchFamily="34" charset="0"/>
              <a:buChar char="•"/>
              <a:tabLst>
                <a:tab pos="286385" algn="l"/>
                <a:tab pos="287020" algn="l"/>
              </a:tabLst>
            </a:pPr>
            <a:r>
              <a:rPr lang="en-US" sz="2600" dirty="0">
                <a:latin typeface="+mj-lt"/>
                <a:cs typeface="Arial"/>
              </a:rPr>
              <a:t>Current version of php is 8.3</a:t>
            </a:r>
            <a:endParaRPr sz="2600" dirty="0">
              <a:latin typeface="+mj-lt"/>
              <a:cs typeface="Arial"/>
            </a:endParaRPr>
          </a:p>
        </p:txBody>
      </p:sp>
    </p:spTree>
    <p:extLst>
      <p:ext uri="{BB962C8B-B14F-4D97-AF65-F5344CB8AC3E}">
        <p14:creationId xmlns:p14="http://schemas.microsoft.com/office/powerpoint/2010/main" val="1997542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88912"/>
            <a:ext cx="5712460" cy="690574"/>
          </a:xfrm>
          <a:prstGeom prst="rect">
            <a:avLst/>
          </a:prstGeom>
        </p:spPr>
        <p:txBody>
          <a:bodyPr vert="horz" wrap="square" lIns="0" tIns="13335" rIns="0" bIns="0" rtlCol="0">
            <a:spAutoFit/>
          </a:bodyPr>
          <a:lstStyle/>
          <a:p>
            <a:pPr marL="12700" algn="l">
              <a:lnSpc>
                <a:spcPct val="100000"/>
              </a:lnSpc>
              <a:spcBef>
                <a:spcPts val="105"/>
              </a:spcBef>
            </a:pPr>
            <a:r>
              <a:rPr dirty="0"/>
              <a:t>What is a PHP</a:t>
            </a:r>
            <a:r>
              <a:rPr spc="-85" dirty="0"/>
              <a:t> </a:t>
            </a:r>
            <a:r>
              <a:rPr spc="-5" dirty="0"/>
              <a:t>File?</a:t>
            </a:r>
          </a:p>
        </p:txBody>
      </p:sp>
      <p:sp>
        <p:nvSpPr>
          <p:cNvPr id="3" name="object 3"/>
          <p:cNvSpPr txBox="1"/>
          <p:nvPr/>
        </p:nvSpPr>
        <p:spPr>
          <a:xfrm>
            <a:off x="535940" y="1243330"/>
            <a:ext cx="7978775" cy="2160270"/>
          </a:xfrm>
          <a:prstGeom prst="rect">
            <a:avLst/>
          </a:prstGeom>
        </p:spPr>
        <p:txBody>
          <a:bodyPr vert="horz" wrap="square" lIns="0" tIns="13335" rIns="0" bIns="0" rtlCol="0">
            <a:spAutoFit/>
          </a:bodyPr>
          <a:lstStyle/>
          <a:p>
            <a:pPr marL="469265" marR="210820" indent="-457200">
              <a:lnSpc>
                <a:spcPct val="100000"/>
              </a:lnSpc>
              <a:spcBef>
                <a:spcPts val="105"/>
              </a:spcBef>
              <a:buClr>
                <a:srgbClr val="717BA2"/>
              </a:buClr>
              <a:buSzPct val="75000"/>
              <a:buFont typeface="Arial" panose="020B0604020202020204" pitchFamily="34" charset="0"/>
              <a:buChar char="•"/>
              <a:tabLst>
                <a:tab pos="286385" algn="l"/>
                <a:tab pos="287020" algn="l"/>
              </a:tabLst>
            </a:pPr>
            <a:r>
              <a:rPr sz="2600" dirty="0">
                <a:cs typeface="Arial"/>
              </a:rPr>
              <a:t>PHP </a:t>
            </a:r>
            <a:r>
              <a:rPr sz="2600" spc="-5" dirty="0">
                <a:cs typeface="Arial"/>
              </a:rPr>
              <a:t>files </a:t>
            </a:r>
            <a:r>
              <a:rPr sz="2600" dirty="0">
                <a:cs typeface="Arial"/>
              </a:rPr>
              <a:t>can contain text, HTML, JavaScript</a:t>
            </a:r>
            <a:r>
              <a:rPr sz="2600" spc="-90" dirty="0">
                <a:cs typeface="Arial"/>
              </a:rPr>
              <a:t> </a:t>
            </a:r>
            <a:r>
              <a:rPr sz="2600" dirty="0">
                <a:cs typeface="Arial"/>
              </a:rPr>
              <a:t>code,  and PHP</a:t>
            </a:r>
            <a:r>
              <a:rPr sz="2600" spc="-60" dirty="0">
                <a:cs typeface="Arial"/>
              </a:rPr>
              <a:t> </a:t>
            </a:r>
            <a:r>
              <a:rPr sz="2600" dirty="0">
                <a:cs typeface="Arial"/>
              </a:rPr>
              <a:t>code</a:t>
            </a:r>
          </a:p>
          <a:p>
            <a:pPr marL="469265" marR="5080" indent="-457200">
              <a:lnSpc>
                <a:spcPct val="100000"/>
              </a:lnSpc>
              <a:spcBef>
                <a:spcPts val="600"/>
              </a:spcBef>
              <a:buClr>
                <a:srgbClr val="717BA2"/>
              </a:buClr>
              <a:buSzPct val="75000"/>
              <a:buFont typeface="Arial" panose="020B0604020202020204" pitchFamily="34" charset="0"/>
              <a:buChar char="•"/>
              <a:tabLst>
                <a:tab pos="286385" algn="l"/>
                <a:tab pos="287020" algn="l"/>
              </a:tabLst>
            </a:pPr>
            <a:r>
              <a:rPr sz="2600" dirty="0">
                <a:cs typeface="Arial"/>
              </a:rPr>
              <a:t>PHP code are executed on </a:t>
            </a:r>
            <a:r>
              <a:rPr sz="2600" spc="-5" dirty="0">
                <a:cs typeface="Arial"/>
              </a:rPr>
              <a:t>the </a:t>
            </a:r>
            <a:r>
              <a:rPr sz="2600" spc="-20" dirty="0">
                <a:cs typeface="Arial"/>
              </a:rPr>
              <a:t>server, </a:t>
            </a:r>
            <a:r>
              <a:rPr sz="2600" dirty="0">
                <a:cs typeface="Arial"/>
              </a:rPr>
              <a:t>and the</a:t>
            </a:r>
            <a:r>
              <a:rPr sz="2600" spc="-50" dirty="0">
                <a:cs typeface="Arial"/>
              </a:rPr>
              <a:t> </a:t>
            </a:r>
            <a:r>
              <a:rPr sz="2600" dirty="0">
                <a:cs typeface="Arial"/>
              </a:rPr>
              <a:t>result  is returned to the browser as plain</a:t>
            </a:r>
            <a:r>
              <a:rPr sz="2600" spc="-40" dirty="0">
                <a:cs typeface="Arial"/>
              </a:rPr>
              <a:t> </a:t>
            </a:r>
            <a:r>
              <a:rPr sz="2600" dirty="0">
                <a:cs typeface="Arial"/>
              </a:rPr>
              <a:t>HTML</a:t>
            </a:r>
          </a:p>
          <a:p>
            <a:pPr marL="469900" indent="-457200">
              <a:lnSpc>
                <a:spcPct val="100000"/>
              </a:lnSpc>
              <a:spcBef>
                <a:spcPts val="600"/>
              </a:spcBef>
              <a:buClr>
                <a:srgbClr val="717BA2"/>
              </a:buClr>
              <a:buSzPct val="75000"/>
              <a:buFont typeface="Arial" panose="020B0604020202020204" pitchFamily="34" charset="0"/>
              <a:buChar char="•"/>
              <a:tabLst>
                <a:tab pos="286385" algn="l"/>
                <a:tab pos="287020" algn="l"/>
              </a:tabLst>
            </a:pPr>
            <a:r>
              <a:rPr sz="2600" dirty="0">
                <a:cs typeface="Arial"/>
              </a:rPr>
              <a:t>PHP </a:t>
            </a:r>
            <a:r>
              <a:rPr sz="2600" spc="-5" dirty="0">
                <a:cs typeface="Arial"/>
              </a:rPr>
              <a:t>files </a:t>
            </a:r>
            <a:r>
              <a:rPr sz="2600" dirty="0">
                <a:cs typeface="Arial"/>
              </a:rPr>
              <a:t>have a default </a:t>
            </a:r>
            <a:r>
              <a:rPr sz="2600" spc="-5" dirty="0">
                <a:cs typeface="Arial"/>
              </a:rPr>
              <a:t>file </a:t>
            </a:r>
            <a:r>
              <a:rPr sz="2600" dirty="0">
                <a:cs typeface="Arial"/>
              </a:rPr>
              <a:t>extension of</a:t>
            </a:r>
            <a:r>
              <a:rPr sz="2600" spc="-50" dirty="0">
                <a:cs typeface="Arial"/>
              </a:rPr>
              <a:t> </a:t>
            </a:r>
            <a:r>
              <a:rPr sz="2600" spc="5" dirty="0">
                <a:cs typeface="Arial"/>
              </a:rPr>
              <a:t>".php"</a:t>
            </a:r>
            <a:endParaRPr sz="2600" dirty="0">
              <a:cs typeface="Arial"/>
            </a:endParaRPr>
          </a:p>
        </p:txBody>
      </p:sp>
    </p:spTree>
    <p:extLst>
      <p:ext uri="{BB962C8B-B14F-4D97-AF65-F5344CB8AC3E}">
        <p14:creationId xmlns:p14="http://schemas.microsoft.com/office/powerpoint/2010/main" val="1006018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88912"/>
            <a:ext cx="5864860" cy="690574"/>
          </a:xfrm>
          <a:prstGeom prst="rect">
            <a:avLst/>
          </a:prstGeom>
        </p:spPr>
        <p:txBody>
          <a:bodyPr vert="horz" wrap="square" lIns="0" tIns="13335" rIns="0" bIns="0" rtlCol="0">
            <a:spAutoFit/>
          </a:bodyPr>
          <a:lstStyle/>
          <a:p>
            <a:pPr marL="12700">
              <a:lnSpc>
                <a:spcPct val="100000"/>
              </a:lnSpc>
              <a:spcBef>
                <a:spcPts val="105"/>
              </a:spcBef>
            </a:pPr>
            <a:r>
              <a:rPr dirty="0">
                <a:solidFill>
                  <a:srgbClr val="464652"/>
                </a:solidFill>
              </a:rPr>
              <a:t>What Can </a:t>
            </a:r>
            <a:r>
              <a:rPr spc="-5" dirty="0">
                <a:solidFill>
                  <a:srgbClr val="464652"/>
                </a:solidFill>
              </a:rPr>
              <a:t>PHP</a:t>
            </a:r>
            <a:r>
              <a:rPr spc="-65" dirty="0">
                <a:solidFill>
                  <a:srgbClr val="464652"/>
                </a:solidFill>
              </a:rPr>
              <a:t> </a:t>
            </a:r>
            <a:r>
              <a:rPr dirty="0">
                <a:solidFill>
                  <a:srgbClr val="464652"/>
                </a:solidFill>
              </a:rPr>
              <a:t>Do?</a:t>
            </a:r>
          </a:p>
        </p:txBody>
      </p:sp>
      <p:sp>
        <p:nvSpPr>
          <p:cNvPr id="3" name="object 3"/>
          <p:cNvSpPr txBox="1"/>
          <p:nvPr/>
        </p:nvSpPr>
        <p:spPr>
          <a:xfrm>
            <a:off x="535940" y="1168113"/>
            <a:ext cx="7997190" cy="4125595"/>
          </a:xfrm>
          <a:prstGeom prst="rect">
            <a:avLst/>
          </a:prstGeom>
        </p:spPr>
        <p:txBody>
          <a:bodyPr vert="horz" wrap="square" lIns="0" tIns="88265" rIns="0" bIns="0" rtlCol="0">
            <a:spAutoFit/>
          </a:bodyPr>
          <a:lstStyle/>
          <a:p>
            <a:pPr marL="287020" indent="-274320">
              <a:lnSpc>
                <a:spcPct val="100000"/>
              </a:lnSpc>
              <a:spcBef>
                <a:spcPts val="695"/>
              </a:spcBef>
              <a:buClr>
                <a:srgbClr val="717BA2"/>
              </a:buClr>
              <a:buSzPct val="75000"/>
              <a:buChar char=""/>
              <a:tabLst>
                <a:tab pos="286385" algn="l"/>
                <a:tab pos="287020" algn="l"/>
              </a:tabLst>
            </a:pPr>
            <a:r>
              <a:rPr sz="2600" dirty="0">
                <a:latin typeface="Arial"/>
                <a:cs typeface="Arial"/>
              </a:rPr>
              <a:t>PHP can generate dynamic page</a:t>
            </a:r>
            <a:r>
              <a:rPr sz="2600" spc="-90" dirty="0">
                <a:latin typeface="Arial"/>
                <a:cs typeface="Arial"/>
              </a:rPr>
              <a:t> </a:t>
            </a:r>
            <a:r>
              <a:rPr sz="2600" dirty="0">
                <a:latin typeface="Arial"/>
                <a:cs typeface="Arial"/>
              </a:rPr>
              <a:t>content</a:t>
            </a:r>
          </a:p>
          <a:p>
            <a:pPr marL="286385" marR="5080" indent="-274320">
              <a:lnSpc>
                <a:spcPct val="100000"/>
              </a:lnSpc>
              <a:spcBef>
                <a:spcPts val="600"/>
              </a:spcBef>
              <a:buClr>
                <a:srgbClr val="717BA2"/>
              </a:buClr>
              <a:buSzPct val="75000"/>
              <a:buChar char=""/>
              <a:tabLst>
                <a:tab pos="286385" algn="l"/>
                <a:tab pos="287020" algn="l"/>
              </a:tabLst>
            </a:pPr>
            <a:r>
              <a:rPr sz="2600" dirty="0">
                <a:latin typeface="Arial"/>
                <a:cs typeface="Arial"/>
              </a:rPr>
              <a:t>PHP can create, open, read, write, and close </a:t>
            </a:r>
            <a:r>
              <a:rPr sz="2600" spc="-5" dirty="0">
                <a:latin typeface="Arial"/>
                <a:cs typeface="Arial"/>
              </a:rPr>
              <a:t>files</a:t>
            </a:r>
            <a:r>
              <a:rPr sz="2600" spc="-65" dirty="0">
                <a:latin typeface="Arial"/>
                <a:cs typeface="Arial"/>
              </a:rPr>
              <a:t> </a:t>
            </a:r>
            <a:r>
              <a:rPr sz="2600" dirty="0">
                <a:latin typeface="Arial"/>
                <a:cs typeface="Arial"/>
              </a:rPr>
              <a:t>on  the</a:t>
            </a:r>
            <a:r>
              <a:rPr sz="2600" spc="-5" dirty="0">
                <a:latin typeface="Arial"/>
                <a:cs typeface="Arial"/>
              </a:rPr>
              <a:t> </a:t>
            </a:r>
            <a:r>
              <a:rPr sz="2600" dirty="0">
                <a:latin typeface="Arial"/>
                <a:cs typeface="Arial"/>
              </a:rPr>
              <a:t>server</a:t>
            </a:r>
          </a:p>
          <a:p>
            <a:pPr marL="287020" indent="-274320">
              <a:lnSpc>
                <a:spcPct val="100000"/>
              </a:lnSpc>
              <a:spcBef>
                <a:spcPts val="605"/>
              </a:spcBef>
              <a:buClr>
                <a:srgbClr val="717BA2"/>
              </a:buClr>
              <a:buSzPct val="75000"/>
              <a:buChar char=""/>
              <a:tabLst>
                <a:tab pos="286385" algn="l"/>
                <a:tab pos="287020" algn="l"/>
              </a:tabLst>
            </a:pPr>
            <a:r>
              <a:rPr sz="2600" dirty="0">
                <a:latin typeface="Arial"/>
                <a:cs typeface="Arial"/>
              </a:rPr>
              <a:t>PHP can collect form</a:t>
            </a:r>
            <a:r>
              <a:rPr sz="2600" spc="-75" dirty="0">
                <a:latin typeface="Arial"/>
                <a:cs typeface="Arial"/>
              </a:rPr>
              <a:t> </a:t>
            </a:r>
            <a:r>
              <a:rPr sz="2600" dirty="0">
                <a:latin typeface="Arial"/>
                <a:cs typeface="Arial"/>
              </a:rPr>
              <a:t>data</a:t>
            </a:r>
          </a:p>
          <a:p>
            <a:pPr marL="287020" indent="-274320">
              <a:lnSpc>
                <a:spcPct val="100000"/>
              </a:lnSpc>
              <a:spcBef>
                <a:spcPts val="600"/>
              </a:spcBef>
              <a:buClr>
                <a:srgbClr val="717BA2"/>
              </a:buClr>
              <a:buSzPct val="75000"/>
              <a:buChar char=""/>
              <a:tabLst>
                <a:tab pos="286385" algn="l"/>
                <a:tab pos="287020" algn="l"/>
              </a:tabLst>
            </a:pPr>
            <a:r>
              <a:rPr sz="2600" dirty="0">
                <a:latin typeface="Arial"/>
                <a:cs typeface="Arial"/>
              </a:rPr>
              <a:t>PHP can send and receive</a:t>
            </a:r>
            <a:r>
              <a:rPr sz="2600" spc="-95" dirty="0">
                <a:latin typeface="Arial"/>
                <a:cs typeface="Arial"/>
              </a:rPr>
              <a:t> </a:t>
            </a:r>
            <a:r>
              <a:rPr sz="2600" dirty="0">
                <a:latin typeface="Arial"/>
                <a:cs typeface="Arial"/>
              </a:rPr>
              <a:t>cookies</a:t>
            </a:r>
          </a:p>
          <a:p>
            <a:pPr marL="287020" indent="-274320">
              <a:lnSpc>
                <a:spcPct val="100000"/>
              </a:lnSpc>
              <a:spcBef>
                <a:spcPts val="600"/>
              </a:spcBef>
              <a:buClr>
                <a:srgbClr val="717BA2"/>
              </a:buClr>
              <a:buSzPct val="75000"/>
              <a:buChar char=""/>
              <a:tabLst>
                <a:tab pos="286385" algn="l"/>
                <a:tab pos="287020" algn="l"/>
              </a:tabLst>
            </a:pPr>
            <a:r>
              <a:rPr sz="2600" dirty="0">
                <a:latin typeface="Arial"/>
                <a:cs typeface="Arial"/>
              </a:rPr>
              <a:t>PHP can add, delete, modify data in your</a:t>
            </a:r>
            <a:r>
              <a:rPr sz="2600" spc="-80" dirty="0">
                <a:latin typeface="Arial"/>
                <a:cs typeface="Arial"/>
              </a:rPr>
              <a:t> </a:t>
            </a:r>
            <a:r>
              <a:rPr sz="2600" dirty="0">
                <a:latin typeface="Arial"/>
                <a:cs typeface="Arial"/>
              </a:rPr>
              <a:t>database</a:t>
            </a:r>
          </a:p>
          <a:p>
            <a:pPr marL="286385" marR="578485" indent="-274320">
              <a:lnSpc>
                <a:spcPct val="100000"/>
              </a:lnSpc>
              <a:spcBef>
                <a:spcPts val="600"/>
              </a:spcBef>
              <a:buClr>
                <a:srgbClr val="717BA2"/>
              </a:buClr>
              <a:buSzPct val="75000"/>
              <a:buChar char=""/>
              <a:tabLst>
                <a:tab pos="286385" algn="l"/>
                <a:tab pos="287020" algn="l"/>
              </a:tabLst>
            </a:pPr>
            <a:r>
              <a:rPr sz="2600" dirty="0">
                <a:latin typeface="Arial"/>
                <a:cs typeface="Arial"/>
              </a:rPr>
              <a:t>PHP can restrict users to access some pages</a:t>
            </a:r>
            <a:r>
              <a:rPr sz="2600" spc="-110" dirty="0">
                <a:latin typeface="Arial"/>
                <a:cs typeface="Arial"/>
              </a:rPr>
              <a:t> </a:t>
            </a:r>
            <a:r>
              <a:rPr sz="2600" dirty="0">
                <a:latin typeface="Arial"/>
                <a:cs typeface="Arial"/>
              </a:rPr>
              <a:t>on  your</a:t>
            </a:r>
            <a:r>
              <a:rPr sz="2600" spc="-20" dirty="0">
                <a:latin typeface="Arial"/>
                <a:cs typeface="Arial"/>
              </a:rPr>
              <a:t> </a:t>
            </a:r>
            <a:r>
              <a:rPr sz="2600" dirty="0">
                <a:latin typeface="Arial"/>
                <a:cs typeface="Arial"/>
              </a:rPr>
              <a:t>website</a:t>
            </a:r>
          </a:p>
          <a:p>
            <a:pPr marL="287020" indent="-274320">
              <a:lnSpc>
                <a:spcPct val="100000"/>
              </a:lnSpc>
              <a:spcBef>
                <a:spcPts val="600"/>
              </a:spcBef>
              <a:buClr>
                <a:srgbClr val="717BA2"/>
              </a:buClr>
              <a:buSzPct val="75000"/>
              <a:buChar char=""/>
              <a:tabLst>
                <a:tab pos="286385" algn="l"/>
                <a:tab pos="287020" algn="l"/>
              </a:tabLst>
            </a:pPr>
            <a:r>
              <a:rPr sz="2600" dirty="0">
                <a:latin typeface="Arial"/>
                <a:cs typeface="Arial"/>
              </a:rPr>
              <a:t>PHP can encrypt</a:t>
            </a:r>
            <a:r>
              <a:rPr sz="2600" spc="-75" dirty="0">
                <a:latin typeface="Arial"/>
                <a:cs typeface="Arial"/>
              </a:rPr>
              <a:t> </a:t>
            </a:r>
            <a:r>
              <a:rPr sz="2600" dirty="0">
                <a:latin typeface="Arial"/>
                <a:cs typeface="Arial"/>
              </a:rPr>
              <a:t>data</a:t>
            </a:r>
          </a:p>
        </p:txBody>
      </p:sp>
    </p:spTree>
    <p:extLst>
      <p:ext uri="{BB962C8B-B14F-4D97-AF65-F5344CB8AC3E}">
        <p14:creationId xmlns:p14="http://schemas.microsoft.com/office/powerpoint/2010/main" val="3792307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88912"/>
            <a:ext cx="2969260" cy="690574"/>
          </a:xfrm>
          <a:prstGeom prst="rect">
            <a:avLst/>
          </a:prstGeom>
        </p:spPr>
        <p:txBody>
          <a:bodyPr vert="horz" wrap="square" lIns="0" tIns="13335" rIns="0" bIns="0" rtlCol="0">
            <a:spAutoFit/>
          </a:bodyPr>
          <a:lstStyle/>
          <a:p>
            <a:pPr marL="12700">
              <a:lnSpc>
                <a:spcPct val="100000"/>
              </a:lnSpc>
              <a:spcBef>
                <a:spcPts val="105"/>
              </a:spcBef>
            </a:pPr>
            <a:r>
              <a:rPr dirty="0">
                <a:solidFill>
                  <a:srgbClr val="464652"/>
                </a:solidFill>
              </a:rPr>
              <a:t>Why</a:t>
            </a:r>
            <a:r>
              <a:rPr spc="-100" dirty="0">
                <a:solidFill>
                  <a:srgbClr val="464652"/>
                </a:solidFill>
              </a:rPr>
              <a:t> </a:t>
            </a:r>
            <a:r>
              <a:rPr dirty="0">
                <a:solidFill>
                  <a:srgbClr val="464652"/>
                </a:solidFill>
              </a:rPr>
              <a:t>PHP?</a:t>
            </a:r>
          </a:p>
        </p:txBody>
      </p:sp>
      <p:sp>
        <p:nvSpPr>
          <p:cNvPr id="3" name="object 3"/>
          <p:cNvSpPr txBox="1"/>
          <p:nvPr/>
        </p:nvSpPr>
        <p:spPr>
          <a:xfrm>
            <a:off x="535940" y="1243330"/>
            <a:ext cx="8046084" cy="3897629"/>
          </a:xfrm>
          <a:prstGeom prst="rect">
            <a:avLst/>
          </a:prstGeom>
        </p:spPr>
        <p:txBody>
          <a:bodyPr vert="horz" wrap="square" lIns="0" tIns="13335" rIns="0" bIns="0" rtlCol="0">
            <a:spAutoFit/>
          </a:bodyPr>
          <a:lstStyle/>
          <a:p>
            <a:pPr marL="286385" marR="541020" indent="-274320">
              <a:lnSpc>
                <a:spcPct val="100000"/>
              </a:lnSpc>
              <a:spcBef>
                <a:spcPts val="105"/>
              </a:spcBef>
              <a:buClr>
                <a:srgbClr val="717BA2"/>
              </a:buClr>
              <a:buSzPct val="75000"/>
              <a:buChar char=""/>
              <a:tabLst>
                <a:tab pos="286385" algn="l"/>
                <a:tab pos="287020" algn="l"/>
              </a:tabLst>
            </a:pPr>
            <a:r>
              <a:rPr sz="2600" dirty="0">
                <a:latin typeface="Arial"/>
                <a:cs typeface="Arial"/>
              </a:rPr>
              <a:t>PHP runs on </a:t>
            </a:r>
            <a:r>
              <a:rPr sz="2600" spc="-5" dirty="0">
                <a:latin typeface="Arial"/>
                <a:cs typeface="Arial"/>
              </a:rPr>
              <a:t>different </a:t>
            </a:r>
            <a:r>
              <a:rPr sz="2600" dirty="0">
                <a:latin typeface="Arial"/>
                <a:cs typeface="Arial"/>
              </a:rPr>
              <a:t>platforms (Windows,</a:t>
            </a:r>
            <a:r>
              <a:rPr sz="2600" spc="-100" dirty="0">
                <a:latin typeface="Arial"/>
                <a:cs typeface="Arial"/>
              </a:rPr>
              <a:t> </a:t>
            </a:r>
            <a:r>
              <a:rPr sz="2600" dirty="0">
                <a:latin typeface="Arial"/>
                <a:cs typeface="Arial"/>
              </a:rPr>
              <a:t>Linux,  Unix, Mac OS </a:t>
            </a:r>
            <a:r>
              <a:rPr sz="2600" spc="-10" dirty="0">
                <a:latin typeface="Arial"/>
                <a:cs typeface="Arial"/>
              </a:rPr>
              <a:t>X,</a:t>
            </a:r>
            <a:r>
              <a:rPr sz="2600" spc="-5" dirty="0">
                <a:latin typeface="Arial"/>
                <a:cs typeface="Arial"/>
              </a:rPr>
              <a:t> </a:t>
            </a:r>
            <a:r>
              <a:rPr sz="2600" dirty="0">
                <a:latin typeface="Arial"/>
                <a:cs typeface="Arial"/>
              </a:rPr>
              <a:t>etc.)</a:t>
            </a:r>
          </a:p>
          <a:p>
            <a:pPr marL="286385" marR="5080" indent="-274320">
              <a:lnSpc>
                <a:spcPct val="100000"/>
              </a:lnSpc>
              <a:spcBef>
                <a:spcPts val="600"/>
              </a:spcBef>
              <a:buClr>
                <a:srgbClr val="717BA2"/>
              </a:buClr>
              <a:buSzPct val="75000"/>
              <a:buChar char=""/>
              <a:tabLst>
                <a:tab pos="286385" algn="l"/>
                <a:tab pos="287020" algn="l"/>
              </a:tabLst>
            </a:pPr>
            <a:r>
              <a:rPr sz="2600" dirty="0">
                <a:latin typeface="Arial"/>
                <a:cs typeface="Arial"/>
              </a:rPr>
              <a:t>PHP is compatible with almost all servers used</a:t>
            </a:r>
            <a:r>
              <a:rPr sz="2600" spc="-120" dirty="0">
                <a:latin typeface="Arial"/>
                <a:cs typeface="Arial"/>
              </a:rPr>
              <a:t> </a:t>
            </a:r>
            <a:r>
              <a:rPr sz="2600" dirty="0">
                <a:latin typeface="Arial"/>
                <a:cs typeface="Arial"/>
              </a:rPr>
              <a:t>today  (Apache, </a:t>
            </a:r>
            <a:r>
              <a:rPr sz="2600" spc="-5" dirty="0">
                <a:latin typeface="Arial"/>
                <a:cs typeface="Arial"/>
              </a:rPr>
              <a:t>IIS, </a:t>
            </a:r>
            <a:r>
              <a:rPr sz="2600" dirty="0">
                <a:latin typeface="Arial"/>
                <a:cs typeface="Arial"/>
              </a:rPr>
              <a:t>etc.)</a:t>
            </a:r>
          </a:p>
          <a:p>
            <a:pPr marL="287020" indent="-274320">
              <a:lnSpc>
                <a:spcPct val="100000"/>
              </a:lnSpc>
              <a:spcBef>
                <a:spcPts val="600"/>
              </a:spcBef>
              <a:buClr>
                <a:srgbClr val="717BA2"/>
              </a:buClr>
              <a:buSzPct val="75000"/>
              <a:buChar char=""/>
              <a:tabLst>
                <a:tab pos="286385" algn="l"/>
                <a:tab pos="287020" algn="l"/>
              </a:tabLst>
            </a:pPr>
            <a:r>
              <a:rPr sz="2600" dirty="0">
                <a:latin typeface="Arial"/>
                <a:cs typeface="Arial"/>
              </a:rPr>
              <a:t>PHP has support for a wide range of</a:t>
            </a:r>
            <a:r>
              <a:rPr sz="2600" spc="-85" dirty="0">
                <a:latin typeface="Arial"/>
                <a:cs typeface="Arial"/>
              </a:rPr>
              <a:t> </a:t>
            </a:r>
            <a:r>
              <a:rPr sz="2600" dirty="0">
                <a:latin typeface="Arial"/>
                <a:cs typeface="Arial"/>
              </a:rPr>
              <a:t>databases</a:t>
            </a:r>
          </a:p>
          <a:p>
            <a:pPr marL="286385" marR="1073785" indent="-274320">
              <a:lnSpc>
                <a:spcPct val="100000"/>
              </a:lnSpc>
              <a:spcBef>
                <a:spcPts val="600"/>
              </a:spcBef>
              <a:buClr>
                <a:srgbClr val="717BA2"/>
              </a:buClr>
              <a:buSzPct val="75000"/>
              <a:buChar char=""/>
              <a:tabLst>
                <a:tab pos="286385" algn="l"/>
                <a:tab pos="287020" algn="l"/>
              </a:tabLst>
            </a:pPr>
            <a:r>
              <a:rPr sz="2600" dirty="0">
                <a:latin typeface="Arial"/>
                <a:cs typeface="Arial"/>
              </a:rPr>
              <a:t>PHP is </a:t>
            </a:r>
            <a:r>
              <a:rPr sz="2600" spc="-5" dirty="0">
                <a:latin typeface="Arial"/>
                <a:cs typeface="Arial"/>
              </a:rPr>
              <a:t>free. </a:t>
            </a:r>
            <a:r>
              <a:rPr sz="2600" dirty="0">
                <a:latin typeface="Arial"/>
                <a:cs typeface="Arial"/>
              </a:rPr>
              <a:t>Download it from the </a:t>
            </a:r>
            <a:r>
              <a:rPr sz="2600" spc="-5" dirty="0">
                <a:latin typeface="Arial"/>
                <a:cs typeface="Arial"/>
              </a:rPr>
              <a:t>official</a:t>
            </a:r>
            <a:r>
              <a:rPr sz="2600" spc="-90" dirty="0">
                <a:latin typeface="Arial"/>
                <a:cs typeface="Arial"/>
              </a:rPr>
              <a:t> </a:t>
            </a:r>
            <a:r>
              <a:rPr sz="2600" dirty="0">
                <a:latin typeface="Arial"/>
                <a:cs typeface="Arial"/>
              </a:rPr>
              <a:t>PHP  resource:</a:t>
            </a:r>
            <a:r>
              <a:rPr sz="2600" spc="-15" dirty="0">
                <a:solidFill>
                  <a:srgbClr val="B192C9"/>
                </a:solidFill>
                <a:latin typeface="Arial"/>
                <a:cs typeface="Arial"/>
              </a:rPr>
              <a:t> </a:t>
            </a:r>
            <a:r>
              <a:rPr sz="2600" u="heavy" spc="-15" dirty="0">
                <a:solidFill>
                  <a:srgbClr val="B192C9"/>
                </a:solidFill>
                <a:uFill>
                  <a:solidFill>
                    <a:srgbClr val="B192C9"/>
                  </a:solidFill>
                </a:uFill>
                <a:latin typeface="Arial"/>
                <a:cs typeface="Arial"/>
                <a:hlinkClick r:id="rId2"/>
              </a:rPr>
              <a:t>www.php.net</a:t>
            </a:r>
            <a:endParaRPr sz="2600" dirty="0">
              <a:latin typeface="Arial"/>
              <a:cs typeface="Arial"/>
            </a:endParaRPr>
          </a:p>
          <a:p>
            <a:pPr marL="286385" marR="907415" indent="-274320">
              <a:lnSpc>
                <a:spcPct val="100000"/>
              </a:lnSpc>
              <a:spcBef>
                <a:spcPts val="600"/>
              </a:spcBef>
              <a:buClr>
                <a:srgbClr val="717BA2"/>
              </a:buClr>
              <a:buSzPct val="75000"/>
              <a:buChar char=""/>
              <a:tabLst>
                <a:tab pos="286385" algn="l"/>
                <a:tab pos="287020" algn="l"/>
              </a:tabLst>
            </a:pPr>
            <a:r>
              <a:rPr sz="2600" dirty="0">
                <a:latin typeface="Arial"/>
                <a:cs typeface="Arial"/>
              </a:rPr>
              <a:t>PHP is easy to learn and runs </a:t>
            </a:r>
            <a:r>
              <a:rPr sz="2600" spc="-5" dirty="0">
                <a:latin typeface="Arial"/>
                <a:cs typeface="Arial"/>
              </a:rPr>
              <a:t>efficiently </a:t>
            </a:r>
            <a:r>
              <a:rPr sz="2600" dirty="0">
                <a:latin typeface="Arial"/>
                <a:cs typeface="Arial"/>
              </a:rPr>
              <a:t>on</a:t>
            </a:r>
            <a:r>
              <a:rPr sz="2600" spc="-75" dirty="0">
                <a:latin typeface="Arial"/>
                <a:cs typeface="Arial"/>
              </a:rPr>
              <a:t> </a:t>
            </a:r>
            <a:r>
              <a:rPr sz="2600" spc="-5" dirty="0">
                <a:latin typeface="Arial"/>
                <a:cs typeface="Arial"/>
              </a:rPr>
              <a:t>the  </a:t>
            </a:r>
            <a:r>
              <a:rPr sz="2600" dirty="0">
                <a:latin typeface="Arial"/>
                <a:cs typeface="Arial"/>
              </a:rPr>
              <a:t>server</a:t>
            </a:r>
            <a:r>
              <a:rPr sz="2600" spc="-30" dirty="0">
                <a:latin typeface="Arial"/>
                <a:cs typeface="Arial"/>
              </a:rPr>
              <a:t> </a:t>
            </a:r>
            <a:r>
              <a:rPr sz="2600" dirty="0">
                <a:latin typeface="Arial"/>
                <a:cs typeface="Arial"/>
              </a:rPr>
              <a:t>side</a:t>
            </a:r>
          </a:p>
        </p:txBody>
      </p:sp>
    </p:spTree>
    <p:extLst>
      <p:ext uri="{BB962C8B-B14F-4D97-AF65-F5344CB8AC3E}">
        <p14:creationId xmlns:p14="http://schemas.microsoft.com/office/powerpoint/2010/main" val="1408900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88912"/>
            <a:ext cx="4798060" cy="690574"/>
          </a:xfrm>
          <a:prstGeom prst="rect">
            <a:avLst/>
          </a:prstGeom>
        </p:spPr>
        <p:txBody>
          <a:bodyPr vert="horz" wrap="square" lIns="0" tIns="13335" rIns="0" bIns="0" rtlCol="0">
            <a:spAutoFit/>
          </a:bodyPr>
          <a:lstStyle/>
          <a:p>
            <a:pPr marL="12700">
              <a:lnSpc>
                <a:spcPct val="100000"/>
              </a:lnSpc>
              <a:spcBef>
                <a:spcPts val="105"/>
              </a:spcBef>
            </a:pPr>
            <a:r>
              <a:rPr dirty="0">
                <a:solidFill>
                  <a:srgbClr val="464652"/>
                </a:solidFill>
              </a:rPr>
              <a:t>Basic </a:t>
            </a:r>
            <a:r>
              <a:rPr spc="-5" dirty="0">
                <a:solidFill>
                  <a:srgbClr val="464652"/>
                </a:solidFill>
              </a:rPr>
              <a:t>PHP</a:t>
            </a:r>
            <a:r>
              <a:rPr spc="-45" dirty="0">
                <a:solidFill>
                  <a:srgbClr val="464652"/>
                </a:solidFill>
              </a:rPr>
              <a:t> </a:t>
            </a:r>
            <a:r>
              <a:rPr spc="-10" dirty="0">
                <a:solidFill>
                  <a:srgbClr val="464652"/>
                </a:solidFill>
              </a:rPr>
              <a:t>Syntax</a:t>
            </a:r>
          </a:p>
        </p:txBody>
      </p:sp>
      <p:sp>
        <p:nvSpPr>
          <p:cNvPr id="3" name="object 3"/>
          <p:cNvSpPr txBox="1"/>
          <p:nvPr/>
        </p:nvSpPr>
        <p:spPr>
          <a:xfrm>
            <a:off x="535940" y="1243330"/>
            <a:ext cx="7894320" cy="2952750"/>
          </a:xfrm>
          <a:prstGeom prst="rect">
            <a:avLst/>
          </a:prstGeom>
        </p:spPr>
        <p:txBody>
          <a:bodyPr vert="horz" wrap="square" lIns="0" tIns="13335" rIns="0" bIns="0" rtlCol="0">
            <a:spAutoFit/>
          </a:bodyPr>
          <a:lstStyle/>
          <a:p>
            <a:pPr marL="286385" marR="5080" indent="76200">
              <a:lnSpc>
                <a:spcPct val="100000"/>
              </a:lnSpc>
              <a:spcBef>
                <a:spcPts val="105"/>
              </a:spcBef>
            </a:pPr>
            <a:r>
              <a:rPr sz="2600" dirty="0">
                <a:latin typeface="Arial"/>
                <a:cs typeface="Arial"/>
              </a:rPr>
              <a:t>A PHP script can be placed </a:t>
            </a:r>
            <a:r>
              <a:rPr sz="2600" spc="5" dirty="0">
                <a:latin typeface="Arial"/>
                <a:cs typeface="Arial"/>
              </a:rPr>
              <a:t>anywhere </a:t>
            </a:r>
            <a:r>
              <a:rPr sz="2600" dirty="0">
                <a:latin typeface="Arial"/>
                <a:cs typeface="Arial"/>
              </a:rPr>
              <a:t>in the  document. A PHP script starts with </a:t>
            </a:r>
            <a:r>
              <a:rPr sz="2600" b="1" spc="5" dirty="0">
                <a:latin typeface="Arial"/>
                <a:cs typeface="Arial"/>
              </a:rPr>
              <a:t>&lt;?php </a:t>
            </a:r>
            <a:r>
              <a:rPr sz="2600" spc="5" dirty="0">
                <a:latin typeface="Arial"/>
                <a:cs typeface="Arial"/>
              </a:rPr>
              <a:t>and</a:t>
            </a:r>
            <a:r>
              <a:rPr sz="2600" spc="-415" dirty="0">
                <a:latin typeface="Arial"/>
                <a:cs typeface="Arial"/>
              </a:rPr>
              <a:t> </a:t>
            </a:r>
            <a:r>
              <a:rPr sz="2600" dirty="0">
                <a:latin typeface="Arial"/>
                <a:cs typeface="Arial"/>
              </a:rPr>
              <a:t>ends  with</a:t>
            </a:r>
            <a:r>
              <a:rPr sz="2600" spc="-5" dirty="0">
                <a:latin typeface="Arial"/>
                <a:cs typeface="Arial"/>
              </a:rPr>
              <a:t> </a:t>
            </a:r>
            <a:r>
              <a:rPr sz="2600" b="1" dirty="0">
                <a:latin typeface="Arial"/>
                <a:cs typeface="Arial"/>
              </a:rPr>
              <a:t>?&gt;</a:t>
            </a:r>
            <a:r>
              <a:rPr sz="2600" dirty="0">
                <a:latin typeface="Arial"/>
                <a:cs typeface="Arial"/>
              </a:rPr>
              <a:t>:</a:t>
            </a:r>
          </a:p>
          <a:p>
            <a:pPr marL="12700">
              <a:lnSpc>
                <a:spcPct val="100000"/>
              </a:lnSpc>
              <a:spcBef>
                <a:spcPts val="600"/>
              </a:spcBef>
            </a:pPr>
            <a:r>
              <a:rPr sz="2600" dirty="0">
                <a:latin typeface="Arial"/>
                <a:cs typeface="Arial"/>
              </a:rPr>
              <a:t>&lt;?php</a:t>
            </a:r>
          </a:p>
          <a:p>
            <a:pPr marL="286385">
              <a:lnSpc>
                <a:spcPct val="100000"/>
              </a:lnSpc>
            </a:pPr>
            <a:r>
              <a:rPr sz="2600" dirty="0">
                <a:latin typeface="Arial"/>
                <a:cs typeface="Arial"/>
              </a:rPr>
              <a:t>// PHP code goes</a:t>
            </a:r>
            <a:r>
              <a:rPr sz="2600" spc="-75" dirty="0">
                <a:latin typeface="Arial"/>
                <a:cs typeface="Arial"/>
              </a:rPr>
              <a:t> </a:t>
            </a:r>
            <a:r>
              <a:rPr sz="2600" dirty="0">
                <a:latin typeface="Arial"/>
                <a:cs typeface="Arial"/>
              </a:rPr>
              <a:t>here</a:t>
            </a:r>
          </a:p>
          <a:p>
            <a:pPr marL="286385">
              <a:lnSpc>
                <a:spcPct val="100000"/>
              </a:lnSpc>
            </a:pPr>
            <a:r>
              <a:rPr sz="2600" dirty="0">
                <a:latin typeface="Arial"/>
                <a:cs typeface="Arial"/>
              </a:rPr>
              <a:t>?&gt;</a:t>
            </a:r>
          </a:p>
          <a:p>
            <a:pPr marL="12700">
              <a:lnSpc>
                <a:spcPct val="100000"/>
              </a:lnSpc>
              <a:spcBef>
                <a:spcPts val="605"/>
              </a:spcBef>
            </a:pPr>
            <a:r>
              <a:rPr sz="2600" dirty="0">
                <a:latin typeface="Arial"/>
                <a:cs typeface="Arial"/>
              </a:rPr>
              <a:t>The default file extension for PHP </a:t>
            </a:r>
            <a:r>
              <a:rPr sz="2600" spc="-5" dirty="0">
                <a:latin typeface="Arial"/>
                <a:cs typeface="Arial"/>
              </a:rPr>
              <a:t>files </a:t>
            </a:r>
            <a:r>
              <a:rPr sz="2600" dirty="0">
                <a:latin typeface="Arial"/>
                <a:cs typeface="Arial"/>
              </a:rPr>
              <a:t>is</a:t>
            </a:r>
            <a:r>
              <a:rPr sz="2600" spc="-80" dirty="0">
                <a:latin typeface="Arial"/>
                <a:cs typeface="Arial"/>
              </a:rPr>
              <a:t> </a:t>
            </a:r>
            <a:r>
              <a:rPr sz="2600" dirty="0">
                <a:latin typeface="Arial"/>
                <a:cs typeface="Arial"/>
              </a:rPr>
              <a:t>".php".</a:t>
            </a:r>
          </a:p>
        </p:txBody>
      </p:sp>
    </p:spTree>
    <p:extLst>
      <p:ext uri="{BB962C8B-B14F-4D97-AF65-F5344CB8AC3E}">
        <p14:creationId xmlns:p14="http://schemas.microsoft.com/office/powerpoint/2010/main" val="3997449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424027"/>
            <a:ext cx="7973059" cy="4148572"/>
          </a:xfrm>
          <a:prstGeom prst="rect">
            <a:avLst/>
          </a:prstGeom>
        </p:spPr>
        <p:txBody>
          <a:bodyPr vert="horz" wrap="square" lIns="0" tIns="90170" rIns="0" bIns="0" rtlCol="0">
            <a:spAutoFit/>
          </a:bodyPr>
          <a:lstStyle/>
          <a:p>
            <a:pPr marL="12700">
              <a:lnSpc>
                <a:spcPct val="100000"/>
              </a:lnSpc>
              <a:spcBef>
                <a:spcPts val="710"/>
              </a:spcBef>
            </a:pPr>
            <a:r>
              <a:rPr sz="3200" dirty="0">
                <a:solidFill>
                  <a:srgbClr val="464652"/>
                </a:solidFill>
                <a:latin typeface="Bookman Uralic"/>
                <a:cs typeface="Bookman Uralic"/>
              </a:rPr>
              <a:t>Comments in</a:t>
            </a:r>
            <a:r>
              <a:rPr sz="3200" spc="-40" dirty="0">
                <a:solidFill>
                  <a:srgbClr val="464652"/>
                </a:solidFill>
                <a:latin typeface="Bookman Uralic"/>
                <a:cs typeface="Bookman Uralic"/>
              </a:rPr>
              <a:t> </a:t>
            </a:r>
            <a:r>
              <a:rPr sz="3200" spc="-5" dirty="0">
                <a:solidFill>
                  <a:srgbClr val="464652"/>
                </a:solidFill>
                <a:latin typeface="Bookman Uralic"/>
                <a:cs typeface="Bookman Uralic"/>
              </a:rPr>
              <a:t>PHP</a:t>
            </a:r>
          </a:p>
          <a:p>
            <a:pPr marL="12700">
              <a:lnSpc>
                <a:spcPts val="3754"/>
              </a:lnSpc>
              <a:spcBef>
                <a:spcPts val="610"/>
              </a:spcBef>
            </a:pPr>
            <a:r>
              <a:rPr sz="2400" spc="-680" dirty="0">
                <a:solidFill>
                  <a:srgbClr val="717BA2"/>
                </a:solidFill>
                <a:latin typeface="Arial"/>
                <a:cs typeface="Arial"/>
              </a:rPr>
              <a:t></a:t>
            </a:r>
            <a:r>
              <a:rPr lang="en-US" sz="3200" dirty="0">
                <a:latin typeface="Arial"/>
                <a:cs typeface="Arial"/>
              </a:rPr>
              <a:t> </a:t>
            </a:r>
            <a:r>
              <a:rPr lang="en-US" sz="2400" spc="-5" dirty="0">
                <a:latin typeface="Consolas" panose="020B0609020204030204" pitchFamily="49" charset="0"/>
                <a:cs typeface="Consolas" panose="020B0609020204030204" pitchFamily="49" charset="0"/>
              </a:rPr>
              <a:t>&lt;html&gt;</a:t>
            </a:r>
            <a:endParaRPr lang="en-US" sz="2400" dirty="0">
              <a:latin typeface="Consolas" panose="020B0609020204030204" pitchFamily="49" charset="0"/>
              <a:cs typeface="Consolas" panose="020B0609020204030204" pitchFamily="49" charset="0"/>
            </a:endParaRPr>
          </a:p>
          <a:p>
            <a:pPr marL="12700">
              <a:lnSpc>
                <a:spcPts val="3754"/>
              </a:lnSpc>
              <a:spcBef>
                <a:spcPts val="610"/>
              </a:spcBef>
            </a:pPr>
            <a:r>
              <a:rPr lang="en-US" sz="2400" dirty="0">
                <a:latin typeface="Consolas" panose="020B0609020204030204" pitchFamily="49" charset="0"/>
                <a:cs typeface="Consolas" panose="020B0609020204030204" pitchFamily="49" charset="0"/>
              </a:rPr>
              <a:t>	&lt;body&gt;</a:t>
            </a:r>
          </a:p>
          <a:p>
            <a:pPr marL="1841500">
              <a:lnSpc>
                <a:spcPts val="3070"/>
              </a:lnSpc>
            </a:pPr>
            <a:r>
              <a:rPr lang="en-US" sz="2400" spc="-10" dirty="0">
                <a:latin typeface="Consolas" panose="020B0609020204030204" pitchFamily="49" charset="0"/>
                <a:cs typeface="Consolas" panose="020B0609020204030204" pitchFamily="49" charset="0"/>
              </a:rPr>
              <a:t>&lt;?</a:t>
            </a:r>
            <a:r>
              <a:rPr lang="en-US" sz="2400" spc="-10" dirty="0" err="1">
                <a:latin typeface="Consolas" panose="020B0609020204030204" pitchFamily="49" charset="0"/>
                <a:cs typeface="Consolas" panose="020B0609020204030204" pitchFamily="49" charset="0"/>
              </a:rPr>
              <a:t>php</a:t>
            </a:r>
            <a:endParaRPr lang="en-US" sz="2400" dirty="0">
              <a:latin typeface="Consolas" panose="020B0609020204030204" pitchFamily="49" charset="0"/>
              <a:cs typeface="Consolas" panose="020B0609020204030204" pitchFamily="49" charset="0"/>
            </a:endParaRPr>
          </a:p>
          <a:p>
            <a:pPr marL="1841500">
              <a:lnSpc>
                <a:spcPts val="3070"/>
              </a:lnSpc>
            </a:pPr>
            <a:r>
              <a:rPr lang="en-US" sz="2400" spc="-5" dirty="0">
                <a:latin typeface="Consolas" panose="020B0609020204030204" pitchFamily="49" charset="0"/>
                <a:cs typeface="Consolas" panose="020B0609020204030204" pitchFamily="49" charset="0"/>
              </a:rPr>
              <a:t>//This </a:t>
            </a:r>
            <a:r>
              <a:rPr lang="en-US" sz="2400" dirty="0">
                <a:latin typeface="Consolas" panose="020B0609020204030204" pitchFamily="49" charset="0"/>
                <a:cs typeface="Consolas" panose="020B0609020204030204" pitchFamily="49" charset="0"/>
              </a:rPr>
              <a:t>is a PHP </a:t>
            </a:r>
            <a:r>
              <a:rPr lang="en-US" sz="2400" spc="-5" dirty="0">
                <a:latin typeface="Consolas" panose="020B0609020204030204" pitchFamily="49" charset="0"/>
                <a:cs typeface="Consolas" panose="020B0609020204030204" pitchFamily="49" charset="0"/>
              </a:rPr>
              <a:t>comment</a:t>
            </a:r>
            <a:r>
              <a:rPr lang="en-US" sz="2400" spc="-140" dirty="0">
                <a:latin typeface="Consolas" panose="020B0609020204030204" pitchFamily="49" charset="0"/>
                <a:cs typeface="Consolas" panose="020B0609020204030204" pitchFamily="49" charset="0"/>
              </a:rPr>
              <a:t> </a:t>
            </a:r>
            <a:r>
              <a:rPr lang="en-US" sz="2400" spc="-5" dirty="0">
                <a:latin typeface="Consolas" panose="020B0609020204030204" pitchFamily="49" charset="0"/>
                <a:cs typeface="Consolas" panose="020B0609020204030204" pitchFamily="49" charset="0"/>
              </a:rPr>
              <a:t>line</a:t>
            </a:r>
            <a:endParaRPr lang="en-US" sz="2400" dirty="0">
              <a:latin typeface="Consolas" panose="020B0609020204030204" pitchFamily="49" charset="0"/>
              <a:cs typeface="Consolas" panose="020B0609020204030204" pitchFamily="49" charset="0"/>
            </a:endParaRPr>
          </a:p>
          <a:p>
            <a:pPr marL="1841500">
              <a:lnSpc>
                <a:spcPts val="3070"/>
              </a:lnSpc>
            </a:pPr>
            <a:r>
              <a:rPr lang="en-US" sz="2400" spc="-5" dirty="0">
                <a:latin typeface="Consolas" panose="020B0609020204030204" pitchFamily="49" charset="0"/>
                <a:cs typeface="Consolas" panose="020B0609020204030204" pitchFamily="49" charset="0"/>
              </a:rPr>
              <a:t>/*This </a:t>
            </a:r>
            <a:r>
              <a:rPr lang="en-US" sz="2400" spc="-10" dirty="0">
                <a:latin typeface="Consolas" panose="020B0609020204030204" pitchFamily="49" charset="0"/>
                <a:cs typeface="Consolas" panose="020B0609020204030204" pitchFamily="49" charset="0"/>
              </a:rPr>
              <a:t>is </a:t>
            </a:r>
            <a:r>
              <a:rPr lang="en-US" sz="2400" dirty="0">
                <a:latin typeface="Consolas" panose="020B0609020204030204" pitchFamily="49" charset="0"/>
                <a:cs typeface="Consolas" panose="020B0609020204030204" pitchFamily="49" charset="0"/>
              </a:rPr>
              <a:t>a PHP</a:t>
            </a:r>
            <a:r>
              <a:rPr lang="en-US" sz="2400" spc="-95" dirty="0">
                <a:latin typeface="Consolas" panose="020B0609020204030204" pitchFamily="49" charset="0"/>
                <a:cs typeface="Consolas" panose="020B0609020204030204" pitchFamily="49" charset="0"/>
              </a:rPr>
              <a:t> </a:t>
            </a:r>
            <a:r>
              <a:rPr lang="en-US" sz="2400" spc="-5" dirty="0">
                <a:latin typeface="Consolas" panose="020B0609020204030204" pitchFamily="49" charset="0"/>
                <a:cs typeface="Consolas" panose="020B0609020204030204" pitchFamily="49" charset="0"/>
              </a:rPr>
              <a:t>comment  block</a:t>
            </a:r>
            <a:r>
              <a:rPr lang="en-US" sz="2400" dirty="0">
                <a:latin typeface="Consolas" panose="020B0609020204030204" pitchFamily="49" charset="0"/>
                <a:cs typeface="Consolas" panose="020B0609020204030204" pitchFamily="49" charset="0"/>
              </a:rPr>
              <a:t>*/</a:t>
            </a:r>
          </a:p>
          <a:p>
            <a:pPr marL="1841500">
              <a:lnSpc>
                <a:spcPts val="3075"/>
              </a:lnSpc>
            </a:pPr>
            <a:r>
              <a:rPr lang="en-US" sz="2400" spc="-10" dirty="0">
                <a:latin typeface="Consolas" panose="020B0609020204030204" pitchFamily="49" charset="0"/>
                <a:cs typeface="Consolas" panose="020B0609020204030204" pitchFamily="49" charset="0"/>
              </a:rPr>
              <a:t>?&gt;</a:t>
            </a:r>
            <a:endParaRPr lang="en-US" sz="2400" dirty="0">
              <a:latin typeface="Consolas" panose="020B0609020204030204" pitchFamily="49" charset="0"/>
              <a:cs typeface="Consolas" panose="020B0609020204030204" pitchFamily="49" charset="0"/>
            </a:endParaRPr>
          </a:p>
          <a:p>
            <a:pPr marL="914400">
              <a:lnSpc>
                <a:spcPts val="3075"/>
              </a:lnSpc>
            </a:pPr>
            <a:r>
              <a:rPr lang="en-US" sz="2400" spc="-5" dirty="0">
                <a:latin typeface="Consolas" panose="020B0609020204030204" pitchFamily="49" charset="0"/>
                <a:cs typeface="Consolas" panose="020B0609020204030204" pitchFamily="49" charset="0"/>
              </a:rPr>
              <a:t>&lt;/body&gt;</a:t>
            </a:r>
            <a:endParaRPr lang="en-US" sz="2400" dirty="0">
              <a:latin typeface="Consolas" panose="020B0609020204030204" pitchFamily="49" charset="0"/>
              <a:cs typeface="Consolas" panose="020B0609020204030204" pitchFamily="49" charset="0"/>
            </a:endParaRPr>
          </a:p>
          <a:p>
            <a:pPr marL="286385">
              <a:lnSpc>
                <a:spcPts val="3454"/>
              </a:lnSpc>
            </a:pPr>
            <a:r>
              <a:rPr lang="en-US" sz="2400" dirty="0">
                <a:latin typeface="Consolas" panose="020B0609020204030204" pitchFamily="49" charset="0"/>
                <a:cs typeface="Consolas" panose="020B0609020204030204" pitchFamily="49" charset="0"/>
              </a:rPr>
              <a:t>&lt;/html&gt;</a:t>
            </a:r>
            <a:endParaRPr sz="3200" dirty="0">
              <a:latin typeface="Consolas" panose="020B0609020204030204" pitchFamily="49" charset="0"/>
              <a:cs typeface="Consolas" panose="020B0609020204030204" pitchFamily="49" charset="0"/>
            </a:endParaRPr>
          </a:p>
        </p:txBody>
      </p:sp>
      <p:sp>
        <p:nvSpPr>
          <p:cNvPr id="5" name="Date Placeholder 4"/>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782972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Types</a:t>
            </a:r>
            <a:endParaRPr lang="en-US" dirty="0"/>
          </a:p>
        </p:txBody>
      </p:sp>
      <p:sp>
        <p:nvSpPr>
          <p:cNvPr id="3" name="Content Placeholder 2"/>
          <p:cNvSpPr>
            <a:spLocks noGrp="1"/>
          </p:cNvSpPr>
          <p:nvPr>
            <p:ph idx="1"/>
          </p:nvPr>
        </p:nvSpPr>
        <p:spPr>
          <a:xfrm>
            <a:off x="609598" y="1600200"/>
            <a:ext cx="6553201" cy="4441163"/>
          </a:xfrm>
        </p:spPr>
        <p:txBody>
          <a:bodyPr>
            <a:normAutofit/>
          </a:bodyPr>
          <a:lstStyle/>
          <a:p>
            <a:r>
              <a:rPr lang="en-US" dirty="0"/>
              <a:t>PHP supports the following data types:</a:t>
            </a:r>
          </a:p>
          <a:p>
            <a:pPr lvl="1"/>
            <a:r>
              <a:rPr lang="en-US" dirty="0"/>
              <a:t>String : $x = "Hello world!";</a:t>
            </a:r>
          </a:p>
          <a:p>
            <a:pPr lvl="1"/>
            <a:r>
              <a:rPr lang="en-US" dirty="0"/>
              <a:t>Integer : $x = 5985;</a:t>
            </a:r>
          </a:p>
          <a:p>
            <a:pPr lvl="1"/>
            <a:r>
              <a:rPr lang="en-US" dirty="0"/>
              <a:t>Float (floating point numbers - also called double) : $x = 10.365;</a:t>
            </a:r>
          </a:p>
          <a:p>
            <a:pPr lvl="1"/>
            <a:r>
              <a:rPr lang="en-US" dirty="0"/>
              <a:t>Boolean : $x = true; $y = false;</a:t>
            </a:r>
          </a:p>
          <a:p>
            <a:pPr lvl="1"/>
            <a:r>
              <a:rPr lang="en-US" dirty="0"/>
              <a:t>Array : $cars = array("</a:t>
            </a:r>
            <a:r>
              <a:rPr lang="en-US" dirty="0" err="1"/>
              <a:t>Volvo","BMW","Toyota</a:t>
            </a:r>
            <a:r>
              <a:rPr lang="en-US" dirty="0"/>
              <a:t>");</a:t>
            </a:r>
          </a:p>
          <a:p>
            <a:pPr lvl="1"/>
            <a:r>
              <a:rPr lang="en-US" dirty="0"/>
              <a:t>Object : $</a:t>
            </a:r>
            <a:r>
              <a:rPr lang="en-US" dirty="0" err="1"/>
              <a:t>herbie</a:t>
            </a:r>
            <a:r>
              <a:rPr lang="en-US" dirty="0"/>
              <a:t> = new Car();</a:t>
            </a:r>
          </a:p>
          <a:p>
            <a:pPr lvl="1"/>
            <a:r>
              <a:rPr lang="en-US" dirty="0"/>
              <a:t>NULL : $x = null;</a:t>
            </a:r>
          </a:p>
          <a:p>
            <a:pPr lvl="1"/>
            <a:r>
              <a:rPr lang="en-US" dirty="0"/>
              <a:t>Resource : is not an actual data type .A common example of using the resource data type is a database call.</a:t>
            </a:r>
          </a:p>
          <a:p>
            <a:endParaRPr lang="en-US" dirty="0"/>
          </a:p>
        </p:txBody>
      </p:sp>
    </p:spTree>
    <p:extLst>
      <p:ext uri="{BB962C8B-B14F-4D97-AF65-F5344CB8AC3E}">
        <p14:creationId xmlns:p14="http://schemas.microsoft.com/office/powerpoint/2010/main" val="3447398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260633"/>
            <a:ext cx="4340860"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464652"/>
                </a:solidFill>
              </a:rPr>
              <a:t>PHP</a:t>
            </a:r>
            <a:r>
              <a:rPr spc="-80" dirty="0">
                <a:solidFill>
                  <a:srgbClr val="464652"/>
                </a:solidFill>
              </a:rPr>
              <a:t> </a:t>
            </a:r>
            <a:r>
              <a:rPr spc="-5" dirty="0">
                <a:solidFill>
                  <a:srgbClr val="464652"/>
                </a:solidFill>
              </a:rPr>
              <a:t>Variables</a:t>
            </a:r>
          </a:p>
        </p:txBody>
      </p:sp>
      <p:sp>
        <p:nvSpPr>
          <p:cNvPr id="3" name="object 3"/>
          <p:cNvSpPr txBox="1"/>
          <p:nvPr/>
        </p:nvSpPr>
        <p:spPr>
          <a:xfrm>
            <a:off x="535940" y="1167130"/>
            <a:ext cx="8030209" cy="4765675"/>
          </a:xfrm>
          <a:prstGeom prst="rect">
            <a:avLst/>
          </a:prstGeom>
        </p:spPr>
        <p:txBody>
          <a:bodyPr vert="horz" wrap="square" lIns="0" tIns="13335" rIns="0" bIns="0" rtlCol="0">
            <a:spAutoFit/>
          </a:bodyPr>
          <a:lstStyle/>
          <a:p>
            <a:pPr marL="286385" marR="5080" indent="-274320">
              <a:lnSpc>
                <a:spcPct val="100000"/>
              </a:lnSpc>
              <a:spcBef>
                <a:spcPts val="105"/>
              </a:spcBef>
              <a:buClr>
                <a:srgbClr val="717BA2"/>
              </a:buClr>
              <a:buSzPct val="75000"/>
              <a:buChar char=""/>
              <a:tabLst>
                <a:tab pos="286385" algn="l"/>
                <a:tab pos="287020" algn="l"/>
              </a:tabLst>
            </a:pPr>
            <a:r>
              <a:rPr sz="2600" spc="-25" dirty="0">
                <a:latin typeface="Arial"/>
                <a:cs typeface="Arial"/>
              </a:rPr>
              <a:t>Variable </a:t>
            </a:r>
            <a:r>
              <a:rPr sz="2600" dirty="0">
                <a:latin typeface="Arial"/>
                <a:cs typeface="Arial"/>
              </a:rPr>
              <a:t>can have short names (like x and y) or more  descriptive names (age, carname,</a:t>
            </a:r>
            <a:r>
              <a:rPr sz="2600" spc="-55" dirty="0">
                <a:latin typeface="Arial"/>
                <a:cs typeface="Arial"/>
              </a:rPr>
              <a:t> </a:t>
            </a:r>
            <a:r>
              <a:rPr sz="2600" dirty="0">
                <a:latin typeface="Arial"/>
                <a:cs typeface="Arial"/>
              </a:rPr>
              <a:t>totalvolume).</a:t>
            </a:r>
          </a:p>
          <a:p>
            <a:pPr marL="287020" indent="-274320">
              <a:lnSpc>
                <a:spcPct val="100000"/>
              </a:lnSpc>
              <a:spcBef>
                <a:spcPts val="600"/>
              </a:spcBef>
              <a:buClr>
                <a:srgbClr val="717BA2"/>
              </a:buClr>
              <a:buSzPct val="75000"/>
              <a:buChar char=""/>
              <a:tabLst>
                <a:tab pos="286385" algn="l"/>
                <a:tab pos="287020" algn="l"/>
              </a:tabLst>
            </a:pPr>
            <a:r>
              <a:rPr sz="2600" dirty="0">
                <a:latin typeface="Arial"/>
                <a:cs typeface="Arial"/>
              </a:rPr>
              <a:t>Rules for PHP</a:t>
            </a:r>
            <a:r>
              <a:rPr sz="2600" spc="-75" dirty="0">
                <a:latin typeface="Arial"/>
                <a:cs typeface="Arial"/>
              </a:rPr>
              <a:t> </a:t>
            </a:r>
            <a:r>
              <a:rPr sz="2600" dirty="0">
                <a:latin typeface="Arial"/>
                <a:cs typeface="Arial"/>
              </a:rPr>
              <a:t>variables:</a:t>
            </a:r>
          </a:p>
          <a:p>
            <a:pPr marL="561340" marR="203200" lvl="1" indent="-274955">
              <a:lnSpc>
                <a:spcPct val="100000"/>
              </a:lnSpc>
              <a:spcBef>
                <a:spcPts val="505"/>
              </a:spcBef>
              <a:buClr>
                <a:srgbClr val="9FB8CD"/>
              </a:buClr>
              <a:buSzPct val="76086"/>
              <a:buFont typeface="Wingdings"/>
              <a:buChar char=""/>
              <a:tabLst>
                <a:tab pos="561340" algn="l"/>
                <a:tab pos="561975" algn="l"/>
              </a:tabLst>
            </a:pPr>
            <a:r>
              <a:rPr sz="2300" dirty="0">
                <a:solidFill>
                  <a:srgbClr val="464652"/>
                </a:solidFill>
                <a:latin typeface="Arial"/>
                <a:cs typeface="Arial"/>
              </a:rPr>
              <a:t>A variable </a:t>
            </a:r>
            <a:r>
              <a:rPr sz="2300" spc="-5" dirty="0">
                <a:solidFill>
                  <a:srgbClr val="464652"/>
                </a:solidFill>
                <a:latin typeface="Arial"/>
                <a:cs typeface="Arial"/>
              </a:rPr>
              <a:t>starts </a:t>
            </a:r>
            <a:r>
              <a:rPr sz="2300" dirty="0">
                <a:solidFill>
                  <a:srgbClr val="464652"/>
                </a:solidFill>
                <a:latin typeface="Arial"/>
                <a:cs typeface="Arial"/>
              </a:rPr>
              <a:t>with the $ sign, followed by the name</a:t>
            </a:r>
            <a:r>
              <a:rPr sz="2300" spc="-375" dirty="0">
                <a:solidFill>
                  <a:srgbClr val="464652"/>
                </a:solidFill>
                <a:latin typeface="Arial"/>
                <a:cs typeface="Arial"/>
              </a:rPr>
              <a:t> </a:t>
            </a:r>
            <a:r>
              <a:rPr sz="2300" dirty="0">
                <a:solidFill>
                  <a:srgbClr val="464652"/>
                </a:solidFill>
                <a:latin typeface="Arial"/>
                <a:cs typeface="Arial"/>
              </a:rPr>
              <a:t>of  the</a:t>
            </a:r>
            <a:r>
              <a:rPr sz="2300" spc="-20" dirty="0">
                <a:solidFill>
                  <a:srgbClr val="464652"/>
                </a:solidFill>
                <a:latin typeface="Arial"/>
                <a:cs typeface="Arial"/>
              </a:rPr>
              <a:t> </a:t>
            </a:r>
            <a:r>
              <a:rPr sz="2300" dirty="0">
                <a:solidFill>
                  <a:srgbClr val="464652"/>
                </a:solidFill>
                <a:latin typeface="Arial"/>
                <a:cs typeface="Arial"/>
              </a:rPr>
              <a:t>variable</a:t>
            </a:r>
            <a:endParaRPr sz="2300" dirty="0">
              <a:latin typeface="Arial"/>
              <a:cs typeface="Arial"/>
            </a:endParaRPr>
          </a:p>
          <a:p>
            <a:pPr marL="561340" lvl="1" indent="-275590">
              <a:lnSpc>
                <a:spcPct val="100000"/>
              </a:lnSpc>
              <a:spcBef>
                <a:spcPts val="505"/>
              </a:spcBef>
              <a:buClr>
                <a:srgbClr val="9FB8CD"/>
              </a:buClr>
              <a:buSzPct val="76086"/>
              <a:buFont typeface="Wingdings"/>
              <a:buChar char=""/>
              <a:tabLst>
                <a:tab pos="561340" algn="l"/>
                <a:tab pos="561975" algn="l"/>
              </a:tabLst>
            </a:pPr>
            <a:r>
              <a:rPr sz="2300" dirty="0">
                <a:solidFill>
                  <a:srgbClr val="464652"/>
                </a:solidFill>
                <a:latin typeface="Arial"/>
                <a:cs typeface="Arial"/>
              </a:rPr>
              <a:t>A variable </a:t>
            </a:r>
            <a:r>
              <a:rPr sz="2300" spc="-5" dirty="0">
                <a:solidFill>
                  <a:srgbClr val="464652"/>
                </a:solidFill>
                <a:latin typeface="Arial"/>
                <a:cs typeface="Arial"/>
              </a:rPr>
              <a:t>name </a:t>
            </a:r>
            <a:r>
              <a:rPr sz="2300" dirty="0">
                <a:solidFill>
                  <a:srgbClr val="464652"/>
                </a:solidFill>
                <a:latin typeface="Arial"/>
                <a:cs typeface="Arial"/>
              </a:rPr>
              <a:t>must begin with a letter or</a:t>
            </a:r>
            <a:r>
              <a:rPr sz="2300" spc="-320" dirty="0">
                <a:solidFill>
                  <a:srgbClr val="464652"/>
                </a:solidFill>
                <a:latin typeface="Arial"/>
                <a:cs typeface="Arial"/>
              </a:rPr>
              <a:t> </a:t>
            </a:r>
            <a:r>
              <a:rPr sz="2300" dirty="0">
                <a:solidFill>
                  <a:srgbClr val="464652"/>
                </a:solidFill>
                <a:latin typeface="Arial"/>
                <a:cs typeface="Arial"/>
              </a:rPr>
              <a:t>the</a:t>
            </a:r>
            <a:endParaRPr sz="2300" dirty="0">
              <a:latin typeface="Arial"/>
              <a:cs typeface="Arial"/>
            </a:endParaRPr>
          </a:p>
          <a:p>
            <a:pPr marL="561340">
              <a:lnSpc>
                <a:spcPct val="100000"/>
              </a:lnSpc>
            </a:pPr>
            <a:r>
              <a:rPr sz="2300" dirty="0">
                <a:solidFill>
                  <a:srgbClr val="464652"/>
                </a:solidFill>
                <a:latin typeface="Arial"/>
                <a:cs typeface="Arial"/>
              </a:rPr>
              <a:t>underscore</a:t>
            </a:r>
            <a:r>
              <a:rPr sz="2300" spc="-55" dirty="0">
                <a:solidFill>
                  <a:srgbClr val="464652"/>
                </a:solidFill>
                <a:latin typeface="Arial"/>
                <a:cs typeface="Arial"/>
              </a:rPr>
              <a:t> </a:t>
            </a:r>
            <a:r>
              <a:rPr sz="2300" dirty="0">
                <a:solidFill>
                  <a:srgbClr val="464652"/>
                </a:solidFill>
                <a:latin typeface="Arial"/>
                <a:cs typeface="Arial"/>
              </a:rPr>
              <a:t>character</a:t>
            </a:r>
            <a:endParaRPr sz="2300" dirty="0">
              <a:latin typeface="Arial"/>
              <a:cs typeface="Arial"/>
            </a:endParaRPr>
          </a:p>
          <a:p>
            <a:pPr marL="561340" marR="1250315" lvl="1" indent="-274955">
              <a:lnSpc>
                <a:spcPct val="100000"/>
              </a:lnSpc>
              <a:spcBef>
                <a:spcPts val="495"/>
              </a:spcBef>
              <a:buClr>
                <a:srgbClr val="9FB8CD"/>
              </a:buClr>
              <a:buSzPct val="76086"/>
              <a:buFont typeface="Wingdings"/>
              <a:buChar char=""/>
              <a:tabLst>
                <a:tab pos="561340" algn="l"/>
                <a:tab pos="561975" algn="l"/>
              </a:tabLst>
            </a:pPr>
            <a:r>
              <a:rPr sz="2300" dirty="0">
                <a:solidFill>
                  <a:srgbClr val="464652"/>
                </a:solidFill>
                <a:latin typeface="Arial"/>
                <a:cs typeface="Arial"/>
              </a:rPr>
              <a:t>A variable </a:t>
            </a:r>
            <a:r>
              <a:rPr sz="2300" spc="-10" dirty="0">
                <a:solidFill>
                  <a:srgbClr val="464652"/>
                </a:solidFill>
                <a:latin typeface="Arial"/>
                <a:cs typeface="Arial"/>
              </a:rPr>
              <a:t>name </a:t>
            </a:r>
            <a:r>
              <a:rPr sz="2300" dirty="0">
                <a:solidFill>
                  <a:srgbClr val="464652"/>
                </a:solidFill>
                <a:latin typeface="Arial"/>
                <a:cs typeface="Arial"/>
              </a:rPr>
              <a:t>can only contain</a:t>
            </a:r>
            <a:r>
              <a:rPr sz="2300" spc="-305" dirty="0">
                <a:solidFill>
                  <a:srgbClr val="464652"/>
                </a:solidFill>
                <a:latin typeface="Arial"/>
                <a:cs typeface="Arial"/>
              </a:rPr>
              <a:t> </a:t>
            </a:r>
            <a:r>
              <a:rPr sz="2300" dirty="0">
                <a:solidFill>
                  <a:srgbClr val="464652"/>
                </a:solidFill>
                <a:latin typeface="Arial"/>
                <a:cs typeface="Arial"/>
              </a:rPr>
              <a:t>alpha-numeric  characters and </a:t>
            </a:r>
            <a:r>
              <a:rPr sz="2300" spc="-5" dirty="0">
                <a:solidFill>
                  <a:srgbClr val="464652"/>
                </a:solidFill>
                <a:latin typeface="Arial"/>
                <a:cs typeface="Arial"/>
              </a:rPr>
              <a:t>underscores </a:t>
            </a:r>
            <a:r>
              <a:rPr sz="2300" dirty="0">
                <a:solidFill>
                  <a:srgbClr val="464652"/>
                </a:solidFill>
                <a:latin typeface="Arial"/>
                <a:cs typeface="Arial"/>
              </a:rPr>
              <a:t>(A-z, 0-9, and _</a:t>
            </a:r>
            <a:r>
              <a:rPr sz="2300" spc="-175" dirty="0">
                <a:solidFill>
                  <a:srgbClr val="464652"/>
                </a:solidFill>
                <a:latin typeface="Arial"/>
                <a:cs typeface="Arial"/>
              </a:rPr>
              <a:t> </a:t>
            </a:r>
            <a:r>
              <a:rPr sz="2300" dirty="0">
                <a:solidFill>
                  <a:srgbClr val="464652"/>
                </a:solidFill>
                <a:latin typeface="Arial"/>
                <a:cs typeface="Arial"/>
              </a:rPr>
              <a:t>)</a:t>
            </a:r>
            <a:endParaRPr sz="2300" dirty="0">
              <a:latin typeface="Arial"/>
              <a:cs typeface="Arial"/>
            </a:endParaRPr>
          </a:p>
          <a:p>
            <a:pPr marL="561340" lvl="1" indent="-275590">
              <a:lnSpc>
                <a:spcPct val="100000"/>
              </a:lnSpc>
              <a:spcBef>
                <a:spcPts val="500"/>
              </a:spcBef>
              <a:buClr>
                <a:srgbClr val="9FB8CD"/>
              </a:buClr>
              <a:buSzPct val="76086"/>
              <a:buFont typeface="Wingdings"/>
              <a:buChar char=""/>
              <a:tabLst>
                <a:tab pos="561340" algn="l"/>
                <a:tab pos="561975" algn="l"/>
              </a:tabLst>
            </a:pPr>
            <a:r>
              <a:rPr sz="2300" dirty="0">
                <a:solidFill>
                  <a:srgbClr val="464652"/>
                </a:solidFill>
                <a:latin typeface="Arial"/>
                <a:cs typeface="Arial"/>
              </a:rPr>
              <a:t>A variable </a:t>
            </a:r>
            <a:r>
              <a:rPr sz="2300" spc="-10" dirty="0">
                <a:solidFill>
                  <a:srgbClr val="464652"/>
                </a:solidFill>
                <a:latin typeface="Arial"/>
                <a:cs typeface="Arial"/>
              </a:rPr>
              <a:t>name </a:t>
            </a:r>
            <a:r>
              <a:rPr sz="2300" dirty="0">
                <a:solidFill>
                  <a:srgbClr val="464652"/>
                </a:solidFill>
                <a:latin typeface="Arial"/>
                <a:cs typeface="Arial"/>
              </a:rPr>
              <a:t>should not contain</a:t>
            </a:r>
            <a:r>
              <a:rPr sz="2300" spc="-280" dirty="0">
                <a:solidFill>
                  <a:srgbClr val="464652"/>
                </a:solidFill>
                <a:latin typeface="Arial"/>
                <a:cs typeface="Arial"/>
              </a:rPr>
              <a:t> </a:t>
            </a:r>
            <a:r>
              <a:rPr sz="2300" dirty="0">
                <a:solidFill>
                  <a:srgbClr val="464652"/>
                </a:solidFill>
                <a:latin typeface="Arial"/>
                <a:cs typeface="Arial"/>
              </a:rPr>
              <a:t>spaces</a:t>
            </a:r>
            <a:endParaRPr sz="2300" dirty="0">
              <a:latin typeface="Arial"/>
              <a:cs typeface="Arial"/>
            </a:endParaRPr>
          </a:p>
          <a:p>
            <a:pPr marL="561340" marR="520065" lvl="1" indent="-274955">
              <a:lnSpc>
                <a:spcPct val="100000"/>
              </a:lnSpc>
              <a:spcBef>
                <a:spcPts val="509"/>
              </a:spcBef>
              <a:buClr>
                <a:srgbClr val="9FB8CD"/>
              </a:buClr>
              <a:buSzPct val="76086"/>
              <a:buFont typeface="Wingdings"/>
              <a:buChar char=""/>
              <a:tabLst>
                <a:tab pos="561340" algn="l"/>
                <a:tab pos="561975" algn="l"/>
              </a:tabLst>
            </a:pPr>
            <a:r>
              <a:rPr sz="2300" spc="-20" dirty="0">
                <a:solidFill>
                  <a:srgbClr val="464652"/>
                </a:solidFill>
                <a:latin typeface="Arial"/>
                <a:cs typeface="Arial"/>
              </a:rPr>
              <a:t>Variable </a:t>
            </a:r>
            <a:r>
              <a:rPr sz="2300" dirty="0">
                <a:solidFill>
                  <a:srgbClr val="464652"/>
                </a:solidFill>
                <a:latin typeface="Arial"/>
                <a:cs typeface="Arial"/>
              </a:rPr>
              <a:t>names are case sensitive ($y and $Y are</a:t>
            </a:r>
            <a:r>
              <a:rPr sz="2300" spc="-275" dirty="0">
                <a:solidFill>
                  <a:srgbClr val="464652"/>
                </a:solidFill>
                <a:latin typeface="Arial"/>
                <a:cs typeface="Arial"/>
              </a:rPr>
              <a:t> </a:t>
            </a:r>
            <a:r>
              <a:rPr sz="2300" dirty="0">
                <a:solidFill>
                  <a:srgbClr val="464652"/>
                </a:solidFill>
                <a:latin typeface="Arial"/>
                <a:cs typeface="Arial"/>
              </a:rPr>
              <a:t>two  </a:t>
            </a:r>
            <a:r>
              <a:rPr sz="2300" spc="-5" dirty="0">
                <a:solidFill>
                  <a:srgbClr val="464652"/>
                </a:solidFill>
                <a:latin typeface="Arial"/>
                <a:cs typeface="Arial"/>
              </a:rPr>
              <a:t>different</a:t>
            </a:r>
            <a:r>
              <a:rPr sz="2300" spc="-60" dirty="0">
                <a:solidFill>
                  <a:srgbClr val="464652"/>
                </a:solidFill>
                <a:latin typeface="Arial"/>
                <a:cs typeface="Arial"/>
              </a:rPr>
              <a:t> </a:t>
            </a:r>
            <a:r>
              <a:rPr sz="2300" dirty="0">
                <a:solidFill>
                  <a:srgbClr val="464652"/>
                </a:solidFill>
                <a:latin typeface="Arial"/>
                <a:cs typeface="Arial"/>
              </a:rPr>
              <a:t>variables)</a:t>
            </a:r>
            <a:endParaRPr sz="2300" dirty="0">
              <a:latin typeface="Arial"/>
              <a:cs typeface="Arial"/>
            </a:endParaRPr>
          </a:p>
        </p:txBody>
      </p:sp>
    </p:spTree>
    <p:extLst>
      <p:ext uri="{BB962C8B-B14F-4D97-AF65-F5344CB8AC3E}">
        <p14:creationId xmlns:p14="http://schemas.microsoft.com/office/powerpoint/2010/main" val="2097182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88912"/>
            <a:ext cx="7846060" cy="690574"/>
          </a:xfrm>
          <a:prstGeom prst="rect">
            <a:avLst/>
          </a:prstGeom>
        </p:spPr>
        <p:txBody>
          <a:bodyPr vert="horz" wrap="square" lIns="0" tIns="13335" rIns="0" bIns="0" rtlCol="0">
            <a:spAutoFit/>
          </a:bodyPr>
          <a:lstStyle/>
          <a:p>
            <a:pPr marL="12700">
              <a:lnSpc>
                <a:spcPct val="100000"/>
              </a:lnSpc>
              <a:spcBef>
                <a:spcPts val="105"/>
              </a:spcBef>
            </a:pPr>
            <a:r>
              <a:rPr dirty="0">
                <a:solidFill>
                  <a:srgbClr val="464652"/>
                </a:solidFill>
              </a:rPr>
              <a:t>Creating (Declaring) PHP</a:t>
            </a:r>
            <a:r>
              <a:rPr spc="-60" dirty="0">
                <a:solidFill>
                  <a:srgbClr val="464652"/>
                </a:solidFill>
              </a:rPr>
              <a:t> </a:t>
            </a:r>
            <a:r>
              <a:rPr spc="-5" dirty="0">
                <a:solidFill>
                  <a:srgbClr val="464652"/>
                </a:solidFill>
              </a:rPr>
              <a:t>Variables</a:t>
            </a:r>
          </a:p>
        </p:txBody>
      </p:sp>
      <p:sp>
        <p:nvSpPr>
          <p:cNvPr id="3" name="object 3"/>
          <p:cNvSpPr txBox="1"/>
          <p:nvPr/>
        </p:nvSpPr>
        <p:spPr>
          <a:xfrm>
            <a:off x="535940" y="1091539"/>
            <a:ext cx="7926705" cy="4370070"/>
          </a:xfrm>
          <a:prstGeom prst="rect">
            <a:avLst/>
          </a:prstGeom>
        </p:spPr>
        <p:txBody>
          <a:bodyPr vert="horz" wrap="square" lIns="0" tIns="88900" rIns="0" bIns="0" rtlCol="0">
            <a:spAutoFit/>
          </a:bodyPr>
          <a:lstStyle/>
          <a:p>
            <a:pPr marL="287020" indent="-274320">
              <a:lnSpc>
                <a:spcPct val="100000"/>
              </a:lnSpc>
              <a:spcBef>
                <a:spcPts val="700"/>
              </a:spcBef>
              <a:buClr>
                <a:srgbClr val="717BA2"/>
              </a:buClr>
              <a:buSzPct val="75000"/>
              <a:buChar char=""/>
              <a:tabLst>
                <a:tab pos="286385" algn="l"/>
                <a:tab pos="287020" algn="l"/>
              </a:tabLst>
            </a:pPr>
            <a:r>
              <a:rPr sz="2600" dirty="0">
                <a:latin typeface="Arial"/>
                <a:cs typeface="Arial"/>
              </a:rPr>
              <a:t>PHP has no command for declaring a</a:t>
            </a:r>
            <a:r>
              <a:rPr sz="2600" spc="-100" dirty="0">
                <a:latin typeface="Arial"/>
                <a:cs typeface="Arial"/>
              </a:rPr>
              <a:t> </a:t>
            </a:r>
            <a:r>
              <a:rPr sz="2600" dirty="0">
                <a:latin typeface="Arial"/>
                <a:cs typeface="Arial"/>
              </a:rPr>
              <a:t>variable.</a:t>
            </a:r>
            <a:endParaRPr sz="2600">
              <a:latin typeface="Arial"/>
              <a:cs typeface="Arial"/>
            </a:endParaRPr>
          </a:p>
          <a:p>
            <a:pPr marL="286385" marR="244475" indent="-274320">
              <a:lnSpc>
                <a:spcPct val="100000"/>
              </a:lnSpc>
              <a:spcBef>
                <a:spcPts val="600"/>
              </a:spcBef>
              <a:buClr>
                <a:srgbClr val="717BA2"/>
              </a:buClr>
              <a:buSzPct val="75000"/>
              <a:buChar char=""/>
              <a:tabLst>
                <a:tab pos="286385" algn="l"/>
                <a:tab pos="287020" algn="l"/>
              </a:tabLst>
            </a:pPr>
            <a:r>
              <a:rPr sz="2600" dirty="0">
                <a:latin typeface="Arial"/>
                <a:cs typeface="Arial"/>
              </a:rPr>
              <a:t>A variable is created the moment you </a:t>
            </a:r>
            <a:r>
              <a:rPr sz="2600" spc="-5" dirty="0">
                <a:latin typeface="Arial"/>
                <a:cs typeface="Arial"/>
              </a:rPr>
              <a:t>first </a:t>
            </a:r>
            <a:r>
              <a:rPr sz="2600" dirty="0">
                <a:latin typeface="Arial"/>
                <a:cs typeface="Arial"/>
              </a:rPr>
              <a:t>assign</a:t>
            </a:r>
            <a:r>
              <a:rPr sz="2600" spc="-175" dirty="0">
                <a:latin typeface="Arial"/>
                <a:cs typeface="Arial"/>
              </a:rPr>
              <a:t> </a:t>
            </a:r>
            <a:r>
              <a:rPr sz="2600" dirty="0">
                <a:latin typeface="Arial"/>
                <a:cs typeface="Arial"/>
              </a:rPr>
              <a:t>a  value to</a:t>
            </a:r>
            <a:r>
              <a:rPr sz="2600" spc="-10" dirty="0">
                <a:latin typeface="Arial"/>
                <a:cs typeface="Arial"/>
              </a:rPr>
              <a:t> </a:t>
            </a:r>
            <a:r>
              <a:rPr sz="2600" dirty="0">
                <a:latin typeface="Arial"/>
                <a:cs typeface="Arial"/>
              </a:rPr>
              <a:t>it:</a:t>
            </a:r>
            <a:endParaRPr sz="2600">
              <a:latin typeface="Arial"/>
              <a:cs typeface="Arial"/>
            </a:endParaRPr>
          </a:p>
          <a:p>
            <a:pPr marL="287020" indent="-274320">
              <a:lnSpc>
                <a:spcPct val="100000"/>
              </a:lnSpc>
              <a:spcBef>
                <a:spcPts val="600"/>
              </a:spcBef>
              <a:buClr>
                <a:srgbClr val="717BA2"/>
              </a:buClr>
              <a:buSzPct val="75000"/>
              <a:buChar char=""/>
              <a:tabLst>
                <a:tab pos="286385" algn="l"/>
                <a:tab pos="287020" algn="l"/>
              </a:tabLst>
            </a:pPr>
            <a:r>
              <a:rPr sz="2600" dirty="0">
                <a:latin typeface="Arial"/>
                <a:cs typeface="Arial"/>
              </a:rPr>
              <a:t>$txt="Hello</a:t>
            </a:r>
            <a:r>
              <a:rPr sz="2600" spc="-30" dirty="0">
                <a:latin typeface="Arial"/>
                <a:cs typeface="Arial"/>
              </a:rPr>
              <a:t> </a:t>
            </a:r>
            <a:r>
              <a:rPr sz="2600" dirty="0">
                <a:latin typeface="Arial"/>
                <a:cs typeface="Arial"/>
              </a:rPr>
              <a:t>world!";</a:t>
            </a:r>
            <a:endParaRPr sz="2600">
              <a:latin typeface="Arial"/>
              <a:cs typeface="Arial"/>
            </a:endParaRPr>
          </a:p>
          <a:p>
            <a:pPr marL="286385">
              <a:lnSpc>
                <a:spcPct val="100000"/>
              </a:lnSpc>
            </a:pPr>
            <a:r>
              <a:rPr sz="2600" dirty="0">
                <a:latin typeface="Arial"/>
                <a:cs typeface="Arial"/>
              </a:rPr>
              <a:t>$x=5;</a:t>
            </a:r>
            <a:endParaRPr sz="2600">
              <a:latin typeface="Arial"/>
              <a:cs typeface="Arial"/>
            </a:endParaRPr>
          </a:p>
          <a:p>
            <a:pPr marL="286385" marR="5080" indent="-274320">
              <a:lnSpc>
                <a:spcPct val="100000"/>
              </a:lnSpc>
              <a:spcBef>
                <a:spcPts val="600"/>
              </a:spcBef>
              <a:buClr>
                <a:srgbClr val="717BA2"/>
              </a:buClr>
              <a:buSzPct val="75000"/>
              <a:buChar char=""/>
              <a:tabLst>
                <a:tab pos="286385" algn="l"/>
                <a:tab pos="287020" algn="l"/>
              </a:tabLst>
            </a:pPr>
            <a:r>
              <a:rPr sz="2600" dirty="0">
                <a:latin typeface="Arial"/>
                <a:cs typeface="Arial"/>
              </a:rPr>
              <a:t>After the execution of the statements above, the  variable </a:t>
            </a:r>
            <a:r>
              <a:rPr sz="2600" b="1" dirty="0">
                <a:latin typeface="Arial"/>
                <a:cs typeface="Arial"/>
              </a:rPr>
              <a:t>txt </a:t>
            </a:r>
            <a:r>
              <a:rPr sz="2600" dirty="0">
                <a:latin typeface="Arial"/>
                <a:cs typeface="Arial"/>
              </a:rPr>
              <a:t>will hold the value </a:t>
            </a:r>
            <a:r>
              <a:rPr sz="2600" b="1" dirty="0">
                <a:latin typeface="Arial"/>
                <a:cs typeface="Arial"/>
              </a:rPr>
              <a:t>Hello </a:t>
            </a:r>
            <a:r>
              <a:rPr sz="2600" b="1" spc="5" dirty="0">
                <a:latin typeface="Arial"/>
                <a:cs typeface="Arial"/>
              </a:rPr>
              <a:t>world!</a:t>
            </a:r>
            <a:r>
              <a:rPr sz="2600" spc="5" dirty="0">
                <a:latin typeface="Arial"/>
                <a:cs typeface="Arial"/>
              </a:rPr>
              <a:t>, </a:t>
            </a:r>
            <a:r>
              <a:rPr sz="2600" dirty="0">
                <a:latin typeface="Arial"/>
                <a:cs typeface="Arial"/>
              </a:rPr>
              <a:t>and</a:t>
            </a:r>
            <a:r>
              <a:rPr sz="2600" spc="-90" dirty="0">
                <a:latin typeface="Arial"/>
                <a:cs typeface="Arial"/>
              </a:rPr>
              <a:t> </a:t>
            </a:r>
            <a:r>
              <a:rPr sz="2600" dirty="0">
                <a:latin typeface="Arial"/>
                <a:cs typeface="Arial"/>
              </a:rPr>
              <a:t>the  variable </a:t>
            </a:r>
            <a:r>
              <a:rPr sz="2600" b="1" dirty="0">
                <a:latin typeface="Arial"/>
                <a:cs typeface="Arial"/>
              </a:rPr>
              <a:t>x</a:t>
            </a:r>
            <a:r>
              <a:rPr sz="2600" dirty="0">
                <a:latin typeface="Arial"/>
                <a:cs typeface="Arial"/>
              </a:rPr>
              <a:t>will hold the value</a:t>
            </a:r>
            <a:r>
              <a:rPr sz="2600" spc="-20" dirty="0">
                <a:latin typeface="Arial"/>
                <a:cs typeface="Arial"/>
              </a:rPr>
              <a:t> </a:t>
            </a:r>
            <a:r>
              <a:rPr sz="2600" b="1" dirty="0">
                <a:latin typeface="Arial"/>
                <a:cs typeface="Arial"/>
              </a:rPr>
              <a:t>5</a:t>
            </a:r>
            <a:r>
              <a:rPr sz="2600" dirty="0">
                <a:latin typeface="Arial"/>
                <a:cs typeface="Arial"/>
              </a:rPr>
              <a:t>.</a:t>
            </a:r>
            <a:endParaRPr sz="2600">
              <a:latin typeface="Arial"/>
              <a:cs typeface="Arial"/>
            </a:endParaRPr>
          </a:p>
          <a:p>
            <a:pPr marL="286385" marR="390525" indent="-274320">
              <a:lnSpc>
                <a:spcPct val="100000"/>
              </a:lnSpc>
              <a:spcBef>
                <a:spcPts val="605"/>
              </a:spcBef>
              <a:buClr>
                <a:srgbClr val="717BA2"/>
              </a:buClr>
              <a:buSzPct val="75000"/>
              <a:buFont typeface="Arial"/>
              <a:buChar char=""/>
              <a:tabLst>
                <a:tab pos="286385" algn="l"/>
                <a:tab pos="287020" algn="l"/>
              </a:tabLst>
            </a:pPr>
            <a:r>
              <a:rPr sz="2600" b="1" dirty="0">
                <a:latin typeface="Arial"/>
                <a:cs typeface="Arial"/>
              </a:rPr>
              <a:t>Note: </a:t>
            </a:r>
            <a:r>
              <a:rPr sz="2600" dirty="0">
                <a:latin typeface="Arial"/>
                <a:cs typeface="Arial"/>
              </a:rPr>
              <a:t>When you assign a text value to a</a:t>
            </a:r>
            <a:r>
              <a:rPr sz="2600" spc="-60" dirty="0">
                <a:latin typeface="Arial"/>
                <a:cs typeface="Arial"/>
              </a:rPr>
              <a:t> </a:t>
            </a:r>
            <a:r>
              <a:rPr sz="2600" dirty="0">
                <a:latin typeface="Arial"/>
                <a:cs typeface="Arial"/>
              </a:rPr>
              <a:t>variable,  put quotes around the</a:t>
            </a:r>
            <a:r>
              <a:rPr sz="2600" spc="-5" dirty="0">
                <a:latin typeface="Arial"/>
                <a:cs typeface="Arial"/>
              </a:rPr>
              <a:t> </a:t>
            </a:r>
            <a:r>
              <a:rPr sz="2600" dirty="0">
                <a:latin typeface="Arial"/>
                <a:cs typeface="Arial"/>
              </a:rPr>
              <a:t>value.</a:t>
            </a:r>
            <a:endParaRPr sz="2600">
              <a:latin typeface="Arial"/>
              <a:cs typeface="Arial"/>
            </a:endParaRPr>
          </a:p>
        </p:txBody>
      </p:sp>
    </p:spTree>
    <p:extLst>
      <p:ext uri="{BB962C8B-B14F-4D97-AF65-F5344CB8AC3E}">
        <p14:creationId xmlns:p14="http://schemas.microsoft.com/office/powerpoint/2010/main" val="2527481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88912"/>
            <a:ext cx="7912734" cy="690574"/>
          </a:xfrm>
          <a:prstGeom prst="rect">
            <a:avLst/>
          </a:prstGeom>
        </p:spPr>
        <p:txBody>
          <a:bodyPr vert="horz" wrap="square" lIns="0" tIns="13335" rIns="0" bIns="0" rtlCol="0">
            <a:spAutoFit/>
          </a:bodyPr>
          <a:lstStyle/>
          <a:p>
            <a:pPr marL="12700">
              <a:lnSpc>
                <a:spcPct val="100000"/>
              </a:lnSpc>
              <a:spcBef>
                <a:spcPts val="105"/>
              </a:spcBef>
            </a:pPr>
            <a:r>
              <a:rPr dirty="0">
                <a:solidFill>
                  <a:srgbClr val="464652"/>
                </a:solidFill>
              </a:rPr>
              <a:t>PHP </a:t>
            </a:r>
            <a:r>
              <a:rPr spc="-5" dirty="0">
                <a:solidFill>
                  <a:srgbClr val="464652"/>
                </a:solidFill>
              </a:rPr>
              <a:t>echo and print</a:t>
            </a:r>
            <a:r>
              <a:rPr spc="-55" dirty="0">
                <a:solidFill>
                  <a:srgbClr val="464652"/>
                </a:solidFill>
              </a:rPr>
              <a:t> </a:t>
            </a:r>
            <a:r>
              <a:rPr spc="-5" dirty="0">
                <a:solidFill>
                  <a:srgbClr val="464652"/>
                </a:solidFill>
              </a:rPr>
              <a:t>Statements</a:t>
            </a:r>
          </a:p>
        </p:txBody>
      </p:sp>
      <p:sp>
        <p:nvSpPr>
          <p:cNvPr id="3" name="object 3"/>
          <p:cNvSpPr txBox="1"/>
          <p:nvPr/>
        </p:nvSpPr>
        <p:spPr>
          <a:xfrm>
            <a:off x="535940" y="1200658"/>
            <a:ext cx="7912734" cy="5414010"/>
          </a:xfrm>
          <a:prstGeom prst="rect">
            <a:avLst/>
          </a:prstGeom>
        </p:spPr>
        <p:txBody>
          <a:bodyPr vert="horz" wrap="square" lIns="0" tIns="60960" rIns="0" bIns="0" rtlCol="0">
            <a:spAutoFit/>
          </a:bodyPr>
          <a:lstStyle/>
          <a:p>
            <a:pPr marL="286385" marR="567055" indent="-274320">
              <a:lnSpc>
                <a:spcPts val="3020"/>
              </a:lnSpc>
              <a:spcBef>
                <a:spcPts val="480"/>
              </a:spcBef>
              <a:buClr>
                <a:srgbClr val="717BA2"/>
              </a:buClr>
              <a:buSzPct val="75000"/>
              <a:buChar char=""/>
              <a:tabLst>
                <a:tab pos="286385" algn="l"/>
                <a:tab pos="287020" algn="l"/>
              </a:tabLst>
            </a:pPr>
            <a:r>
              <a:rPr sz="2800" spc="-5" dirty="0">
                <a:latin typeface="Arial"/>
                <a:cs typeface="Arial"/>
              </a:rPr>
              <a:t>In </a:t>
            </a:r>
            <a:r>
              <a:rPr sz="2800" spc="-10" dirty="0">
                <a:latin typeface="Arial"/>
                <a:cs typeface="Arial"/>
              </a:rPr>
              <a:t>PHP </a:t>
            </a:r>
            <a:r>
              <a:rPr sz="2800" dirty="0">
                <a:latin typeface="Arial"/>
                <a:cs typeface="Arial"/>
              </a:rPr>
              <a:t>there </a:t>
            </a:r>
            <a:r>
              <a:rPr sz="2800" spc="-5" dirty="0">
                <a:latin typeface="Arial"/>
                <a:cs typeface="Arial"/>
              </a:rPr>
              <a:t>is two </a:t>
            </a:r>
            <a:r>
              <a:rPr sz="2800" dirty="0">
                <a:latin typeface="Arial"/>
                <a:cs typeface="Arial"/>
              </a:rPr>
              <a:t>basic </a:t>
            </a:r>
            <a:r>
              <a:rPr sz="2800" spc="-5" dirty="0">
                <a:latin typeface="Arial"/>
                <a:cs typeface="Arial"/>
              </a:rPr>
              <a:t>ways to get </a:t>
            </a:r>
            <a:r>
              <a:rPr sz="2800" dirty="0">
                <a:latin typeface="Arial"/>
                <a:cs typeface="Arial"/>
              </a:rPr>
              <a:t>output:  </a:t>
            </a:r>
            <a:r>
              <a:rPr sz="2800" spc="-5" dirty="0">
                <a:latin typeface="Arial"/>
                <a:cs typeface="Arial"/>
              </a:rPr>
              <a:t>echo </a:t>
            </a:r>
            <a:r>
              <a:rPr sz="2800" dirty="0">
                <a:latin typeface="Arial"/>
                <a:cs typeface="Arial"/>
              </a:rPr>
              <a:t>and print.</a:t>
            </a:r>
          </a:p>
          <a:p>
            <a:pPr marL="286385" marR="260985" indent="-274320">
              <a:lnSpc>
                <a:spcPts val="3020"/>
              </a:lnSpc>
              <a:spcBef>
                <a:spcPts val="610"/>
              </a:spcBef>
              <a:buClr>
                <a:srgbClr val="717BA2"/>
              </a:buClr>
              <a:buSzPct val="75000"/>
              <a:buChar char=""/>
              <a:tabLst>
                <a:tab pos="286385" algn="l"/>
                <a:tab pos="287020" algn="l"/>
              </a:tabLst>
            </a:pPr>
            <a:r>
              <a:rPr sz="2800" spc="-5" dirty="0">
                <a:latin typeface="Arial"/>
                <a:cs typeface="Arial"/>
              </a:rPr>
              <a:t>There are some differences between echo </a:t>
            </a:r>
            <a:r>
              <a:rPr sz="2800" dirty="0">
                <a:latin typeface="Arial"/>
                <a:cs typeface="Arial"/>
              </a:rPr>
              <a:t>and  print:</a:t>
            </a:r>
          </a:p>
          <a:p>
            <a:pPr marL="561340" lvl="1" indent="-275590">
              <a:lnSpc>
                <a:spcPct val="100000"/>
              </a:lnSpc>
              <a:spcBef>
                <a:spcPts val="180"/>
              </a:spcBef>
              <a:buClr>
                <a:srgbClr val="9FB8CD"/>
              </a:buClr>
              <a:buSzPct val="75000"/>
              <a:buChar char=""/>
              <a:tabLst>
                <a:tab pos="561340" algn="l"/>
                <a:tab pos="561975" algn="l"/>
              </a:tabLst>
            </a:pPr>
            <a:r>
              <a:rPr sz="2400" spc="-5" dirty="0">
                <a:solidFill>
                  <a:srgbClr val="464652"/>
                </a:solidFill>
                <a:latin typeface="Arial"/>
                <a:cs typeface="Arial"/>
              </a:rPr>
              <a:t>echo </a:t>
            </a:r>
            <a:r>
              <a:rPr sz="2400" dirty="0">
                <a:solidFill>
                  <a:srgbClr val="464652"/>
                </a:solidFill>
                <a:latin typeface="Arial"/>
                <a:cs typeface="Arial"/>
              </a:rPr>
              <a:t>- </a:t>
            </a:r>
            <a:r>
              <a:rPr sz="2400" spc="-5" dirty="0">
                <a:solidFill>
                  <a:srgbClr val="464652"/>
                </a:solidFill>
                <a:latin typeface="Arial"/>
                <a:cs typeface="Arial"/>
              </a:rPr>
              <a:t>can </a:t>
            </a:r>
            <a:r>
              <a:rPr sz="2400" dirty="0">
                <a:solidFill>
                  <a:srgbClr val="464652"/>
                </a:solidFill>
                <a:latin typeface="Arial"/>
                <a:cs typeface="Arial"/>
              </a:rPr>
              <a:t>output </a:t>
            </a:r>
            <a:r>
              <a:rPr sz="2400" spc="-5" dirty="0">
                <a:solidFill>
                  <a:srgbClr val="464652"/>
                </a:solidFill>
                <a:latin typeface="Arial"/>
                <a:cs typeface="Arial"/>
              </a:rPr>
              <a:t>one or more</a:t>
            </a:r>
            <a:r>
              <a:rPr sz="2400" spc="25" dirty="0">
                <a:solidFill>
                  <a:srgbClr val="464652"/>
                </a:solidFill>
                <a:latin typeface="Arial"/>
                <a:cs typeface="Arial"/>
              </a:rPr>
              <a:t> </a:t>
            </a:r>
            <a:r>
              <a:rPr sz="2400" spc="-5" dirty="0">
                <a:solidFill>
                  <a:srgbClr val="464652"/>
                </a:solidFill>
                <a:latin typeface="Arial"/>
                <a:cs typeface="Arial"/>
              </a:rPr>
              <a:t>strings</a:t>
            </a:r>
            <a:endParaRPr sz="2400" dirty="0">
              <a:latin typeface="Arial"/>
              <a:cs typeface="Arial"/>
            </a:endParaRPr>
          </a:p>
          <a:p>
            <a:pPr marL="561340" lvl="1" indent="-275590">
              <a:lnSpc>
                <a:spcPct val="100000"/>
              </a:lnSpc>
              <a:spcBef>
                <a:spcPts val="215"/>
              </a:spcBef>
              <a:buClr>
                <a:srgbClr val="9FB8CD"/>
              </a:buClr>
              <a:buSzPct val="75000"/>
              <a:buChar char=""/>
              <a:tabLst>
                <a:tab pos="561340" algn="l"/>
                <a:tab pos="561975" algn="l"/>
              </a:tabLst>
            </a:pPr>
            <a:r>
              <a:rPr sz="2400" spc="-5" dirty="0">
                <a:solidFill>
                  <a:srgbClr val="464652"/>
                </a:solidFill>
                <a:latin typeface="Arial"/>
                <a:cs typeface="Arial"/>
              </a:rPr>
              <a:t>print </a:t>
            </a:r>
            <a:r>
              <a:rPr sz="2400" dirty="0">
                <a:solidFill>
                  <a:srgbClr val="464652"/>
                </a:solidFill>
                <a:latin typeface="Arial"/>
                <a:cs typeface="Arial"/>
              </a:rPr>
              <a:t>- can </a:t>
            </a:r>
            <a:r>
              <a:rPr sz="2400" spc="-5" dirty="0">
                <a:solidFill>
                  <a:srgbClr val="464652"/>
                </a:solidFill>
                <a:latin typeface="Arial"/>
                <a:cs typeface="Arial"/>
              </a:rPr>
              <a:t>only output one </a:t>
            </a:r>
            <a:r>
              <a:rPr sz="2400" dirty="0">
                <a:solidFill>
                  <a:srgbClr val="464652"/>
                </a:solidFill>
                <a:latin typeface="Arial"/>
                <a:cs typeface="Arial"/>
              </a:rPr>
              <a:t>string, </a:t>
            </a:r>
            <a:r>
              <a:rPr sz="2400" spc="-5" dirty="0">
                <a:solidFill>
                  <a:srgbClr val="464652"/>
                </a:solidFill>
                <a:latin typeface="Arial"/>
                <a:cs typeface="Arial"/>
              </a:rPr>
              <a:t>and </a:t>
            </a:r>
            <a:r>
              <a:rPr sz="2400" dirty="0">
                <a:solidFill>
                  <a:srgbClr val="464652"/>
                </a:solidFill>
                <a:latin typeface="Arial"/>
                <a:cs typeface="Arial"/>
              </a:rPr>
              <a:t>returns </a:t>
            </a:r>
            <a:r>
              <a:rPr sz="2400" spc="-5" dirty="0">
                <a:solidFill>
                  <a:srgbClr val="464652"/>
                </a:solidFill>
                <a:latin typeface="Arial"/>
                <a:cs typeface="Arial"/>
              </a:rPr>
              <a:t>always</a:t>
            </a:r>
            <a:r>
              <a:rPr sz="2400" spc="40" dirty="0">
                <a:solidFill>
                  <a:srgbClr val="464652"/>
                </a:solidFill>
                <a:latin typeface="Arial"/>
                <a:cs typeface="Arial"/>
              </a:rPr>
              <a:t> </a:t>
            </a:r>
            <a:r>
              <a:rPr sz="2400" dirty="0">
                <a:solidFill>
                  <a:srgbClr val="464652"/>
                </a:solidFill>
                <a:latin typeface="Arial"/>
                <a:cs typeface="Arial"/>
              </a:rPr>
              <a:t>1</a:t>
            </a:r>
            <a:endParaRPr sz="2400" dirty="0">
              <a:latin typeface="Arial"/>
              <a:cs typeface="Arial"/>
            </a:endParaRPr>
          </a:p>
          <a:p>
            <a:pPr marL="286385" marR="165100" indent="-274320">
              <a:lnSpc>
                <a:spcPts val="3020"/>
              </a:lnSpc>
              <a:spcBef>
                <a:spcPts val="635"/>
              </a:spcBef>
              <a:buClr>
                <a:srgbClr val="717BA2"/>
              </a:buClr>
              <a:buSzPct val="75000"/>
              <a:buFont typeface="Arial"/>
              <a:buChar char=""/>
              <a:tabLst>
                <a:tab pos="286385" algn="l"/>
                <a:tab pos="287020" algn="l"/>
              </a:tabLst>
            </a:pPr>
            <a:r>
              <a:rPr sz="2800" b="1" spc="-20" dirty="0">
                <a:latin typeface="Arial"/>
                <a:cs typeface="Arial"/>
              </a:rPr>
              <a:t>Tip: </a:t>
            </a:r>
            <a:r>
              <a:rPr sz="2800" spc="-5" dirty="0">
                <a:latin typeface="Arial"/>
                <a:cs typeface="Arial"/>
              </a:rPr>
              <a:t>echo is marginally </a:t>
            </a:r>
            <a:r>
              <a:rPr sz="2800" dirty="0">
                <a:latin typeface="Arial"/>
                <a:cs typeface="Arial"/>
              </a:rPr>
              <a:t>faster </a:t>
            </a:r>
            <a:r>
              <a:rPr sz="2800" spc="-5" dirty="0">
                <a:latin typeface="Arial"/>
                <a:cs typeface="Arial"/>
              </a:rPr>
              <a:t>compared to </a:t>
            </a:r>
            <a:r>
              <a:rPr sz="2800" dirty="0">
                <a:latin typeface="Arial"/>
                <a:cs typeface="Arial"/>
              </a:rPr>
              <a:t>print  </a:t>
            </a:r>
            <a:r>
              <a:rPr sz="2800" spc="-5" dirty="0">
                <a:latin typeface="Arial"/>
                <a:cs typeface="Arial"/>
              </a:rPr>
              <a:t>as echo </a:t>
            </a:r>
            <a:r>
              <a:rPr sz="2800" dirty="0">
                <a:latin typeface="Arial"/>
                <a:cs typeface="Arial"/>
              </a:rPr>
              <a:t>does not return any</a:t>
            </a:r>
            <a:r>
              <a:rPr sz="2800" spc="10" dirty="0">
                <a:latin typeface="Arial"/>
                <a:cs typeface="Arial"/>
              </a:rPr>
              <a:t> </a:t>
            </a:r>
            <a:r>
              <a:rPr sz="2800" spc="-5" dirty="0">
                <a:latin typeface="Arial"/>
                <a:cs typeface="Arial"/>
              </a:rPr>
              <a:t>value.</a:t>
            </a:r>
            <a:endParaRPr sz="2800" dirty="0">
              <a:latin typeface="Arial"/>
              <a:cs typeface="Arial"/>
            </a:endParaRPr>
          </a:p>
          <a:p>
            <a:pPr marL="286385">
              <a:lnSpc>
                <a:spcPts val="2735"/>
              </a:lnSpc>
              <a:spcBef>
                <a:spcPts val="190"/>
              </a:spcBef>
            </a:pPr>
            <a:r>
              <a:rPr sz="2400" spc="-5" dirty="0">
                <a:solidFill>
                  <a:srgbClr val="464652"/>
                </a:solidFill>
                <a:latin typeface="Arial"/>
                <a:cs typeface="Arial"/>
              </a:rPr>
              <a:t>&lt;?php</a:t>
            </a:r>
            <a:endParaRPr sz="2400" dirty="0">
              <a:latin typeface="Arial"/>
              <a:cs typeface="Arial"/>
            </a:endParaRPr>
          </a:p>
          <a:p>
            <a:pPr marL="561340">
              <a:lnSpc>
                <a:spcPts val="2595"/>
              </a:lnSpc>
            </a:pPr>
            <a:r>
              <a:rPr sz="2400" spc="-5" dirty="0">
                <a:solidFill>
                  <a:srgbClr val="464652"/>
                </a:solidFill>
                <a:latin typeface="Arial"/>
                <a:cs typeface="Arial"/>
              </a:rPr>
              <a:t>echo "&lt;h2&gt;PHP </a:t>
            </a:r>
            <a:r>
              <a:rPr sz="2400" dirty="0">
                <a:solidFill>
                  <a:srgbClr val="464652"/>
                </a:solidFill>
                <a:latin typeface="Arial"/>
                <a:cs typeface="Arial"/>
              </a:rPr>
              <a:t>is</a:t>
            </a:r>
            <a:r>
              <a:rPr sz="2400" spc="-25" dirty="0">
                <a:solidFill>
                  <a:srgbClr val="464652"/>
                </a:solidFill>
                <a:latin typeface="Arial"/>
                <a:cs typeface="Arial"/>
              </a:rPr>
              <a:t> </a:t>
            </a:r>
            <a:r>
              <a:rPr sz="2400" dirty="0">
                <a:solidFill>
                  <a:srgbClr val="464652"/>
                </a:solidFill>
                <a:latin typeface="Arial"/>
                <a:cs typeface="Arial"/>
              </a:rPr>
              <a:t>fun!&lt;/h2&gt;";</a:t>
            </a:r>
            <a:endParaRPr sz="2400" dirty="0">
              <a:latin typeface="Arial"/>
              <a:cs typeface="Arial"/>
            </a:endParaRPr>
          </a:p>
          <a:p>
            <a:pPr marL="561340">
              <a:lnSpc>
                <a:spcPts val="2595"/>
              </a:lnSpc>
            </a:pPr>
            <a:r>
              <a:rPr sz="2400" spc="-5" dirty="0">
                <a:solidFill>
                  <a:srgbClr val="464652"/>
                </a:solidFill>
                <a:latin typeface="Arial"/>
                <a:cs typeface="Arial"/>
              </a:rPr>
              <a:t>echo "Hello</a:t>
            </a:r>
            <a:r>
              <a:rPr sz="2400" spc="25" dirty="0">
                <a:solidFill>
                  <a:srgbClr val="464652"/>
                </a:solidFill>
                <a:latin typeface="Arial"/>
                <a:cs typeface="Arial"/>
              </a:rPr>
              <a:t> </a:t>
            </a:r>
            <a:r>
              <a:rPr sz="2400" spc="-5" dirty="0">
                <a:solidFill>
                  <a:srgbClr val="464652"/>
                </a:solidFill>
                <a:latin typeface="Arial"/>
                <a:cs typeface="Arial"/>
              </a:rPr>
              <a:t>world!&lt;br&gt;";</a:t>
            </a:r>
            <a:endParaRPr sz="2400" dirty="0">
              <a:latin typeface="Arial"/>
              <a:cs typeface="Arial"/>
            </a:endParaRPr>
          </a:p>
          <a:p>
            <a:pPr marL="561340" marR="311785">
              <a:lnSpc>
                <a:spcPts val="2590"/>
              </a:lnSpc>
              <a:spcBef>
                <a:spcPts val="185"/>
              </a:spcBef>
            </a:pPr>
            <a:r>
              <a:rPr sz="2400" spc="-5" dirty="0">
                <a:solidFill>
                  <a:srgbClr val="464652"/>
                </a:solidFill>
                <a:latin typeface="Arial"/>
                <a:cs typeface="Arial"/>
              </a:rPr>
              <a:t>echo "This", </a:t>
            </a:r>
            <a:r>
              <a:rPr sz="2400" dirty="0">
                <a:solidFill>
                  <a:srgbClr val="464652"/>
                </a:solidFill>
                <a:latin typeface="Arial"/>
                <a:cs typeface="Arial"/>
              </a:rPr>
              <a:t>" </a:t>
            </a:r>
            <a:r>
              <a:rPr sz="2400" spc="-5" dirty="0">
                <a:solidFill>
                  <a:srgbClr val="464652"/>
                </a:solidFill>
                <a:latin typeface="Arial"/>
                <a:cs typeface="Arial"/>
              </a:rPr>
              <a:t>string", </a:t>
            </a:r>
            <a:r>
              <a:rPr sz="2400" dirty="0">
                <a:solidFill>
                  <a:srgbClr val="464652"/>
                </a:solidFill>
                <a:latin typeface="Arial"/>
                <a:cs typeface="Arial"/>
              </a:rPr>
              <a:t>" </a:t>
            </a:r>
            <a:r>
              <a:rPr sz="2400" spc="-5" dirty="0">
                <a:solidFill>
                  <a:srgbClr val="464652"/>
                </a:solidFill>
                <a:latin typeface="Arial"/>
                <a:cs typeface="Arial"/>
              </a:rPr>
              <a:t>was", </a:t>
            </a:r>
            <a:r>
              <a:rPr sz="2400" dirty="0">
                <a:solidFill>
                  <a:srgbClr val="464652"/>
                </a:solidFill>
                <a:latin typeface="Arial"/>
                <a:cs typeface="Arial"/>
              </a:rPr>
              <a:t>" made", " </a:t>
            </a:r>
            <a:r>
              <a:rPr sz="2400" spc="-5" dirty="0">
                <a:solidFill>
                  <a:srgbClr val="464652"/>
                </a:solidFill>
                <a:latin typeface="Arial"/>
                <a:cs typeface="Arial"/>
              </a:rPr>
              <a:t>with multiple  </a:t>
            </a:r>
            <a:r>
              <a:rPr sz="2400" dirty="0">
                <a:solidFill>
                  <a:srgbClr val="464652"/>
                </a:solidFill>
                <a:latin typeface="Arial"/>
                <a:cs typeface="Arial"/>
              </a:rPr>
              <a:t>parameters.";</a:t>
            </a:r>
            <a:endParaRPr sz="2400" dirty="0">
              <a:latin typeface="Arial"/>
              <a:cs typeface="Arial"/>
            </a:endParaRPr>
          </a:p>
          <a:p>
            <a:pPr marL="286385">
              <a:lnSpc>
                <a:spcPct val="100000"/>
              </a:lnSpc>
              <a:spcBef>
                <a:spcPts val="170"/>
              </a:spcBef>
            </a:pPr>
            <a:r>
              <a:rPr sz="2400" spc="-10" dirty="0">
                <a:solidFill>
                  <a:srgbClr val="464652"/>
                </a:solidFill>
                <a:latin typeface="Arial"/>
                <a:cs typeface="Arial"/>
              </a:rPr>
              <a:t>?&gt;</a:t>
            </a:r>
            <a:endParaRPr sz="2400" dirty="0">
              <a:latin typeface="Arial"/>
              <a:cs typeface="Arial"/>
            </a:endParaRPr>
          </a:p>
        </p:txBody>
      </p:sp>
    </p:spTree>
    <p:extLst>
      <p:ext uri="{BB962C8B-B14F-4D97-AF65-F5344CB8AC3E}">
        <p14:creationId xmlns:p14="http://schemas.microsoft.com/office/powerpoint/2010/main" val="2767321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dirty="0" err="1"/>
              <a:t>Php</a:t>
            </a:r>
            <a:r>
              <a:rPr lang="en-US" dirty="0"/>
              <a:t> Operators</a:t>
            </a:r>
          </a:p>
        </p:txBody>
      </p:sp>
      <p:sp>
        <p:nvSpPr>
          <p:cNvPr id="5" name="Date Placeholder 4"/>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603633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685800" y="2590800"/>
            <a:ext cx="7972425" cy="2933700"/>
          </a:xfrm>
          <a:prstGeom prst="rect">
            <a:avLst/>
          </a:prstGeom>
        </p:spPr>
      </p:pic>
      <p:sp>
        <p:nvSpPr>
          <p:cNvPr id="4" name="TextBox 3"/>
          <p:cNvSpPr txBox="1"/>
          <p:nvPr/>
        </p:nvSpPr>
        <p:spPr>
          <a:xfrm>
            <a:off x="990600" y="762000"/>
            <a:ext cx="6324600" cy="369332"/>
          </a:xfrm>
          <a:prstGeom prst="rect">
            <a:avLst/>
          </a:prstGeom>
          <a:noFill/>
        </p:spPr>
        <p:txBody>
          <a:bodyPr wrap="square" rtlCol="0">
            <a:spAutoFit/>
          </a:bodyPr>
          <a:lstStyle/>
          <a:p>
            <a:r>
              <a:rPr lang="en-US" b="1" dirty="0"/>
              <a:t>PHP Arithmetic Operators</a:t>
            </a:r>
          </a:p>
        </p:txBody>
      </p:sp>
      <p:sp>
        <p:nvSpPr>
          <p:cNvPr id="5" name="TextBox 4"/>
          <p:cNvSpPr txBox="1"/>
          <p:nvPr/>
        </p:nvSpPr>
        <p:spPr>
          <a:xfrm>
            <a:off x="685800" y="1315819"/>
            <a:ext cx="8229600" cy="646331"/>
          </a:xfrm>
          <a:prstGeom prst="rect">
            <a:avLst/>
          </a:prstGeom>
          <a:noFill/>
        </p:spPr>
        <p:txBody>
          <a:bodyPr wrap="square" rtlCol="0">
            <a:spAutoFit/>
          </a:bodyPr>
          <a:lstStyle/>
          <a:p>
            <a:r>
              <a:rPr lang="en-US" dirty="0"/>
              <a:t>The PHP arithmetic operators are used with numeric values to perform common arithmetical operations, such as addition, subtraction, multiplication etc.</a:t>
            </a:r>
          </a:p>
        </p:txBody>
      </p:sp>
      <p:sp>
        <p:nvSpPr>
          <p:cNvPr id="7" name="Date Placeholder 6"/>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43699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85800" y="2514600"/>
            <a:ext cx="7981950" cy="3076575"/>
          </a:xfrm>
          <a:prstGeom prst="rect">
            <a:avLst/>
          </a:prstGeom>
        </p:spPr>
      </p:pic>
      <p:sp>
        <p:nvSpPr>
          <p:cNvPr id="3" name="TextBox 2"/>
          <p:cNvSpPr txBox="1"/>
          <p:nvPr/>
        </p:nvSpPr>
        <p:spPr>
          <a:xfrm>
            <a:off x="762000" y="533400"/>
            <a:ext cx="6705600" cy="369332"/>
          </a:xfrm>
          <a:prstGeom prst="rect">
            <a:avLst/>
          </a:prstGeom>
          <a:noFill/>
        </p:spPr>
        <p:txBody>
          <a:bodyPr wrap="square" rtlCol="0">
            <a:spAutoFit/>
          </a:bodyPr>
          <a:lstStyle/>
          <a:p>
            <a:r>
              <a:rPr lang="en-US" b="1"/>
              <a:t>PHP Assignment Operators</a:t>
            </a:r>
          </a:p>
        </p:txBody>
      </p:sp>
      <p:sp>
        <p:nvSpPr>
          <p:cNvPr id="4" name="TextBox 3"/>
          <p:cNvSpPr txBox="1"/>
          <p:nvPr/>
        </p:nvSpPr>
        <p:spPr>
          <a:xfrm>
            <a:off x="685800" y="1295400"/>
            <a:ext cx="8305800" cy="646331"/>
          </a:xfrm>
          <a:prstGeom prst="rect">
            <a:avLst/>
          </a:prstGeom>
          <a:noFill/>
        </p:spPr>
        <p:txBody>
          <a:bodyPr wrap="square" rtlCol="0">
            <a:spAutoFit/>
          </a:bodyPr>
          <a:lstStyle/>
          <a:p>
            <a:r>
              <a:rPr lang="en-US" dirty="0"/>
              <a:t>The PHP assignment operators are used with numeric values to write a value to a variable.</a:t>
            </a:r>
          </a:p>
        </p:txBody>
      </p:sp>
    </p:spTree>
    <p:extLst>
      <p:ext uri="{BB962C8B-B14F-4D97-AF65-F5344CB8AC3E}">
        <p14:creationId xmlns:p14="http://schemas.microsoft.com/office/powerpoint/2010/main" val="1338863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1000" y="1672590"/>
            <a:ext cx="8220075" cy="5200650"/>
          </a:xfrm>
          <a:prstGeom prst="rect">
            <a:avLst/>
          </a:prstGeom>
        </p:spPr>
      </p:pic>
      <p:sp>
        <p:nvSpPr>
          <p:cNvPr id="3" name="TextBox 2"/>
          <p:cNvSpPr txBox="1"/>
          <p:nvPr/>
        </p:nvSpPr>
        <p:spPr>
          <a:xfrm>
            <a:off x="556260" y="599777"/>
            <a:ext cx="7239000" cy="646331"/>
          </a:xfrm>
          <a:prstGeom prst="rect">
            <a:avLst/>
          </a:prstGeom>
          <a:noFill/>
        </p:spPr>
        <p:txBody>
          <a:bodyPr wrap="square" rtlCol="0">
            <a:spAutoFit/>
          </a:bodyPr>
          <a:lstStyle/>
          <a:p>
            <a:r>
              <a:rPr lang="en-US" b="1" dirty="0"/>
              <a:t>PHP Comparison Operators</a:t>
            </a:r>
          </a:p>
          <a:p>
            <a:endParaRPr lang="en-US" b="1" dirty="0"/>
          </a:p>
        </p:txBody>
      </p:sp>
      <p:sp>
        <p:nvSpPr>
          <p:cNvPr id="4" name="TextBox 3"/>
          <p:cNvSpPr txBox="1"/>
          <p:nvPr/>
        </p:nvSpPr>
        <p:spPr>
          <a:xfrm>
            <a:off x="414337" y="1061442"/>
            <a:ext cx="8153400" cy="369332"/>
          </a:xfrm>
          <a:prstGeom prst="rect">
            <a:avLst/>
          </a:prstGeom>
          <a:noFill/>
        </p:spPr>
        <p:txBody>
          <a:bodyPr wrap="square" rtlCol="0">
            <a:spAutoFit/>
          </a:bodyPr>
          <a:lstStyle/>
          <a:p>
            <a:r>
              <a:rPr lang="en-US" dirty="0"/>
              <a:t>The PHP comparison operators are used to compare two values (number or string):</a:t>
            </a:r>
          </a:p>
        </p:txBody>
      </p:sp>
    </p:spTree>
    <p:extLst>
      <p:ext uri="{BB962C8B-B14F-4D97-AF65-F5344CB8AC3E}">
        <p14:creationId xmlns:p14="http://schemas.microsoft.com/office/powerpoint/2010/main" val="2628448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533400"/>
            <a:ext cx="6400800" cy="646331"/>
          </a:xfrm>
          <a:prstGeom prst="rect">
            <a:avLst/>
          </a:prstGeom>
          <a:noFill/>
        </p:spPr>
        <p:txBody>
          <a:bodyPr wrap="square" rtlCol="0">
            <a:spAutoFit/>
          </a:bodyPr>
          <a:lstStyle/>
          <a:p>
            <a:r>
              <a:rPr lang="en-US" b="1" dirty="0"/>
              <a:t>PHP Increment / Decrement Operators</a:t>
            </a:r>
          </a:p>
          <a:p>
            <a:endParaRPr lang="en-US" b="1" dirty="0"/>
          </a:p>
        </p:txBody>
      </p:sp>
      <p:pic>
        <p:nvPicPr>
          <p:cNvPr id="3" name="Picture 2"/>
          <p:cNvPicPr>
            <a:picLocks noChangeAspect="1"/>
          </p:cNvPicPr>
          <p:nvPr/>
        </p:nvPicPr>
        <p:blipFill>
          <a:blip r:embed="rId2"/>
          <a:stretch>
            <a:fillRect/>
          </a:stretch>
        </p:blipFill>
        <p:spPr>
          <a:xfrm>
            <a:off x="704850" y="2895600"/>
            <a:ext cx="7429500" cy="2381250"/>
          </a:xfrm>
          <a:prstGeom prst="rect">
            <a:avLst/>
          </a:prstGeom>
        </p:spPr>
      </p:pic>
      <p:sp>
        <p:nvSpPr>
          <p:cNvPr id="4" name="TextBox 3"/>
          <p:cNvSpPr txBox="1"/>
          <p:nvPr/>
        </p:nvSpPr>
        <p:spPr>
          <a:xfrm>
            <a:off x="838200" y="1371600"/>
            <a:ext cx="7620000" cy="923330"/>
          </a:xfrm>
          <a:prstGeom prst="rect">
            <a:avLst/>
          </a:prstGeom>
          <a:noFill/>
        </p:spPr>
        <p:txBody>
          <a:bodyPr wrap="square" rtlCol="0">
            <a:spAutoFit/>
          </a:bodyPr>
          <a:lstStyle/>
          <a:p>
            <a:r>
              <a:rPr lang="en-US" dirty="0"/>
              <a:t>The PHP increment operators are used to increment a variable's value.</a:t>
            </a:r>
          </a:p>
          <a:p>
            <a:r>
              <a:rPr lang="en-US" dirty="0"/>
              <a:t>The PHP decrement operators are used to decrement a variable's value.</a:t>
            </a:r>
          </a:p>
          <a:p>
            <a:endParaRPr lang="en-US" dirty="0"/>
          </a:p>
        </p:txBody>
      </p:sp>
      <p:sp>
        <p:nvSpPr>
          <p:cNvPr id="7" name="Date Placeholder 6"/>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876150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3400" y="1826062"/>
            <a:ext cx="7924800" cy="3114675"/>
          </a:xfrm>
          <a:prstGeom prst="rect">
            <a:avLst/>
          </a:prstGeom>
        </p:spPr>
      </p:pic>
      <p:sp>
        <p:nvSpPr>
          <p:cNvPr id="3" name="TextBox 2"/>
          <p:cNvSpPr txBox="1"/>
          <p:nvPr/>
        </p:nvSpPr>
        <p:spPr>
          <a:xfrm>
            <a:off x="685800" y="533400"/>
            <a:ext cx="7010400" cy="646331"/>
          </a:xfrm>
          <a:prstGeom prst="rect">
            <a:avLst/>
          </a:prstGeom>
          <a:noFill/>
        </p:spPr>
        <p:txBody>
          <a:bodyPr wrap="square" rtlCol="0">
            <a:spAutoFit/>
          </a:bodyPr>
          <a:lstStyle/>
          <a:p>
            <a:r>
              <a:rPr lang="en-US" b="1" dirty="0"/>
              <a:t>PHP Logical Operators</a:t>
            </a:r>
          </a:p>
          <a:p>
            <a:endParaRPr lang="en-US" b="1" dirty="0"/>
          </a:p>
        </p:txBody>
      </p:sp>
      <p:sp>
        <p:nvSpPr>
          <p:cNvPr id="4" name="TextBox 3"/>
          <p:cNvSpPr txBox="1"/>
          <p:nvPr/>
        </p:nvSpPr>
        <p:spPr>
          <a:xfrm>
            <a:off x="685800" y="1179731"/>
            <a:ext cx="7543800" cy="369332"/>
          </a:xfrm>
          <a:prstGeom prst="rect">
            <a:avLst/>
          </a:prstGeom>
          <a:noFill/>
        </p:spPr>
        <p:txBody>
          <a:bodyPr wrap="square" rtlCol="0">
            <a:spAutoFit/>
          </a:bodyPr>
          <a:lstStyle/>
          <a:p>
            <a:r>
              <a:rPr lang="en-US"/>
              <a:t>The PHP logical operators are used to combine conditional statements.</a:t>
            </a:r>
            <a:endParaRPr lang="en-US" dirty="0"/>
          </a:p>
        </p:txBody>
      </p:sp>
      <p:sp>
        <p:nvSpPr>
          <p:cNvPr id="7" name="Date Placeholder 6"/>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168067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57200" y="2362200"/>
            <a:ext cx="7972425" cy="1562100"/>
          </a:xfrm>
          <a:prstGeom prst="rect">
            <a:avLst/>
          </a:prstGeom>
        </p:spPr>
      </p:pic>
      <p:sp>
        <p:nvSpPr>
          <p:cNvPr id="3" name="TextBox 2"/>
          <p:cNvSpPr txBox="1"/>
          <p:nvPr/>
        </p:nvSpPr>
        <p:spPr>
          <a:xfrm>
            <a:off x="762000" y="609600"/>
            <a:ext cx="5943600" cy="646331"/>
          </a:xfrm>
          <a:prstGeom prst="rect">
            <a:avLst/>
          </a:prstGeom>
          <a:noFill/>
        </p:spPr>
        <p:txBody>
          <a:bodyPr wrap="square" rtlCol="0">
            <a:spAutoFit/>
          </a:bodyPr>
          <a:lstStyle/>
          <a:p>
            <a:r>
              <a:rPr lang="en-US" b="1" dirty="0"/>
              <a:t>PHP String Operators</a:t>
            </a:r>
          </a:p>
          <a:p>
            <a:endParaRPr lang="en-US" b="1" dirty="0"/>
          </a:p>
        </p:txBody>
      </p:sp>
      <p:sp>
        <p:nvSpPr>
          <p:cNvPr id="4" name="TextBox 3"/>
          <p:cNvSpPr txBox="1"/>
          <p:nvPr/>
        </p:nvSpPr>
        <p:spPr>
          <a:xfrm>
            <a:off x="685800" y="1524000"/>
            <a:ext cx="7315200" cy="369332"/>
          </a:xfrm>
          <a:prstGeom prst="rect">
            <a:avLst/>
          </a:prstGeom>
          <a:noFill/>
        </p:spPr>
        <p:txBody>
          <a:bodyPr wrap="square" rtlCol="0">
            <a:spAutoFit/>
          </a:bodyPr>
          <a:lstStyle/>
          <a:p>
            <a:r>
              <a:rPr lang="en-US"/>
              <a:t>PHP has two operators that are specially designed for strings.</a:t>
            </a:r>
            <a:endParaRPr lang="en-US" dirty="0"/>
          </a:p>
        </p:txBody>
      </p:sp>
      <p:sp>
        <p:nvSpPr>
          <p:cNvPr id="5" name="TextBox 4"/>
          <p:cNvSpPr txBox="1"/>
          <p:nvPr/>
        </p:nvSpPr>
        <p:spPr>
          <a:xfrm>
            <a:off x="990600" y="4114800"/>
            <a:ext cx="4419600" cy="646331"/>
          </a:xfrm>
          <a:prstGeom prst="rect">
            <a:avLst/>
          </a:prstGeom>
          <a:noFill/>
        </p:spPr>
        <p:txBody>
          <a:bodyPr wrap="square" rtlCol="0">
            <a:spAutoFit/>
          </a:bodyPr>
          <a:lstStyle/>
          <a:p>
            <a:r>
              <a:rPr lang="en-US" dirty="0"/>
              <a:t>$text = “hello”;</a:t>
            </a:r>
          </a:p>
          <a:p>
            <a:r>
              <a:rPr lang="en-US" dirty="0"/>
              <a:t>$text .= $text;</a:t>
            </a:r>
          </a:p>
        </p:txBody>
      </p:sp>
    </p:spTree>
    <p:extLst>
      <p:ext uri="{BB962C8B-B14F-4D97-AF65-F5344CB8AC3E}">
        <p14:creationId xmlns:p14="http://schemas.microsoft.com/office/powerpoint/2010/main" val="20853786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609600" y="2209800"/>
            <a:ext cx="8010525" cy="3448050"/>
          </a:xfrm>
          <a:prstGeom prst="rect">
            <a:avLst/>
          </a:prstGeom>
        </p:spPr>
      </p:pic>
      <p:sp>
        <p:nvSpPr>
          <p:cNvPr id="3" name="TextBox 2"/>
          <p:cNvSpPr txBox="1"/>
          <p:nvPr/>
        </p:nvSpPr>
        <p:spPr>
          <a:xfrm>
            <a:off x="624840" y="762000"/>
            <a:ext cx="6705600" cy="646331"/>
          </a:xfrm>
          <a:prstGeom prst="rect">
            <a:avLst/>
          </a:prstGeom>
          <a:noFill/>
        </p:spPr>
        <p:txBody>
          <a:bodyPr wrap="square" rtlCol="0">
            <a:spAutoFit/>
          </a:bodyPr>
          <a:lstStyle/>
          <a:p>
            <a:r>
              <a:rPr lang="en-US" b="1" dirty="0"/>
              <a:t>PHP Array Operators</a:t>
            </a:r>
          </a:p>
          <a:p>
            <a:endParaRPr lang="en-US" b="1" dirty="0"/>
          </a:p>
        </p:txBody>
      </p:sp>
      <p:sp>
        <p:nvSpPr>
          <p:cNvPr id="4" name="TextBox 3"/>
          <p:cNvSpPr txBox="1"/>
          <p:nvPr/>
        </p:nvSpPr>
        <p:spPr>
          <a:xfrm>
            <a:off x="914400" y="1752600"/>
            <a:ext cx="7391400" cy="369332"/>
          </a:xfrm>
          <a:prstGeom prst="rect">
            <a:avLst/>
          </a:prstGeom>
          <a:noFill/>
        </p:spPr>
        <p:txBody>
          <a:bodyPr wrap="square" rtlCol="0">
            <a:spAutoFit/>
          </a:bodyPr>
          <a:lstStyle/>
          <a:p>
            <a:r>
              <a:rPr lang="en-US" dirty="0"/>
              <a:t>The PHP array operators are used to compare arrays.</a:t>
            </a:r>
          </a:p>
        </p:txBody>
      </p:sp>
      <p:sp>
        <p:nvSpPr>
          <p:cNvPr id="7" name="Date Placeholder 6"/>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916142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95300" y="1828800"/>
            <a:ext cx="8153400" cy="2933700"/>
          </a:xfrm>
          <a:prstGeom prst="rect">
            <a:avLst/>
          </a:prstGeom>
        </p:spPr>
      </p:pic>
      <p:sp>
        <p:nvSpPr>
          <p:cNvPr id="3" name="TextBox 2"/>
          <p:cNvSpPr txBox="1"/>
          <p:nvPr/>
        </p:nvSpPr>
        <p:spPr>
          <a:xfrm>
            <a:off x="685800" y="609600"/>
            <a:ext cx="6858000" cy="369332"/>
          </a:xfrm>
          <a:prstGeom prst="rect">
            <a:avLst/>
          </a:prstGeom>
          <a:noFill/>
        </p:spPr>
        <p:txBody>
          <a:bodyPr wrap="square" rtlCol="0">
            <a:spAutoFit/>
          </a:bodyPr>
          <a:lstStyle/>
          <a:p>
            <a:r>
              <a:rPr lang="en-US" b="1"/>
              <a:t>PHP Conditional Assignment Operators</a:t>
            </a:r>
          </a:p>
        </p:txBody>
      </p:sp>
      <p:sp>
        <p:nvSpPr>
          <p:cNvPr id="4" name="TextBox 3"/>
          <p:cNvSpPr txBox="1"/>
          <p:nvPr/>
        </p:nvSpPr>
        <p:spPr>
          <a:xfrm>
            <a:off x="685800" y="1299775"/>
            <a:ext cx="7772400" cy="646331"/>
          </a:xfrm>
          <a:prstGeom prst="rect">
            <a:avLst/>
          </a:prstGeom>
          <a:noFill/>
        </p:spPr>
        <p:txBody>
          <a:bodyPr wrap="square" rtlCol="0">
            <a:spAutoFit/>
          </a:bodyPr>
          <a:lstStyle/>
          <a:p>
            <a:r>
              <a:rPr lang="en-US" dirty="0"/>
              <a:t>The PHP conditional assignment operators are used to set a value depending on conditions:</a:t>
            </a:r>
          </a:p>
        </p:txBody>
      </p:sp>
      <p:sp>
        <p:nvSpPr>
          <p:cNvPr id="7" name="Date Placeholder 6"/>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33309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88912"/>
            <a:ext cx="3573145" cy="690574"/>
          </a:xfrm>
          <a:prstGeom prst="rect">
            <a:avLst/>
          </a:prstGeom>
        </p:spPr>
        <p:txBody>
          <a:bodyPr vert="horz" wrap="square" lIns="0" tIns="13335" rIns="0" bIns="0" rtlCol="0">
            <a:spAutoFit/>
          </a:bodyPr>
          <a:lstStyle/>
          <a:p>
            <a:pPr marL="12700">
              <a:lnSpc>
                <a:spcPct val="100000"/>
              </a:lnSpc>
              <a:spcBef>
                <a:spcPts val="105"/>
              </a:spcBef>
            </a:pPr>
            <a:r>
              <a:rPr spc="5" dirty="0">
                <a:solidFill>
                  <a:srgbClr val="464652"/>
                </a:solidFill>
              </a:rPr>
              <a:t>PHP</a:t>
            </a:r>
            <a:r>
              <a:rPr spc="-85" dirty="0">
                <a:solidFill>
                  <a:srgbClr val="464652"/>
                </a:solidFill>
              </a:rPr>
              <a:t> </a:t>
            </a:r>
            <a:r>
              <a:rPr spc="-5" dirty="0">
                <a:solidFill>
                  <a:srgbClr val="464652"/>
                </a:solidFill>
              </a:rPr>
              <a:t>Arrays</a:t>
            </a:r>
          </a:p>
        </p:txBody>
      </p:sp>
      <p:sp>
        <p:nvSpPr>
          <p:cNvPr id="3" name="object 3"/>
          <p:cNvSpPr txBox="1"/>
          <p:nvPr/>
        </p:nvSpPr>
        <p:spPr>
          <a:xfrm>
            <a:off x="535940" y="1243330"/>
            <a:ext cx="7146290" cy="3368230"/>
          </a:xfrm>
          <a:prstGeom prst="rect">
            <a:avLst/>
          </a:prstGeom>
        </p:spPr>
        <p:txBody>
          <a:bodyPr vert="horz" wrap="square" lIns="0" tIns="13335" rIns="0" bIns="0" rtlCol="0">
            <a:spAutoFit/>
          </a:bodyPr>
          <a:lstStyle/>
          <a:p>
            <a:pPr marL="286385" marR="382270" indent="-274320">
              <a:lnSpc>
                <a:spcPct val="100000"/>
              </a:lnSpc>
              <a:spcBef>
                <a:spcPts val="105"/>
              </a:spcBef>
              <a:tabLst>
                <a:tab pos="286385" algn="l"/>
              </a:tabLst>
            </a:pPr>
            <a:r>
              <a:rPr sz="1950" spc="-555" dirty="0">
                <a:solidFill>
                  <a:srgbClr val="717BA2"/>
                </a:solidFill>
                <a:latin typeface="Arial"/>
                <a:cs typeface="Arial"/>
              </a:rPr>
              <a:t>	</a:t>
            </a:r>
            <a:r>
              <a:rPr sz="2600" dirty="0">
                <a:latin typeface="Arial"/>
                <a:cs typeface="Arial"/>
              </a:rPr>
              <a:t>An array stores multiple values in one</a:t>
            </a:r>
            <a:r>
              <a:rPr sz="2600" spc="-60" dirty="0">
                <a:latin typeface="Arial"/>
                <a:cs typeface="Arial"/>
              </a:rPr>
              <a:t> </a:t>
            </a:r>
            <a:r>
              <a:rPr sz="2600" dirty="0">
                <a:latin typeface="Arial"/>
                <a:cs typeface="Arial"/>
              </a:rPr>
              <a:t>single  variable:</a:t>
            </a:r>
          </a:p>
          <a:p>
            <a:pPr marL="12700">
              <a:lnSpc>
                <a:spcPct val="100000"/>
              </a:lnSpc>
              <a:spcBef>
                <a:spcPts val="600"/>
              </a:spcBef>
            </a:pPr>
            <a:r>
              <a:rPr sz="2600" dirty="0">
                <a:latin typeface="Arial"/>
                <a:cs typeface="Arial"/>
              </a:rPr>
              <a:t>Example</a:t>
            </a:r>
          </a:p>
          <a:p>
            <a:pPr marL="12700">
              <a:lnSpc>
                <a:spcPct val="100000"/>
              </a:lnSpc>
              <a:spcBef>
                <a:spcPts val="600"/>
              </a:spcBef>
            </a:pPr>
            <a:r>
              <a:rPr sz="2600" dirty="0">
                <a:latin typeface="Arial"/>
                <a:cs typeface="Arial"/>
              </a:rPr>
              <a:t>&lt;?php</a:t>
            </a:r>
          </a:p>
          <a:p>
            <a:pPr marL="286385">
              <a:lnSpc>
                <a:spcPct val="100000"/>
              </a:lnSpc>
            </a:pPr>
            <a:r>
              <a:rPr sz="2600" dirty="0">
                <a:latin typeface="Arial"/>
                <a:cs typeface="Arial"/>
              </a:rPr>
              <a:t>$cars =</a:t>
            </a:r>
            <a:r>
              <a:rPr sz="2600" spc="-30" dirty="0">
                <a:latin typeface="Arial"/>
                <a:cs typeface="Arial"/>
              </a:rPr>
              <a:t> </a:t>
            </a:r>
            <a:r>
              <a:rPr sz="2600" spc="-15" dirty="0">
                <a:latin typeface="Arial"/>
                <a:cs typeface="Arial"/>
              </a:rPr>
              <a:t>array("Volvo","BMW","Toyota");</a:t>
            </a:r>
            <a:endParaRPr sz="2600" dirty="0">
              <a:latin typeface="Arial"/>
              <a:cs typeface="Arial"/>
            </a:endParaRPr>
          </a:p>
          <a:p>
            <a:pPr marL="286385">
              <a:lnSpc>
                <a:spcPct val="100000"/>
              </a:lnSpc>
            </a:pPr>
            <a:r>
              <a:rPr sz="2600" dirty="0">
                <a:latin typeface="Arial"/>
                <a:cs typeface="Arial"/>
              </a:rPr>
              <a:t>echo "I like " . $cars[</a:t>
            </a:r>
            <a:r>
              <a:rPr lang="en-US" sz="2600" dirty="0">
                <a:latin typeface="Arial"/>
                <a:cs typeface="Arial"/>
              </a:rPr>
              <a:t>0</a:t>
            </a:r>
            <a:r>
              <a:rPr sz="2600" dirty="0">
                <a:latin typeface="Arial"/>
                <a:cs typeface="Arial"/>
              </a:rPr>
              <a:t>] . ", " . $cars[1] . " and "</a:t>
            </a:r>
            <a:r>
              <a:rPr sz="2600" spc="-45" dirty="0">
                <a:latin typeface="Arial"/>
                <a:cs typeface="Arial"/>
              </a:rPr>
              <a:t> </a:t>
            </a:r>
            <a:r>
              <a:rPr sz="2600" dirty="0">
                <a:latin typeface="Arial"/>
                <a:cs typeface="Arial"/>
              </a:rPr>
              <a:t>.</a:t>
            </a:r>
          </a:p>
          <a:p>
            <a:pPr marL="286385">
              <a:lnSpc>
                <a:spcPct val="100000"/>
              </a:lnSpc>
              <a:spcBef>
                <a:spcPts val="5"/>
              </a:spcBef>
            </a:pPr>
            <a:r>
              <a:rPr sz="2600" dirty="0">
                <a:latin typeface="Arial"/>
                <a:cs typeface="Arial"/>
              </a:rPr>
              <a:t>$cars[2] .</a:t>
            </a:r>
            <a:r>
              <a:rPr sz="2600" spc="-20" dirty="0">
                <a:latin typeface="Arial"/>
                <a:cs typeface="Arial"/>
              </a:rPr>
              <a:t> </a:t>
            </a:r>
            <a:r>
              <a:rPr sz="2600" dirty="0">
                <a:latin typeface="Arial"/>
                <a:cs typeface="Arial"/>
              </a:rPr>
              <a:t>".";</a:t>
            </a:r>
          </a:p>
          <a:p>
            <a:pPr marL="286385">
              <a:lnSpc>
                <a:spcPct val="100000"/>
              </a:lnSpc>
            </a:pPr>
            <a:r>
              <a:rPr sz="2600" dirty="0">
                <a:latin typeface="Arial"/>
                <a:cs typeface="Arial"/>
              </a:rPr>
              <a:t>?&gt;</a:t>
            </a:r>
          </a:p>
        </p:txBody>
      </p:sp>
    </p:spTree>
    <p:extLst>
      <p:ext uri="{BB962C8B-B14F-4D97-AF65-F5344CB8AC3E}">
        <p14:creationId xmlns:p14="http://schemas.microsoft.com/office/powerpoint/2010/main" val="120239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88912"/>
            <a:ext cx="7007860" cy="690574"/>
          </a:xfrm>
          <a:prstGeom prst="rect">
            <a:avLst/>
          </a:prstGeom>
        </p:spPr>
        <p:txBody>
          <a:bodyPr vert="horz" wrap="square" lIns="0" tIns="13335" rIns="0" bIns="0" rtlCol="0">
            <a:spAutoFit/>
          </a:bodyPr>
          <a:lstStyle/>
          <a:p>
            <a:pPr marL="12700">
              <a:lnSpc>
                <a:spcPct val="100000"/>
              </a:lnSpc>
              <a:spcBef>
                <a:spcPts val="105"/>
              </a:spcBef>
            </a:pPr>
            <a:r>
              <a:rPr dirty="0">
                <a:solidFill>
                  <a:srgbClr val="464652"/>
                </a:solidFill>
              </a:rPr>
              <a:t>Create an </a:t>
            </a:r>
            <a:r>
              <a:rPr spc="-5" dirty="0">
                <a:solidFill>
                  <a:srgbClr val="464652"/>
                </a:solidFill>
              </a:rPr>
              <a:t>Array </a:t>
            </a:r>
            <a:r>
              <a:rPr dirty="0">
                <a:solidFill>
                  <a:srgbClr val="464652"/>
                </a:solidFill>
              </a:rPr>
              <a:t>in</a:t>
            </a:r>
            <a:r>
              <a:rPr spc="-75" dirty="0">
                <a:solidFill>
                  <a:srgbClr val="464652"/>
                </a:solidFill>
              </a:rPr>
              <a:t> </a:t>
            </a:r>
            <a:r>
              <a:rPr spc="5" dirty="0">
                <a:solidFill>
                  <a:srgbClr val="464652"/>
                </a:solidFill>
              </a:rPr>
              <a:t>PHP</a:t>
            </a:r>
          </a:p>
        </p:txBody>
      </p:sp>
      <p:sp>
        <p:nvSpPr>
          <p:cNvPr id="3" name="object 3"/>
          <p:cNvSpPr txBox="1"/>
          <p:nvPr/>
        </p:nvSpPr>
        <p:spPr>
          <a:xfrm>
            <a:off x="535940" y="1167130"/>
            <a:ext cx="8060690" cy="4185920"/>
          </a:xfrm>
          <a:prstGeom prst="rect">
            <a:avLst/>
          </a:prstGeom>
        </p:spPr>
        <p:txBody>
          <a:bodyPr vert="horz" wrap="square" lIns="0" tIns="13335" rIns="0" bIns="0" rtlCol="0">
            <a:spAutoFit/>
          </a:bodyPr>
          <a:lstStyle/>
          <a:p>
            <a:pPr marL="286385" marR="823594" indent="-274320">
              <a:lnSpc>
                <a:spcPct val="100000"/>
              </a:lnSpc>
              <a:spcBef>
                <a:spcPts val="105"/>
              </a:spcBef>
              <a:buClr>
                <a:srgbClr val="717BA2"/>
              </a:buClr>
              <a:buSzPct val="75000"/>
              <a:buChar char="•"/>
              <a:tabLst>
                <a:tab pos="286385" algn="l"/>
                <a:tab pos="287020" algn="l"/>
              </a:tabLst>
            </a:pPr>
            <a:r>
              <a:rPr sz="2600" dirty="0">
                <a:latin typeface="Arial"/>
                <a:cs typeface="Arial"/>
              </a:rPr>
              <a:t>In </a:t>
            </a:r>
            <a:r>
              <a:rPr sz="2600" spc="-85" dirty="0">
                <a:latin typeface="Arial"/>
                <a:cs typeface="Arial"/>
              </a:rPr>
              <a:t>PHP, </a:t>
            </a:r>
            <a:r>
              <a:rPr sz="2600" dirty="0">
                <a:latin typeface="Arial"/>
                <a:cs typeface="Arial"/>
              </a:rPr>
              <a:t>the array() function is used </a:t>
            </a:r>
            <a:r>
              <a:rPr sz="2600" spc="-5" dirty="0">
                <a:latin typeface="Arial"/>
                <a:cs typeface="Arial"/>
              </a:rPr>
              <a:t>to </a:t>
            </a:r>
            <a:r>
              <a:rPr sz="2600" dirty="0">
                <a:latin typeface="Arial"/>
                <a:cs typeface="Arial"/>
              </a:rPr>
              <a:t>create an  array:</a:t>
            </a:r>
            <a:endParaRPr sz="2600">
              <a:latin typeface="Arial"/>
              <a:cs typeface="Arial"/>
            </a:endParaRPr>
          </a:p>
          <a:p>
            <a:pPr marL="287020" indent="-274320">
              <a:lnSpc>
                <a:spcPct val="100000"/>
              </a:lnSpc>
              <a:spcBef>
                <a:spcPts val="600"/>
              </a:spcBef>
              <a:buClr>
                <a:srgbClr val="717BA2"/>
              </a:buClr>
              <a:buSzPct val="75000"/>
              <a:buChar char="•"/>
              <a:tabLst>
                <a:tab pos="286385" algn="l"/>
                <a:tab pos="287020" algn="l"/>
              </a:tabLst>
            </a:pPr>
            <a:r>
              <a:rPr sz="2600" dirty="0">
                <a:latin typeface="Arial"/>
                <a:cs typeface="Arial"/>
              </a:rPr>
              <a:t>Example</a:t>
            </a:r>
            <a:r>
              <a:rPr sz="2600" spc="-25" dirty="0">
                <a:latin typeface="Arial"/>
                <a:cs typeface="Arial"/>
              </a:rPr>
              <a:t> </a:t>
            </a:r>
            <a:r>
              <a:rPr sz="2600" dirty="0">
                <a:latin typeface="Arial"/>
                <a:cs typeface="Arial"/>
              </a:rPr>
              <a:t>:</a:t>
            </a:r>
            <a:endParaRPr sz="2600">
              <a:latin typeface="Arial"/>
              <a:cs typeface="Arial"/>
            </a:endParaRPr>
          </a:p>
          <a:p>
            <a:pPr marL="286385">
              <a:lnSpc>
                <a:spcPct val="100000"/>
              </a:lnSpc>
              <a:spcBef>
                <a:spcPts val="505"/>
              </a:spcBef>
            </a:pPr>
            <a:r>
              <a:rPr sz="2300" dirty="0">
                <a:solidFill>
                  <a:srgbClr val="464652"/>
                </a:solidFill>
                <a:latin typeface="Arial"/>
                <a:cs typeface="Arial"/>
              </a:rPr>
              <a:t>$cars =</a:t>
            </a:r>
            <a:r>
              <a:rPr sz="2300" spc="-45" dirty="0">
                <a:solidFill>
                  <a:srgbClr val="464652"/>
                </a:solidFill>
                <a:latin typeface="Arial"/>
                <a:cs typeface="Arial"/>
              </a:rPr>
              <a:t> </a:t>
            </a:r>
            <a:r>
              <a:rPr sz="2300" spc="-15" dirty="0">
                <a:solidFill>
                  <a:srgbClr val="464652"/>
                </a:solidFill>
                <a:latin typeface="Arial"/>
                <a:cs typeface="Arial"/>
              </a:rPr>
              <a:t>array("Volvo","BMW","Toyota");</a:t>
            </a:r>
            <a:endParaRPr sz="2300">
              <a:latin typeface="Arial"/>
              <a:cs typeface="Arial"/>
            </a:endParaRPr>
          </a:p>
          <a:p>
            <a:pPr>
              <a:lnSpc>
                <a:spcPct val="100000"/>
              </a:lnSpc>
            </a:pPr>
            <a:endParaRPr sz="3350">
              <a:latin typeface="Arial"/>
              <a:cs typeface="Arial"/>
            </a:endParaRPr>
          </a:p>
          <a:p>
            <a:pPr marL="287020" indent="-274320">
              <a:lnSpc>
                <a:spcPct val="100000"/>
              </a:lnSpc>
              <a:buClr>
                <a:srgbClr val="717BA2"/>
              </a:buClr>
              <a:buSzPct val="75000"/>
              <a:buChar char="•"/>
              <a:tabLst>
                <a:tab pos="286385" algn="l"/>
                <a:tab pos="287020" algn="l"/>
              </a:tabLst>
            </a:pPr>
            <a:r>
              <a:rPr sz="2600" dirty="0">
                <a:latin typeface="Arial"/>
                <a:cs typeface="Arial"/>
              </a:rPr>
              <a:t>In </a:t>
            </a:r>
            <a:r>
              <a:rPr sz="2600" spc="-80" dirty="0">
                <a:latin typeface="Arial"/>
                <a:cs typeface="Arial"/>
              </a:rPr>
              <a:t>PHP, </a:t>
            </a:r>
            <a:r>
              <a:rPr sz="2600" dirty="0">
                <a:latin typeface="Arial"/>
                <a:cs typeface="Arial"/>
              </a:rPr>
              <a:t>there are </a:t>
            </a:r>
            <a:r>
              <a:rPr sz="2600" spc="-5" dirty="0">
                <a:latin typeface="Arial"/>
                <a:cs typeface="Arial"/>
              </a:rPr>
              <a:t>three </a:t>
            </a:r>
            <a:r>
              <a:rPr sz="2600" dirty="0">
                <a:latin typeface="Arial"/>
                <a:cs typeface="Arial"/>
              </a:rPr>
              <a:t>types of</a:t>
            </a:r>
            <a:r>
              <a:rPr sz="2600" spc="55" dirty="0">
                <a:latin typeface="Arial"/>
                <a:cs typeface="Arial"/>
              </a:rPr>
              <a:t> </a:t>
            </a:r>
            <a:r>
              <a:rPr sz="2600" dirty="0">
                <a:latin typeface="Arial"/>
                <a:cs typeface="Arial"/>
              </a:rPr>
              <a:t>arrays:</a:t>
            </a:r>
            <a:endParaRPr sz="2600">
              <a:latin typeface="Arial"/>
              <a:cs typeface="Arial"/>
            </a:endParaRPr>
          </a:p>
          <a:p>
            <a:pPr marL="561340" lvl="1" indent="-275590">
              <a:lnSpc>
                <a:spcPct val="100000"/>
              </a:lnSpc>
              <a:spcBef>
                <a:spcPts val="505"/>
              </a:spcBef>
              <a:buClr>
                <a:srgbClr val="9FB8CD"/>
              </a:buClr>
              <a:buSzPct val="76086"/>
              <a:buFont typeface="Wingdings"/>
              <a:buChar char=""/>
              <a:tabLst>
                <a:tab pos="561340" algn="l"/>
                <a:tab pos="561975" algn="l"/>
              </a:tabLst>
            </a:pPr>
            <a:r>
              <a:rPr sz="2300" b="1" dirty="0">
                <a:solidFill>
                  <a:srgbClr val="464652"/>
                </a:solidFill>
                <a:latin typeface="Arial"/>
                <a:cs typeface="Arial"/>
              </a:rPr>
              <a:t>Indexed </a:t>
            </a:r>
            <a:r>
              <a:rPr sz="2300" b="1" spc="-5" dirty="0">
                <a:solidFill>
                  <a:srgbClr val="464652"/>
                </a:solidFill>
                <a:latin typeface="Arial"/>
                <a:cs typeface="Arial"/>
              </a:rPr>
              <a:t>arrays </a:t>
            </a:r>
            <a:r>
              <a:rPr sz="2300" dirty="0">
                <a:solidFill>
                  <a:srgbClr val="464652"/>
                </a:solidFill>
                <a:latin typeface="Arial"/>
                <a:cs typeface="Arial"/>
              </a:rPr>
              <a:t>- Arrays with numeric</a:t>
            </a:r>
            <a:r>
              <a:rPr sz="2300" spc="-235" dirty="0">
                <a:solidFill>
                  <a:srgbClr val="464652"/>
                </a:solidFill>
                <a:latin typeface="Arial"/>
                <a:cs typeface="Arial"/>
              </a:rPr>
              <a:t> </a:t>
            </a:r>
            <a:r>
              <a:rPr sz="2300" spc="-5" dirty="0">
                <a:solidFill>
                  <a:srgbClr val="464652"/>
                </a:solidFill>
                <a:latin typeface="Arial"/>
                <a:cs typeface="Arial"/>
              </a:rPr>
              <a:t>index</a:t>
            </a:r>
            <a:endParaRPr sz="2300">
              <a:latin typeface="Arial"/>
              <a:cs typeface="Arial"/>
            </a:endParaRPr>
          </a:p>
          <a:p>
            <a:pPr marL="561340" lvl="1" indent="-275590">
              <a:lnSpc>
                <a:spcPct val="100000"/>
              </a:lnSpc>
              <a:spcBef>
                <a:spcPts val="505"/>
              </a:spcBef>
              <a:buClr>
                <a:srgbClr val="9FB8CD"/>
              </a:buClr>
              <a:buSzPct val="76086"/>
              <a:buFont typeface="Wingdings"/>
              <a:buChar char=""/>
              <a:tabLst>
                <a:tab pos="561340" algn="l"/>
                <a:tab pos="561975" algn="l"/>
              </a:tabLst>
            </a:pPr>
            <a:r>
              <a:rPr sz="2300" b="1" spc="-5" dirty="0">
                <a:solidFill>
                  <a:srgbClr val="464652"/>
                </a:solidFill>
                <a:latin typeface="Arial"/>
                <a:cs typeface="Arial"/>
              </a:rPr>
              <a:t>Associative arrays </a:t>
            </a:r>
            <a:r>
              <a:rPr sz="2300" dirty="0">
                <a:solidFill>
                  <a:srgbClr val="464652"/>
                </a:solidFill>
                <a:latin typeface="Arial"/>
                <a:cs typeface="Arial"/>
              </a:rPr>
              <a:t>- Arrays with named</a:t>
            </a:r>
            <a:r>
              <a:rPr sz="2300" spc="-254" dirty="0">
                <a:solidFill>
                  <a:srgbClr val="464652"/>
                </a:solidFill>
                <a:latin typeface="Arial"/>
                <a:cs typeface="Arial"/>
              </a:rPr>
              <a:t> </a:t>
            </a:r>
            <a:r>
              <a:rPr sz="2300" dirty="0">
                <a:solidFill>
                  <a:srgbClr val="464652"/>
                </a:solidFill>
                <a:latin typeface="Arial"/>
                <a:cs typeface="Arial"/>
              </a:rPr>
              <a:t>keys</a:t>
            </a:r>
            <a:endParaRPr sz="2300">
              <a:latin typeface="Arial"/>
              <a:cs typeface="Arial"/>
            </a:endParaRPr>
          </a:p>
          <a:p>
            <a:pPr marL="561340" lvl="1" indent="-275590">
              <a:lnSpc>
                <a:spcPct val="100000"/>
              </a:lnSpc>
              <a:spcBef>
                <a:spcPts val="505"/>
              </a:spcBef>
              <a:buClr>
                <a:srgbClr val="9FB8CD"/>
              </a:buClr>
              <a:buSzPct val="76086"/>
              <a:buFont typeface="Wingdings"/>
              <a:buChar char=""/>
              <a:tabLst>
                <a:tab pos="561340" algn="l"/>
                <a:tab pos="561975" algn="l"/>
              </a:tabLst>
            </a:pPr>
            <a:r>
              <a:rPr sz="2300" b="1" spc="-5" dirty="0">
                <a:solidFill>
                  <a:srgbClr val="464652"/>
                </a:solidFill>
                <a:latin typeface="Arial"/>
                <a:cs typeface="Arial"/>
              </a:rPr>
              <a:t>Multidimensional arrays </a:t>
            </a:r>
            <a:r>
              <a:rPr sz="2300" dirty="0">
                <a:solidFill>
                  <a:srgbClr val="464652"/>
                </a:solidFill>
                <a:latin typeface="Arial"/>
                <a:cs typeface="Arial"/>
              </a:rPr>
              <a:t>- Arrays containing one or</a:t>
            </a:r>
            <a:r>
              <a:rPr sz="2300" spc="-254" dirty="0">
                <a:solidFill>
                  <a:srgbClr val="464652"/>
                </a:solidFill>
                <a:latin typeface="Arial"/>
                <a:cs typeface="Arial"/>
              </a:rPr>
              <a:t> </a:t>
            </a:r>
            <a:r>
              <a:rPr sz="2300" dirty="0">
                <a:solidFill>
                  <a:srgbClr val="464652"/>
                </a:solidFill>
                <a:latin typeface="Arial"/>
                <a:cs typeface="Arial"/>
              </a:rPr>
              <a:t>more</a:t>
            </a:r>
            <a:endParaRPr sz="2300">
              <a:latin typeface="Arial"/>
              <a:cs typeface="Arial"/>
            </a:endParaRPr>
          </a:p>
          <a:p>
            <a:pPr marL="561340">
              <a:lnSpc>
                <a:spcPct val="100000"/>
              </a:lnSpc>
            </a:pPr>
            <a:r>
              <a:rPr sz="2300" dirty="0">
                <a:solidFill>
                  <a:srgbClr val="464652"/>
                </a:solidFill>
                <a:latin typeface="Arial"/>
                <a:cs typeface="Arial"/>
              </a:rPr>
              <a:t>arrays</a:t>
            </a:r>
            <a:endParaRPr sz="2300">
              <a:latin typeface="Arial"/>
              <a:cs typeface="Arial"/>
            </a:endParaRPr>
          </a:p>
        </p:txBody>
      </p:sp>
    </p:spTree>
    <p:extLst>
      <p:ext uri="{BB962C8B-B14F-4D97-AF65-F5344CB8AC3E}">
        <p14:creationId xmlns:p14="http://schemas.microsoft.com/office/powerpoint/2010/main" val="13304903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88912"/>
            <a:ext cx="5636260" cy="690574"/>
          </a:xfrm>
          <a:prstGeom prst="rect">
            <a:avLst/>
          </a:prstGeom>
        </p:spPr>
        <p:txBody>
          <a:bodyPr vert="horz" wrap="square" lIns="0" tIns="13335" rIns="0" bIns="0" rtlCol="0">
            <a:spAutoFit/>
          </a:bodyPr>
          <a:lstStyle/>
          <a:p>
            <a:pPr marL="12700">
              <a:lnSpc>
                <a:spcPct val="100000"/>
              </a:lnSpc>
              <a:spcBef>
                <a:spcPts val="105"/>
              </a:spcBef>
            </a:pPr>
            <a:r>
              <a:rPr dirty="0">
                <a:solidFill>
                  <a:srgbClr val="464652"/>
                </a:solidFill>
              </a:rPr>
              <a:t>PHP Indexed</a:t>
            </a:r>
            <a:r>
              <a:rPr spc="-95" dirty="0">
                <a:solidFill>
                  <a:srgbClr val="464652"/>
                </a:solidFill>
              </a:rPr>
              <a:t> </a:t>
            </a:r>
            <a:r>
              <a:rPr spc="-5" dirty="0">
                <a:solidFill>
                  <a:srgbClr val="464652"/>
                </a:solidFill>
              </a:rPr>
              <a:t>Arrays</a:t>
            </a:r>
          </a:p>
        </p:txBody>
      </p:sp>
      <p:sp>
        <p:nvSpPr>
          <p:cNvPr id="3" name="object 3"/>
          <p:cNvSpPr txBox="1"/>
          <p:nvPr/>
        </p:nvSpPr>
        <p:spPr>
          <a:xfrm>
            <a:off x="535940" y="1181817"/>
            <a:ext cx="7541259" cy="3983990"/>
          </a:xfrm>
          <a:prstGeom prst="rect">
            <a:avLst/>
          </a:prstGeom>
        </p:spPr>
        <p:txBody>
          <a:bodyPr vert="horz" wrap="square" lIns="0" tIns="74295" rIns="0" bIns="0" rtlCol="0">
            <a:spAutoFit/>
          </a:bodyPr>
          <a:lstStyle/>
          <a:p>
            <a:pPr marL="287020" indent="-274320">
              <a:lnSpc>
                <a:spcPct val="100000"/>
              </a:lnSpc>
              <a:spcBef>
                <a:spcPts val="585"/>
              </a:spcBef>
              <a:buClr>
                <a:srgbClr val="717BA2"/>
              </a:buClr>
              <a:buSzPct val="75000"/>
              <a:buChar char=""/>
              <a:tabLst>
                <a:tab pos="286385" algn="l"/>
                <a:tab pos="287020" algn="l"/>
              </a:tabLst>
            </a:pPr>
            <a:r>
              <a:rPr sz="2600" dirty="0">
                <a:latin typeface="Arial"/>
                <a:cs typeface="Arial"/>
              </a:rPr>
              <a:t>There are two ways to create indexed</a:t>
            </a:r>
            <a:r>
              <a:rPr sz="2600" spc="-60" dirty="0">
                <a:latin typeface="Arial"/>
                <a:cs typeface="Arial"/>
              </a:rPr>
              <a:t> </a:t>
            </a:r>
            <a:r>
              <a:rPr sz="2600" dirty="0">
                <a:latin typeface="Arial"/>
                <a:cs typeface="Arial"/>
              </a:rPr>
              <a:t>arrays:</a:t>
            </a:r>
          </a:p>
          <a:p>
            <a:pPr marL="561340" marR="5080" lvl="1" indent="-274955">
              <a:lnSpc>
                <a:spcPct val="100000"/>
              </a:lnSpc>
              <a:spcBef>
                <a:spcPts val="495"/>
              </a:spcBef>
              <a:buClr>
                <a:srgbClr val="9FB8CD"/>
              </a:buClr>
              <a:buSzPct val="75000"/>
              <a:buChar char=""/>
              <a:tabLst>
                <a:tab pos="561340" algn="l"/>
                <a:tab pos="561975" algn="l"/>
              </a:tabLst>
            </a:pPr>
            <a:r>
              <a:rPr sz="2600" dirty="0">
                <a:solidFill>
                  <a:srgbClr val="464652"/>
                </a:solidFill>
                <a:latin typeface="Arial"/>
                <a:cs typeface="Arial"/>
              </a:rPr>
              <a:t>The index can be assigned automatically</a:t>
            </a:r>
            <a:r>
              <a:rPr sz="2600" spc="-40" dirty="0">
                <a:solidFill>
                  <a:srgbClr val="464652"/>
                </a:solidFill>
                <a:latin typeface="Arial"/>
                <a:cs typeface="Arial"/>
              </a:rPr>
              <a:t> </a:t>
            </a:r>
            <a:r>
              <a:rPr sz="2600" dirty="0">
                <a:solidFill>
                  <a:srgbClr val="464652"/>
                </a:solidFill>
                <a:latin typeface="Arial"/>
                <a:cs typeface="Arial"/>
              </a:rPr>
              <a:t>(index  always starts at</a:t>
            </a:r>
            <a:r>
              <a:rPr sz="2600" spc="-25" dirty="0">
                <a:solidFill>
                  <a:srgbClr val="464652"/>
                </a:solidFill>
                <a:latin typeface="Arial"/>
                <a:cs typeface="Arial"/>
              </a:rPr>
              <a:t> </a:t>
            </a:r>
            <a:r>
              <a:rPr sz="2600" dirty="0">
                <a:solidFill>
                  <a:srgbClr val="464652"/>
                </a:solidFill>
                <a:latin typeface="Arial"/>
                <a:cs typeface="Arial"/>
              </a:rPr>
              <a:t>0):</a:t>
            </a:r>
            <a:endParaRPr sz="2600" dirty="0">
              <a:latin typeface="Arial"/>
              <a:cs typeface="Arial"/>
            </a:endParaRPr>
          </a:p>
          <a:p>
            <a:pPr marL="561340" lvl="1" indent="-275590">
              <a:lnSpc>
                <a:spcPct val="100000"/>
              </a:lnSpc>
              <a:spcBef>
                <a:spcPts val="505"/>
              </a:spcBef>
              <a:buClr>
                <a:srgbClr val="9FB8CD"/>
              </a:buClr>
              <a:buSzPct val="75000"/>
              <a:buChar char=""/>
              <a:tabLst>
                <a:tab pos="561340" algn="l"/>
                <a:tab pos="561975" algn="l"/>
              </a:tabLst>
            </a:pPr>
            <a:r>
              <a:rPr sz="2600" spc="-15" dirty="0">
                <a:solidFill>
                  <a:srgbClr val="464652"/>
                </a:solidFill>
                <a:latin typeface="Arial"/>
                <a:cs typeface="Arial"/>
              </a:rPr>
              <a:t>$cars=array("Volvo","BMW","Toyota");</a:t>
            </a:r>
            <a:endParaRPr sz="2600" dirty="0">
              <a:latin typeface="Arial"/>
              <a:cs typeface="Arial"/>
            </a:endParaRPr>
          </a:p>
          <a:p>
            <a:pPr marL="381000">
              <a:lnSpc>
                <a:spcPct val="100000"/>
              </a:lnSpc>
              <a:spcBef>
                <a:spcPts val="600"/>
              </a:spcBef>
            </a:pPr>
            <a:r>
              <a:rPr sz="2600" b="1" dirty="0">
                <a:latin typeface="Arial"/>
                <a:cs typeface="Arial"/>
              </a:rPr>
              <a:t>OR</a:t>
            </a:r>
            <a:endParaRPr sz="2600" dirty="0">
              <a:latin typeface="Arial"/>
              <a:cs typeface="Arial"/>
            </a:endParaRPr>
          </a:p>
          <a:p>
            <a:pPr marL="561340" lvl="1" indent="-275590">
              <a:lnSpc>
                <a:spcPct val="100000"/>
              </a:lnSpc>
              <a:spcBef>
                <a:spcPts val="505"/>
              </a:spcBef>
              <a:buClr>
                <a:srgbClr val="9FB8CD"/>
              </a:buClr>
              <a:buSzPct val="75000"/>
              <a:buChar char=""/>
              <a:tabLst>
                <a:tab pos="561340" algn="l"/>
                <a:tab pos="561975" algn="l"/>
              </a:tabLst>
            </a:pPr>
            <a:r>
              <a:rPr sz="2600" dirty="0">
                <a:solidFill>
                  <a:srgbClr val="464652"/>
                </a:solidFill>
                <a:latin typeface="Arial"/>
                <a:cs typeface="Arial"/>
              </a:rPr>
              <a:t>The index can be assigned</a:t>
            </a:r>
            <a:r>
              <a:rPr sz="2600" spc="-35" dirty="0">
                <a:solidFill>
                  <a:srgbClr val="464652"/>
                </a:solidFill>
                <a:latin typeface="Arial"/>
                <a:cs typeface="Arial"/>
              </a:rPr>
              <a:t> </a:t>
            </a:r>
            <a:r>
              <a:rPr sz="2600" dirty="0">
                <a:solidFill>
                  <a:srgbClr val="464652"/>
                </a:solidFill>
                <a:latin typeface="Arial"/>
                <a:cs typeface="Arial"/>
              </a:rPr>
              <a:t>manually:</a:t>
            </a:r>
            <a:endParaRPr sz="2600" dirty="0">
              <a:latin typeface="Arial"/>
              <a:cs typeface="Arial"/>
            </a:endParaRPr>
          </a:p>
          <a:p>
            <a:pPr marL="655955">
              <a:lnSpc>
                <a:spcPct val="100000"/>
              </a:lnSpc>
              <a:spcBef>
                <a:spcPts val="495"/>
              </a:spcBef>
            </a:pPr>
            <a:r>
              <a:rPr sz="2600" spc="-10" dirty="0">
                <a:solidFill>
                  <a:srgbClr val="464652"/>
                </a:solidFill>
                <a:latin typeface="Arial"/>
                <a:cs typeface="Arial"/>
              </a:rPr>
              <a:t>$cars[0]="Volvo";</a:t>
            </a:r>
            <a:endParaRPr sz="2600" dirty="0">
              <a:latin typeface="Arial"/>
              <a:cs typeface="Arial"/>
            </a:endParaRPr>
          </a:p>
          <a:p>
            <a:pPr marL="561340">
              <a:lnSpc>
                <a:spcPct val="100000"/>
              </a:lnSpc>
            </a:pPr>
            <a:r>
              <a:rPr sz="2600" dirty="0">
                <a:solidFill>
                  <a:srgbClr val="464652"/>
                </a:solidFill>
                <a:latin typeface="Arial"/>
                <a:cs typeface="Arial"/>
              </a:rPr>
              <a:t>$cars[1]="BMW";</a:t>
            </a:r>
            <a:endParaRPr sz="2600" dirty="0">
              <a:latin typeface="Arial"/>
              <a:cs typeface="Arial"/>
            </a:endParaRPr>
          </a:p>
          <a:p>
            <a:pPr marL="561340">
              <a:lnSpc>
                <a:spcPct val="100000"/>
              </a:lnSpc>
            </a:pPr>
            <a:r>
              <a:rPr sz="2600" spc="-15" dirty="0">
                <a:solidFill>
                  <a:srgbClr val="464652"/>
                </a:solidFill>
                <a:latin typeface="Arial"/>
                <a:cs typeface="Arial"/>
              </a:rPr>
              <a:t>$cars[2]="Toyota";</a:t>
            </a:r>
            <a:endParaRPr sz="2600" dirty="0">
              <a:latin typeface="Arial"/>
              <a:cs typeface="Arial"/>
            </a:endParaRPr>
          </a:p>
        </p:txBody>
      </p:sp>
    </p:spTree>
    <p:extLst>
      <p:ext uri="{BB962C8B-B14F-4D97-AF65-F5344CB8AC3E}">
        <p14:creationId xmlns:p14="http://schemas.microsoft.com/office/powerpoint/2010/main" val="782702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88912"/>
            <a:ext cx="5864860" cy="690574"/>
          </a:xfrm>
          <a:prstGeom prst="rect">
            <a:avLst/>
          </a:prstGeom>
        </p:spPr>
        <p:txBody>
          <a:bodyPr vert="horz" wrap="square" lIns="0" tIns="13335" rIns="0" bIns="0" rtlCol="0">
            <a:spAutoFit/>
          </a:bodyPr>
          <a:lstStyle/>
          <a:p>
            <a:pPr marL="12700">
              <a:lnSpc>
                <a:spcPct val="100000"/>
              </a:lnSpc>
              <a:spcBef>
                <a:spcPts val="105"/>
              </a:spcBef>
            </a:pPr>
            <a:r>
              <a:rPr dirty="0">
                <a:solidFill>
                  <a:srgbClr val="464652"/>
                </a:solidFill>
              </a:rPr>
              <a:t>PHP </a:t>
            </a:r>
            <a:r>
              <a:rPr spc="-5" dirty="0">
                <a:solidFill>
                  <a:srgbClr val="464652"/>
                </a:solidFill>
              </a:rPr>
              <a:t>Associative</a:t>
            </a:r>
            <a:r>
              <a:rPr spc="-95" dirty="0">
                <a:solidFill>
                  <a:srgbClr val="464652"/>
                </a:solidFill>
              </a:rPr>
              <a:t> </a:t>
            </a:r>
            <a:r>
              <a:rPr spc="-5" dirty="0">
                <a:solidFill>
                  <a:srgbClr val="464652"/>
                </a:solidFill>
              </a:rPr>
              <a:t>Arrays</a:t>
            </a:r>
          </a:p>
        </p:txBody>
      </p:sp>
      <p:sp>
        <p:nvSpPr>
          <p:cNvPr id="3" name="object 3"/>
          <p:cNvSpPr txBox="1"/>
          <p:nvPr/>
        </p:nvSpPr>
        <p:spPr>
          <a:xfrm>
            <a:off x="535940" y="1167130"/>
            <a:ext cx="8013700" cy="5484194"/>
          </a:xfrm>
          <a:prstGeom prst="rect">
            <a:avLst/>
          </a:prstGeom>
        </p:spPr>
        <p:txBody>
          <a:bodyPr vert="horz" wrap="square" lIns="0" tIns="13335" rIns="0" bIns="0" rtlCol="0">
            <a:spAutoFit/>
          </a:bodyPr>
          <a:lstStyle/>
          <a:p>
            <a:pPr marL="286385" marR="313690" indent="-274320">
              <a:lnSpc>
                <a:spcPct val="100000"/>
              </a:lnSpc>
              <a:spcBef>
                <a:spcPts val="105"/>
              </a:spcBef>
              <a:buClr>
                <a:srgbClr val="717BA2"/>
              </a:buClr>
              <a:buSzPct val="75000"/>
              <a:buChar char=""/>
              <a:tabLst>
                <a:tab pos="286385" algn="l"/>
                <a:tab pos="287020" algn="l"/>
              </a:tabLst>
            </a:pPr>
            <a:r>
              <a:rPr sz="2600" dirty="0">
                <a:latin typeface="Arial"/>
                <a:cs typeface="Arial"/>
              </a:rPr>
              <a:t>Associative arrays are arrays that use named</a:t>
            </a:r>
            <a:r>
              <a:rPr sz="2600" spc="-60" dirty="0">
                <a:latin typeface="Arial"/>
                <a:cs typeface="Arial"/>
              </a:rPr>
              <a:t> </a:t>
            </a:r>
            <a:r>
              <a:rPr sz="2600" dirty="0">
                <a:latin typeface="Arial"/>
                <a:cs typeface="Arial"/>
              </a:rPr>
              <a:t>keys  that you assign to</a:t>
            </a:r>
            <a:r>
              <a:rPr sz="2600" spc="-25" dirty="0">
                <a:latin typeface="Arial"/>
                <a:cs typeface="Arial"/>
              </a:rPr>
              <a:t> </a:t>
            </a:r>
            <a:r>
              <a:rPr sz="2600" dirty="0">
                <a:latin typeface="Arial"/>
                <a:cs typeface="Arial"/>
              </a:rPr>
              <a:t>them.</a:t>
            </a:r>
          </a:p>
          <a:p>
            <a:pPr marL="287020" indent="-274320">
              <a:lnSpc>
                <a:spcPct val="100000"/>
              </a:lnSpc>
              <a:spcBef>
                <a:spcPts val="600"/>
              </a:spcBef>
              <a:buClr>
                <a:srgbClr val="717BA2"/>
              </a:buClr>
              <a:buSzPct val="75000"/>
              <a:buChar char=""/>
              <a:tabLst>
                <a:tab pos="286385" algn="l"/>
                <a:tab pos="287020" algn="l"/>
              </a:tabLst>
            </a:pPr>
            <a:r>
              <a:rPr sz="2600" dirty="0">
                <a:latin typeface="Arial"/>
                <a:cs typeface="Arial"/>
              </a:rPr>
              <a:t>There are two ways to create an associative</a:t>
            </a:r>
            <a:r>
              <a:rPr sz="2600" spc="-50" dirty="0">
                <a:latin typeface="Arial"/>
                <a:cs typeface="Arial"/>
              </a:rPr>
              <a:t> </a:t>
            </a:r>
            <a:r>
              <a:rPr sz="2600" dirty="0">
                <a:latin typeface="Arial"/>
                <a:cs typeface="Arial"/>
              </a:rPr>
              <a:t>array:</a:t>
            </a:r>
          </a:p>
          <a:p>
            <a:pPr marL="561340" marR="5080" indent="-274955">
              <a:lnSpc>
                <a:spcPct val="100000"/>
              </a:lnSpc>
              <a:spcBef>
                <a:spcPts val="490"/>
              </a:spcBef>
              <a:tabLst>
                <a:tab pos="561340" algn="l"/>
              </a:tabLst>
            </a:pPr>
            <a:r>
              <a:rPr sz="1950" spc="-555" dirty="0">
                <a:solidFill>
                  <a:srgbClr val="9FB8CD"/>
                </a:solidFill>
                <a:latin typeface="Arial"/>
                <a:cs typeface="Arial"/>
              </a:rPr>
              <a:t>	</a:t>
            </a:r>
            <a:r>
              <a:rPr sz="2600" dirty="0">
                <a:solidFill>
                  <a:srgbClr val="464652"/>
                </a:solidFill>
                <a:latin typeface="Arial"/>
                <a:cs typeface="Arial"/>
              </a:rPr>
              <a:t>$</a:t>
            </a:r>
            <a:r>
              <a:rPr sz="2600" spc="5" dirty="0">
                <a:solidFill>
                  <a:srgbClr val="464652"/>
                </a:solidFill>
                <a:latin typeface="Arial"/>
                <a:cs typeface="Arial"/>
              </a:rPr>
              <a:t>a</a:t>
            </a:r>
            <a:r>
              <a:rPr sz="2600" dirty="0">
                <a:solidFill>
                  <a:srgbClr val="464652"/>
                </a:solidFill>
                <a:latin typeface="Arial"/>
                <a:cs typeface="Arial"/>
              </a:rPr>
              <a:t>g</a:t>
            </a:r>
            <a:r>
              <a:rPr sz="2600" spc="5" dirty="0">
                <a:solidFill>
                  <a:srgbClr val="464652"/>
                </a:solidFill>
                <a:latin typeface="Arial"/>
                <a:cs typeface="Arial"/>
              </a:rPr>
              <a:t>e</a:t>
            </a:r>
            <a:r>
              <a:rPr sz="2600" dirty="0">
                <a:solidFill>
                  <a:srgbClr val="464652"/>
                </a:solidFill>
                <a:latin typeface="Arial"/>
                <a:cs typeface="Arial"/>
              </a:rPr>
              <a:t>=arra</a:t>
            </a:r>
            <a:r>
              <a:rPr sz="2600" spc="5" dirty="0">
                <a:solidFill>
                  <a:srgbClr val="464652"/>
                </a:solidFill>
                <a:latin typeface="Arial"/>
                <a:cs typeface="Arial"/>
              </a:rPr>
              <a:t>y</a:t>
            </a:r>
            <a:r>
              <a:rPr sz="2600" dirty="0">
                <a:solidFill>
                  <a:srgbClr val="464652"/>
                </a:solidFill>
                <a:latin typeface="Arial"/>
                <a:cs typeface="Arial"/>
              </a:rPr>
              <a:t>("Peter"</a:t>
            </a:r>
            <a:r>
              <a:rPr sz="2600" spc="-10" dirty="0">
                <a:solidFill>
                  <a:srgbClr val="464652"/>
                </a:solidFill>
                <a:latin typeface="Arial"/>
                <a:cs typeface="Arial"/>
              </a:rPr>
              <a:t>=&gt;</a:t>
            </a:r>
            <a:r>
              <a:rPr sz="2600" dirty="0">
                <a:solidFill>
                  <a:srgbClr val="464652"/>
                </a:solidFill>
                <a:latin typeface="Arial"/>
                <a:cs typeface="Arial"/>
              </a:rPr>
              <a:t>"3</a:t>
            </a:r>
            <a:r>
              <a:rPr sz="2600" spc="5" dirty="0">
                <a:solidFill>
                  <a:srgbClr val="464652"/>
                </a:solidFill>
                <a:latin typeface="Arial"/>
                <a:cs typeface="Arial"/>
              </a:rPr>
              <a:t>5</a:t>
            </a:r>
            <a:r>
              <a:rPr sz="2600" dirty="0">
                <a:solidFill>
                  <a:srgbClr val="464652"/>
                </a:solidFill>
                <a:latin typeface="Arial"/>
                <a:cs typeface="Arial"/>
              </a:rPr>
              <a:t>","Ben"=</a:t>
            </a:r>
            <a:r>
              <a:rPr sz="2600" spc="-15" dirty="0">
                <a:solidFill>
                  <a:srgbClr val="464652"/>
                </a:solidFill>
                <a:latin typeface="Arial"/>
                <a:cs typeface="Arial"/>
              </a:rPr>
              <a:t>&gt;</a:t>
            </a:r>
            <a:r>
              <a:rPr sz="2600" dirty="0">
                <a:solidFill>
                  <a:srgbClr val="464652"/>
                </a:solidFill>
                <a:latin typeface="Arial"/>
                <a:cs typeface="Arial"/>
              </a:rPr>
              <a:t>"3</a:t>
            </a:r>
            <a:r>
              <a:rPr sz="2600" spc="5" dirty="0">
                <a:solidFill>
                  <a:srgbClr val="464652"/>
                </a:solidFill>
                <a:latin typeface="Arial"/>
                <a:cs typeface="Arial"/>
              </a:rPr>
              <a:t>7</a:t>
            </a:r>
            <a:r>
              <a:rPr sz="2600" dirty="0">
                <a:solidFill>
                  <a:srgbClr val="464652"/>
                </a:solidFill>
                <a:latin typeface="Arial"/>
                <a:cs typeface="Arial"/>
              </a:rPr>
              <a:t>","Joe"</a:t>
            </a:r>
            <a:r>
              <a:rPr sz="2600" spc="-15" dirty="0">
                <a:solidFill>
                  <a:srgbClr val="464652"/>
                </a:solidFill>
                <a:latin typeface="Arial"/>
                <a:cs typeface="Arial"/>
              </a:rPr>
              <a:t>=</a:t>
            </a:r>
            <a:r>
              <a:rPr sz="2600" spc="-10" dirty="0">
                <a:solidFill>
                  <a:srgbClr val="464652"/>
                </a:solidFill>
                <a:latin typeface="Arial"/>
                <a:cs typeface="Arial"/>
              </a:rPr>
              <a:t>&gt;</a:t>
            </a:r>
            <a:r>
              <a:rPr sz="2600" dirty="0">
                <a:solidFill>
                  <a:srgbClr val="464652"/>
                </a:solidFill>
                <a:latin typeface="Arial"/>
                <a:cs typeface="Arial"/>
              </a:rPr>
              <a:t>"43  ");</a:t>
            </a:r>
            <a:endParaRPr sz="2600" dirty="0">
              <a:latin typeface="Arial"/>
              <a:cs typeface="Arial"/>
            </a:endParaRPr>
          </a:p>
          <a:p>
            <a:pPr marL="286385">
              <a:lnSpc>
                <a:spcPct val="100000"/>
              </a:lnSpc>
              <a:spcBef>
                <a:spcPts val="505"/>
              </a:spcBef>
            </a:pPr>
            <a:r>
              <a:rPr sz="2600" dirty="0">
                <a:solidFill>
                  <a:srgbClr val="464652"/>
                </a:solidFill>
                <a:latin typeface="Arial"/>
                <a:cs typeface="Arial"/>
              </a:rPr>
              <a:t>OR</a:t>
            </a:r>
            <a:endParaRPr sz="2600" dirty="0">
              <a:latin typeface="Arial"/>
              <a:cs typeface="Arial"/>
            </a:endParaRPr>
          </a:p>
          <a:p>
            <a:pPr marR="4433570" algn="ctr">
              <a:lnSpc>
                <a:spcPct val="100000"/>
              </a:lnSpc>
              <a:spcBef>
                <a:spcPts val="509"/>
              </a:spcBef>
              <a:tabLst>
                <a:tab pos="274320" algn="l"/>
              </a:tabLst>
            </a:pPr>
            <a:r>
              <a:rPr sz="1950" spc="-555" dirty="0">
                <a:solidFill>
                  <a:srgbClr val="9FB8CD"/>
                </a:solidFill>
                <a:latin typeface="Arial"/>
                <a:cs typeface="Arial"/>
              </a:rPr>
              <a:t>	</a:t>
            </a:r>
            <a:r>
              <a:rPr sz="2600" dirty="0">
                <a:solidFill>
                  <a:srgbClr val="464652"/>
                </a:solidFill>
                <a:latin typeface="Arial"/>
                <a:cs typeface="Arial"/>
              </a:rPr>
              <a:t>$age['Peter']="35";</a:t>
            </a:r>
            <a:endParaRPr sz="2600" dirty="0">
              <a:latin typeface="Arial"/>
              <a:cs typeface="Arial"/>
            </a:endParaRPr>
          </a:p>
          <a:p>
            <a:pPr marR="4359910" algn="ctr">
              <a:lnSpc>
                <a:spcPct val="100000"/>
              </a:lnSpc>
            </a:pPr>
            <a:r>
              <a:rPr sz="2600" dirty="0">
                <a:solidFill>
                  <a:srgbClr val="464652"/>
                </a:solidFill>
                <a:latin typeface="Arial"/>
                <a:cs typeface="Arial"/>
              </a:rPr>
              <a:t>$age['Ben']="37";</a:t>
            </a:r>
            <a:endParaRPr sz="2600" dirty="0">
              <a:latin typeface="Arial"/>
              <a:cs typeface="Arial"/>
            </a:endParaRPr>
          </a:p>
          <a:p>
            <a:pPr marR="4415155" algn="ctr">
              <a:lnSpc>
                <a:spcPct val="100000"/>
              </a:lnSpc>
            </a:pPr>
            <a:r>
              <a:rPr sz="2600" dirty="0">
                <a:solidFill>
                  <a:srgbClr val="464652"/>
                </a:solidFill>
                <a:latin typeface="Arial"/>
                <a:cs typeface="Arial"/>
              </a:rPr>
              <a:t>$age['Joe']="43";</a:t>
            </a:r>
            <a:endParaRPr lang="en-US" sz="2600" dirty="0">
              <a:solidFill>
                <a:srgbClr val="464652"/>
              </a:solidFill>
              <a:latin typeface="Arial"/>
              <a:cs typeface="Arial"/>
            </a:endParaRPr>
          </a:p>
          <a:p>
            <a:pPr marR="4415155" algn="ctr">
              <a:lnSpc>
                <a:spcPct val="100000"/>
              </a:lnSpc>
            </a:pPr>
            <a:r>
              <a:rPr lang="en-US" sz="2600" dirty="0">
                <a:solidFill>
                  <a:srgbClr val="464652"/>
                </a:solidFill>
                <a:latin typeface="Arial"/>
                <a:cs typeface="Arial"/>
              </a:rPr>
              <a:t>$person = array(“Name”=&gt;“Surayya”, “role”=&gt;”Teacher”)</a:t>
            </a:r>
          </a:p>
          <a:p>
            <a:pPr marR="4415155" algn="ctr">
              <a:lnSpc>
                <a:spcPct val="100000"/>
              </a:lnSpc>
            </a:pPr>
            <a:endParaRPr sz="2600" dirty="0">
              <a:latin typeface="Arial"/>
              <a:cs typeface="Arial"/>
            </a:endParaRPr>
          </a:p>
        </p:txBody>
      </p:sp>
    </p:spTree>
    <p:extLst>
      <p:ext uri="{BB962C8B-B14F-4D97-AF65-F5344CB8AC3E}">
        <p14:creationId xmlns:p14="http://schemas.microsoft.com/office/powerpoint/2010/main" val="22266556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88912"/>
            <a:ext cx="6169660" cy="690574"/>
          </a:xfrm>
          <a:prstGeom prst="rect">
            <a:avLst/>
          </a:prstGeom>
        </p:spPr>
        <p:txBody>
          <a:bodyPr vert="horz" wrap="square" lIns="0" tIns="13335" rIns="0" bIns="0" rtlCol="0">
            <a:spAutoFit/>
          </a:bodyPr>
          <a:lstStyle/>
          <a:p>
            <a:pPr marL="12700">
              <a:lnSpc>
                <a:spcPct val="100000"/>
              </a:lnSpc>
              <a:spcBef>
                <a:spcPts val="105"/>
              </a:spcBef>
            </a:pPr>
            <a:r>
              <a:rPr dirty="0">
                <a:solidFill>
                  <a:srgbClr val="464652"/>
                </a:solidFill>
              </a:rPr>
              <a:t>PHP </a:t>
            </a:r>
            <a:r>
              <a:rPr spc="-5" dirty="0">
                <a:solidFill>
                  <a:srgbClr val="464652"/>
                </a:solidFill>
              </a:rPr>
              <a:t>Associative</a:t>
            </a:r>
            <a:r>
              <a:rPr spc="-95" dirty="0">
                <a:solidFill>
                  <a:srgbClr val="464652"/>
                </a:solidFill>
              </a:rPr>
              <a:t> </a:t>
            </a:r>
            <a:r>
              <a:rPr spc="-5" dirty="0">
                <a:solidFill>
                  <a:srgbClr val="464652"/>
                </a:solidFill>
              </a:rPr>
              <a:t>Arrays</a:t>
            </a:r>
          </a:p>
        </p:txBody>
      </p:sp>
      <p:sp>
        <p:nvSpPr>
          <p:cNvPr id="3" name="object 3"/>
          <p:cNvSpPr txBox="1"/>
          <p:nvPr/>
        </p:nvSpPr>
        <p:spPr>
          <a:xfrm>
            <a:off x="535940" y="1168113"/>
            <a:ext cx="8059420" cy="3738844"/>
          </a:xfrm>
          <a:prstGeom prst="rect">
            <a:avLst/>
          </a:prstGeom>
        </p:spPr>
        <p:txBody>
          <a:bodyPr vert="horz" wrap="square" lIns="0" tIns="88265" rIns="0" bIns="0" rtlCol="0">
            <a:spAutoFit/>
          </a:bodyPr>
          <a:lstStyle/>
          <a:p>
            <a:pPr marL="12700">
              <a:lnSpc>
                <a:spcPct val="100000"/>
              </a:lnSpc>
              <a:spcBef>
                <a:spcPts val="695"/>
              </a:spcBef>
              <a:tabLst>
                <a:tab pos="286385" algn="l"/>
              </a:tabLst>
            </a:pPr>
            <a:r>
              <a:rPr sz="1950" spc="-555" dirty="0">
                <a:solidFill>
                  <a:srgbClr val="717BA2"/>
                </a:solidFill>
                <a:latin typeface="Arial"/>
                <a:cs typeface="Arial"/>
              </a:rPr>
              <a:t>	</a:t>
            </a:r>
            <a:r>
              <a:rPr sz="2600" dirty="0">
                <a:latin typeface="Arial"/>
                <a:cs typeface="Arial"/>
              </a:rPr>
              <a:t>Example</a:t>
            </a:r>
          </a:p>
          <a:p>
            <a:pPr marL="12700">
              <a:lnSpc>
                <a:spcPct val="100000"/>
              </a:lnSpc>
              <a:spcBef>
                <a:spcPts val="600"/>
              </a:spcBef>
            </a:pPr>
            <a:r>
              <a:rPr sz="2600" spc="5" dirty="0">
                <a:latin typeface="Arial"/>
                <a:cs typeface="Arial"/>
              </a:rPr>
              <a:t>&lt;?php</a:t>
            </a:r>
            <a:endParaRPr sz="2600" dirty="0">
              <a:latin typeface="Arial"/>
              <a:cs typeface="Arial"/>
            </a:endParaRPr>
          </a:p>
          <a:p>
            <a:pPr marL="561340" marR="5080" indent="-274955">
              <a:lnSpc>
                <a:spcPct val="100000"/>
              </a:lnSpc>
              <a:spcBef>
                <a:spcPts val="495"/>
              </a:spcBef>
            </a:pPr>
            <a:r>
              <a:rPr sz="2600" dirty="0">
                <a:solidFill>
                  <a:srgbClr val="464652"/>
                </a:solidFill>
                <a:latin typeface="Arial"/>
                <a:cs typeface="Arial"/>
              </a:rPr>
              <a:t>$</a:t>
            </a:r>
            <a:r>
              <a:rPr sz="2600" spc="5" dirty="0">
                <a:solidFill>
                  <a:srgbClr val="464652"/>
                </a:solidFill>
                <a:latin typeface="Arial"/>
                <a:cs typeface="Arial"/>
              </a:rPr>
              <a:t>a</a:t>
            </a:r>
            <a:r>
              <a:rPr sz="2600" dirty="0">
                <a:solidFill>
                  <a:srgbClr val="464652"/>
                </a:solidFill>
                <a:latin typeface="Arial"/>
                <a:cs typeface="Arial"/>
              </a:rPr>
              <a:t>g</a:t>
            </a:r>
            <a:r>
              <a:rPr sz="2600" spc="5" dirty="0">
                <a:solidFill>
                  <a:srgbClr val="464652"/>
                </a:solidFill>
                <a:latin typeface="Arial"/>
                <a:cs typeface="Arial"/>
              </a:rPr>
              <a:t>e</a:t>
            </a:r>
            <a:r>
              <a:rPr sz="2600" dirty="0">
                <a:solidFill>
                  <a:srgbClr val="464652"/>
                </a:solidFill>
                <a:latin typeface="Arial"/>
                <a:cs typeface="Arial"/>
              </a:rPr>
              <a:t>=arra</a:t>
            </a:r>
            <a:r>
              <a:rPr sz="2600" spc="5" dirty="0">
                <a:solidFill>
                  <a:srgbClr val="464652"/>
                </a:solidFill>
                <a:latin typeface="Arial"/>
                <a:cs typeface="Arial"/>
              </a:rPr>
              <a:t>y</a:t>
            </a:r>
            <a:r>
              <a:rPr sz="2600" dirty="0">
                <a:solidFill>
                  <a:srgbClr val="464652"/>
                </a:solidFill>
                <a:latin typeface="Arial"/>
                <a:cs typeface="Arial"/>
              </a:rPr>
              <a:t>("Peter"</a:t>
            </a:r>
            <a:r>
              <a:rPr sz="2600" spc="-10" dirty="0">
                <a:solidFill>
                  <a:srgbClr val="464652"/>
                </a:solidFill>
                <a:latin typeface="Arial"/>
                <a:cs typeface="Arial"/>
              </a:rPr>
              <a:t>=&gt;</a:t>
            </a:r>
            <a:r>
              <a:rPr sz="2600" dirty="0">
                <a:solidFill>
                  <a:srgbClr val="464652"/>
                </a:solidFill>
                <a:latin typeface="Arial"/>
                <a:cs typeface="Arial"/>
              </a:rPr>
              <a:t>"3</a:t>
            </a:r>
            <a:r>
              <a:rPr sz="2600" spc="5" dirty="0">
                <a:solidFill>
                  <a:srgbClr val="464652"/>
                </a:solidFill>
                <a:latin typeface="Arial"/>
                <a:cs typeface="Arial"/>
              </a:rPr>
              <a:t>5</a:t>
            </a:r>
            <a:r>
              <a:rPr sz="2600" dirty="0">
                <a:solidFill>
                  <a:srgbClr val="464652"/>
                </a:solidFill>
                <a:latin typeface="Arial"/>
                <a:cs typeface="Arial"/>
              </a:rPr>
              <a:t>","Ben"=</a:t>
            </a:r>
            <a:r>
              <a:rPr sz="2600" spc="-15" dirty="0">
                <a:solidFill>
                  <a:srgbClr val="464652"/>
                </a:solidFill>
                <a:latin typeface="Arial"/>
                <a:cs typeface="Arial"/>
              </a:rPr>
              <a:t>&gt;</a:t>
            </a:r>
            <a:r>
              <a:rPr sz="2600" dirty="0">
                <a:solidFill>
                  <a:srgbClr val="464652"/>
                </a:solidFill>
                <a:latin typeface="Arial"/>
                <a:cs typeface="Arial"/>
              </a:rPr>
              <a:t>"3</a:t>
            </a:r>
            <a:r>
              <a:rPr sz="2600" spc="5" dirty="0">
                <a:solidFill>
                  <a:srgbClr val="464652"/>
                </a:solidFill>
                <a:latin typeface="Arial"/>
                <a:cs typeface="Arial"/>
              </a:rPr>
              <a:t>7</a:t>
            </a:r>
            <a:r>
              <a:rPr sz="2600" dirty="0">
                <a:solidFill>
                  <a:srgbClr val="464652"/>
                </a:solidFill>
                <a:latin typeface="Arial"/>
                <a:cs typeface="Arial"/>
              </a:rPr>
              <a:t>","Joe"</a:t>
            </a:r>
            <a:r>
              <a:rPr sz="2600" spc="-15" dirty="0">
                <a:solidFill>
                  <a:srgbClr val="464652"/>
                </a:solidFill>
                <a:latin typeface="Arial"/>
                <a:cs typeface="Arial"/>
              </a:rPr>
              <a:t>=</a:t>
            </a:r>
            <a:r>
              <a:rPr sz="2600" spc="-10" dirty="0">
                <a:solidFill>
                  <a:srgbClr val="464652"/>
                </a:solidFill>
                <a:latin typeface="Arial"/>
                <a:cs typeface="Arial"/>
              </a:rPr>
              <a:t>&gt;</a:t>
            </a:r>
            <a:r>
              <a:rPr sz="2600" dirty="0">
                <a:solidFill>
                  <a:srgbClr val="464652"/>
                </a:solidFill>
                <a:latin typeface="Arial"/>
                <a:cs typeface="Arial"/>
              </a:rPr>
              <a:t>"4</a:t>
            </a:r>
            <a:r>
              <a:rPr sz="2600" spc="5" dirty="0">
                <a:solidFill>
                  <a:srgbClr val="464652"/>
                </a:solidFill>
                <a:latin typeface="Arial"/>
                <a:cs typeface="Arial"/>
              </a:rPr>
              <a:t>3</a:t>
            </a:r>
            <a:r>
              <a:rPr sz="2600" dirty="0">
                <a:solidFill>
                  <a:srgbClr val="464652"/>
                </a:solidFill>
                <a:latin typeface="Arial"/>
                <a:cs typeface="Arial"/>
              </a:rPr>
              <a:t>");  echo "Peter is " . $age['Peter'] . " years</a:t>
            </a:r>
            <a:r>
              <a:rPr sz="2600" spc="-30" dirty="0">
                <a:solidFill>
                  <a:srgbClr val="464652"/>
                </a:solidFill>
                <a:latin typeface="Arial"/>
                <a:cs typeface="Arial"/>
              </a:rPr>
              <a:t> </a:t>
            </a:r>
            <a:r>
              <a:rPr sz="2600" dirty="0">
                <a:solidFill>
                  <a:srgbClr val="464652"/>
                </a:solidFill>
                <a:latin typeface="Arial"/>
                <a:cs typeface="Arial"/>
              </a:rPr>
              <a:t>old.";</a:t>
            </a:r>
            <a:endParaRPr sz="2600" dirty="0">
              <a:latin typeface="Arial"/>
              <a:cs typeface="Arial"/>
            </a:endParaRPr>
          </a:p>
          <a:p>
            <a:pPr marL="12700">
              <a:lnSpc>
                <a:spcPct val="100000"/>
              </a:lnSpc>
              <a:spcBef>
                <a:spcPts val="600"/>
              </a:spcBef>
            </a:pPr>
            <a:r>
              <a:rPr sz="2600" dirty="0">
                <a:latin typeface="Arial"/>
                <a:cs typeface="Arial"/>
              </a:rPr>
              <a:t>?&gt;</a:t>
            </a:r>
          </a:p>
          <a:p>
            <a:pPr marL="12700">
              <a:lnSpc>
                <a:spcPct val="100000"/>
              </a:lnSpc>
              <a:spcBef>
                <a:spcPts val="600"/>
              </a:spcBef>
            </a:pPr>
            <a:r>
              <a:rPr sz="2600" dirty="0">
                <a:latin typeface="Arial"/>
                <a:cs typeface="Arial"/>
              </a:rPr>
              <a:t>// Output : Peter is 35 years</a:t>
            </a:r>
            <a:r>
              <a:rPr sz="2600" spc="-30" dirty="0">
                <a:latin typeface="Arial"/>
                <a:cs typeface="Arial"/>
              </a:rPr>
              <a:t> </a:t>
            </a:r>
            <a:r>
              <a:rPr sz="2600" dirty="0">
                <a:latin typeface="Arial"/>
                <a:cs typeface="Arial"/>
              </a:rPr>
              <a:t>old.</a:t>
            </a:r>
            <a:endParaRPr lang="en-US" sz="2600" dirty="0">
              <a:latin typeface="Arial"/>
              <a:cs typeface="Arial"/>
            </a:endParaRPr>
          </a:p>
          <a:p>
            <a:pPr marL="12700">
              <a:lnSpc>
                <a:spcPct val="100000"/>
              </a:lnSpc>
              <a:spcBef>
                <a:spcPts val="600"/>
              </a:spcBef>
            </a:pPr>
            <a:endParaRPr lang="en-US" sz="2600" dirty="0">
              <a:latin typeface="Arial"/>
              <a:cs typeface="Arial"/>
            </a:endParaRPr>
          </a:p>
          <a:p>
            <a:pPr marL="12700">
              <a:lnSpc>
                <a:spcPct val="100000"/>
              </a:lnSpc>
              <a:spcBef>
                <a:spcPts val="600"/>
              </a:spcBef>
            </a:pPr>
            <a:r>
              <a:rPr lang="en-US" sz="2600" dirty="0">
                <a:latin typeface="Arial"/>
                <a:cs typeface="Arial"/>
              </a:rPr>
              <a:t>Echo “Name of person is $person[‘Name’]”</a:t>
            </a:r>
            <a:endParaRPr sz="2600" dirty="0">
              <a:latin typeface="Arial"/>
              <a:cs typeface="Arial"/>
            </a:endParaRPr>
          </a:p>
        </p:txBody>
      </p:sp>
    </p:spTree>
    <p:extLst>
      <p:ext uri="{BB962C8B-B14F-4D97-AF65-F5344CB8AC3E}">
        <p14:creationId xmlns:p14="http://schemas.microsoft.com/office/powerpoint/2010/main" val="30099382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a:lstStyle/>
          <a:p>
            <a:r>
              <a:rPr lang="en-US"/>
              <a:t>PHP Multidimensional Arrays</a:t>
            </a:r>
            <a:endParaRPr lang="en-US" dirty="0"/>
          </a:p>
        </p:txBody>
      </p:sp>
      <p:sp>
        <p:nvSpPr>
          <p:cNvPr id="7" name="Content Placeholder 6"/>
          <p:cNvSpPr>
            <a:spLocks noGrp="1"/>
          </p:cNvSpPr>
          <p:nvPr>
            <p:ph idx="1"/>
          </p:nvPr>
        </p:nvSpPr>
        <p:spPr>
          <a:xfrm>
            <a:off x="628650" y="1828800"/>
            <a:ext cx="7886700" cy="4351338"/>
          </a:xfrm>
        </p:spPr>
        <p:txBody>
          <a:bodyPr>
            <a:noAutofit/>
          </a:bodyPr>
          <a:lstStyle/>
          <a:p>
            <a:pPr marL="0" indent="0">
              <a:lnSpc>
                <a:spcPct val="100000"/>
              </a:lnSpc>
              <a:spcBef>
                <a:spcPts val="455"/>
              </a:spcBef>
              <a:buClr>
                <a:srgbClr val="717BA2"/>
              </a:buClr>
              <a:buSzPct val="75000"/>
              <a:buNone/>
              <a:tabLst>
                <a:tab pos="274320" algn="l"/>
              </a:tabLst>
            </a:pPr>
            <a:r>
              <a:rPr lang="en-US" sz="1600" dirty="0">
                <a:latin typeface="Arial"/>
                <a:cs typeface="Arial"/>
              </a:rPr>
              <a:t>An array can also contain another </a:t>
            </a:r>
            <a:r>
              <a:rPr lang="en-US" sz="1600" spc="-5" dirty="0">
                <a:latin typeface="Arial"/>
                <a:cs typeface="Arial"/>
              </a:rPr>
              <a:t>array </a:t>
            </a:r>
            <a:r>
              <a:rPr lang="en-US" sz="1600" dirty="0">
                <a:latin typeface="Arial"/>
                <a:cs typeface="Arial"/>
              </a:rPr>
              <a:t>as a value,  which in turn can hold other arrays as well. In such</a:t>
            </a:r>
            <a:r>
              <a:rPr lang="en-US" sz="1600" spc="-65" dirty="0">
                <a:latin typeface="Arial"/>
                <a:cs typeface="Arial"/>
              </a:rPr>
              <a:t> </a:t>
            </a:r>
            <a:r>
              <a:rPr lang="en-US" sz="1600" dirty="0">
                <a:latin typeface="Arial"/>
                <a:cs typeface="Arial"/>
              </a:rPr>
              <a:t>a  way we can create two- or three-dimensional</a:t>
            </a:r>
            <a:r>
              <a:rPr lang="en-US" sz="1600" spc="-40" dirty="0">
                <a:latin typeface="Arial"/>
                <a:cs typeface="Arial"/>
              </a:rPr>
              <a:t> </a:t>
            </a:r>
            <a:r>
              <a:rPr lang="en-US" sz="1600" dirty="0">
                <a:latin typeface="Arial"/>
                <a:cs typeface="Arial"/>
              </a:rPr>
              <a:t>arrays:</a:t>
            </a:r>
          </a:p>
          <a:p>
            <a:pPr marL="102235" indent="0">
              <a:lnSpc>
                <a:spcPct val="100000"/>
              </a:lnSpc>
              <a:spcBef>
                <a:spcPts val="135"/>
              </a:spcBef>
              <a:buNone/>
            </a:pPr>
            <a:r>
              <a:rPr lang="en-US" sz="1600" dirty="0">
                <a:solidFill>
                  <a:srgbClr val="464652"/>
                </a:solidFill>
                <a:latin typeface="Arial"/>
                <a:cs typeface="Arial"/>
              </a:rPr>
              <a:t>Example</a:t>
            </a:r>
            <a:endParaRPr lang="en-US" sz="1600" dirty="0">
              <a:latin typeface="Arial"/>
              <a:cs typeface="Arial"/>
            </a:endParaRPr>
          </a:p>
          <a:p>
            <a:pPr marL="0" indent="0">
              <a:lnSpc>
                <a:spcPct val="100000"/>
              </a:lnSpc>
              <a:spcBef>
                <a:spcPts val="290"/>
              </a:spcBef>
              <a:buNone/>
            </a:pPr>
            <a:r>
              <a:rPr lang="en-US" sz="1400" dirty="0">
                <a:latin typeface="Consolas" panose="020B0609020204030204" pitchFamily="49" charset="0"/>
                <a:cs typeface="Consolas" panose="020B0609020204030204" pitchFamily="49" charset="0"/>
              </a:rPr>
              <a:t>&lt;?</a:t>
            </a:r>
            <a:r>
              <a:rPr lang="en-US" sz="1400" dirty="0" err="1">
                <a:latin typeface="Consolas" panose="020B0609020204030204" pitchFamily="49" charset="0"/>
                <a:cs typeface="Consolas" panose="020B0609020204030204" pitchFamily="49" charset="0"/>
              </a:rPr>
              <a:t>php</a:t>
            </a:r>
            <a:endParaRPr lang="en-US" sz="1400" dirty="0">
              <a:latin typeface="Consolas" panose="020B0609020204030204" pitchFamily="49" charset="0"/>
              <a:cs typeface="Consolas" panose="020B0609020204030204" pitchFamily="49" charset="0"/>
            </a:endParaRPr>
          </a:p>
          <a:p>
            <a:pPr marL="102235" indent="0">
              <a:lnSpc>
                <a:spcPct val="100000"/>
              </a:lnSpc>
              <a:buNone/>
            </a:pPr>
            <a:r>
              <a:rPr lang="en-US" sz="1400" dirty="0">
                <a:latin typeface="Consolas" panose="020B0609020204030204" pitchFamily="49" charset="0"/>
                <a:cs typeface="Consolas" panose="020B0609020204030204" pitchFamily="49" charset="0"/>
              </a:rPr>
              <a:t>// A two-dimensional</a:t>
            </a:r>
            <a:r>
              <a:rPr lang="en-US" sz="1400" spc="-315" dirty="0">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array:</a:t>
            </a:r>
          </a:p>
          <a:p>
            <a:pPr marL="273685" marR="5734050" indent="0">
              <a:lnSpc>
                <a:spcPct val="100000"/>
              </a:lnSpc>
              <a:spcBef>
                <a:spcPts val="195"/>
              </a:spcBef>
              <a:buNone/>
            </a:pPr>
            <a:r>
              <a:rPr lang="en-US" sz="1400" dirty="0">
                <a:latin typeface="Consolas" panose="020B0609020204030204" pitchFamily="49" charset="0"/>
                <a:cs typeface="Consolas" panose="020B0609020204030204" pitchFamily="49" charset="0"/>
              </a:rPr>
              <a:t>$cars =</a:t>
            </a:r>
            <a:r>
              <a:rPr lang="en-US" sz="1400" spc="-95" dirty="0">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array  (</a:t>
            </a:r>
          </a:p>
          <a:p>
            <a:pPr marL="287020" indent="0">
              <a:lnSpc>
                <a:spcPct val="100000"/>
              </a:lnSpc>
              <a:buNone/>
            </a:pPr>
            <a:r>
              <a:rPr lang="en-US" sz="1400" spc="-5" dirty="0">
                <a:latin typeface="Consolas" panose="020B0609020204030204" pitchFamily="49" charset="0"/>
                <a:cs typeface="Consolas" panose="020B0609020204030204" pitchFamily="49" charset="0"/>
              </a:rPr>
              <a:t>array("Volvo",100,96),</a:t>
            </a:r>
            <a:endParaRPr lang="en-US" sz="1400" dirty="0">
              <a:latin typeface="Consolas" panose="020B0609020204030204" pitchFamily="49" charset="0"/>
              <a:cs typeface="Consolas" panose="020B0609020204030204" pitchFamily="49" charset="0"/>
            </a:endParaRPr>
          </a:p>
          <a:p>
            <a:pPr marL="287020" indent="0">
              <a:lnSpc>
                <a:spcPct val="100000"/>
              </a:lnSpc>
              <a:buNone/>
            </a:pPr>
            <a:r>
              <a:rPr lang="en-US" sz="1400" dirty="0">
                <a:latin typeface="Consolas" panose="020B0609020204030204" pitchFamily="49" charset="0"/>
                <a:cs typeface="Consolas" panose="020B0609020204030204" pitchFamily="49" charset="0"/>
              </a:rPr>
              <a:t>array("BMW",60,59),</a:t>
            </a:r>
          </a:p>
          <a:p>
            <a:pPr marL="287020" indent="0">
              <a:lnSpc>
                <a:spcPct val="100000"/>
              </a:lnSpc>
              <a:buNone/>
            </a:pPr>
            <a:r>
              <a:rPr lang="en-US" sz="1400" spc="-20" dirty="0">
                <a:latin typeface="Consolas" panose="020B0609020204030204" pitchFamily="49" charset="0"/>
                <a:cs typeface="Consolas" panose="020B0609020204030204" pitchFamily="49" charset="0"/>
              </a:rPr>
              <a:t>array("Toyota",110,100)</a:t>
            </a:r>
            <a:endParaRPr lang="en-US" sz="1400" dirty="0">
              <a:latin typeface="Consolas" panose="020B0609020204030204" pitchFamily="49" charset="0"/>
              <a:cs typeface="Consolas" panose="020B0609020204030204" pitchFamily="49" charset="0"/>
            </a:endParaRPr>
          </a:p>
          <a:p>
            <a:pPr marL="287020" indent="0">
              <a:lnSpc>
                <a:spcPct val="100000"/>
              </a:lnSpc>
              <a:buNone/>
            </a:pPr>
            <a:r>
              <a:rPr lang="en-US" sz="1400" spc="-5" dirty="0">
                <a:latin typeface="Consolas" panose="020B0609020204030204" pitchFamily="49" charset="0"/>
                <a:cs typeface="Consolas" panose="020B0609020204030204" pitchFamily="49" charset="0"/>
              </a:rPr>
              <a:t>);</a:t>
            </a:r>
          </a:p>
          <a:p>
            <a:pPr marL="287020" indent="0">
              <a:lnSpc>
                <a:spcPct val="100000"/>
              </a:lnSpc>
              <a:buNone/>
            </a:pPr>
            <a:endParaRPr lang="en-US" sz="1400" spc="-5" dirty="0">
              <a:latin typeface="Consolas" panose="020B0609020204030204" pitchFamily="49" charset="0"/>
              <a:cs typeface="Consolas" panose="020B0609020204030204" pitchFamily="49" charset="0"/>
            </a:endParaRPr>
          </a:p>
          <a:p>
            <a:pPr marL="287020" indent="0">
              <a:lnSpc>
                <a:spcPct val="100000"/>
              </a:lnSpc>
              <a:buNone/>
            </a:pPr>
            <a:r>
              <a:rPr lang="en-US" sz="1400" spc="-5" dirty="0">
                <a:latin typeface="Consolas" panose="020B0609020204030204" pitchFamily="49" charset="0"/>
                <a:cs typeface="Consolas" panose="020B0609020204030204" pitchFamily="49" charset="0"/>
              </a:rPr>
              <a:t>$student = array(array(“Rabia”,”3.0”),array(“Umaima”,”3.5”),array(“Aleeza”,”3.6”))</a:t>
            </a:r>
            <a:endParaRPr lang="en-US" sz="1400" dirty="0">
              <a:latin typeface="Consolas" panose="020B0609020204030204" pitchFamily="49" charset="0"/>
              <a:cs typeface="Consolas" panose="020B0609020204030204" pitchFamily="49" charset="0"/>
            </a:endParaRPr>
          </a:p>
          <a:p>
            <a:pPr marL="0" indent="0">
              <a:lnSpc>
                <a:spcPct val="100000"/>
              </a:lnSpc>
              <a:spcBef>
                <a:spcPts val="290"/>
              </a:spcBef>
              <a:buNone/>
            </a:pPr>
            <a:r>
              <a:rPr lang="en-US" sz="1400" dirty="0">
                <a:latin typeface="Consolas" panose="020B0609020204030204" pitchFamily="49" charset="0"/>
                <a:cs typeface="Consolas" panose="020B0609020204030204" pitchFamily="49" charset="0"/>
              </a:rPr>
              <a:t>?&gt;</a:t>
            </a:r>
          </a:p>
          <a:p>
            <a:pPr marL="0" indent="0">
              <a:lnSpc>
                <a:spcPct val="100000"/>
              </a:lnSpc>
              <a:buNone/>
            </a:pPr>
            <a:endParaRPr lang="en-US" sz="1000" dirty="0"/>
          </a:p>
        </p:txBody>
      </p:sp>
    </p:spTree>
    <p:extLst>
      <p:ext uri="{BB962C8B-B14F-4D97-AF65-F5344CB8AC3E}">
        <p14:creationId xmlns:p14="http://schemas.microsoft.com/office/powerpoint/2010/main" val="217668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PHP Multidimensional Arrays</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77269"/>
            <a:ext cx="7124700" cy="1724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235611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Making</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In PHP, decision-making statements are used to control the flow of execution based on certain conditions.</a:t>
            </a:r>
          </a:p>
          <a:p>
            <a:r>
              <a:rPr lang="en-US" dirty="0"/>
              <a:t>if Statement: The if statement is used to execute a block of code if a specified condition is true. </a:t>
            </a:r>
          </a:p>
          <a:p>
            <a:r>
              <a:rPr lang="en-US" dirty="0"/>
              <a:t>if-else Statement: The if-else statement is used to execute one block of code if the condition is true and another block of code if the condition is false. </a:t>
            </a:r>
          </a:p>
          <a:p>
            <a:r>
              <a:rPr lang="en-US" dirty="0"/>
              <a:t>if-</a:t>
            </a:r>
            <a:r>
              <a:rPr lang="en-US" dirty="0" err="1"/>
              <a:t>elseif</a:t>
            </a:r>
            <a:r>
              <a:rPr lang="en-US" dirty="0"/>
              <a:t>-else Statement: The if-</a:t>
            </a:r>
            <a:r>
              <a:rPr lang="en-US" dirty="0" err="1"/>
              <a:t>elseif</a:t>
            </a:r>
            <a:r>
              <a:rPr lang="en-US" dirty="0"/>
              <a:t>-else statement allows you to check multiple conditions and execute different blocks of code based on the conditions. </a:t>
            </a:r>
          </a:p>
          <a:p>
            <a:r>
              <a:rPr lang="en-US" dirty="0"/>
              <a:t>Switch Statement: The switch statement is used to perform different actions based on different values of a variable. It provides a concise way to handle multiple conditions. </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248982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Loops</a:t>
            </a:r>
            <a:endParaRPr lang="en-US" dirty="0"/>
          </a:p>
        </p:txBody>
      </p:sp>
      <p:pic>
        <p:nvPicPr>
          <p:cNvPr id="4" name="Content Placeholder 3"/>
          <p:cNvPicPr>
            <a:picLocks noGrp="1" noChangeAspect="1"/>
          </p:cNvPicPr>
          <p:nvPr>
            <p:ph idx="1"/>
          </p:nvPr>
        </p:nvPicPr>
        <p:blipFill>
          <a:blip r:embed="rId2"/>
          <a:stretch>
            <a:fillRect/>
          </a:stretch>
        </p:blipFill>
        <p:spPr>
          <a:xfrm>
            <a:off x="762000" y="1905000"/>
            <a:ext cx="7521983" cy="2971800"/>
          </a:xfrm>
        </p:spPr>
      </p:pic>
    </p:spTree>
    <p:extLst>
      <p:ext uri="{BB962C8B-B14F-4D97-AF65-F5344CB8AC3E}">
        <p14:creationId xmlns:p14="http://schemas.microsoft.com/office/powerpoint/2010/main" val="3151227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User Defined Functions</a:t>
            </a:r>
            <a:endParaRPr lang="en-US" dirty="0"/>
          </a:p>
        </p:txBody>
      </p:sp>
      <p:sp>
        <p:nvSpPr>
          <p:cNvPr id="3" name="Content Placeholder 2"/>
          <p:cNvSpPr>
            <a:spLocks noGrp="1"/>
          </p:cNvSpPr>
          <p:nvPr>
            <p:ph idx="1"/>
          </p:nvPr>
        </p:nvSpPr>
        <p:spPr/>
        <p:txBody>
          <a:bodyPr>
            <a:normAutofit/>
          </a:bodyPr>
          <a:lstStyle/>
          <a:p>
            <a:r>
              <a:rPr lang="en-US" dirty="0"/>
              <a:t>Besides the built-in PHP functions, we can create our own functions.</a:t>
            </a:r>
          </a:p>
          <a:p>
            <a:r>
              <a:rPr lang="en-US" dirty="0"/>
              <a:t>A function is a block of statements that can be used repeatedly in a program.</a:t>
            </a:r>
          </a:p>
          <a:p>
            <a:r>
              <a:rPr lang="en-US" dirty="0"/>
              <a:t>A function will not execute immediately when a page loads.</a:t>
            </a:r>
          </a:p>
          <a:p>
            <a:r>
              <a:rPr lang="en-US" dirty="0"/>
              <a:t>A function will be executed by a call to the function.</a:t>
            </a:r>
            <a:br>
              <a:rPr lang="en-US" dirty="0"/>
            </a:br>
            <a:endParaRPr lang="en-US" dirty="0"/>
          </a:p>
          <a:p>
            <a:pPr marL="0" indent="0">
              <a:buNone/>
            </a:pPr>
            <a:r>
              <a:rPr lang="en-US" dirty="0">
                <a:latin typeface="Consolas" panose="020B0609020204030204" pitchFamily="49" charset="0"/>
                <a:cs typeface="Consolas" panose="020B0609020204030204" pitchFamily="49" charset="0"/>
              </a:rPr>
              <a:t>function </a:t>
            </a:r>
            <a:r>
              <a:rPr lang="en-US" i="1" dirty="0" err="1">
                <a:latin typeface="Consolas" panose="020B0609020204030204" pitchFamily="49" charset="0"/>
                <a:cs typeface="Consolas" panose="020B0609020204030204" pitchFamily="49" charset="0"/>
              </a:rPr>
              <a:t>functionName</a:t>
            </a:r>
            <a:r>
              <a:rPr lang="en-US" dirty="0">
                <a:latin typeface="Consolas" panose="020B0609020204030204" pitchFamily="49" charset="0"/>
                <a:cs typeface="Consolas" panose="020B0609020204030204" pitchFamily="49" charset="0"/>
              </a:rPr>
              <a:t>() {</a:t>
            </a:r>
            <a:br>
              <a:rPr lang="en-US" dirty="0">
                <a:latin typeface="Consolas" panose="020B0609020204030204" pitchFamily="49" charset="0"/>
                <a:cs typeface="Consolas" panose="020B0609020204030204" pitchFamily="49" charset="0"/>
              </a:rPr>
            </a:br>
            <a:r>
              <a:rPr lang="en-US" i="1" dirty="0">
                <a:latin typeface="Consolas" panose="020B0609020204030204" pitchFamily="49" charset="0"/>
                <a:cs typeface="Consolas" panose="020B0609020204030204" pitchFamily="49" charset="0"/>
              </a:rPr>
              <a:t>    code to be executed</a:t>
            </a:r>
            <a:r>
              <a:rPr lang="en-US" dirty="0">
                <a:latin typeface="Consolas" panose="020B0609020204030204" pitchFamily="49" charset="0"/>
                <a:cs typeface="Consolas" panose="020B0609020204030204" pitchFamily="49" charset="0"/>
              </a:rPr>
              <a:t>;</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337923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3339"/>
          <a:stretch/>
        </p:blipFill>
        <p:spPr>
          <a:xfrm>
            <a:off x="457200" y="152400"/>
            <a:ext cx="4411137" cy="2489202"/>
          </a:xfrm>
          <a:prstGeom prst="rect">
            <a:avLst/>
          </a:prstGeom>
          <a:ln>
            <a:solidFill>
              <a:schemeClr val="tx2">
                <a:lumMod val="40000"/>
                <a:lumOff val="60000"/>
              </a:schemeClr>
            </a:solidFill>
          </a:ln>
        </p:spPr>
      </p:pic>
      <p:pic>
        <p:nvPicPr>
          <p:cNvPr id="5" name="Content Placeholder 3"/>
          <p:cNvPicPr>
            <a:picLocks noChangeAspect="1"/>
          </p:cNvPicPr>
          <p:nvPr/>
        </p:nvPicPr>
        <p:blipFill rotWithShape="1">
          <a:blip r:embed="rId3"/>
          <a:srcRect l="1895" b="8358"/>
          <a:stretch/>
        </p:blipFill>
        <p:spPr>
          <a:xfrm>
            <a:off x="457201" y="2895600"/>
            <a:ext cx="4411136" cy="3200400"/>
          </a:xfrm>
          <a:prstGeom prst="rect">
            <a:avLst/>
          </a:prstGeom>
          <a:ln>
            <a:solidFill>
              <a:schemeClr val="tx2">
                <a:lumMod val="40000"/>
                <a:lumOff val="60000"/>
              </a:schemeClr>
            </a:solidFill>
          </a:ln>
        </p:spPr>
      </p:pic>
      <p:pic>
        <p:nvPicPr>
          <p:cNvPr id="6" name="Content Placeholder 3"/>
          <p:cNvPicPr>
            <a:picLocks noChangeAspect="1"/>
          </p:cNvPicPr>
          <p:nvPr/>
        </p:nvPicPr>
        <p:blipFill rotWithShape="1">
          <a:blip r:embed="rId4"/>
          <a:srcRect l="2712" t="21865" b="4339"/>
          <a:stretch/>
        </p:blipFill>
        <p:spPr>
          <a:xfrm>
            <a:off x="5021580" y="152400"/>
            <a:ext cx="3970020" cy="2057400"/>
          </a:xfrm>
          <a:prstGeom prst="rect">
            <a:avLst/>
          </a:prstGeom>
          <a:ln>
            <a:solidFill>
              <a:schemeClr val="tx2">
                <a:lumMod val="40000"/>
                <a:lumOff val="60000"/>
              </a:schemeClr>
            </a:solidFill>
          </a:ln>
        </p:spPr>
      </p:pic>
      <p:pic>
        <p:nvPicPr>
          <p:cNvPr id="7" name="Picture 6"/>
          <p:cNvPicPr>
            <a:picLocks noChangeAspect="1"/>
          </p:cNvPicPr>
          <p:nvPr/>
        </p:nvPicPr>
        <p:blipFill rotWithShape="1">
          <a:blip r:embed="rId5"/>
          <a:srcRect l="3920" t="22197" b="4513"/>
          <a:stretch/>
        </p:blipFill>
        <p:spPr>
          <a:xfrm>
            <a:off x="5021580" y="2641602"/>
            <a:ext cx="3886200" cy="2209800"/>
          </a:xfrm>
          <a:prstGeom prst="rect">
            <a:avLst/>
          </a:prstGeom>
          <a:ln>
            <a:solidFill>
              <a:schemeClr val="tx2">
                <a:lumMod val="40000"/>
                <a:lumOff val="60000"/>
              </a:schemeClr>
            </a:solidFill>
          </a:ln>
        </p:spPr>
      </p:pic>
      <p:sp>
        <p:nvSpPr>
          <p:cNvPr id="8" name="Date Placeholder 7"/>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0940266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A3423F9-4C7D-4E8A-A285-01F865537103}"/>
              </a:ext>
            </a:extLst>
          </p:cNvPr>
          <p:cNvSpPr>
            <a:spLocks noGrp="1"/>
          </p:cNvSpPr>
          <p:nvPr>
            <p:ph type="ctrTitle"/>
          </p:nvPr>
        </p:nvSpPr>
        <p:spPr>
          <a:xfrm>
            <a:off x="990600" y="4038600"/>
            <a:ext cx="5826719" cy="1646302"/>
          </a:xfrm>
        </p:spPr>
        <p:txBody>
          <a:bodyPr/>
          <a:lstStyle/>
          <a:p>
            <a:r>
              <a:rPr lang="en-US" dirty="0"/>
              <a:t> Using PHP for database connectivity</a:t>
            </a:r>
          </a:p>
        </p:txBody>
      </p:sp>
    </p:spTree>
    <p:extLst>
      <p:ext uri="{BB962C8B-B14F-4D97-AF65-F5344CB8AC3E}">
        <p14:creationId xmlns:p14="http://schemas.microsoft.com/office/powerpoint/2010/main" val="4129157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609600"/>
            <a:ext cx="6019800" cy="584775"/>
          </a:xfrm>
          <a:prstGeom prst="rect">
            <a:avLst/>
          </a:prstGeom>
          <a:noFill/>
        </p:spPr>
        <p:txBody>
          <a:bodyPr wrap="square" rtlCol="0">
            <a:spAutoFit/>
          </a:bodyPr>
          <a:lstStyle/>
          <a:p>
            <a:r>
              <a:rPr lang="en-US" sz="3200" b="1" dirty="0"/>
              <a:t>Outline</a:t>
            </a:r>
            <a:endParaRPr lang="en-US" b="1" dirty="0"/>
          </a:p>
        </p:txBody>
      </p:sp>
      <p:sp>
        <p:nvSpPr>
          <p:cNvPr id="4" name="TextBox 3"/>
          <p:cNvSpPr txBox="1"/>
          <p:nvPr/>
        </p:nvSpPr>
        <p:spPr>
          <a:xfrm>
            <a:off x="914400" y="1447800"/>
            <a:ext cx="7848600"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MySQL basics</a:t>
            </a:r>
          </a:p>
          <a:p>
            <a:pPr marL="342900" indent="-342900">
              <a:buFont typeface="Arial" panose="020B0604020202020204" pitchFamily="34" charset="0"/>
              <a:buChar char="•"/>
            </a:pPr>
            <a:r>
              <a:rPr lang="en-US" sz="2400" dirty="0"/>
              <a:t>Database terms review</a:t>
            </a:r>
          </a:p>
          <a:p>
            <a:pPr marL="342900" indent="-342900">
              <a:buFont typeface="Arial" panose="020B0604020202020204" pitchFamily="34" charset="0"/>
              <a:buChar char="•"/>
            </a:pPr>
            <a:r>
              <a:rPr lang="en-US" sz="2400" dirty="0"/>
              <a:t>MySQLi functions</a:t>
            </a:r>
          </a:p>
          <a:p>
            <a:pPr marL="342900" indent="-342900">
              <a:buFont typeface="Arial" panose="020B0604020202020204" pitchFamily="34" charset="0"/>
              <a:buChar char="•"/>
            </a:pPr>
            <a:r>
              <a:rPr lang="en-US" sz="2400" dirty="0"/>
              <a:t>CRUD operations</a:t>
            </a:r>
          </a:p>
        </p:txBody>
      </p:sp>
      <p:sp>
        <p:nvSpPr>
          <p:cNvPr id="6" name="Date Placeholder 5"/>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8323252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a:bodyPr>
          <a:lstStyle/>
          <a:p>
            <a:r>
              <a:rPr lang="en-US" dirty="0"/>
              <a:t>MySQL is the most popular database management system for web servers.</a:t>
            </a:r>
          </a:p>
          <a:p>
            <a:r>
              <a:rPr lang="en-US" dirty="0"/>
              <a:t>Developed in the mid-1990s, it’s now a mature technology that powers many of today’s most-visited Internet destinations</a:t>
            </a:r>
          </a:p>
          <a:p>
            <a:r>
              <a:rPr lang="en-US" dirty="0"/>
              <a:t>One reason for its success must be the fact that, like PHP, it’s free to use. But it’s also extremely powerful and exceptionally fast—it can run on even the most basic of hardware, and it hardly puts a dent in system resources. </a:t>
            </a:r>
          </a:p>
          <a:p>
            <a:endParaRPr lang="en-US" dirty="0"/>
          </a:p>
        </p:txBody>
      </p:sp>
    </p:spTree>
    <p:extLst>
      <p:ext uri="{BB962C8B-B14F-4D97-AF65-F5344CB8AC3E}">
        <p14:creationId xmlns:p14="http://schemas.microsoft.com/office/powerpoint/2010/main" val="14164672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MySQL Basics</a:t>
            </a:r>
          </a:p>
        </p:txBody>
      </p:sp>
      <p:sp>
        <p:nvSpPr>
          <p:cNvPr id="3" name="Content Placeholder 2"/>
          <p:cNvSpPr>
            <a:spLocks noGrp="1"/>
          </p:cNvSpPr>
          <p:nvPr>
            <p:ph idx="1"/>
          </p:nvPr>
        </p:nvSpPr>
        <p:spPr/>
        <p:txBody>
          <a:bodyPr>
            <a:normAutofit/>
          </a:bodyPr>
          <a:lstStyle/>
          <a:p>
            <a:r>
              <a:rPr lang="en-US" dirty="0"/>
              <a:t>A database is a structured collection of records or data stored in a computer system and organized in such a way that it can be quickly searched and information can be rapidly retrieved. </a:t>
            </a:r>
          </a:p>
          <a:p>
            <a:r>
              <a:rPr lang="en-US" dirty="0"/>
              <a:t>The SQL in MySQL stands for Structured Query Language. </a:t>
            </a:r>
          </a:p>
          <a:p>
            <a:pPr lvl="1"/>
            <a:r>
              <a:rPr lang="en-US" dirty="0"/>
              <a:t>This language is loosely based on English and also used in other databases such as Oracle and Microsoft SQL Server</a:t>
            </a:r>
          </a:p>
          <a:p>
            <a:r>
              <a:rPr lang="en-US" dirty="0"/>
              <a:t>A MySQL database contains one or more tables, each of which contains records or rows. Within these rows are various columns or fields that contain the data itself.</a:t>
            </a:r>
          </a:p>
        </p:txBody>
      </p:sp>
    </p:spTree>
    <p:extLst>
      <p:ext uri="{BB962C8B-B14F-4D97-AF65-F5344CB8AC3E}">
        <p14:creationId xmlns:p14="http://schemas.microsoft.com/office/powerpoint/2010/main" val="6522869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Terms	Review</a:t>
            </a:r>
          </a:p>
        </p:txBody>
      </p:sp>
      <p:sp>
        <p:nvSpPr>
          <p:cNvPr id="3" name="Content Placeholder 2"/>
          <p:cNvSpPr>
            <a:spLocks noGrp="1"/>
          </p:cNvSpPr>
          <p:nvPr>
            <p:ph idx="1"/>
          </p:nvPr>
        </p:nvSpPr>
        <p:spPr/>
        <p:txBody>
          <a:bodyPr>
            <a:normAutofit fontScale="92500" lnSpcReduction="10000"/>
          </a:bodyPr>
          <a:lstStyle/>
          <a:p>
            <a:r>
              <a:rPr lang="en-US" dirty="0"/>
              <a:t>Database</a:t>
            </a:r>
          </a:p>
          <a:p>
            <a:pPr lvl="1"/>
            <a:r>
              <a:rPr lang="en-US" dirty="0"/>
              <a:t>The overall container for a collection of MySQL data </a:t>
            </a:r>
          </a:p>
          <a:p>
            <a:r>
              <a:rPr lang="en-US" dirty="0"/>
              <a:t>Table </a:t>
            </a:r>
          </a:p>
          <a:p>
            <a:pPr lvl="1"/>
            <a:r>
              <a:rPr lang="en-US" dirty="0"/>
              <a:t>A </a:t>
            </a:r>
            <a:r>
              <a:rPr lang="en-US" dirty="0" err="1"/>
              <a:t>subcontainer</a:t>
            </a:r>
            <a:r>
              <a:rPr lang="en-US" dirty="0"/>
              <a:t> within a database that stores the actual data </a:t>
            </a:r>
          </a:p>
          <a:p>
            <a:r>
              <a:rPr lang="en-US" dirty="0"/>
              <a:t>Row </a:t>
            </a:r>
          </a:p>
          <a:p>
            <a:pPr lvl="1"/>
            <a:r>
              <a:rPr lang="en-US" dirty="0"/>
              <a:t>A single record within a table, which may contain several fields </a:t>
            </a:r>
          </a:p>
          <a:p>
            <a:r>
              <a:rPr lang="en-US" dirty="0"/>
              <a:t>Column</a:t>
            </a:r>
          </a:p>
          <a:p>
            <a:pPr lvl="1"/>
            <a:r>
              <a:rPr lang="en-US" dirty="0"/>
              <a:t> The name of a field within a row</a:t>
            </a:r>
          </a:p>
          <a:p>
            <a:r>
              <a:rPr lang="en-US" dirty="0"/>
              <a:t>Query</a:t>
            </a:r>
          </a:p>
          <a:p>
            <a:pPr lvl="1"/>
            <a:r>
              <a:rPr lang="en-US" dirty="0"/>
              <a:t>A question or a request for specific information </a:t>
            </a:r>
          </a:p>
        </p:txBody>
      </p:sp>
    </p:spTree>
    <p:extLst>
      <p:ext uri="{BB962C8B-B14F-4D97-AF65-F5344CB8AC3E}">
        <p14:creationId xmlns:p14="http://schemas.microsoft.com/office/powerpoint/2010/main" val="22019010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MySQLi</a:t>
            </a:r>
            <a:r>
              <a:rPr lang="en-US" dirty="0"/>
              <a:t> Functions</a:t>
            </a:r>
          </a:p>
        </p:txBody>
      </p:sp>
      <p:sp>
        <p:nvSpPr>
          <p:cNvPr id="3" name="Content Placeholder 2"/>
          <p:cNvSpPr>
            <a:spLocks noGrp="1"/>
          </p:cNvSpPr>
          <p:nvPr>
            <p:ph idx="1"/>
          </p:nvPr>
        </p:nvSpPr>
        <p:spPr/>
        <p:txBody>
          <a:bodyPr/>
          <a:lstStyle/>
          <a:p>
            <a:r>
              <a:rPr lang="en-US" dirty="0"/>
              <a:t>The </a:t>
            </a:r>
            <a:r>
              <a:rPr lang="en-US" dirty="0" err="1"/>
              <a:t>MySQLi</a:t>
            </a:r>
            <a:r>
              <a:rPr lang="en-US" dirty="0"/>
              <a:t> functions allows to access MySQL database servers. Following are the commonly used functions</a:t>
            </a:r>
          </a:p>
        </p:txBody>
      </p:sp>
      <p:pic>
        <p:nvPicPr>
          <p:cNvPr id="4" name="Picture 3"/>
          <p:cNvPicPr>
            <a:picLocks noChangeAspect="1"/>
          </p:cNvPicPr>
          <p:nvPr/>
        </p:nvPicPr>
        <p:blipFill>
          <a:blip r:embed="rId2"/>
          <a:stretch>
            <a:fillRect/>
          </a:stretch>
        </p:blipFill>
        <p:spPr>
          <a:xfrm>
            <a:off x="1524000" y="2895600"/>
            <a:ext cx="4893469" cy="3686175"/>
          </a:xfrm>
          <a:prstGeom prst="rect">
            <a:avLst/>
          </a:prstGeom>
        </p:spPr>
      </p:pic>
    </p:spTree>
    <p:extLst>
      <p:ext uri="{BB962C8B-B14F-4D97-AF65-F5344CB8AC3E}">
        <p14:creationId xmlns:p14="http://schemas.microsoft.com/office/powerpoint/2010/main" val="14143066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Accessing MySQL</a:t>
            </a:r>
          </a:p>
        </p:txBody>
      </p:sp>
      <p:sp>
        <p:nvSpPr>
          <p:cNvPr id="3" name="Content Placeholder 2"/>
          <p:cNvSpPr>
            <a:spLocks noGrp="1"/>
          </p:cNvSpPr>
          <p:nvPr>
            <p:ph idx="1"/>
          </p:nvPr>
        </p:nvSpPr>
        <p:spPr/>
        <p:txBody>
          <a:bodyPr/>
          <a:lstStyle/>
          <a:p>
            <a:r>
              <a:rPr lang="en-US" dirty="0"/>
              <a:t>There are three main ways in which you can interact with MySQL: </a:t>
            </a:r>
          </a:p>
          <a:p>
            <a:pPr lvl="1"/>
            <a:r>
              <a:rPr lang="en-US" dirty="0"/>
              <a:t>using a command line, </a:t>
            </a:r>
          </a:p>
          <a:p>
            <a:pPr lvl="1"/>
            <a:r>
              <a:rPr lang="en-US" dirty="0"/>
              <a:t>via a web interface such as </a:t>
            </a:r>
            <a:r>
              <a:rPr lang="en-US" dirty="0" err="1"/>
              <a:t>phpMyAdmin</a:t>
            </a:r>
            <a:r>
              <a:rPr lang="en-US" dirty="0"/>
              <a:t>, </a:t>
            </a:r>
          </a:p>
          <a:p>
            <a:pPr lvl="1"/>
            <a:r>
              <a:rPr lang="en-US" dirty="0"/>
              <a:t>and through a programming language like PHP.</a:t>
            </a:r>
          </a:p>
        </p:txBody>
      </p:sp>
    </p:spTree>
    <p:extLst>
      <p:ext uri="{BB962C8B-B14F-4D97-AF65-F5344CB8AC3E}">
        <p14:creationId xmlns:p14="http://schemas.microsoft.com/office/powerpoint/2010/main" val="18286046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Process for Connecting MySQL via PHP</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dirty="0"/>
              <a:t>Connect to MySQL and select the database to use.</a:t>
            </a:r>
          </a:p>
          <a:p>
            <a:pPr marL="514350" indent="-514350">
              <a:buFont typeface="+mj-lt"/>
              <a:buAutoNum type="arabicPeriod"/>
            </a:pPr>
            <a:r>
              <a:rPr lang="en-US" dirty="0"/>
              <a:t>Build a query string. </a:t>
            </a:r>
          </a:p>
          <a:p>
            <a:pPr marL="514350" indent="-514350">
              <a:buFont typeface="+mj-lt"/>
              <a:buAutoNum type="arabicPeriod"/>
            </a:pPr>
            <a:r>
              <a:rPr lang="en-US" dirty="0"/>
              <a:t>Perform the query. </a:t>
            </a:r>
          </a:p>
          <a:p>
            <a:pPr marL="514350" indent="-514350">
              <a:buFont typeface="+mj-lt"/>
              <a:buAutoNum type="arabicPeriod"/>
            </a:pPr>
            <a:r>
              <a:rPr lang="en-US" dirty="0"/>
              <a:t>Retrieve the results and output them to a web page. </a:t>
            </a:r>
          </a:p>
          <a:p>
            <a:pPr marL="514350" indent="-514350">
              <a:buFont typeface="+mj-lt"/>
              <a:buAutoNum type="arabicPeriod"/>
            </a:pPr>
            <a:r>
              <a:rPr lang="en-US" dirty="0"/>
              <a:t>Repeat steps 2 to 4 until all desired data has been retrieved. </a:t>
            </a:r>
          </a:p>
          <a:p>
            <a:pPr marL="514350" indent="-514350">
              <a:buFont typeface="+mj-lt"/>
              <a:buAutoNum type="arabicPeriod"/>
            </a:pPr>
            <a:r>
              <a:rPr lang="en-US" dirty="0"/>
              <a:t>Disconnect from MySQL.</a:t>
            </a:r>
          </a:p>
        </p:txBody>
      </p:sp>
    </p:spTree>
    <p:extLst>
      <p:ext uri="{BB962C8B-B14F-4D97-AF65-F5344CB8AC3E}">
        <p14:creationId xmlns:p14="http://schemas.microsoft.com/office/powerpoint/2010/main" val="10825243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Connection File</a:t>
            </a:r>
          </a:p>
        </p:txBody>
      </p:sp>
      <p:sp>
        <p:nvSpPr>
          <p:cNvPr id="3" name="Content Placeholder 2"/>
          <p:cNvSpPr>
            <a:spLocks noGrp="1"/>
          </p:cNvSpPr>
          <p:nvPr>
            <p:ph idx="1"/>
          </p:nvPr>
        </p:nvSpPr>
        <p:spPr/>
        <p:txBody>
          <a:bodyPr>
            <a:normAutofit fontScale="70000" lnSpcReduction="20000"/>
          </a:bodyPr>
          <a:lstStyle/>
          <a:p>
            <a:r>
              <a:rPr lang="en-US" dirty="0"/>
              <a:t>Most websites developed with PHP contain multiple program files that will require access to MySQL</a:t>
            </a:r>
          </a:p>
          <a:p>
            <a:r>
              <a:rPr lang="en-US" dirty="0" err="1"/>
              <a:t>Connect.php</a:t>
            </a:r>
            <a:endParaRPr lang="en-US" dirty="0"/>
          </a:p>
          <a:p>
            <a:pPr marL="457200" lvl="1" indent="0">
              <a:buNone/>
            </a:pPr>
            <a:r>
              <a:rPr lang="en-US" sz="1600" dirty="0">
                <a:latin typeface="Consolas" panose="020B0609020204030204" pitchFamily="49" charset="0"/>
                <a:cs typeface="Consolas" panose="020B0609020204030204" pitchFamily="49" charset="0"/>
              </a:rPr>
              <a:t>&lt;?</a:t>
            </a:r>
            <a:r>
              <a:rPr lang="en-US" sz="1600" dirty="0" err="1">
                <a:latin typeface="Consolas" panose="020B0609020204030204" pitchFamily="49" charset="0"/>
                <a:cs typeface="Consolas" panose="020B0609020204030204" pitchFamily="49" charset="0"/>
              </a:rPr>
              <a:t>php</a:t>
            </a:r>
            <a:endParaRPr lang="en-US" sz="1600" dirty="0">
              <a:latin typeface="Consolas" panose="020B0609020204030204" pitchFamily="49" charset="0"/>
              <a:cs typeface="Consolas" panose="020B0609020204030204" pitchFamily="49" charset="0"/>
            </a:endParaRPr>
          </a:p>
          <a:p>
            <a:pPr marL="457200" lvl="1" indent="0">
              <a:buNone/>
            </a:pPr>
            <a:r>
              <a:rPr lang="en-US" sz="1600" dirty="0">
                <a:latin typeface="Consolas" panose="020B0609020204030204" pitchFamily="49" charset="0"/>
                <a:cs typeface="Consolas" panose="020B0609020204030204" pitchFamily="49" charset="0"/>
              </a:rPr>
              <a:t> $hostname = '</a:t>
            </a:r>
            <a:r>
              <a:rPr lang="en-US" sz="1600" dirty="0" err="1">
                <a:latin typeface="Consolas" panose="020B0609020204030204" pitchFamily="49" charset="0"/>
                <a:cs typeface="Consolas" panose="020B0609020204030204" pitchFamily="49" charset="0"/>
              </a:rPr>
              <a:t>localhost</a:t>
            </a:r>
            <a:r>
              <a:rPr lang="en-US" sz="1600" dirty="0">
                <a:latin typeface="Consolas" panose="020B0609020204030204" pitchFamily="49" charset="0"/>
                <a:cs typeface="Consolas" panose="020B0609020204030204" pitchFamily="49" charset="0"/>
              </a:rPr>
              <a:t>';</a:t>
            </a:r>
          </a:p>
          <a:p>
            <a:pPr marL="457200" lvl="1" indent="0">
              <a:buNone/>
            </a:pPr>
            <a:r>
              <a:rPr lang="en-US" sz="1600" dirty="0">
                <a:latin typeface="Consolas" panose="020B0609020204030204" pitchFamily="49" charset="0"/>
                <a:cs typeface="Consolas" panose="020B0609020204030204" pitchFamily="49" charset="0"/>
              </a:rPr>
              <a:t> $database = 'publications';</a:t>
            </a:r>
          </a:p>
          <a:p>
            <a:pPr marL="457200" lvl="1" indent="0">
              <a:buNone/>
            </a:pPr>
            <a:r>
              <a:rPr lang="en-US" sz="1600" dirty="0">
                <a:latin typeface="Consolas" panose="020B0609020204030204" pitchFamily="49" charset="0"/>
                <a:cs typeface="Consolas" panose="020B0609020204030204" pitchFamily="49" charset="0"/>
              </a:rPr>
              <a:t> $username = 'username';</a:t>
            </a:r>
          </a:p>
          <a:p>
            <a:pPr marL="457200" lvl="1" indent="0">
              <a:buNone/>
            </a:pPr>
            <a:r>
              <a:rPr lang="en-US" sz="1600" dirty="0">
                <a:latin typeface="Consolas" panose="020B0609020204030204" pitchFamily="49" charset="0"/>
                <a:cs typeface="Consolas" panose="020B0609020204030204" pitchFamily="49" charset="0"/>
              </a:rPr>
              <a:t> $password = 'password';</a:t>
            </a:r>
          </a:p>
          <a:p>
            <a:pPr marL="457200" lvl="1" indent="0">
              <a:buNone/>
            </a:pPr>
            <a:endParaRPr lang="en-US" sz="1600">
              <a:solidFill>
                <a:schemeClr val="bg1">
                  <a:lumMod val="50000"/>
                </a:schemeClr>
              </a:solidFill>
            </a:endParaRPr>
          </a:p>
          <a:p>
            <a:pPr marL="457200" lvl="1" indent="0">
              <a:buNone/>
            </a:pPr>
            <a:r>
              <a:rPr lang="en-US" sz="1600">
                <a:solidFill>
                  <a:schemeClr val="bg1">
                    <a:lumMod val="50000"/>
                  </a:schemeClr>
                </a:solidFill>
              </a:rPr>
              <a:t>// </a:t>
            </a:r>
            <a:r>
              <a:rPr lang="en-US" sz="1600" dirty="0">
                <a:solidFill>
                  <a:schemeClr val="bg1">
                    <a:lumMod val="50000"/>
                  </a:schemeClr>
                </a:solidFill>
              </a:rPr>
              <a:t>Create connection</a:t>
            </a:r>
            <a:br>
              <a:rPr lang="en-US" sz="1600" dirty="0">
                <a:solidFill>
                  <a:schemeClr val="bg1">
                    <a:lumMod val="50000"/>
                  </a:schemeClr>
                </a:solidFill>
              </a:rPr>
            </a:br>
            <a:r>
              <a:rPr lang="en-US" sz="1600" dirty="0">
                <a:solidFill>
                  <a:srgbClr val="00B0F0"/>
                </a:solidFill>
              </a:rPr>
              <a:t>$conn </a:t>
            </a:r>
            <a:r>
              <a:rPr lang="en-US" sz="1600" dirty="0"/>
              <a:t>= </a:t>
            </a:r>
            <a:r>
              <a:rPr lang="en-US" sz="1600" dirty="0" err="1">
                <a:solidFill>
                  <a:srgbClr val="FF0000"/>
                </a:solidFill>
              </a:rPr>
              <a:t>mysqli_connect</a:t>
            </a:r>
            <a:r>
              <a:rPr lang="en-US" sz="1600" dirty="0"/>
              <a:t>(</a:t>
            </a:r>
            <a:r>
              <a:rPr lang="en-US" sz="1600" dirty="0">
                <a:solidFill>
                  <a:srgbClr val="0000FF"/>
                </a:solidFill>
              </a:rPr>
              <a:t>$hostname</a:t>
            </a:r>
            <a:r>
              <a:rPr lang="en-US" sz="1600" dirty="0"/>
              <a:t>, </a:t>
            </a:r>
            <a:r>
              <a:rPr lang="en-US" sz="1600" dirty="0">
                <a:solidFill>
                  <a:srgbClr val="0000FF"/>
                </a:solidFill>
              </a:rPr>
              <a:t>$username</a:t>
            </a:r>
            <a:r>
              <a:rPr lang="en-US" sz="1600" dirty="0"/>
              <a:t>, </a:t>
            </a:r>
            <a:r>
              <a:rPr lang="en-US" sz="1600" dirty="0">
                <a:solidFill>
                  <a:srgbClr val="0000FF"/>
                </a:solidFill>
              </a:rPr>
              <a:t>$password</a:t>
            </a:r>
            <a:r>
              <a:rPr lang="en-US" sz="1600" dirty="0"/>
              <a:t>);</a:t>
            </a:r>
            <a:br>
              <a:rPr lang="en-US" sz="1600" dirty="0"/>
            </a:br>
            <a:br>
              <a:rPr lang="en-US" sz="1600" dirty="0"/>
            </a:br>
            <a:r>
              <a:rPr lang="en-US" sz="1600" dirty="0">
                <a:solidFill>
                  <a:schemeClr val="bg1">
                    <a:lumMod val="50000"/>
                  </a:schemeClr>
                </a:solidFill>
              </a:rPr>
              <a:t>// Check connection</a:t>
            </a:r>
            <a:br>
              <a:rPr lang="en-US" sz="1600" dirty="0"/>
            </a:br>
            <a:r>
              <a:rPr lang="en-US" sz="1600" dirty="0"/>
              <a:t>if (!</a:t>
            </a:r>
            <a:r>
              <a:rPr lang="en-US" sz="1600" dirty="0">
                <a:solidFill>
                  <a:srgbClr val="00B0F0"/>
                </a:solidFill>
              </a:rPr>
              <a:t>$conn</a:t>
            </a:r>
            <a:r>
              <a:rPr lang="en-US" sz="1600" dirty="0"/>
              <a:t>) {</a:t>
            </a:r>
            <a:br>
              <a:rPr lang="en-US" sz="1600" dirty="0"/>
            </a:br>
            <a:r>
              <a:rPr lang="en-US" sz="1600" dirty="0"/>
              <a:t>    die("Connection failed: " . </a:t>
            </a:r>
            <a:r>
              <a:rPr lang="en-US" sz="1600" dirty="0" err="1"/>
              <a:t>mysqli_connect_error</a:t>
            </a:r>
            <a:r>
              <a:rPr lang="en-US" sz="1600" dirty="0"/>
              <a:t>());</a:t>
            </a:r>
            <a:br>
              <a:rPr lang="en-US" sz="1600" dirty="0"/>
            </a:br>
            <a:r>
              <a:rPr lang="en-US" sz="1600" dirty="0"/>
              <a:t>}</a:t>
            </a:r>
            <a:br>
              <a:rPr lang="en-US" sz="1600" dirty="0"/>
            </a:br>
            <a:r>
              <a:rPr lang="en-US" sz="1600" dirty="0"/>
              <a:t>echo "Connected successfully";</a:t>
            </a:r>
            <a:br>
              <a:rPr lang="en-US" sz="1600" dirty="0"/>
            </a:br>
            <a:endParaRPr lang="en-US" sz="1600" dirty="0">
              <a:latin typeface="Consolas" panose="020B0609020204030204" pitchFamily="49" charset="0"/>
              <a:cs typeface="Consolas" panose="020B0609020204030204" pitchFamily="49" charset="0"/>
            </a:endParaRPr>
          </a:p>
          <a:p>
            <a:pPr marL="457200" lvl="1" indent="0">
              <a:buNone/>
            </a:pPr>
            <a:r>
              <a:rPr lang="en-US" sz="1600" dirty="0">
                <a:latin typeface="Consolas" panose="020B0609020204030204" pitchFamily="49" charset="0"/>
                <a:cs typeface="Consolas" panose="020B0609020204030204" pitchFamily="49" charset="0"/>
              </a:rPr>
              <a:t>?&gt;</a:t>
            </a:r>
          </a:p>
          <a:p>
            <a:endParaRPr lang="en-US" dirty="0"/>
          </a:p>
        </p:txBody>
      </p:sp>
    </p:spTree>
    <p:extLst>
      <p:ext uri="{BB962C8B-B14F-4D97-AF65-F5344CB8AC3E}">
        <p14:creationId xmlns:p14="http://schemas.microsoft.com/office/powerpoint/2010/main" val="3125874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r>
              <a:rPr lang="en-US" dirty="0"/>
              <a:t>PHP Create a MySQL Database</a:t>
            </a:r>
          </a:p>
        </p:txBody>
      </p:sp>
      <p:sp>
        <p:nvSpPr>
          <p:cNvPr id="2" name="Content Placeholder 1"/>
          <p:cNvSpPr>
            <a:spLocks noGrp="1"/>
          </p:cNvSpPr>
          <p:nvPr>
            <p:ph idx="1"/>
          </p:nvPr>
        </p:nvSpPr>
        <p:spPr/>
        <p:txBody>
          <a:bodyPr>
            <a:normAutofit/>
          </a:bodyPr>
          <a:lstStyle/>
          <a:p>
            <a:pPr>
              <a:lnSpc>
                <a:spcPct val="100000"/>
              </a:lnSpc>
            </a:pPr>
            <a:r>
              <a:rPr lang="en-US" dirty="0"/>
              <a:t>The query() / </a:t>
            </a:r>
            <a:r>
              <a:rPr lang="en-US" dirty="0" err="1"/>
              <a:t>mysqli_query</a:t>
            </a:r>
            <a:r>
              <a:rPr lang="en-US" dirty="0"/>
              <a:t>() function performs a query against a database.</a:t>
            </a:r>
            <a:br>
              <a:rPr lang="en-US" dirty="0"/>
            </a:br>
            <a:r>
              <a:rPr lang="en-US" dirty="0">
                <a:solidFill>
                  <a:schemeClr val="bg1">
                    <a:lumMod val="50000"/>
                  </a:schemeClr>
                </a:solidFill>
              </a:rPr>
              <a:t>// Create database</a:t>
            </a:r>
            <a:br>
              <a:rPr lang="en-US" dirty="0">
                <a:solidFill>
                  <a:schemeClr val="bg1">
                    <a:lumMod val="50000"/>
                  </a:schemeClr>
                </a:solidFill>
              </a:rPr>
            </a:br>
            <a:r>
              <a:rPr lang="en-US" dirty="0">
                <a:solidFill>
                  <a:srgbClr val="0000FF"/>
                </a:solidFill>
              </a:rPr>
              <a:t>$</a:t>
            </a:r>
            <a:r>
              <a:rPr lang="en-US" dirty="0" err="1">
                <a:solidFill>
                  <a:srgbClr val="0000FF"/>
                </a:solidFill>
              </a:rPr>
              <a:t>sql</a:t>
            </a:r>
            <a:r>
              <a:rPr lang="en-US" dirty="0">
                <a:solidFill>
                  <a:srgbClr val="0000FF"/>
                </a:solidFill>
              </a:rPr>
              <a:t> </a:t>
            </a:r>
            <a:r>
              <a:rPr lang="en-US" dirty="0"/>
              <a:t>= "</a:t>
            </a:r>
            <a:r>
              <a:rPr lang="en-US" dirty="0">
                <a:solidFill>
                  <a:srgbClr val="FF0000"/>
                </a:solidFill>
              </a:rPr>
              <a:t>CREATE DATABASE </a:t>
            </a:r>
            <a:r>
              <a:rPr lang="en-US" dirty="0" err="1">
                <a:solidFill>
                  <a:schemeClr val="accent3">
                    <a:lumMod val="50000"/>
                  </a:schemeClr>
                </a:solidFill>
              </a:rPr>
              <a:t>myDB</a:t>
            </a:r>
            <a:r>
              <a:rPr lang="en-US" dirty="0"/>
              <a:t>";</a:t>
            </a:r>
            <a:br>
              <a:rPr lang="en-US" dirty="0"/>
            </a:br>
            <a:r>
              <a:rPr lang="en-US" dirty="0"/>
              <a:t>if (</a:t>
            </a:r>
            <a:r>
              <a:rPr lang="en-US" dirty="0" err="1">
                <a:solidFill>
                  <a:srgbClr val="FF0000"/>
                </a:solidFill>
              </a:rPr>
              <a:t>mysqli_query</a:t>
            </a:r>
            <a:r>
              <a:rPr lang="en-US" dirty="0"/>
              <a:t>(</a:t>
            </a:r>
            <a:r>
              <a:rPr lang="en-US" dirty="0">
                <a:solidFill>
                  <a:srgbClr val="00B0F0"/>
                </a:solidFill>
              </a:rPr>
              <a:t>$conn</a:t>
            </a:r>
            <a:r>
              <a:rPr lang="en-US" dirty="0"/>
              <a:t>, </a:t>
            </a:r>
            <a:r>
              <a:rPr lang="en-US" dirty="0">
                <a:solidFill>
                  <a:srgbClr val="0000FF"/>
                </a:solidFill>
              </a:rPr>
              <a:t>$</a:t>
            </a:r>
            <a:r>
              <a:rPr lang="en-US" dirty="0" err="1">
                <a:solidFill>
                  <a:srgbClr val="0000FF"/>
                </a:solidFill>
              </a:rPr>
              <a:t>sql</a:t>
            </a:r>
            <a:r>
              <a:rPr lang="en-US" dirty="0"/>
              <a:t>)) {</a:t>
            </a:r>
            <a:br>
              <a:rPr lang="en-US" dirty="0"/>
            </a:br>
            <a:r>
              <a:rPr lang="en-US" dirty="0"/>
              <a:t>    echo "</a:t>
            </a:r>
            <a:r>
              <a:rPr lang="en-US" dirty="0">
                <a:solidFill>
                  <a:srgbClr val="00B050"/>
                </a:solidFill>
              </a:rPr>
              <a:t>Database created successfully</a:t>
            </a:r>
            <a:r>
              <a:rPr lang="en-US" dirty="0"/>
              <a:t>";</a:t>
            </a:r>
            <a:br>
              <a:rPr lang="en-US" dirty="0"/>
            </a:br>
            <a:r>
              <a:rPr lang="en-US" dirty="0"/>
              <a:t>} else {</a:t>
            </a:r>
            <a:br>
              <a:rPr lang="en-US" dirty="0"/>
            </a:br>
            <a:r>
              <a:rPr lang="en-US" dirty="0"/>
              <a:t>    echo "</a:t>
            </a:r>
            <a:r>
              <a:rPr lang="en-US" dirty="0">
                <a:solidFill>
                  <a:srgbClr val="00B050"/>
                </a:solidFill>
              </a:rPr>
              <a:t>Error creating database: </a:t>
            </a:r>
            <a:r>
              <a:rPr lang="en-US" dirty="0"/>
              <a:t>" . </a:t>
            </a:r>
            <a:r>
              <a:rPr lang="en-US" dirty="0" err="1">
                <a:solidFill>
                  <a:srgbClr val="FF0000"/>
                </a:solidFill>
              </a:rPr>
              <a:t>mysqli_error</a:t>
            </a:r>
            <a:r>
              <a:rPr lang="en-US" dirty="0"/>
              <a:t>(</a:t>
            </a:r>
            <a:r>
              <a:rPr lang="en-US" dirty="0">
                <a:solidFill>
                  <a:srgbClr val="00B0F0"/>
                </a:solidFill>
              </a:rPr>
              <a:t>$conn</a:t>
            </a:r>
            <a:r>
              <a:rPr lang="en-US" dirty="0"/>
              <a:t>);</a:t>
            </a:r>
            <a:br>
              <a:rPr lang="en-US" dirty="0"/>
            </a:br>
            <a:r>
              <a:rPr lang="en-US" dirty="0"/>
              <a:t>}</a:t>
            </a:r>
            <a:br>
              <a:rPr lang="en-US" dirty="0"/>
            </a:br>
            <a:br>
              <a:rPr lang="en-US" dirty="0"/>
            </a:br>
            <a:r>
              <a:rPr lang="en-US" dirty="0" err="1">
                <a:solidFill>
                  <a:srgbClr val="FF0000"/>
                </a:solidFill>
              </a:rPr>
              <a:t>mysqli_close</a:t>
            </a:r>
            <a:r>
              <a:rPr lang="en-US" dirty="0"/>
              <a:t>(</a:t>
            </a:r>
            <a:r>
              <a:rPr lang="en-US" dirty="0">
                <a:solidFill>
                  <a:srgbClr val="00B0F0"/>
                </a:solidFill>
              </a:rPr>
              <a:t>$conn</a:t>
            </a:r>
            <a:r>
              <a:rPr lang="en-US" dirty="0"/>
              <a:t>);</a:t>
            </a:r>
            <a:br>
              <a:rPr lang="en-US" dirty="0"/>
            </a:br>
            <a:r>
              <a:rPr lang="en-US" dirty="0"/>
              <a:t>?&gt;</a:t>
            </a:r>
          </a:p>
          <a:p>
            <a:pPr marL="0" indent="0">
              <a:lnSpc>
                <a:spcPct val="80000"/>
              </a:lnSpc>
              <a:buNone/>
            </a:pPr>
            <a:endParaRPr lang="th-TH" dirty="0">
              <a:solidFill>
                <a:srgbClr val="FF0000"/>
              </a:solidFill>
            </a:endParaRPr>
          </a:p>
          <a:p>
            <a:endParaRPr lang="en-US" dirty="0"/>
          </a:p>
        </p:txBody>
      </p:sp>
    </p:spTree>
    <p:extLst>
      <p:ext uri="{BB962C8B-B14F-4D97-AF65-F5344CB8AC3E}">
        <p14:creationId xmlns:p14="http://schemas.microsoft.com/office/powerpoint/2010/main" val="5757424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PHP Create MySQL Tables</a:t>
            </a:r>
            <a:endParaRPr lang="en-US" dirty="0"/>
          </a:p>
        </p:txBody>
      </p:sp>
      <p:sp>
        <p:nvSpPr>
          <p:cNvPr id="5" name="Content Placeholder 4"/>
          <p:cNvSpPr>
            <a:spLocks noGrp="1"/>
          </p:cNvSpPr>
          <p:nvPr>
            <p:ph idx="1"/>
          </p:nvPr>
        </p:nvSpPr>
        <p:spPr/>
        <p:txBody>
          <a:bodyPr>
            <a:normAutofit/>
          </a:bodyPr>
          <a:lstStyle/>
          <a:p>
            <a:pPr marL="0" indent="0">
              <a:buNone/>
            </a:pPr>
            <a:r>
              <a:rPr lang="en-US" dirty="0"/>
              <a:t>The CREATE TABLE statement is used to create a table in MySQL.</a:t>
            </a:r>
          </a:p>
          <a:p>
            <a:pPr marL="0" indent="0">
              <a:buNone/>
            </a:pPr>
            <a:endParaRPr lang="en-US" dirty="0"/>
          </a:p>
          <a:p>
            <a:pPr marL="0" indent="0">
              <a:buNone/>
            </a:pPr>
            <a:r>
              <a:rPr lang="en-US" dirty="0">
                <a:solidFill>
                  <a:srgbClr val="FF0000"/>
                </a:solidFill>
              </a:rPr>
              <a:t>CREATE TABLE </a:t>
            </a:r>
            <a:r>
              <a:rPr lang="en-US" b="1" dirty="0" err="1">
                <a:solidFill>
                  <a:schemeClr val="accent3">
                    <a:lumMod val="50000"/>
                  </a:schemeClr>
                </a:solidFill>
              </a:rPr>
              <a:t>MyGuests</a:t>
            </a:r>
            <a:r>
              <a:rPr lang="en-US" dirty="0"/>
              <a:t> (</a:t>
            </a:r>
            <a:br>
              <a:rPr lang="en-US" dirty="0"/>
            </a:br>
            <a:r>
              <a:rPr lang="en-US" dirty="0"/>
              <a:t>	</a:t>
            </a:r>
            <a:r>
              <a:rPr lang="en-US" dirty="0">
                <a:solidFill>
                  <a:srgbClr val="0000FF"/>
                </a:solidFill>
              </a:rPr>
              <a:t>id</a:t>
            </a:r>
            <a:r>
              <a:rPr lang="en-US" dirty="0"/>
              <a:t> </a:t>
            </a:r>
            <a:r>
              <a:rPr lang="en-US" dirty="0">
                <a:solidFill>
                  <a:srgbClr val="FF0000"/>
                </a:solidFill>
              </a:rPr>
              <a:t>INT(6)</a:t>
            </a:r>
            <a:r>
              <a:rPr lang="en-US" dirty="0"/>
              <a:t> </a:t>
            </a:r>
            <a:r>
              <a:rPr lang="en-US" dirty="0">
                <a:solidFill>
                  <a:srgbClr val="00B050"/>
                </a:solidFill>
              </a:rPr>
              <a:t>UNSIGNED</a:t>
            </a:r>
            <a:r>
              <a:rPr lang="en-US" dirty="0"/>
              <a:t> </a:t>
            </a:r>
            <a:r>
              <a:rPr lang="en-US" dirty="0">
                <a:solidFill>
                  <a:srgbClr val="7030A0"/>
                </a:solidFill>
              </a:rPr>
              <a:t>AUTO_INCREMENT</a:t>
            </a:r>
            <a:r>
              <a:rPr lang="en-US" dirty="0"/>
              <a:t> </a:t>
            </a:r>
            <a:r>
              <a:rPr lang="en-US" dirty="0">
                <a:solidFill>
                  <a:schemeClr val="accent6">
                    <a:lumMod val="50000"/>
                  </a:schemeClr>
                </a:solidFill>
              </a:rPr>
              <a:t>PRIMARY KEY</a:t>
            </a:r>
            <a:r>
              <a:rPr lang="en-US" dirty="0"/>
              <a:t>,</a:t>
            </a:r>
            <a:br>
              <a:rPr lang="en-US" dirty="0"/>
            </a:br>
            <a:r>
              <a:rPr lang="en-US" dirty="0"/>
              <a:t>	</a:t>
            </a:r>
            <a:r>
              <a:rPr lang="en-US" dirty="0" err="1">
                <a:solidFill>
                  <a:srgbClr val="0000FF"/>
                </a:solidFill>
              </a:rPr>
              <a:t>firstname</a:t>
            </a:r>
            <a:r>
              <a:rPr lang="en-US" dirty="0"/>
              <a:t> </a:t>
            </a:r>
            <a:r>
              <a:rPr lang="en-US" dirty="0">
                <a:solidFill>
                  <a:srgbClr val="FF0000"/>
                </a:solidFill>
              </a:rPr>
              <a:t>VARCHAR(30)</a:t>
            </a:r>
            <a:r>
              <a:rPr lang="en-US" dirty="0"/>
              <a:t> </a:t>
            </a:r>
            <a:r>
              <a:rPr lang="en-US" dirty="0">
                <a:solidFill>
                  <a:schemeClr val="bg1">
                    <a:lumMod val="50000"/>
                  </a:schemeClr>
                </a:solidFill>
              </a:rPr>
              <a:t>NOT NULL</a:t>
            </a:r>
            <a:r>
              <a:rPr lang="en-US" dirty="0"/>
              <a:t>,</a:t>
            </a:r>
            <a:br>
              <a:rPr lang="en-US" dirty="0"/>
            </a:br>
            <a:r>
              <a:rPr lang="en-US" dirty="0"/>
              <a:t>	</a:t>
            </a:r>
            <a:r>
              <a:rPr lang="en-US" dirty="0" err="1">
                <a:solidFill>
                  <a:srgbClr val="0000FF"/>
                </a:solidFill>
              </a:rPr>
              <a:t>lastname</a:t>
            </a:r>
            <a:r>
              <a:rPr lang="en-US" dirty="0"/>
              <a:t> </a:t>
            </a:r>
            <a:r>
              <a:rPr lang="en-US" dirty="0">
                <a:solidFill>
                  <a:srgbClr val="FF0000"/>
                </a:solidFill>
              </a:rPr>
              <a:t>VARCHAR(30)</a:t>
            </a:r>
            <a:r>
              <a:rPr lang="en-US" dirty="0"/>
              <a:t> </a:t>
            </a:r>
            <a:r>
              <a:rPr lang="en-US" dirty="0">
                <a:solidFill>
                  <a:schemeClr val="bg1">
                    <a:lumMod val="50000"/>
                  </a:schemeClr>
                </a:solidFill>
              </a:rPr>
              <a:t>NOT NULL</a:t>
            </a:r>
            <a:r>
              <a:rPr lang="en-US" dirty="0"/>
              <a:t>,</a:t>
            </a:r>
            <a:br>
              <a:rPr lang="en-US" dirty="0"/>
            </a:br>
            <a:r>
              <a:rPr lang="en-US" dirty="0"/>
              <a:t>	</a:t>
            </a:r>
            <a:r>
              <a:rPr lang="en-US" dirty="0">
                <a:solidFill>
                  <a:srgbClr val="0000FF"/>
                </a:solidFill>
              </a:rPr>
              <a:t>email</a:t>
            </a:r>
            <a:r>
              <a:rPr lang="en-US" dirty="0"/>
              <a:t> </a:t>
            </a:r>
            <a:r>
              <a:rPr lang="en-US" dirty="0">
                <a:solidFill>
                  <a:srgbClr val="FF0000"/>
                </a:solidFill>
              </a:rPr>
              <a:t>VARCHAR(50)</a:t>
            </a:r>
            <a:r>
              <a:rPr lang="en-US" dirty="0"/>
              <a:t>,</a:t>
            </a:r>
            <a:br>
              <a:rPr lang="en-US" dirty="0"/>
            </a:br>
            <a:r>
              <a:rPr lang="en-US" dirty="0"/>
              <a:t>	</a:t>
            </a:r>
            <a:r>
              <a:rPr lang="en-US" dirty="0" err="1">
                <a:solidFill>
                  <a:srgbClr val="0000FF"/>
                </a:solidFill>
              </a:rPr>
              <a:t>reg_date</a:t>
            </a:r>
            <a:r>
              <a:rPr lang="en-US" dirty="0"/>
              <a:t> </a:t>
            </a:r>
            <a:r>
              <a:rPr lang="en-US" dirty="0">
                <a:solidFill>
                  <a:srgbClr val="FF0000"/>
                </a:solidFill>
              </a:rPr>
              <a:t>TIMESTAMP</a:t>
            </a:r>
            <a:br>
              <a:rPr lang="en-US" dirty="0"/>
            </a:br>
            <a:r>
              <a:rPr lang="en-US" dirty="0"/>
              <a:t>)</a:t>
            </a:r>
            <a:endParaRPr lang="th-TH" dirty="0">
              <a:solidFill>
                <a:srgbClr val="FF0000"/>
              </a:solidFill>
            </a:endParaRPr>
          </a:p>
          <a:p>
            <a:endParaRPr lang="en-US" dirty="0"/>
          </a:p>
        </p:txBody>
      </p:sp>
    </p:spTree>
    <p:extLst>
      <p:ext uri="{BB962C8B-B14F-4D97-AF65-F5344CB8AC3E}">
        <p14:creationId xmlns:p14="http://schemas.microsoft.com/office/powerpoint/2010/main" val="9020516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PHP Create MySQL Tables </a:t>
            </a:r>
            <a:r>
              <a:rPr lang="en-US" sz="2400" dirty="0"/>
              <a:t>(cont.)</a:t>
            </a:r>
          </a:p>
        </p:txBody>
      </p:sp>
      <p:sp>
        <p:nvSpPr>
          <p:cNvPr id="5123" name="Rectangle 3"/>
          <p:cNvSpPr>
            <a:spLocks noGrp="1" noChangeArrowheads="1"/>
          </p:cNvSpPr>
          <p:nvPr>
            <p:ph idx="1"/>
          </p:nvPr>
        </p:nvSpPr>
        <p:spPr/>
        <p:txBody>
          <a:bodyPr>
            <a:normAutofit fontScale="92500" lnSpcReduction="10000"/>
          </a:bodyPr>
          <a:lstStyle/>
          <a:p>
            <a:pPr marL="0" indent="0">
              <a:buNone/>
            </a:pPr>
            <a:r>
              <a:rPr lang="en-US" dirty="0"/>
              <a:t>&lt;?</a:t>
            </a:r>
            <a:r>
              <a:rPr lang="en-US" dirty="0" err="1"/>
              <a:t>php</a:t>
            </a:r>
            <a:br>
              <a:rPr lang="en-US" dirty="0"/>
            </a:br>
            <a:r>
              <a:rPr lang="en-US" dirty="0">
                <a:solidFill>
                  <a:srgbClr val="0000FF"/>
                </a:solidFill>
              </a:rPr>
              <a:t>$</a:t>
            </a:r>
            <a:r>
              <a:rPr lang="en-US" dirty="0" err="1">
                <a:solidFill>
                  <a:srgbClr val="0000FF"/>
                </a:solidFill>
              </a:rPr>
              <a:t>servername</a:t>
            </a:r>
            <a:r>
              <a:rPr lang="en-US" dirty="0">
                <a:solidFill>
                  <a:srgbClr val="0000FF"/>
                </a:solidFill>
              </a:rPr>
              <a:t> </a:t>
            </a:r>
            <a:r>
              <a:rPr lang="en-US" dirty="0"/>
              <a:t>= "</a:t>
            </a:r>
            <a:r>
              <a:rPr lang="en-US" dirty="0" err="1"/>
              <a:t>localhost</a:t>
            </a:r>
            <a:r>
              <a:rPr lang="en-US" dirty="0"/>
              <a:t>";</a:t>
            </a:r>
            <a:br>
              <a:rPr lang="en-US" dirty="0"/>
            </a:br>
            <a:r>
              <a:rPr lang="en-US" dirty="0">
                <a:solidFill>
                  <a:srgbClr val="0000FF"/>
                </a:solidFill>
              </a:rPr>
              <a:t>$username </a:t>
            </a:r>
            <a:r>
              <a:rPr lang="en-US" dirty="0"/>
              <a:t>= "username";</a:t>
            </a:r>
            <a:br>
              <a:rPr lang="en-US" dirty="0"/>
            </a:br>
            <a:r>
              <a:rPr lang="en-US" dirty="0">
                <a:solidFill>
                  <a:srgbClr val="0000FF"/>
                </a:solidFill>
              </a:rPr>
              <a:t>$password </a:t>
            </a:r>
            <a:r>
              <a:rPr lang="en-US" dirty="0"/>
              <a:t>= "password";</a:t>
            </a:r>
            <a:br>
              <a:rPr lang="en-US" dirty="0"/>
            </a:br>
            <a:r>
              <a:rPr lang="en-US" dirty="0">
                <a:solidFill>
                  <a:srgbClr val="0000FF"/>
                </a:solidFill>
              </a:rPr>
              <a:t>$</a:t>
            </a:r>
            <a:r>
              <a:rPr lang="en-US" dirty="0" err="1">
                <a:solidFill>
                  <a:srgbClr val="0000FF"/>
                </a:solidFill>
              </a:rPr>
              <a:t>dbname</a:t>
            </a:r>
            <a:r>
              <a:rPr lang="en-US" dirty="0">
                <a:solidFill>
                  <a:srgbClr val="0000FF"/>
                </a:solidFill>
              </a:rPr>
              <a:t> </a:t>
            </a:r>
            <a:r>
              <a:rPr lang="en-US" dirty="0"/>
              <a:t>= "</a:t>
            </a:r>
            <a:r>
              <a:rPr lang="en-US" dirty="0" err="1"/>
              <a:t>myDB</a:t>
            </a:r>
            <a:r>
              <a:rPr lang="en-US" dirty="0"/>
              <a:t>";</a:t>
            </a:r>
            <a:br>
              <a:rPr lang="en-US" dirty="0"/>
            </a:br>
            <a:br>
              <a:rPr lang="en-US" dirty="0"/>
            </a:br>
            <a:r>
              <a:rPr lang="en-US" dirty="0">
                <a:solidFill>
                  <a:schemeClr val="bg1">
                    <a:lumMod val="50000"/>
                  </a:schemeClr>
                </a:solidFill>
              </a:rPr>
              <a:t>// Create connection</a:t>
            </a:r>
            <a:br>
              <a:rPr lang="en-US" dirty="0"/>
            </a:br>
            <a:r>
              <a:rPr lang="en-US" dirty="0">
                <a:solidFill>
                  <a:srgbClr val="00B0F0"/>
                </a:solidFill>
              </a:rPr>
              <a:t>$conn </a:t>
            </a:r>
            <a:r>
              <a:rPr lang="en-US" dirty="0"/>
              <a:t>= </a:t>
            </a:r>
            <a:r>
              <a:rPr lang="en-US" dirty="0" err="1">
                <a:solidFill>
                  <a:srgbClr val="FF0000"/>
                </a:solidFill>
              </a:rPr>
              <a:t>mysqli_connect</a:t>
            </a:r>
            <a:r>
              <a:rPr lang="en-US" dirty="0"/>
              <a:t>(</a:t>
            </a:r>
            <a:r>
              <a:rPr lang="en-US" dirty="0">
                <a:solidFill>
                  <a:srgbClr val="0000FF"/>
                </a:solidFill>
              </a:rPr>
              <a:t>$</a:t>
            </a:r>
            <a:r>
              <a:rPr lang="en-US" dirty="0" err="1">
                <a:solidFill>
                  <a:srgbClr val="0000FF"/>
                </a:solidFill>
              </a:rPr>
              <a:t>servername</a:t>
            </a:r>
            <a:r>
              <a:rPr lang="en-US" dirty="0">
                <a:solidFill>
                  <a:srgbClr val="0000FF"/>
                </a:solidFill>
              </a:rPr>
              <a:t>, $username, $password, $</a:t>
            </a:r>
            <a:r>
              <a:rPr lang="en-US" dirty="0" err="1">
                <a:solidFill>
                  <a:srgbClr val="0000FF"/>
                </a:solidFill>
              </a:rPr>
              <a:t>dbname</a:t>
            </a:r>
            <a:r>
              <a:rPr lang="en-US" dirty="0"/>
              <a:t>);</a:t>
            </a:r>
            <a:br>
              <a:rPr lang="en-US" dirty="0"/>
            </a:br>
            <a:r>
              <a:rPr lang="en-US" dirty="0">
                <a:solidFill>
                  <a:schemeClr val="bg1">
                    <a:lumMod val="50000"/>
                  </a:schemeClr>
                </a:solidFill>
              </a:rPr>
              <a:t>// Check connection</a:t>
            </a:r>
            <a:br>
              <a:rPr lang="en-US" dirty="0">
                <a:solidFill>
                  <a:schemeClr val="bg1">
                    <a:lumMod val="50000"/>
                  </a:schemeClr>
                </a:solidFill>
              </a:rPr>
            </a:br>
            <a:r>
              <a:rPr lang="en-US" dirty="0"/>
              <a:t>if (!</a:t>
            </a:r>
            <a:r>
              <a:rPr lang="en-US" dirty="0">
                <a:solidFill>
                  <a:srgbClr val="00B0F0"/>
                </a:solidFill>
              </a:rPr>
              <a:t>$conn</a:t>
            </a:r>
            <a:r>
              <a:rPr lang="en-US" dirty="0"/>
              <a:t>) {</a:t>
            </a:r>
            <a:br>
              <a:rPr lang="en-US" dirty="0"/>
            </a:br>
            <a:r>
              <a:rPr lang="en-US" dirty="0"/>
              <a:t>    die("Connection failed: " . </a:t>
            </a:r>
            <a:r>
              <a:rPr lang="en-US" dirty="0" err="1">
                <a:solidFill>
                  <a:srgbClr val="FF0000"/>
                </a:solidFill>
              </a:rPr>
              <a:t>mysqli_connect_error</a:t>
            </a:r>
            <a:r>
              <a:rPr lang="en-US" dirty="0">
                <a:solidFill>
                  <a:srgbClr val="FF0000"/>
                </a:solidFill>
              </a:rPr>
              <a:t>()</a:t>
            </a:r>
            <a:r>
              <a:rPr lang="en-US" dirty="0"/>
              <a:t>);</a:t>
            </a:r>
            <a:br>
              <a:rPr lang="en-US" dirty="0"/>
            </a:br>
            <a:r>
              <a:rPr lang="en-US" dirty="0"/>
              <a:t>}</a:t>
            </a:r>
            <a:br>
              <a:rPr lang="en-US" dirty="0"/>
            </a:br>
            <a:br>
              <a:rPr lang="en-US" dirty="0"/>
            </a:br>
            <a:endParaRPr lang="en-US" b="1" dirty="0"/>
          </a:p>
        </p:txBody>
      </p:sp>
    </p:spTree>
    <p:extLst>
      <p:ext uri="{BB962C8B-B14F-4D97-AF65-F5344CB8AC3E}">
        <p14:creationId xmlns:p14="http://schemas.microsoft.com/office/powerpoint/2010/main" val="18549930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PHP Create MySQL Tables </a:t>
            </a:r>
            <a:r>
              <a:rPr lang="en-US" sz="2400" dirty="0"/>
              <a:t>(cont.)</a:t>
            </a:r>
            <a:endParaRPr lang="en-US" dirty="0"/>
          </a:p>
        </p:txBody>
      </p:sp>
      <p:sp>
        <p:nvSpPr>
          <p:cNvPr id="5123" name="Rectangle 3"/>
          <p:cNvSpPr>
            <a:spLocks noGrp="1" noChangeArrowheads="1"/>
          </p:cNvSpPr>
          <p:nvPr>
            <p:ph idx="1"/>
          </p:nvPr>
        </p:nvSpPr>
        <p:spPr/>
        <p:txBody>
          <a:bodyPr>
            <a:normAutofit/>
          </a:bodyPr>
          <a:lstStyle/>
          <a:p>
            <a:pPr marL="0" indent="0">
              <a:buNone/>
            </a:pPr>
            <a:br>
              <a:rPr lang="en-US" dirty="0"/>
            </a:br>
            <a:r>
              <a:rPr lang="en-US" dirty="0">
                <a:solidFill>
                  <a:schemeClr val="bg1">
                    <a:lumMod val="50000"/>
                  </a:schemeClr>
                </a:solidFill>
              </a:rPr>
              <a:t>// </a:t>
            </a:r>
            <a:r>
              <a:rPr lang="en-US" dirty="0" err="1">
                <a:solidFill>
                  <a:schemeClr val="bg1">
                    <a:lumMod val="50000"/>
                  </a:schemeClr>
                </a:solidFill>
              </a:rPr>
              <a:t>sql</a:t>
            </a:r>
            <a:r>
              <a:rPr lang="en-US" dirty="0">
                <a:solidFill>
                  <a:schemeClr val="bg1">
                    <a:lumMod val="50000"/>
                  </a:schemeClr>
                </a:solidFill>
              </a:rPr>
              <a:t> to create table</a:t>
            </a:r>
            <a:br>
              <a:rPr lang="en-US" dirty="0">
                <a:solidFill>
                  <a:schemeClr val="bg1">
                    <a:lumMod val="50000"/>
                  </a:schemeClr>
                </a:solidFill>
              </a:rPr>
            </a:br>
            <a:r>
              <a:rPr lang="en-US" b="1" dirty="0">
                <a:solidFill>
                  <a:schemeClr val="accent2">
                    <a:lumMod val="75000"/>
                  </a:schemeClr>
                </a:solidFill>
              </a:rPr>
              <a:t>$</a:t>
            </a:r>
            <a:r>
              <a:rPr lang="en-US" b="1" dirty="0" err="1">
                <a:solidFill>
                  <a:schemeClr val="accent2">
                    <a:lumMod val="75000"/>
                  </a:schemeClr>
                </a:solidFill>
              </a:rPr>
              <a:t>sql</a:t>
            </a:r>
            <a:r>
              <a:rPr lang="en-US" b="1" dirty="0">
                <a:solidFill>
                  <a:schemeClr val="accent2">
                    <a:lumMod val="75000"/>
                  </a:schemeClr>
                </a:solidFill>
              </a:rPr>
              <a:t> </a:t>
            </a:r>
            <a:r>
              <a:rPr lang="en-US" b="1" dirty="0"/>
              <a:t>= "</a:t>
            </a:r>
            <a:r>
              <a:rPr lang="en-US" b="1" dirty="0">
                <a:solidFill>
                  <a:srgbClr val="FF0000"/>
                </a:solidFill>
              </a:rPr>
              <a:t>CREATE TABLE </a:t>
            </a:r>
            <a:r>
              <a:rPr lang="en-US" b="1" dirty="0" err="1">
                <a:solidFill>
                  <a:schemeClr val="accent3">
                    <a:lumMod val="50000"/>
                  </a:schemeClr>
                </a:solidFill>
              </a:rPr>
              <a:t>MyGuests</a:t>
            </a:r>
            <a:r>
              <a:rPr lang="en-US" b="1" dirty="0">
                <a:solidFill>
                  <a:schemeClr val="accent3">
                    <a:lumMod val="50000"/>
                  </a:schemeClr>
                </a:solidFill>
              </a:rPr>
              <a:t> </a:t>
            </a:r>
            <a:r>
              <a:rPr lang="en-US" b="1" dirty="0"/>
              <a:t>(</a:t>
            </a:r>
            <a:br>
              <a:rPr lang="en-US" b="1" dirty="0"/>
            </a:br>
            <a:r>
              <a:rPr lang="en-US" b="1" dirty="0"/>
              <a:t>	</a:t>
            </a:r>
            <a:r>
              <a:rPr lang="en-US" b="1" dirty="0">
                <a:solidFill>
                  <a:srgbClr val="0000FF"/>
                </a:solidFill>
              </a:rPr>
              <a:t>id</a:t>
            </a:r>
            <a:r>
              <a:rPr lang="en-US" b="1" dirty="0"/>
              <a:t> </a:t>
            </a:r>
            <a:r>
              <a:rPr lang="en-US" b="1" dirty="0">
                <a:solidFill>
                  <a:srgbClr val="FF0000"/>
                </a:solidFill>
              </a:rPr>
              <a:t>INT(6)</a:t>
            </a:r>
            <a:r>
              <a:rPr lang="en-US" b="1" dirty="0"/>
              <a:t> </a:t>
            </a:r>
            <a:r>
              <a:rPr lang="en-US" b="1" dirty="0">
                <a:solidFill>
                  <a:srgbClr val="00B050"/>
                </a:solidFill>
              </a:rPr>
              <a:t>UNSIGNED</a:t>
            </a:r>
            <a:r>
              <a:rPr lang="en-US" b="1" dirty="0"/>
              <a:t> </a:t>
            </a:r>
            <a:r>
              <a:rPr lang="en-US" b="1" dirty="0">
                <a:solidFill>
                  <a:srgbClr val="7030A0"/>
                </a:solidFill>
              </a:rPr>
              <a:t>AUTO_INCREMENT</a:t>
            </a:r>
            <a:r>
              <a:rPr lang="en-US" b="1" dirty="0"/>
              <a:t> </a:t>
            </a:r>
            <a:r>
              <a:rPr lang="en-US" b="1" dirty="0">
                <a:solidFill>
                  <a:schemeClr val="accent6">
                    <a:lumMod val="50000"/>
                  </a:schemeClr>
                </a:solidFill>
              </a:rPr>
              <a:t>PRIMARY KEY</a:t>
            </a:r>
            <a:r>
              <a:rPr lang="en-US" b="1" dirty="0"/>
              <a:t>,</a:t>
            </a:r>
            <a:br>
              <a:rPr lang="en-US" b="1" dirty="0"/>
            </a:br>
            <a:r>
              <a:rPr lang="en-US" b="1" dirty="0"/>
              <a:t>	</a:t>
            </a:r>
            <a:r>
              <a:rPr lang="en-US" b="1" dirty="0" err="1">
                <a:solidFill>
                  <a:srgbClr val="0000FF"/>
                </a:solidFill>
              </a:rPr>
              <a:t>firstname</a:t>
            </a:r>
            <a:r>
              <a:rPr lang="en-US" b="1" dirty="0"/>
              <a:t> </a:t>
            </a:r>
            <a:r>
              <a:rPr lang="en-US" b="1" dirty="0">
                <a:solidFill>
                  <a:srgbClr val="FF0000"/>
                </a:solidFill>
              </a:rPr>
              <a:t>VARCHAR(30)</a:t>
            </a:r>
            <a:r>
              <a:rPr lang="en-US" b="1" dirty="0"/>
              <a:t> </a:t>
            </a:r>
            <a:r>
              <a:rPr lang="en-US" b="1" dirty="0">
                <a:solidFill>
                  <a:schemeClr val="bg1">
                    <a:lumMod val="50000"/>
                  </a:schemeClr>
                </a:solidFill>
              </a:rPr>
              <a:t>NOT NULL</a:t>
            </a:r>
            <a:r>
              <a:rPr lang="en-US" b="1" dirty="0"/>
              <a:t>,</a:t>
            </a:r>
            <a:br>
              <a:rPr lang="en-US" b="1" dirty="0"/>
            </a:br>
            <a:r>
              <a:rPr lang="en-US" b="1" dirty="0"/>
              <a:t>	</a:t>
            </a:r>
            <a:r>
              <a:rPr lang="en-US" b="1" dirty="0" err="1">
                <a:solidFill>
                  <a:srgbClr val="0000FF"/>
                </a:solidFill>
              </a:rPr>
              <a:t>lastname</a:t>
            </a:r>
            <a:r>
              <a:rPr lang="en-US" b="1" dirty="0"/>
              <a:t> </a:t>
            </a:r>
            <a:r>
              <a:rPr lang="en-US" b="1" dirty="0">
                <a:solidFill>
                  <a:srgbClr val="FF0000"/>
                </a:solidFill>
              </a:rPr>
              <a:t>VARCHAR(30)</a:t>
            </a:r>
            <a:r>
              <a:rPr lang="en-US" b="1" dirty="0"/>
              <a:t> </a:t>
            </a:r>
            <a:r>
              <a:rPr lang="en-US" b="1" dirty="0">
                <a:solidFill>
                  <a:schemeClr val="bg1">
                    <a:lumMod val="50000"/>
                  </a:schemeClr>
                </a:solidFill>
              </a:rPr>
              <a:t>NOT NULL</a:t>
            </a:r>
            <a:r>
              <a:rPr lang="en-US" b="1" dirty="0"/>
              <a:t>,</a:t>
            </a:r>
            <a:br>
              <a:rPr lang="en-US" b="1" dirty="0"/>
            </a:br>
            <a:r>
              <a:rPr lang="en-US" b="1" dirty="0"/>
              <a:t>	</a:t>
            </a:r>
            <a:r>
              <a:rPr lang="en-US" b="1" dirty="0">
                <a:solidFill>
                  <a:srgbClr val="0000FF"/>
                </a:solidFill>
              </a:rPr>
              <a:t>email</a:t>
            </a:r>
            <a:r>
              <a:rPr lang="en-US" b="1" dirty="0"/>
              <a:t> </a:t>
            </a:r>
            <a:r>
              <a:rPr lang="en-US" b="1" dirty="0">
                <a:solidFill>
                  <a:srgbClr val="FF0000"/>
                </a:solidFill>
              </a:rPr>
              <a:t>VARCHAR(50)</a:t>
            </a:r>
            <a:r>
              <a:rPr lang="en-US" b="1" dirty="0"/>
              <a:t>,</a:t>
            </a:r>
            <a:br>
              <a:rPr lang="en-US" b="1" dirty="0"/>
            </a:br>
            <a:r>
              <a:rPr lang="en-US" b="1" dirty="0"/>
              <a:t>	</a:t>
            </a:r>
            <a:r>
              <a:rPr lang="en-US" b="1" dirty="0" err="1">
                <a:solidFill>
                  <a:srgbClr val="0000FF"/>
                </a:solidFill>
              </a:rPr>
              <a:t>reg_date</a:t>
            </a:r>
            <a:r>
              <a:rPr lang="en-US" b="1" dirty="0"/>
              <a:t> </a:t>
            </a:r>
            <a:r>
              <a:rPr lang="en-US" b="1" dirty="0">
                <a:solidFill>
                  <a:srgbClr val="FF0000"/>
                </a:solidFill>
              </a:rPr>
              <a:t>TIMESTAMP</a:t>
            </a:r>
            <a:br>
              <a:rPr lang="en-US" b="1" dirty="0"/>
            </a:br>
            <a:r>
              <a:rPr lang="en-US" b="1" dirty="0"/>
              <a:t>)";</a:t>
            </a:r>
            <a:br>
              <a:rPr lang="en-US" dirty="0"/>
            </a:br>
            <a:br>
              <a:rPr lang="en-US" sz="2400" dirty="0"/>
            </a:br>
            <a:endParaRPr lang="en-US" sz="2400" b="1" dirty="0"/>
          </a:p>
        </p:txBody>
      </p:sp>
    </p:spTree>
    <p:extLst>
      <p:ext uri="{BB962C8B-B14F-4D97-AF65-F5344CB8AC3E}">
        <p14:creationId xmlns:p14="http://schemas.microsoft.com/office/powerpoint/2010/main" val="23905638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PHP Create MySQL Tables </a:t>
            </a:r>
            <a:r>
              <a:rPr lang="en-US" sz="2400" dirty="0"/>
              <a:t>(cont.)</a:t>
            </a:r>
            <a:endParaRPr lang="en-US" dirty="0"/>
          </a:p>
        </p:txBody>
      </p:sp>
      <p:sp>
        <p:nvSpPr>
          <p:cNvPr id="5" name="Content Placeholder 4"/>
          <p:cNvSpPr>
            <a:spLocks noGrp="1"/>
          </p:cNvSpPr>
          <p:nvPr>
            <p:ph idx="1"/>
          </p:nvPr>
        </p:nvSpPr>
        <p:spPr/>
        <p:txBody>
          <a:bodyPr>
            <a:normAutofit/>
          </a:bodyPr>
          <a:lstStyle/>
          <a:p>
            <a:pPr marL="0" indent="0">
              <a:buNone/>
            </a:pPr>
            <a:br>
              <a:rPr lang="en-US" dirty="0"/>
            </a:br>
            <a:r>
              <a:rPr lang="en-US" dirty="0"/>
              <a:t>if (</a:t>
            </a:r>
            <a:r>
              <a:rPr lang="en-US" dirty="0" err="1">
                <a:solidFill>
                  <a:srgbClr val="FF0000"/>
                </a:solidFill>
              </a:rPr>
              <a:t>mysqli_query</a:t>
            </a:r>
            <a:r>
              <a:rPr lang="en-US" dirty="0"/>
              <a:t>(</a:t>
            </a:r>
            <a:r>
              <a:rPr lang="en-US" dirty="0">
                <a:solidFill>
                  <a:srgbClr val="00B0F0"/>
                </a:solidFill>
              </a:rPr>
              <a:t>$conn</a:t>
            </a:r>
            <a:r>
              <a:rPr lang="en-US" dirty="0"/>
              <a:t>, </a:t>
            </a:r>
            <a:r>
              <a:rPr lang="en-US" dirty="0">
                <a:solidFill>
                  <a:schemeClr val="accent2">
                    <a:lumMod val="75000"/>
                  </a:schemeClr>
                </a:solidFill>
              </a:rPr>
              <a:t>$</a:t>
            </a:r>
            <a:r>
              <a:rPr lang="en-US" dirty="0" err="1">
                <a:solidFill>
                  <a:schemeClr val="accent2">
                    <a:lumMod val="75000"/>
                  </a:schemeClr>
                </a:solidFill>
              </a:rPr>
              <a:t>sql</a:t>
            </a:r>
            <a:r>
              <a:rPr lang="en-US" dirty="0"/>
              <a:t>)) {</a:t>
            </a:r>
            <a:br>
              <a:rPr lang="en-US" dirty="0"/>
            </a:br>
            <a:r>
              <a:rPr lang="en-US" dirty="0"/>
              <a:t>    echo "</a:t>
            </a:r>
            <a:r>
              <a:rPr lang="en-US" dirty="0">
                <a:solidFill>
                  <a:srgbClr val="00B050"/>
                </a:solidFill>
              </a:rPr>
              <a:t>Table </a:t>
            </a:r>
            <a:r>
              <a:rPr lang="en-US" dirty="0" err="1">
                <a:solidFill>
                  <a:srgbClr val="00B050"/>
                </a:solidFill>
              </a:rPr>
              <a:t>MyGuests</a:t>
            </a:r>
            <a:r>
              <a:rPr lang="en-US" dirty="0">
                <a:solidFill>
                  <a:srgbClr val="00B050"/>
                </a:solidFill>
              </a:rPr>
              <a:t> created successfully</a:t>
            </a:r>
            <a:r>
              <a:rPr lang="en-US" dirty="0"/>
              <a:t>";</a:t>
            </a:r>
            <a:br>
              <a:rPr lang="en-US" dirty="0"/>
            </a:br>
            <a:r>
              <a:rPr lang="en-US" dirty="0"/>
              <a:t>} else {</a:t>
            </a:r>
            <a:br>
              <a:rPr lang="en-US" dirty="0"/>
            </a:br>
            <a:r>
              <a:rPr lang="en-US" dirty="0"/>
              <a:t>    echo "</a:t>
            </a:r>
            <a:r>
              <a:rPr lang="en-US" dirty="0">
                <a:solidFill>
                  <a:srgbClr val="00B050"/>
                </a:solidFill>
              </a:rPr>
              <a:t>Error creating table:</a:t>
            </a:r>
            <a:r>
              <a:rPr lang="en-US" dirty="0"/>
              <a:t> " . </a:t>
            </a:r>
            <a:r>
              <a:rPr lang="en-US" dirty="0" err="1">
                <a:solidFill>
                  <a:srgbClr val="FF0000"/>
                </a:solidFill>
              </a:rPr>
              <a:t>mysqli_error</a:t>
            </a:r>
            <a:r>
              <a:rPr lang="en-US" dirty="0"/>
              <a:t>(</a:t>
            </a:r>
            <a:r>
              <a:rPr lang="en-US" dirty="0">
                <a:solidFill>
                  <a:srgbClr val="00B0F0"/>
                </a:solidFill>
              </a:rPr>
              <a:t>$conn</a:t>
            </a:r>
            <a:r>
              <a:rPr lang="en-US" dirty="0"/>
              <a:t>);</a:t>
            </a:r>
            <a:br>
              <a:rPr lang="en-US" dirty="0"/>
            </a:br>
            <a:r>
              <a:rPr lang="en-US" dirty="0"/>
              <a:t>}</a:t>
            </a:r>
            <a:br>
              <a:rPr lang="en-US" dirty="0"/>
            </a:br>
            <a:br>
              <a:rPr lang="en-US" dirty="0"/>
            </a:br>
            <a:r>
              <a:rPr lang="en-US" dirty="0" err="1">
                <a:solidFill>
                  <a:srgbClr val="FF0000"/>
                </a:solidFill>
              </a:rPr>
              <a:t>mysqli_close</a:t>
            </a:r>
            <a:r>
              <a:rPr lang="en-US" dirty="0"/>
              <a:t>(</a:t>
            </a:r>
            <a:r>
              <a:rPr lang="en-US" dirty="0">
                <a:solidFill>
                  <a:srgbClr val="00B0F0"/>
                </a:solidFill>
              </a:rPr>
              <a:t>$conn</a:t>
            </a:r>
            <a:r>
              <a:rPr lang="en-US" dirty="0"/>
              <a:t>);</a:t>
            </a:r>
            <a:br>
              <a:rPr lang="en-US" dirty="0"/>
            </a:br>
            <a:r>
              <a:rPr lang="en-US" dirty="0"/>
              <a:t>?&gt;</a:t>
            </a:r>
            <a:endParaRPr lang="en-US" b="1" dirty="0"/>
          </a:p>
          <a:p>
            <a:endParaRPr lang="en-US" dirty="0"/>
          </a:p>
        </p:txBody>
      </p:sp>
    </p:spTree>
    <p:extLst>
      <p:ext uri="{BB962C8B-B14F-4D97-AF65-F5344CB8AC3E}">
        <p14:creationId xmlns:p14="http://schemas.microsoft.com/office/powerpoint/2010/main" val="13161355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PHP Insert Data Into MySQL</a:t>
            </a:r>
            <a:endParaRPr lang="en-US" dirty="0"/>
          </a:p>
        </p:txBody>
      </p:sp>
      <p:sp>
        <p:nvSpPr>
          <p:cNvPr id="5" name="Content Placeholder 4"/>
          <p:cNvSpPr>
            <a:spLocks noGrp="1"/>
          </p:cNvSpPr>
          <p:nvPr>
            <p:ph idx="1"/>
          </p:nvPr>
        </p:nvSpPr>
        <p:spPr/>
        <p:txBody>
          <a:bodyPr>
            <a:normAutofit fontScale="77500" lnSpcReduction="20000"/>
          </a:bodyPr>
          <a:lstStyle/>
          <a:p>
            <a:pPr marL="0" indent="0">
              <a:buNone/>
            </a:pPr>
            <a:r>
              <a:rPr lang="en-US" sz="3200" dirty="0"/>
              <a:t>The INSERT INTO statement is used to add new records to a MySQL table:</a:t>
            </a:r>
          </a:p>
          <a:p>
            <a:pPr marL="0" indent="0">
              <a:buNone/>
            </a:pPr>
            <a:endParaRPr lang="en-US" sz="3200" b="1" dirty="0"/>
          </a:p>
          <a:p>
            <a:pPr marL="0" indent="0">
              <a:buNone/>
            </a:pPr>
            <a:r>
              <a:rPr lang="en-US" sz="3200" b="1" dirty="0">
                <a:solidFill>
                  <a:srgbClr val="FF0000"/>
                </a:solidFill>
              </a:rPr>
              <a:t>INSERT INTO </a:t>
            </a:r>
            <a:r>
              <a:rPr lang="en-US" sz="3200" b="1" dirty="0" err="1">
                <a:solidFill>
                  <a:srgbClr val="0000FF"/>
                </a:solidFill>
              </a:rPr>
              <a:t>table_name</a:t>
            </a:r>
            <a:r>
              <a:rPr lang="en-US" sz="3200" b="1" dirty="0"/>
              <a:t> (</a:t>
            </a:r>
            <a:r>
              <a:rPr lang="en-US" sz="3200" b="1" dirty="0">
                <a:solidFill>
                  <a:srgbClr val="00B050"/>
                </a:solidFill>
              </a:rPr>
              <a:t>column1, column2, column3,...</a:t>
            </a:r>
            <a:r>
              <a:rPr lang="en-US" sz="3200" b="1" dirty="0"/>
              <a:t>)</a:t>
            </a:r>
            <a:br>
              <a:rPr lang="en-US" sz="3200" b="1" dirty="0"/>
            </a:br>
            <a:r>
              <a:rPr lang="en-US" sz="3200" b="1" dirty="0">
                <a:solidFill>
                  <a:srgbClr val="FF0000"/>
                </a:solidFill>
              </a:rPr>
              <a:t>VALUES</a:t>
            </a:r>
            <a:r>
              <a:rPr lang="en-US" sz="3200" b="1" dirty="0"/>
              <a:t> (</a:t>
            </a:r>
            <a:r>
              <a:rPr lang="en-US" sz="3200" b="1" dirty="0">
                <a:solidFill>
                  <a:srgbClr val="00B050"/>
                </a:solidFill>
              </a:rPr>
              <a:t>value1, value2, value3,...</a:t>
            </a:r>
            <a:r>
              <a:rPr lang="en-US" sz="3200" b="1" dirty="0"/>
              <a:t>)</a:t>
            </a:r>
          </a:p>
          <a:p>
            <a:pPr marL="0" indent="0">
              <a:buNone/>
            </a:pPr>
            <a:endParaRPr lang="en-US" sz="3200" b="1" dirty="0"/>
          </a:p>
          <a:p>
            <a:pPr marL="0" indent="0">
              <a:buNone/>
            </a:pPr>
            <a:endParaRPr lang="en-US" sz="3200" b="1" dirty="0"/>
          </a:p>
          <a:p>
            <a:pPr marL="0" indent="0">
              <a:buNone/>
            </a:pPr>
            <a:r>
              <a:rPr lang="en-US" b="1" dirty="0">
                <a:solidFill>
                  <a:srgbClr val="FF0000"/>
                </a:solidFill>
              </a:rPr>
              <a:t>Note:</a:t>
            </a:r>
            <a:r>
              <a:rPr lang="en-US" dirty="0"/>
              <a:t> If a column is AUTO_INCREMENT (like the "id" column) or TIMESTAMP (like the "</a:t>
            </a:r>
            <a:r>
              <a:rPr lang="en-US" dirty="0" err="1"/>
              <a:t>reg_date</a:t>
            </a:r>
            <a:r>
              <a:rPr lang="en-US" dirty="0"/>
              <a:t>" column), it is no need to be specified in the SQL query; MySQL will automatically add the value.</a:t>
            </a:r>
            <a:endParaRPr lang="en-US" b="1" dirty="0"/>
          </a:p>
          <a:p>
            <a:endParaRPr lang="en-US" dirty="0"/>
          </a:p>
        </p:txBody>
      </p:sp>
    </p:spTree>
    <p:extLst>
      <p:ext uri="{BB962C8B-B14F-4D97-AF65-F5344CB8AC3E}">
        <p14:creationId xmlns:p14="http://schemas.microsoft.com/office/powerpoint/2010/main" val="9285545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PHP Insert Data Into MySQL</a:t>
            </a:r>
            <a:endParaRPr lang="en-US" dirty="0"/>
          </a:p>
        </p:txBody>
      </p:sp>
      <p:sp>
        <p:nvSpPr>
          <p:cNvPr id="5" name="Content Placeholder 4"/>
          <p:cNvSpPr>
            <a:spLocks noGrp="1"/>
          </p:cNvSpPr>
          <p:nvPr>
            <p:ph idx="1"/>
          </p:nvPr>
        </p:nvSpPr>
        <p:spPr/>
        <p:txBody>
          <a:bodyPr>
            <a:normAutofit lnSpcReduction="10000"/>
          </a:bodyPr>
          <a:lstStyle/>
          <a:p>
            <a:pPr marL="0" indent="0">
              <a:buNone/>
            </a:pPr>
            <a:r>
              <a:rPr lang="en-US" b="1" dirty="0"/>
              <a:t>Example (</a:t>
            </a:r>
            <a:r>
              <a:rPr lang="en-US" b="1" dirty="0" err="1"/>
              <a:t>MySQLi</a:t>
            </a:r>
            <a:r>
              <a:rPr lang="en-US" b="1" dirty="0"/>
              <a:t> Procedural)</a:t>
            </a:r>
          </a:p>
          <a:p>
            <a:pPr marL="0" indent="0">
              <a:buNone/>
            </a:pPr>
            <a:br>
              <a:rPr lang="en-US" dirty="0"/>
            </a:br>
            <a:r>
              <a:rPr lang="en-US" b="1" dirty="0">
                <a:solidFill>
                  <a:schemeClr val="accent2">
                    <a:lumMod val="75000"/>
                  </a:schemeClr>
                </a:solidFill>
              </a:rPr>
              <a:t>$</a:t>
            </a:r>
            <a:r>
              <a:rPr lang="en-US" b="1" dirty="0" err="1">
                <a:solidFill>
                  <a:schemeClr val="accent2">
                    <a:lumMod val="75000"/>
                  </a:schemeClr>
                </a:solidFill>
              </a:rPr>
              <a:t>sql</a:t>
            </a:r>
            <a:r>
              <a:rPr lang="en-US" b="1" dirty="0">
                <a:solidFill>
                  <a:schemeClr val="accent2">
                    <a:lumMod val="75000"/>
                  </a:schemeClr>
                </a:solidFill>
              </a:rPr>
              <a:t> </a:t>
            </a:r>
            <a:r>
              <a:rPr lang="en-US" b="1" dirty="0"/>
              <a:t>= "</a:t>
            </a:r>
            <a:r>
              <a:rPr lang="en-US" b="1" dirty="0">
                <a:solidFill>
                  <a:srgbClr val="FF0000"/>
                </a:solidFill>
              </a:rPr>
              <a:t>INSERT INTO </a:t>
            </a:r>
            <a:r>
              <a:rPr lang="en-US" b="1" dirty="0" err="1">
                <a:solidFill>
                  <a:schemeClr val="accent3">
                    <a:lumMod val="50000"/>
                  </a:schemeClr>
                </a:solidFill>
              </a:rPr>
              <a:t>MyGuests</a:t>
            </a:r>
            <a:r>
              <a:rPr lang="en-US" b="1" dirty="0">
                <a:solidFill>
                  <a:schemeClr val="accent3">
                    <a:lumMod val="50000"/>
                  </a:schemeClr>
                </a:solidFill>
              </a:rPr>
              <a:t> </a:t>
            </a:r>
            <a:r>
              <a:rPr lang="en-US" b="1" dirty="0"/>
              <a:t>(</a:t>
            </a:r>
            <a:r>
              <a:rPr lang="en-US" b="1" dirty="0" err="1">
                <a:solidFill>
                  <a:srgbClr val="00B050"/>
                </a:solidFill>
              </a:rPr>
              <a:t>firstname</a:t>
            </a:r>
            <a:r>
              <a:rPr lang="en-US" b="1" dirty="0">
                <a:solidFill>
                  <a:srgbClr val="00B050"/>
                </a:solidFill>
              </a:rPr>
              <a:t>, </a:t>
            </a:r>
            <a:r>
              <a:rPr lang="en-US" b="1" dirty="0" err="1">
                <a:solidFill>
                  <a:srgbClr val="00B050"/>
                </a:solidFill>
              </a:rPr>
              <a:t>lastname</a:t>
            </a:r>
            <a:r>
              <a:rPr lang="en-US" b="1" dirty="0">
                <a:solidFill>
                  <a:srgbClr val="00B050"/>
                </a:solidFill>
              </a:rPr>
              <a:t>, email</a:t>
            </a:r>
            <a:r>
              <a:rPr lang="en-US" b="1" dirty="0"/>
              <a:t>)</a:t>
            </a:r>
            <a:br>
              <a:rPr lang="en-US" b="1" dirty="0"/>
            </a:br>
            <a:r>
              <a:rPr lang="en-US" b="1" dirty="0">
                <a:solidFill>
                  <a:srgbClr val="FF0000"/>
                </a:solidFill>
              </a:rPr>
              <a:t>VALUES</a:t>
            </a:r>
            <a:r>
              <a:rPr lang="en-US" b="1" dirty="0"/>
              <a:t> (</a:t>
            </a:r>
            <a:r>
              <a:rPr lang="en-US" b="1" dirty="0">
                <a:solidFill>
                  <a:srgbClr val="00B050"/>
                </a:solidFill>
              </a:rPr>
              <a:t>'John', 'Doe', 'john@example.com'</a:t>
            </a:r>
            <a:r>
              <a:rPr lang="en-US" b="1" dirty="0"/>
              <a:t>)";</a:t>
            </a:r>
            <a:br>
              <a:rPr lang="en-US" dirty="0"/>
            </a:br>
            <a:br>
              <a:rPr lang="en-US" dirty="0"/>
            </a:br>
            <a:r>
              <a:rPr lang="en-US" dirty="0"/>
              <a:t>if (</a:t>
            </a:r>
            <a:r>
              <a:rPr lang="en-US" dirty="0" err="1">
                <a:solidFill>
                  <a:srgbClr val="FF0000"/>
                </a:solidFill>
              </a:rPr>
              <a:t>mysqli_query</a:t>
            </a:r>
            <a:r>
              <a:rPr lang="en-US" dirty="0"/>
              <a:t>(</a:t>
            </a:r>
            <a:r>
              <a:rPr lang="en-US" dirty="0">
                <a:solidFill>
                  <a:srgbClr val="00B0F0"/>
                </a:solidFill>
              </a:rPr>
              <a:t>$conn</a:t>
            </a:r>
            <a:r>
              <a:rPr lang="en-US" dirty="0"/>
              <a:t>, </a:t>
            </a:r>
            <a:r>
              <a:rPr lang="en-US" dirty="0">
                <a:solidFill>
                  <a:schemeClr val="accent2">
                    <a:lumMod val="75000"/>
                  </a:schemeClr>
                </a:solidFill>
              </a:rPr>
              <a:t>$</a:t>
            </a:r>
            <a:r>
              <a:rPr lang="en-US" dirty="0" err="1">
                <a:solidFill>
                  <a:schemeClr val="accent2">
                    <a:lumMod val="75000"/>
                  </a:schemeClr>
                </a:solidFill>
              </a:rPr>
              <a:t>sql</a:t>
            </a:r>
            <a:r>
              <a:rPr lang="en-US" dirty="0"/>
              <a:t>)) {</a:t>
            </a:r>
            <a:br>
              <a:rPr lang="en-US" dirty="0"/>
            </a:br>
            <a:r>
              <a:rPr lang="en-US" dirty="0"/>
              <a:t>    echo "</a:t>
            </a:r>
            <a:r>
              <a:rPr lang="en-US" dirty="0">
                <a:solidFill>
                  <a:srgbClr val="00B050"/>
                </a:solidFill>
              </a:rPr>
              <a:t>New record created successfully</a:t>
            </a:r>
            <a:r>
              <a:rPr lang="en-US" dirty="0"/>
              <a:t>";</a:t>
            </a:r>
            <a:br>
              <a:rPr lang="en-US" dirty="0"/>
            </a:br>
            <a:r>
              <a:rPr lang="en-US" dirty="0"/>
              <a:t>} else {</a:t>
            </a:r>
            <a:br>
              <a:rPr lang="en-US" dirty="0"/>
            </a:br>
            <a:r>
              <a:rPr lang="en-US" dirty="0"/>
              <a:t>    echo "</a:t>
            </a:r>
            <a:r>
              <a:rPr lang="en-US" dirty="0">
                <a:solidFill>
                  <a:srgbClr val="00B050"/>
                </a:solidFill>
              </a:rPr>
              <a:t>Error:</a:t>
            </a:r>
            <a:r>
              <a:rPr lang="en-US" dirty="0"/>
              <a:t> " . </a:t>
            </a:r>
            <a:r>
              <a:rPr lang="en-US" dirty="0">
                <a:solidFill>
                  <a:schemeClr val="accent2">
                    <a:lumMod val="75000"/>
                  </a:schemeClr>
                </a:solidFill>
              </a:rPr>
              <a:t>$</a:t>
            </a:r>
            <a:r>
              <a:rPr lang="en-US" dirty="0" err="1">
                <a:solidFill>
                  <a:schemeClr val="accent2">
                    <a:lumMod val="75000"/>
                  </a:schemeClr>
                </a:solidFill>
              </a:rPr>
              <a:t>sql</a:t>
            </a:r>
            <a:r>
              <a:rPr lang="en-US" dirty="0">
                <a:solidFill>
                  <a:schemeClr val="accent2">
                    <a:lumMod val="75000"/>
                  </a:schemeClr>
                </a:solidFill>
              </a:rPr>
              <a:t> </a:t>
            </a:r>
            <a:r>
              <a:rPr lang="en-US" dirty="0"/>
              <a:t>. "</a:t>
            </a:r>
            <a:r>
              <a:rPr lang="en-US" dirty="0">
                <a:solidFill>
                  <a:srgbClr val="00B050"/>
                </a:solidFill>
              </a:rPr>
              <a:t>&lt;</a:t>
            </a:r>
            <a:r>
              <a:rPr lang="en-US" dirty="0" err="1">
                <a:solidFill>
                  <a:srgbClr val="00B050"/>
                </a:solidFill>
              </a:rPr>
              <a:t>br</a:t>
            </a:r>
            <a:r>
              <a:rPr lang="en-US" dirty="0">
                <a:solidFill>
                  <a:srgbClr val="00B050"/>
                </a:solidFill>
              </a:rPr>
              <a:t>&gt;</a:t>
            </a:r>
            <a:r>
              <a:rPr lang="en-US" dirty="0"/>
              <a:t>"</a:t>
            </a:r>
            <a:r>
              <a:rPr lang="en-US" dirty="0">
                <a:solidFill>
                  <a:srgbClr val="00B050"/>
                </a:solidFill>
              </a:rPr>
              <a:t> </a:t>
            </a:r>
            <a:r>
              <a:rPr lang="en-US" dirty="0"/>
              <a:t>. </a:t>
            </a:r>
            <a:r>
              <a:rPr lang="en-US" dirty="0" err="1">
                <a:solidFill>
                  <a:srgbClr val="FF0000"/>
                </a:solidFill>
              </a:rPr>
              <a:t>mysqli_error</a:t>
            </a:r>
            <a:r>
              <a:rPr lang="en-US" dirty="0"/>
              <a:t>(</a:t>
            </a:r>
            <a:r>
              <a:rPr lang="en-US" dirty="0">
                <a:solidFill>
                  <a:srgbClr val="00B0F0"/>
                </a:solidFill>
              </a:rPr>
              <a:t>$conn</a:t>
            </a:r>
            <a:r>
              <a:rPr lang="en-US" dirty="0"/>
              <a:t>);</a:t>
            </a:r>
            <a:br>
              <a:rPr lang="en-US" dirty="0"/>
            </a:br>
            <a:r>
              <a:rPr lang="en-US" dirty="0"/>
              <a:t>}</a:t>
            </a:r>
            <a:br>
              <a:rPr lang="en-US" dirty="0"/>
            </a:br>
            <a:br>
              <a:rPr lang="en-US" dirty="0"/>
            </a:br>
            <a:r>
              <a:rPr lang="en-US" dirty="0" err="1">
                <a:solidFill>
                  <a:srgbClr val="FF0000"/>
                </a:solidFill>
              </a:rPr>
              <a:t>mysqli_close</a:t>
            </a:r>
            <a:r>
              <a:rPr lang="en-US" dirty="0"/>
              <a:t>(</a:t>
            </a:r>
            <a:r>
              <a:rPr lang="en-US" dirty="0">
                <a:solidFill>
                  <a:srgbClr val="00B0F0"/>
                </a:solidFill>
              </a:rPr>
              <a:t>$conn</a:t>
            </a:r>
            <a:r>
              <a:rPr lang="en-US" dirty="0"/>
              <a:t>);</a:t>
            </a:r>
            <a:br>
              <a:rPr lang="en-US" dirty="0"/>
            </a:br>
            <a:r>
              <a:rPr lang="en-US" dirty="0"/>
              <a:t>?&gt;</a:t>
            </a:r>
          </a:p>
          <a:p>
            <a:endParaRPr lang="en-US" dirty="0"/>
          </a:p>
        </p:txBody>
      </p:sp>
    </p:spTree>
    <p:extLst>
      <p:ext uri="{BB962C8B-B14F-4D97-AF65-F5344CB8AC3E}">
        <p14:creationId xmlns:p14="http://schemas.microsoft.com/office/powerpoint/2010/main" val="10728331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PHP Get ID of Last Inserted Record</a:t>
            </a:r>
            <a:endParaRPr lang="en-US" dirty="0"/>
          </a:p>
        </p:txBody>
      </p:sp>
      <p:sp>
        <p:nvSpPr>
          <p:cNvPr id="5" name="Content Placeholder 4"/>
          <p:cNvSpPr>
            <a:spLocks noGrp="1"/>
          </p:cNvSpPr>
          <p:nvPr>
            <p:ph idx="1"/>
          </p:nvPr>
        </p:nvSpPr>
        <p:spPr/>
        <p:txBody>
          <a:bodyPr>
            <a:normAutofit/>
          </a:bodyPr>
          <a:lstStyle/>
          <a:p>
            <a:pPr marL="0" indent="0">
              <a:buNone/>
            </a:pPr>
            <a:r>
              <a:rPr lang="en-US" sz="2400" b="1" dirty="0"/>
              <a:t>Example (</a:t>
            </a:r>
            <a:r>
              <a:rPr lang="en-US" sz="2400" b="1" dirty="0" err="1"/>
              <a:t>MySQLi</a:t>
            </a:r>
            <a:r>
              <a:rPr lang="en-US" sz="2400" b="1" dirty="0"/>
              <a:t> Procedural)</a:t>
            </a:r>
          </a:p>
          <a:p>
            <a:pPr marL="0" indent="0">
              <a:buNone/>
            </a:pPr>
            <a:br>
              <a:rPr lang="en-US" sz="2400" dirty="0"/>
            </a:br>
            <a:r>
              <a:rPr lang="en-US" sz="2400" dirty="0"/>
              <a:t>…</a:t>
            </a:r>
            <a:br>
              <a:rPr lang="en-US" sz="2400" dirty="0"/>
            </a:br>
            <a:r>
              <a:rPr lang="en-US" dirty="0"/>
              <a:t>if (</a:t>
            </a:r>
            <a:r>
              <a:rPr lang="en-US" dirty="0" err="1">
                <a:solidFill>
                  <a:srgbClr val="FF0000"/>
                </a:solidFill>
              </a:rPr>
              <a:t>mysqli_query</a:t>
            </a:r>
            <a:r>
              <a:rPr lang="en-US" dirty="0"/>
              <a:t>(</a:t>
            </a:r>
            <a:r>
              <a:rPr lang="en-US" dirty="0">
                <a:solidFill>
                  <a:srgbClr val="00B0F0"/>
                </a:solidFill>
              </a:rPr>
              <a:t>$conn</a:t>
            </a:r>
            <a:r>
              <a:rPr lang="en-US" dirty="0"/>
              <a:t>, </a:t>
            </a:r>
            <a:r>
              <a:rPr lang="en-US" dirty="0">
                <a:solidFill>
                  <a:schemeClr val="accent2">
                    <a:lumMod val="75000"/>
                  </a:schemeClr>
                </a:solidFill>
              </a:rPr>
              <a:t>$</a:t>
            </a:r>
            <a:r>
              <a:rPr lang="en-US" dirty="0" err="1">
                <a:solidFill>
                  <a:schemeClr val="accent2">
                    <a:lumMod val="75000"/>
                  </a:schemeClr>
                </a:solidFill>
              </a:rPr>
              <a:t>sql</a:t>
            </a:r>
            <a:r>
              <a:rPr lang="en-US" dirty="0"/>
              <a:t>)) {</a:t>
            </a:r>
            <a:br>
              <a:rPr lang="en-US" dirty="0"/>
            </a:br>
            <a:r>
              <a:rPr lang="en-US" dirty="0"/>
              <a:t>    </a:t>
            </a:r>
            <a:r>
              <a:rPr lang="en-US" b="1" dirty="0">
                <a:solidFill>
                  <a:srgbClr val="0000FF"/>
                </a:solidFill>
              </a:rPr>
              <a:t>$</a:t>
            </a:r>
            <a:r>
              <a:rPr lang="en-US" b="1" dirty="0" err="1">
                <a:solidFill>
                  <a:srgbClr val="0000FF"/>
                </a:solidFill>
              </a:rPr>
              <a:t>last_id</a:t>
            </a:r>
            <a:r>
              <a:rPr lang="en-US" b="1" dirty="0">
                <a:solidFill>
                  <a:srgbClr val="0000FF"/>
                </a:solidFill>
              </a:rPr>
              <a:t> </a:t>
            </a:r>
            <a:r>
              <a:rPr lang="en-US" b="1" dirty="0"/>
              <a:t>= </a:t>
            </a:r>
            <a:r>
              <a:rPr lang="en-US" b="1" dirty="0" err="1">
                <a:solidFill>
                  <a:srgbClr val="FF0000"/>
                </a:solidFill>
              </a:rPr>
              <a:t>mysqli_insert_id</a:t>
            </a:r>
            <a:r>
              <a:rPr lang="en-US" b="1" dirty="0"/>
              <a:t>(</a:t>
            </a:r>
            <a:r>
              <a:rPr lang="en-US" b="1" dirty="0">
                <a:solidFill>
                  <a:srgbClr val="00B0F0"/>
                </a:solidFill>
              </a:rPr>
              <a:t>$conn</a:t>
            </a:r>
            <a:r>
              <a:rPr lang="en-US" b="1" dirty="0"/>
              <a:t>);</a:t>
            </a:r>
            <a:br>
              <a:rPr lang="en-US" b="1" dirty="0"/>
            </a:br>
            <a:r>
              <a:rPr lang="en-US" dirty="0"/>
              <a:t>    echo “Successfully. Last inserted ID is: " . </a:t>
            </a:r>
            <a:r>
              <a:rPr lang="en-US" b="1" dirty="0">
                <a:solidFill>
                  <a:srgbClr val="0000FF"/>
                </a:solidFill>
              </a:rPr>
              <a:t>$</a:t>
            </a:r>
            <a:r>
              <a:rPr lang="en-US" b="1" dirty="0" err="1">
                <a:solidFill>
                  <a:srgbClr val="0000FF"/>
                </a:solidFill>
              </a:rPr>
              <a:t>last_id</a:t>
            </a:r>
            <a:r>
              <a:rPr lang="en-US" dirty="0"/>
              <a:t>;</a:t>
            </a:r>
            <a:br>
              <a:rPr lang="en-US" dirty="0"/>
            </a:br>
            <a:r>
              <a:rPr lang="en-US" dirty="0"/>
              <a:t>} else {</a:t>
            </a:r>
            <a:br>
              <a:rPr lang="en-US" dirty="0"/>
            </a:br>
            <a:r>
              <a:rPr lang="en-US" dirty="0"/>
              <a:t>    echo "Error: " . </a:t>
            </a:r>
            <a:r>
              <a:rPr lang="en-US" dirty="0">
                <a:solidFill>
                  <a:schemeClr val="accent2">
                    <a:lumMod val="75000"/>
                  </a:schemeClr>
                </a:solidFill>
              </a:rPr>
              <a:t>$</a:t>
            </a:r>
            <a:r>
              <a:rPr lang="en-US" dirty="0" err="1">
                <a:solidFill>
                  <a:schemeClr val="accent2">
                    <a:lumMod val="75000"/>
                  </a:schemeClr>
                </a:solidFill>
              </a:rPr>
              <a:t>sql</a:t>
            </a:r>
            <a:r>
              <a:rPr lang="en-US" dirty="0"/>
              <a:t>. "&lt;</a:t>
            </a:r>
            <a:r>
              <a:rPr lang="en-US" dirty="0" err="1"/>
              <a:t>br</a:t>
            </a:r>
            <a:r>
              <a:rPr lang="en-US" dirty="0"/>
              <a:t>&gt;" . </a:t>
            </a:r>
            <a:r>
              <a:rPr lang="en-US" dirty="0" err="1">
                <a:solidFill>
                  <a:srgbClr val="FF0000"/>
                </a:solidFill>
              </a:rPr>
              <a:t>mysqli_error</a:t>
            </a:r>
            <a:r>
              <a:rPr lang="en-US" dirty="0"/>
              <a:t>(</a:t>
            </a:r>
            <a:r>
              <a:rPr lang="en-US" dirty="0">
                <a:solidFill>
                  <a:srgbClr val="00B0F0"/>
                </a:solidFill>
              </a:rPr>
              <a:t>$conn</a:t>
            </a:r>
            <a:r>
              <a:rPr lang="en-US" dirty="0"/>
              <a:t>);</a:t>
            </a:r>
            <a:br>
              <a:rPr lang="en-US" dirty="0"/>
            </a:br>
            <a:r>
              <a:rPr lang="en-US" dirty="0"/>
              <a:t>}</a:t>
            </a:r>
            <a:br>
              <a:rPr lang="en-US" sz="2400" dirty="0"/>
            </a:br>
            <a:r>
              <a:rPr lang="en-US" sz="2400" dirty="0"/>
              <a:t>…</a:t>
            </a:r>
          </a:p>
          <a:p>
            <a:endParaRPr lang="en-US" dirty="0"/>
          </a:p>
        </p:txBody>
      </p:sp>
    </p:spTree>
    <p:extLst>
      <p:ext uri="{BB962C8B-B14F-4D97-AF65-F5344CB8AC3E}">
        <p14:creationId xmlns:p14="http://schemas.microsoft.com/office/powerpoint/2010/main" val="1848299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PHP Select Data From MySQL</a:t>
            </a:r>
            <a:endParaRPr lang="en-US" dirty="0"/>
          </a:p>
        </p:txBody>
      </p:sp>
      <p:sp>
        <p:nvSpPr>
          <p:cNvPr id="5" name="Content Placeholder 4"/>
          <p:cNvSpPr>
            <a:spLocks noGrp="1"/>
          </p:cNvSpPr>
          <p:nvPr>
            <p:ph idx="1"/>
          </p:nvPr>
        </p:nvSpPr>
        <p:spPr/>
        <p:txBody>
          <a:bodyPr>
            <a:normAutofit/>
          </a:bodyPr>
          <a:lstStyle/>
          <a:p>
            <a:pPr marL="0" indent="0">
              <a:buNone/>
            </a:pPr>
            <a:r>
              <a:rPr lang="en-US" b="1" dirty="0"/>
              <a:t>Select Data From a MySQL Database</a:t>
            </a:r>
          </a:p>
          <a:p>
            <a:pPr marL="0" indent="0">
              <a:buNone/>
            </a:pPr>
            <a:r>
              <a:rPr lang="en-US" dirty="0"/>
              <a:t>The SELECT statement is used to select data from one or more tables:</a:t>
            </a:r>
          </a:p>
          <a:p>
            <a:pPr marL="0" indent="0">
              <a:buNone/>
            </a:pPr>
            <a:endParaRPr lang="en-US" dirty="0"/>
          </a:p>
          <a:p>
            <a:pPr marL="0" indent="0">
              <a:buNone/>
            </a:pPr>
            <a:r>
              <a:rPr lang="en-US" dirty="0"/>
              <a:t>	</a:t>
            </a:r>
            <a:r>
              <a:rPr lang="en-US" b="1" dirty="0">
                <a:solidFill>
                  <a:srgbClr val="FF0000"/>
                </a:solidFill>
              </a:rPr>
              <a:t>SELECT</a:t>
            </a:r>
            <a:r>
              <a:rPr lang="en-US" b="1" dirty="0"/>
              <a:t> </a:t>
            </a:r>
            <a:r>
              <a:rPr lang="en-US" b="1" dirty="0" err="1">
                <a:solidFill>
                  <a:srgbClr val="00B050"/>
                </a:solidFill>
              </a:rPr>
              <a:t>column_name</a:t>
            </a:r>
            <a:r>
              <a:rPr lang="en-US" b="1" dirty="0">
                <a:solidFill>
                  <a:srgbClr val="00B050"/>
                </a:solidFill>
              </a:rPr>
              <a:t>(s) </a:t>
            </a:r>
            <a:r>
              <a:rPr lang="en-US" b="1" dirty="0">
                <a:solidFill>
                  <a:srgbClr val="FF0000"/>
                </a:solidFill>
              </a:rPr>
              <a:t>FROM</a:t>
            </a:r>
            <a:r>
              <a:rPr lang="en-US" b="1" dirty="0"/>
              <a:t> </a:t>
            </a:r>
            <a:r>
              <a:rPr lang="en-US" b="1" dirty="0" err="1">
                <a:solidFill>
                  <a:srgbClr val="00B050"/>
                </a:solidFill>
              </a:rPr>
              <a:t>table_name</a:t>
            </a:r>
            <a:endParaRPr lang="en-US" b="1" dirty="0">
              <a:solidFill>
                <a:srgbClr val="00B050"/>
              </a:solidFill>
            </a:endParaRPr>
          </a:p>
          <a:p>
            <a:pPr marL="0" indent="0">
              <a:buNone/>
            </a:pPr>
            <a:endParaRPr lang="en-US" dirty="0"/>
          </a:p>
          <a:p>
            <a:pPr marL="0" indent="0">
              <a:buNone/>
            </a:pPr>
            <a:r>
              <a:rPr lang="en-US" dirty="0"/>
              <a:t>or we can use the * character to select ALL columns from a table:</a:t>
            </a:r>
          </a:p>
          <a:p>
            <a:pPr marL="0" indent="0">
              <a:buNone/>
            </a:pPr>
            <a:r>
              <a:rPr lang="en-US" dirty="0"/>
              <a:t>	</a:t>
            </a:r>
          </a:p>
          <a:p>
            <a:pPr marL="0" indent="0">
              <a:buNone/>
            </a:pPr>
            <a:r>
              <a:rPr lang="en-US" dirty="0"/>
              <a:t>	</a:t>
            </a:r>
            <a:r>
              <a:rPr lang="en-US" b="1" dirty="0">
                <a:solidFill>
                  <a:srgbClr val="FF0000"/>
                </a:solidFill>
              </a:rPr>
              <a:t>SELECT</a:t>
            </a:r>
            <a:r>
              <a:rPr lang="en-US" b="1" dirty="0"/>
              <a:t> </a:t>
            </a:r>
            <a:r>
              <a:rPr lang="en-US" b="1" dirty="0">
                <a:solidFill>
                  <a:srgbClr val="FF0000"/>
                </a:solidFill>
              </a:rPr>
              <a:t>* FROM </a:t>
            </a:r>
            <a:r>
              <a:rPr lang="en-US" b="1" dirty="0" err="1">
                <a:solidFill>
                  <a:srgbClr val="00B050"/>
                </a:solidFill>
              </a:rPr>
              <a:t>table_name</a:t>
            </a:r>
            <a:endParaRPr lang="en-US" b="1" dirty="0">
              <a:solidFill>
                <a:srgbClr val="00B050"/>
              </a:solidFill>
            </a:endParaRPr>
          </a:p>
          <a:p>
            <a:pPr marL="0" indent="0">
              <a:buNone/>
            </a:pPr>
            <a:endParaRPr lang="en-US" b="1" dirty="0"/>
          </a:p>
          <a:p>
            <a:pPr marL="0" indent="0">
              <a:buNone/>
            </a:pPr>
            <a:endParaRPr lang="en-US" b="1" dirty="0"/>
          </a:p>
          <a:p>
            <a:endParaRPr lang="en-US" dirty="0"/>
          </a:p>
        </p:txBody>
      </p:sp>
    </p:spTree>
    <p:extLst>
      <p:ext uri="{BB962C8B-B14F-4D97-AF65-F5344CB8AC3E}">
        <p14:creationId xmlns:p14="http://schemas.microsoft.com/office/powerpoint/2010/main" val="34621014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r>
              <a:rPr lang="en-US"/>
              <a:t>PHP Select Data From MySQL (cont.)</a:t>
            </a:r>
            <a:endParaRPr lang="en-US" dirty="0"/>
          </a:p>
        </p:txBody>
      </p:sp>
      <p:sp>
        <p:nvSpPr>
          <p:cNvPr id="5" name="Content Placeholder 4"/>
          <p:cNvSpPr>
            <a:spLocks noGrp="1"/>
          </p:cNvSpPr>
          <p:nvPr>
            <p:ph idx="1"/>
          </p:nvPr>
        </p:nvSpPr>
        <p:spPr/>
        <p:txBody>
          <a:bodyPr>
            <a:normAutofit fontScale="92500" lnSpcReduction="10000"/>
          </a:bodyPr>
          <a:lstStyle/>
          <a:p>
            <a:pPr marL="0" indent="0">
              <a:buNone/>
            </a:pPr>
            <a:r>
              <a:rPr lang="en-US" dirty="0"/>
              <a:t>…</a:t>
            </a:r>
          </a:p>
          <a:p>
            <a:pPr marL="0" indent="0">
              <a:buNone/>
            </a:pPr>
            <a:r>
              <a:rPr lang="en-US" b="1" dirty="0">
                <a:solidFill>
                  <a:schemeClr val="accent2">
                    <a:lumMod val="75000"/>
                  </a:schemeClr>
                </a:solidFill>
              </a:rPr>
              <a:t>$</a:t>
            </a:r>
            <a:r>
              <a:rPr lang="en-US" b="1" dirty="0" err="1">
                <a:solidFill>
                  <a:schemeClr val="accent2">
                    <a:lumMod val="75000"/>
                  </a:schemeClr>
                </a:solidFill>
              </a:rPr>
              <a:t>sql</a:t>
            </a:r>
            <a:r>
              <a:rPr lang="en-US" b="1" dirty="0">
                <a:solidFill>
                  <a:schemeClr val="accent2">
                    <a:lumMod val="75000"/>
                  </a:schemeClr>
                </a:solidFill>
              </a:rPr>
              <a:t> </a:t>
            </a:r>
            <a:r>
              <a:rPr lang="en-US" b="1" dirty="0"/>
              <a:t>= "</a:t>
            </a:r>
            <a:r>
              <a:rPr lang="en-US" b="1" dirty="0">
                <a:solidFill>
                  <a:srgbClr val="FF0000"/>
                </a:solidFill>
              </a:rPr>
              <a:t>SELECT</a:t>
            </a:r>
            <a:r>
              <a:rPr lang="en-US" b="1" dirty="0"/>
              <a:t> </a:t>
            </a:r>
            <a:r>
              <a:rPr lang="en-US" b="1" dirty="0">
                <a:solidFill>
                  <a:srgbClr val="00B050"/>
                </a:solidFill>
              </a:rPr>
              <a:t>id, </a:t>
            </a:r>
            <a:r>
              <a:rPr lang="en-US" b="1" dirty="0" err="1">
                <a:solidFill>
                  <a:srgbClr val="00B050"/>
                </a:solidFill>
              </a:rPr>
              <a:t>firstname</a:t>
            </a:r>
            <a:r>
              <a:rPr lang="en-US" b="1" dirty="0">
                <a:solidFill>
                  <a:srgbClr val="00B050"/>
                </a:solidFill>
              </a:rPr>
              <a:t>, </a:t>
            </a:r>
            <a:r>
              <a:rPr lang="en-US" b="1" dirty="0" err="1">
                <a:solidFill>
                  <a:srgbClr val="00B050"/>
                </a:solidFill>
              </a:rPr>
              <a:t>lastname</a:t>
            </a:r>
            <a:r>
              <a:rPr lang="en-US" b="1" dirty="0">
                <a:solidFill>
                  <a:srgbClr val="00B050"/>
                </a:solidFill>
              </a:rPr>
              <a:t> </a:t>
            </a:r>
            <a:r>
              <a:rPr lang="en-US" b="1" dirty="0">
                <a:solidFill>
                  <a:srgbClr val="FF0000"/>
                </a:solidFill>
              </a:rPr>
              <a:t>FROM</a:t>
            </a:r>
            <a:r>
              <a:rPr lang="en-US" b="1" dirty="0"/>
              <a:t> </a:t>
            </a:r>
            <a:r>
              <a:rPr lang="en-US" b="1" dirty="0" err="1">
                <a:solidFill>
                  <a:srgbClr val="00B050"/>
                </a:solidFill>
              </a:rPr>
              <a:t>MyGuests</a:t>
            </a:r>
            <a:r>
              <a:rPr lang="en-US" b="1" dirty="0"/>
              <a:t>";</a:t>
            </a:r>
            <a:br>
              <a:rPr lang="en-US" b="1" dirty="0"/>
            </a:br>
            <a:r>
              <a:rPr lang="en-US" b="1" dirty="0">
                <a:solidFill>
                  <a:srgbClr val="7030A0"/>
                </a:solidFill>
              </a:rPr>
              <a:t>$result </a:t>
            </a:r>
            <a:r>
              <a:rPr lang="en-US" b="1" dirty="0"/>
              <a:t>= </a:t>
            </a:r>
            <a:r>
              <a:rPr lang="en-US" b="1" dirty="0" err="1">
                <a:solidFill>
                  <a:srgbClr val="FF0000"/>
                </a:solidFill>
              </a:rPr>
              <a:t>mysqli_query</a:t>
            </a:r>
            <a:r>
              <a:rPr lang="en-US" b="1" dirty="0"/>
              <a:t>(</a:t>
            </a:r>
            <a:r>
              <a:rPr lang="en-US" b="1" dirty="0">
                <a:solidFill>
                  <a:srgbClr val="00B0F0"/>
                </a:solidFill>
              </a:rPr>
              <a:t>$conn</a:t>
            </a:r>
            <a:r>
              <a:rPr lang="en-US" b="1" dirty="0"/>
              <a:t>, </a:t>
            </a:r>
            <a:r>
              <a:rPr lang="en-US" b="1" dirty="0">
                <a:solidFill>
                  <a:schemeClr val="accent2">
                    <a:lumMod val="75000"/>
                  </a:schemeClr>
                </a:solidFill>
              </a:rPr>
              <a:t>$</a:t>
            </a:r>
            <a:r>
              <a:rPr lang="en-US" b="1" dirty="0" err="1">
                <a:solidFill>
                  <a:schemeClr val="accent2">
                    <a:lumMod val="75000"/>
                  </a:schemeClr>
                </a:solidFill>
              </a:rPr>
              <a:t>sql</a:t>
            </a:r>
            <a:r>
              <a:rPr lang="en-US" b="1" dirty="0"/>
              <a:t>);</a:t>
            </a:r>
            <a:br>
              <a:rPr lang="en-US" dirty="0"/>
            </a:br>
            <a:br>
              <a:rPr lang="en-US" dirty="0"/>
            </a:br>
            <a:r>
              <a:rPr lang="en-US" dirty="0"/>
              <a:t>if (</a:t>
            </a:r>
            <a:r>
              <a:rPr lang="en-US" dirty="0" err="1">
                <a:solidFill>
                  <a:srgbClr val="FF0000"/>
                </a:solidFill>
              </a:rPr>
              <a:t>mysqli_num_rows</a:t>
            </a:r>
            <a:r>
              <a:rPr lang="en-US" dirty="0"/>
              <a:t>(</a:t>
            </a:r>
            <a:r>
              <a:rPr lang="en-US" dirty="0">
                <a:solidFill>
                  <a:srgbClr val="7030A0"/>
                </a:solidFill>
              </a:rPr>
              <a:t>$result</a:t>
            </a:r>
            <a:r>
              <a:rPr lang="en-US" dirty="0"/>
              <a:t>) &gt; 0) {</a:t>
            </a:r>
            <a:br>
              <a:rPr lang="en-US" dirty="0"/>
            </a:br>
            <a:r>
              <a:rPr lang="en-US" dirty="0"/>
              <a:t>    </a:t>
            </a:r>
            <a:r>
              <a:rPr lang="en-US" dirty="0">
                <a:solidFill>
                  <a:schemeClr val="bg1">
                    <a:lumMod val="50000"/>
                  </a:schemeClr>
                </a:solidFill>
              </a:rPr>
              <a:t>// output data of each row</a:t>
            </a:r>
            <a:br>
              <a:rPr lang="en-US" dirty="0">
                <a:solidFill>
                  <a:schemeClr val="bg1">
                    <a:lumMod val="50000"/>
                  </a:schemeClr>
                </a:solidFill>
              </a:rPr>
            </a:br>
            <a:r>
              <a:rPr lang="en-US" dirty="0"/>
              <a:t>    while($row = </a:t>
            </a:r>
            <a:r>
              <a:rPr lang="en-US" dirty="0" err="1">
                <a:solidFill>
                  <a:srgbClr val="FF0000"/>
                </a:solidFill>
              </a:rPr>
              <a:t>mysqli_fetch_assoc</a:t>
            </a:r>
            <a:r>
              <a:rPr lang="en-US" dirty="0"/>
              <a:t>(</a:t>
            </a:r>
            <a:r>
              <a:rPr lang="en-US" dirty="0">
                <a:solidFill>
                  <a:srgbClr val="7030A0"/>
                </a:solidFill>
              </a:rPr>
              <a:t>$result</a:t>
            </a:r>
            <a:r>
              <a:rPr lang="en-US" dirty="0"/>
              <a:t>)) {</a:t>
            </a:r>
            <a:br>
              <a:rPr lang="en-US" dirty="0"/>
            </a:br>
            <a:r>
              <a:rPr lang="en-US" dirty="0"/>
              <a:t>        echo "id: " . $row["id"]. " - Name: " . $row["</a:t>
            </a:r>
            <a:r>
              <a:rPr lang="en-US" dirty="0" err="1"/>
              <a:t>firstname</a:t>
            </a:r>
            <a:r>
              <a:rPr lang="en-US" dirty="0"/>
              <a:t>"]. " " . $row["</a:t>
            </a:r>
            <a:r>
              <a:rPr lang="en-US" dirty="0" err="1"/>
              <a:t>lastname</a:t>
            </a:r>
            <a:r>
              <a:rPr lang="en-US" dirty="0"/>
              <a:t>"]. "&lt;</a:t>
            </a:r>
            <a:r>
              <a:rPr lang="en-US" dirty="0" err="1"/>
              <a:t>br</a:t>
            </a:r>
            <a:r>
              <a:rPr lang="en-US" dirty="0"/>
              <a:t>&gt;";</a:t>
            </a:r>
            <a:br>
              <a:rPr lang="en-US" dirty="0"/>
            </a:br>
            <a:r>
              <a:rPr lang="en-US" dirty="0"/>
              <a:t>    }</a:t>
            </a:r>
            <a:br>
              <a:rPr lang="en-US" dirty="0"/>
            </a:br>
            <a:r>
              <a:rPr lang="en-US" dirty="0"/>
              <a:t>} else {</a:t>
            </a:r>
            <a:br>
              <a:rPr lang="en-US" dirty="0"/>
            </a:br>
            <a:r>
              <a:rPr lang="en-US" dirty="0"/>
              <a:t>    echo "0 results";</a:t>
            </a:r>
            <a:br>
              <a:rPr lang="en-US" dirty="0"/>
            </a:br>
            <a:r>
              <a:rPr lang="en-US" dirty="0"/>
              <a:t>}</a:t>
            </a:r>
            <a:endParaRPr lang="en-US" b="1" dirty="0"/>
          </a:p>
          <a:p>
            <a:pPr marL="0" indent="0">
              <a:buNone/>
            </a:pPr>
            <a:r>
              <a:rPr lang="en-US" b="1" dirty="0"/>
              <a:t>…</a:t>
            </a:r>
          </a:p>
          <a:p>
            <a:endParaRPr lang="en-US" dirty="0"/>
          </a:p>
        </p:txBody>
      </p:sp>
    </p:spTree>
    <p:extLst>
      <p:ext uri="{BB962C8B-B14F-4D97-AF65-F5344CB8AC3E}">
        <p14:creationId xmlns:p14="http://schemas.microsoft.com/office/powerpoint/2010/main" val="28214497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PHP Delete Data From MySQL</a:t>
            </a:r>
            <a:endParaRPr lang="en-US" dirty="0"/>
          </a:p>
        </p:txBody>
      </p:sp>
      <p:sp>
        <p:nvSpPr>
          <p:cNvPr id="5" name="Content Placeholder 4"/>
          <p:cNvSpPr>
            <a:spLocks noGrp="1"/>
          </p:cNvSpPr>
          <p:nvPr>
            <p:ph idx="1"/>
          </p:nvPr>
        </p:nvSpPr>
        <p:spPr/>
        <p:txBody>
          <a:bodyPr>
            <a:normAutofit fontScale="92500" lnSpcReduction="20000"/>
          </a:bodyPr>
          <a:lstStyle/>
          <a:p>
            <a:pPr marL="0" indent="0">
              <a:buNone/>
            </a:pPr>
            <a:r>
              <a:rPr lang="en-US" b="1" dirty="0"/>
              <a:t>Delete Data From a MySQL Table Using </a:t>
            </a:r>
            <a:r>
              <a:rPr lang="en-US" b="1" dirty="0" err="1"/>
              <a:t>MySQLi</a:t>
            </a:r>
            <a:endParaRPr lang="en-US" b="1" dirty="0"/>
          </a:p>
          <a:p>
            <a:pPr marL="0" indent="0">
              <a:buNone/>
            </a:pPr>
            <a:r>
              <a:rPr lang="en-US" b="1" dirty="0"/>
              <a:t>	</a:t>
            </a:r>
            <a:r>
              <a:rPr lang="en-US" b="1" dirty="0">
                <a:solidFill>
                  <a:srgbClr val="FF0000"/>
                </a:solidFill>
              </a:rPr>
              <a:t>DELETE FROM </a:t>
            </a:r>
            <a:r>
              <a:rPr lang="en-US" b="1" dirty="0" err="1">
                <a:solidFill>
                  <a:srgbClr val="00B050"/>
                </a:solidFill>
              </a:rPr>
              <a:t>table_name</a:t>
            </a:r>
            <a:br>
              <a:rPr lang="en-US" b="1" dirty="0"/>
            </a:br>
            <a:r>
              <a:rPr lang="en-US" b="1" dirty="0"/>
              <a:t>	</a:t>
            </a:r>
            <a:r>
              <a:rPr lang="en-US" b="1" dirty="0">
                <a:solidFill>
                  <a:srgbClr val="FF0000"/>
                </a:solidFill>
              </a:rPr>
              <a:t>WHERE</a:t>
            </a:r>
            <a:r>
              <a:rPr lang="en-US" b="1" dirty="0"/>
              <a:t> </a:t>
            </a:r>
            <a:r>
              <a:rPr lang="en-US" b="1" dirty="0" err="1">
                <a:solidFill>
                  <a:srgbClr val="00B050"/>
                </a:solidFill>
              </a:rPr>
              <a:t>some_column</a:t>
            </a:r>
            <a:r>
              <a:rPr lang="en-US" b="1" dirty="0">
                <a:solidFill>
                  <a:srgbClr val="00B050"/>
                </a:solidFill>
              </a:rPr>
              <a:t> = </a:t>
            </a:r>
            <a:r>
              <a:rPr lang="en-US" b="1" dirty="0" err="1">
                <a:solidFill>
                  <a:srgbClr val="00B050"/>
                </a:solidFill>
              </a:rPr>
              <a:t>some_value</a:t>
            </a:r>
            <a:endParaRPr lang="en-US" b="1" dirty="0">
              <a:solidFill>
                <a:srgbClr val="00B050"/>
              </a:solidFill>
            </a:endParaRPr>
          </a:p>
          <a:p>
            <a:pPr marL="0" indent="0">
              <a:buNone/>
            </a:pPr>
            <a:endParaRPr lang="en-US" b="1" dirty="0">
              <a:solidFill>
                <a:srgbClr val="00B050"/>
              </a:solidFill>
            </a:endParaRPr>
          </a:p>
          <a:p>
            <a:pPr marL="0" indent="0">
              <a:buNone/>
            </a:pPr>
            <a:r>
              <a:rPr lang="en-US" b="1" dirty="0"/>
              <a:t>Example (</a:t>
            </a:r>
            <a:r>
              <a:rPr lang="en-US" b="1" dirty="0" err="1"/>
              <a:t>MySQLi</a:t>
            </a:r>
            <a:r>
              <a:rPr lang="en-US" b="1" dirty="0"/>
              <a:t> Procedural)</a:t>
            </a:r>
          </a:p>
          <a:p>
            <a:pPr marL="0" indent="0">
              <a:buNone/>
            </a:pPr>
            <a:r>
              <a:rPr lang="en-US" dirty="0"/>
              <a:t>…</a:t>
            </a:r>
            <a:br>
              <a:rPr lang="en-US" dirty="0"/>
            </a:br>
            <a:r>
              <a:rPr lang="en-US" b="1" dirty="0">
                <a:solidFill>
                  <a:schemeClr val="accent2">
                    <a:lumMod val="75000"/>
                  </a:schemeClr>
                </a:solidFill>
              </a:rPr>
              <a:t>$</a:t>
            </a:r>
            <a:r>
              <a:rPr lang="en-US" b="1" dirty="0" err="1">
                <a:solidFill>
                  <a:schemeClr val="accent2">
                    <a:lumMod val="75000"/>
                  </a:schemeClr>
                </a:solidFill>
              </a:rPr>
              <a:t>sql</a:t>
            </a:r>
            <a:r>
              <a:rPr lang="en-US" b="1" dirty="0">
                <a:solidFill>
                  <a:schemeClr val="accent2">
                    <a:lumMod val="75000"/>
                  </a:schemeClr>
                </a:solidFill>
              </a:rPr>
              <a:t> </a:t>
            </a:r>
            <a:r>
              <a:rPr lang="en-US" b="1" dirty="0"/>
              <a:t>= "</a:t>
            </a:r>
            <a:r>
              <a:rPr lang="en-US" b="1" dirty="0">
                <a:solidFill>
                  <a:srgbClr val="FF0000"/>
                </a:solidFill>
              </a:rPr>
              <a:t>DELETE FROM </a:t>
            </a:r>
            <a:r>
              <a:rPr lang="en-US" b="1" dirty="0" err="1">
                <a:solidFill>
                  <a:srgbClr val="00B050"/>
                </a:solidFill>
              </a:rPr>
              <a:t>MyGuests</a:t>
            </a:r>
            <a:r>
              <a:rPr lang="en-US" b="1" dirty="0"/>
              <a:t> </a:t>
            </a:r>
            <a:r>
              <a:rPr lang="en-US" b="1" dirty="0">
                <a:solidFill>
                  <a:srgbClr val="FF0000"/>
                </a:solidFill>
              </a:rPr>
              <a:t>WHERE</a:t>
            </a:r>
            <a:r>
              <a:rPr lang="en-US" b="1" dirty="0"/>
              <a:t> </a:t>
            </a:r>
            <a:r>
              <a:rPr lang="en-US" b="1" dirty="0">
                <a:solidFill>
                  <a:srgbClr val="00B050"/>
                </a:solidFill>
              </a:rPr>
              <a:t>id=3</a:t>
            </a:r>
            <a:r>
              <a:rPr lang="en-US" b="1" dirty="0"/>
              <a:t>";</a:t>
            </a:r>
            <a:br>
              <a:rPr lang="en-US" b="1" dirty="0"/>
            </a:br>
            <a:br>
              <a:rPr lang="en-US" dirty="0"/>
            </a:br>
            <a:r>
              <a:rPr lang="en-US" dirty="0"/>
              <a:t>if (</a:t>
            </a:r>
            <a:r>
              <a:rPr lang="en-US" dirty="0" err="1"/>
              <a:t>mysqli_query</a:t>
            </a:r>
            <a:r>
              <a:rPr lang="en-US" dirty="0"/>
              <a:t>(</a:t>
            </a:r>
            <a:r>
              <a:rPr lang="en-US" dirty="0">
                <a:solidFill>
                  <a:srgbClr val="00B0F0"/>
                </a:solidFill>
              </a:rPr>
              <a:t>$conn</a:t>
            </a:r>
            <a:r>
              <a:rPr lang="en-US" dirty="0"/>
              <a:t>, </a:t>
            </a:r>
            <a:r>
              <a:rPr lang="en-US" dirty="0">
                <a:solidFill>
                  <a:schemeClr val="accent2">
                    <a:lumMod val="75000"/>
                  </a:schemeClr>
                </a:solidFill>
              </a:rPr>
              <a:t>$</a:t>
            </a:r>
            <a:r>
              <a:rPr lang="en-US" dirty="0" err="1">
                <a:solidFill>
                  <a:schemeClr val="accent2">
                    <a:lumMod val="75000"/>
                  </a:schemeClr>
                </a:solidFill>
              </a:rPr>
              <a:t>sql</a:t>
            </a:r>
            <a:r>
              <a:rPr lang="en-US" dirty="0"/>
              <a:t>)) {</a:t>
            </a:r>
            <a:br>
              <a:rPr lang="en-US" dirty="0"/>
            </a:br>
            <a:r>
              <a:rPr lang="en-US" dirty="0"/>
              <a:t>    echo "</a:t>
            </a:r>
            <a:r>
              <a:rPr lang="en-US" dirty="0">
                <a:solidFill>
                  <a:srgbClr val="00B050"/>
                </a:solidFill>
              </a:rPr>
              <a:t>Record deleted successfully</a:t>
            </a:r>
            <a:r>
              <a:rPr lang="en-US" dirty="0"/>
              <a:t>";</a:t>
            </a:r>
            <a:br>
              <a:rPr lang="en-US" dirty="0"/>
            </a:br>
            <a:r>
              <a:rPr lang="en-US" dirty="0"/>
              <a:t>} else {</a:t>
            </a:r>
            <a:br>
              <a:rPr lang="en-US" dirty="0"/>
            </a:br>
            <a:r>
              <a:rPr lang="en-US" dirty="0"/>
              <a:t>    echo "</a:t>
            </a:r>
            <a:r>
              <a:rPr lang="en-US" dirty="0">
                <a:solidFill>
                  <a:srgbClr val="00B050"/>
                </a:solidFill>
              </a:rPr>
              <a:t>Error deleting record: </a:t>
            </a:r>
            <a:r>
              <a:rPr lang="en-US" dirty="0"/>
              <a:t>" . </a:t>
            </a:r>
            <a:r>
              <a:rPr lang="en-US" dirty="0" err="1">
                <a:solidFill>
                  <a:srgbClr val="FF0000"/>
                </a:solidFill>
              </a:rPr>
              <a:t>mysqli_error</a:t>
            </a:r>
            <a:r>
              <a:rPr lang="en-US" dirty="0"/>
              <a:t>(</a:t>
            </a:r>
            <a:r>
              <a:rPr lang="en-US" dirty="0">
                <a:solidFill>
                  <a:srgbClr val="00B0F0"/>
                </a:solidFill>
              </a:rPr>
              <a:t>$conn</a:t>
            </a:r>
            <a:r>
              <a:rPr lang="en-US" dirty="0"/>
              <a:t>);</a:t>
            </a:r>
            <a:br>
              <a:rPr lang="en-US" dirty="0"/>
            </a:br>
            <a:r>
              <a:rPr lang="en-US" dirty="0"/>
              <a:t>}</a:t>
            </a:r>
          </a:p>
          <a:p>
            <a:pPr marL="0" indent="0">
              <a:buNone/>
            </a:pPr>
            <a:r>
              <a:rPr lang="en-US" b="1" dirty="0"/>
              <a:t>…</a:t>
            </a:r>
          </a:p>
          <a:p>
            <a:endParaRPr lang="en-US" dirty="0"/>
          </a:p>
        </p:txBody>
      </p:sp>
    </p:spTree>
    <p:extLst>
      <p:ext uri="{BB962C8B-B14F-4D97-AF65-F5344CB8AC3E}">
        <p14:creationId xmlns:p14="http://schemas.microsoft.com/office/powerpoint/2010/main" val="40113326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it-IT"/>
              <a:t>PHP Update Data in MySQL</a:t>
            </a:r>
            <a:endParaRPr lang="it-IT" dirty="0"/>
          </a:p>
        </p:txBody>
      </p:sp>
      <p:sp>
        <p:nvSpPr>
          <p:cNvPr id="5" name="Content Placeholder 4"/>
          <p:cNvSpPr>
            <a:spLocks noGrp="1"/>
          </p:cNvSpPr>
          <p:nvPr>
            <p:ph idx="1"/>
          </p:nvPr>
        </p:nvSpPr>
        <p:spPr/>
        <p:txBody>
          <a:bodyPr>
            <a:normAutofit fontScale="92500" lnSpcReduction="10000"/>
          </a:bodyPr>
          <a:lstStyle/>
          <a:p>
            <a:pPr marL="0" indent="0">
              <a:buNone/>
            </a:pPr>
            <a:r>
              <a:rPr lang="en-US" b="1" dirty="0"/>
              <a:t>Update Data In a MySQL Table Using </a:t>
            </a:r>
            <a:r>
              <a:rPr lang="en-US" b="1" dirty="0" err="1"/>
              <a:t>MySQLi</a:t>
            </a:r>
            <a:r>
              <a:rPr lang="en-US" b="1" dirty="0"/>
              <a:t> </a:t>
            </a:r>
          </a:p>
          <a:p>
            <a:pPr marL="0" indent="0">
              <a:buNone/>
            </a:pPr>
            <a:r>
              <a:rPr lang="en-US" b="1" dirty="0"/>
              <a:t>	</a:t>
            </a:r>
            <a:r>
              <a:rPr lang="en-US" b="1" dirty="0">
                <a:solidFill>
                  <a:srgbClr val="FF0000"/>
                </a:solidFill>
              </a:rPr>
              <a:t>UPDATE</a:t>
            </a:r>
            <a:r>
              <a:rPr lang="en-US" b="1" dirty="0"/>
              <a:t> </a:t>
            </a:r>
            <a:r>
              <a:rPr lang="en-US" b="1" dirty="0" err="1">
                <a:solidFill>
                  <a:srgbClr val="00B050"/>
                </a:solidFill>
              </a:rPr>
              <a:t>table_name</a:t>
            </a:r>
            <a:br>
              <a:rPr lang="en-US" b="1" dirty="0"/>
            </a:br>
            <a:r>
              <a:rPr lang="en-US" b="1" dirty="0"/>
              <a:t>	</a:t>
            </a:r>
            <a:r>
              <a:rPr lang="en-US" b="1" dirty="0">
                <a:solidFill>
                  <a:srgbClr val="FF0000"/>
                </a:solidFill>
              </a:rPr>
              <a:t>SET</a:t>
            </a:r>
            <a:r>
              <a:rPr lang="en-US" b="1" dirty="0"/>
              <a:t> </a:t>
            </a:r>
            <a:r>
              <a:rPr lang="en-US" b="1" dirty="0">
                <a:solidFill>
                  <a:srgbClr val="00B050"/>
                </a:solidFill>
              </a:rPr>
              <a:t>column1=value, column2=value2,...</a:t>
            </a:r>
            <a:br>
              <a:rPr lang="en-US" b="1" dirty="0"/>
            </a:br>
            <a:r>
              <a:rPr lang="en-US" b="1" dirty="0"/>
              <a:t>	</a:t>
            </a:r>
            <a:r>
              <a:rPr lang="en-US" b="1" dirty="0">
                <a:solidFill>
                  <a:srgbClr val="FF0000"/>
                </a:solidFill>
              </a:rPr>
              <a:t>WHERE</a:t>
            </a:r>
            <a:r>
              <a:rPr lang="en-US" b="1" dirty="0"/>
              <a:t> </a:t>
            </a:r>
            <a:r>
              <a:rPr lang="en-US" b="1" dirty="0" err="1">
                <a:solidFill>
                  <a:srgbClr val="00B050"/>
                </a:solidFill>
              </a:rPr>
              <a:t>some_column</a:t>
            </a:r>
            <a:r>
              <a:rPr lang="en-US" b="1" dirty="0">
                <a:solidFill>
                  <a:srgbClr val="00B050"/>
                </a:solidFill>
              </a:rPr>
              <a:t>=</a:t>
            </a:r>
            <a:r>
              <a:rPr lang="en-US" b="1" dirty="0" err="1">
                <a:solidFill>
                  <a:srgbClr val="00B050"/>
                </a:solidFill>
              </a:rPr>
              <a:t>some_value</a:t>
            </a:r>
            <a:r>
              <a:rPr lang="en-US" b="1" dirty="0"/>
              <a:t> </a:t>
            </a:r>
            <a:endParaRPr lang="en-US" b="1" dirty="0">
              <a:solidFill>
                <a:srgbClr val="00B050"/>
              </a:solidFill>
            </a:endParaRPr>
          </a:p>
          <a:p>
            <a:pPr marL="0" indent="0">
              <a:buNone/>
            </a:pPr>
            <a:r>
              <a:rPr lang="en-US" b="1" dirty="0"/>
              <a:t>Example (</a:t>
            </a:r>
            <a:r>
              <a:rPr lang="en-US" b="1" dirty="0" err="1"/>
              <a:t>MySQLi</a:t>
            </a:r>
            <a:r>
              <a:rPr lang="en-US" b="1" dirty="0"/>
              <a:t> Procedural)</a:t>
            </a:r>
          </a:p>
          <a:p>
            <a:pPr marL="0" indent="0">
              <a:buNone/>
            </a:pPr>
            <a:r>
              <a:rPr lang="en-US" dirty="0"/>
              <a:t>…</a:t>
            </a:r>
            <a:br>
              <a:rPr lang="en-US" dirty="0"/>
            </a:br>
            <a:r>
              <a:rPr lang="en-US" b="1" dirty="0">
                <a:solidFill>
                  <a:schemeClr val="accent2">
                    <a:lumMod val="75000"/>
                  </a:schemeClr>
                </a:solidFill>
              </a:rPr>
              <a:t>$</a:t>
            </a:r>
            <a:r>
              <a:rPr lang="en-US" b="1" dirty="0" err="1">
                <a:solidFill>
                  <a:schemeClr val="accent2">
                    <a:lumMod val="75000"/>
                  </a:schemeClr>
                </a:solidFill>
              </a:rPr>
              <a:t>sql</a:t>
            </a:r>
            <a:r>
              <a:rPr lang="en-US" b="1" dirty="0">
                <a:solidFill>
                  <a:schemeClr val="accent2">
                    <a:lumMod val="75000"/>
                  </a:schemeClr>
                </a:solidFill>
              </a:rPr>
              <a:t> </a:t>
            </a:r>
            <a:r>
              <a:rPr lang="en-US" b="1" dirty="0"/>
              <a:t>= "</a:t>
            </a:r>
            <a:r>
              <a:rPr lang="en-US" b="1" dirty="0">
                <a:solidFill>
                  <a:srgbClr val="FF0000"/>
                </a:solidFill>
              </a:rPr>
              <a:t>UPDATE</a:t>
            </a:r>
            <a:r>
              <a:rPr lang="en-US" b="1" dirty="0"/>
              <a:t> </a:t>
            </a:r>
            <a:r>
              <a:rPr lang="en-US" b="1" dirty="0" err="1">
                <a:solidFill>
                  <a:schemeClr val="accent3">
                    <a:lumMod val="50000"/>
                  </a:schemeClr>
                </a:solidFill>
              </a:rPr>
              <a:t>MyGuests</a:t>
            </a:r>
            <a:r>
              <a:rPr lang="en-US" b="1" dirty="0"/>
              <a:t> </a:t>
            </a:r>
            <a:r>
              <a:rPr lang="en-US" b="1" dirty="0">
                <a:solidFill>
                  <a:srgbClr val="FF0000"/>
                </a:solidFill>
              </a:rPr>
              <a:t>SET</a:t>
            </a:r>
            <a:r>
              <a:rPr lang="en-US" b="1" dirty="0"/>
              <a:t> </a:t>
            </a:r>
            <a:r>
              <a:rPr lang="en-US" b="1" dirty="0" err="1">
                <a:solidFill>
                  <a:srgbClr val="00B050"/>
                </a:solidFill>
              </a:rPr>
              <a:t>lastname</a:t>
            </a:r>
            <a:r>
              <a:rPr lang="en-US" b="1" dirty="0">
                <a:solidFill>
                  <a:srgbClr val="00B050"/>
                </a:solidFill>
              </a:rPr>
              <a:t>='Doe' </a:t>
            </a:r>
            <a:r>
              <a:rPr lang="en-US" b="1" dirty="0">
                <a:solidFill>
                  <a:srgbClr val="FF0000"/>
                </a:solidFill>
              </a:rPr>
              <a:t>WHERE</a:t>
            </a:r>
            <a:r>
              <a:rPr lang="en-US" b="1" dirty="0"/>
              <a:t> </a:t>
            </a:r>
            <a:r>
              <a:rPr lang="en-US" b="1" dirty="0">
                <a:solidFill>
                  <a:srgbClr val="00B050"/>
                </a:solidFill>
              </a:rPr>
              <a:t>id=2</a:t>
            </a:r>
            <a:r>
              <a:rPr lang="en-US" b="1" dirty="0"/>
              <a:t>";</a:t>
            </a:r>
            <a:br>
              <a:rPr lang="en-US" b="1" dirty="0"/>
            </a:br>
            <a:br>
              <a:rPr lang="en-US" b="1" dirty="0"/>
            </a:br>
            <a:r>
              <a:rPr lang="en-US" dirty="0"/>
              <a:t>if (</a:t>
            </a:r>
            <a:r>
              <a:rPr lang="en-US" dirty="0" err="1">
                <a:solidFill>
                  <a:srgbClr val="FF0000"/>
                </a:solidFill>
              </a:rPr>
              <a:t>mysqli_query</a:t>
            </a:r>
            <a:r>
              <a:rPr lang="en-US" dirty="0"/>
              <a:t>(</a:t>
            </a:r>
            <a:r>
              <a:rPr lang="en-US" dirty="0">
                <a:solidFill>
                  <a:srgbClr val="00B0F0"/>
                </a:solidFill>
              </a:rPr>
              <a:t>$conn</a:t>
            </a:r>
            <a:r>
              <a:rPr lang="en-US" dirty="0"/>
              <a:t>, </a:t>
            </a:r>
            <a:r>
              <a:rPr lang="en-US" dirty="0">
                <a:solidFill>
                  <a:schemeClr val="accent2">
                    <a:lumMod val="75000"/>
                  </a:schemeClr>
                </a:solidFill>
              </a:rPr>
              <a:t>$</a:t>
            </a:r>
            <a:r>
              <a:rPr lang="en-US" dirty="0" err="1">
                <a:solidFill>
                  <a:schemeClr val="accent2">
                    <a:lumMod val="75000"/>
                  </a:schemeClr>
                </a:solidFill>
              </a:rPr>
              <a:t>sql</a:t>
            </a:r>
            <a:r>
              <a:rPr lang="en-US" dirty="0"/>
              <a:t>)) {</a:t>
            </a:r>
            <a:br>
              <a:rPr lang="en-US" dirty="0"/>
            </a:br>
            <a:r>
              <a:rPr lang="en-US" dirty="0"/>
              <a:t>    echo "</a:t>
            </a:r>
            <a:r>
              <a:rPr lang="en-US" dirty="0">
                <a:solidFill>
                  <a:srgbClr val="00B050"/>
                </a:solidFill>
              </a:rPr>
              <a:t>Record updated successfully</a:t>
            </a:r>
            <a:r>
              <a:rPr lang="en-US" dirty="0"/>
              <a:t>";</a:t>
            </a:r>
            <a:br>
              <a:rPr lang="en-US" dirty="0"/>
            </a:br>
            <a:r>
              <a:rPr lang="en-US" dirty="0"/>
              <a:t>} else {</a:t>
            </a:r>
            <a:br>
              <a:rPr lang="en-US" dirty="0"/>
            </a:br>
            <a:r>
              <a:rPr lang="en-US" dirty="0"/>
              <a:t>    echo "</a:t>
            </a:r>
            <a:r>
              <a:rPr lang="en-US" dirty="0">
                <a:solidFill>
                  <a:srgbClr val="00B050"/>
                </a:solidFill>
              </a:rPr>
              <a:t>Error updating record: </a:t>
            </a:r>
            <a:r>
              <a:rPr lang="en-US" dirty="0"/>
              <a:t>" . </a:t>
            </a:r>
            <a:r>
              <a:rPr lang="en-US" dirty="0" err="1">
                <a:solidFill>
                  <a:srgbClr val="FF0000"/>
                </a:solidFill>
              </a:rPr>
              <a:t>mysqli_error</a:t>
            </a:r>
            <a:r>
              <a:rPr lang="en-US" dirty="0"/>
              <a:t>(</a:t>
            </a:r>
            <a:r>
              <a:rPr lang="en-US" dirty="0">
                <a:solidFill>
                  <a:srgbClr val="00B0F0"/>
                </a:solidFill>
              </a:rPr>
              <a:t>$conn</a:t>
            </a:r>
            <a:r>
              <a:rPr lang="en-US" dirty="0"/>
              <a:t>);</a:t>
            </a:r>
            <a:br>
              <a:rPr lang="en-US" dirty="0"/>
            </a:br>
            <a:r>
              <a:rPr lang="en-US" dirty="0"/>
              <a:t>}</a:t>
            </a:r>
          </a:p>
          <a:p>
            <a:pPr marL="0" indent="0">
              <a:buNone/>
            </a:pPr>
            <a:r>
              <a:rPr lang="en-US" b="1" dirty="0"/>
              <a:t>…</a:t>
            </a:r>
          </a:p>
          <a:p>
            <a:endParaRPr lang="en-US" dirty="0"/>
          </a:p>
        </p:txBody>
      </p:sp>
    </p:spTree>
    <p:extLst>
      <p:ext uri="{BB962C8B-B14F-4D97-AF65-F5344CB8AC3E}">
        <p14:creationId xmlns:p14="http://schemas.microsoft.com/office/powerpoint/2010/main" val="10512501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r>
              <a:rPr lang="en-US"/>
              <a:t>PHP Limit Data Selections From MySQL</a:t>
            </a:r>
            <a:endParaRPr lang="en-US" dirty="0"/>
          </a:p>
        </p:txBody>
      </p:sp>
      <p:sp>
        <p:nvSpPr>
          <p:cNvPr id="5" name="Content Placeholder 4"/>
          <p:cNvSpPr>
            <a:spLocks noGrp="1"/>
          </p:cNvSpPr>
          <p:nvPr>
            <p:ph idx="1"/>
          </p:nvPr>
        </p:nvSpPr>
        <p:spPr/>
        <p:txBody>
          <a:bodyPr>
            <a:normAutofit/>
          </a:bodyPr>
          <a:lstStyle/>
          <a:p>
            <a:pPr marL="0" indent="0">
              <a:buNone/>
            </a:pPr>
            <a:r>
              <a:rPr lang="en-US" b="1" dirty="0"/>
              <a:t>Limit Data Selections From a MySQL Database</a:t>
            </a:r>
          </a:p>
          <a:p>
            <a:pPr marL="0" indent="0">
              <a:buNone/>
            </a:pPr>
            <a:r>
              <a:rPr lang="en-US" dirty="0"/>
              <a:t>MySQL provides a LIMIT clause that is used to specify the number of records to return.</a:t>
            </a:r>
          </a:p>
          <a:p>
            <a:pPr marL="0" indent="0">
              <a:buNone/>
            </a:pPr>
            <a:r>
              <a:rPr lang="en-US" dirty="0"/>
              <a:t>	$</a:t>
            </a:r>
            <a:r>
              <a:rPr lang="en-US" dirty="0" err="1"/>
              <a:t>sql</a:t>
            </a:r>
            <a:r>
              <a:rPr lang="en-US" dirty="0"/>
              <a:t> = "SELECT * FROM </a:t>
            </a:r>
            <a:r>
              <a:rPr lang="en-US" dirty="0">
                <a:solidFill>
                  <a:schemeClr val="accent3">
                    <a:lumMod val="50000"/>
                  </a:schemeClr>
                </a:solidFill>
              </a:rPr>
              <a:t>Orders</a:t>
            </a:r>
            <a:r>
              <a:rPr lang="en-US" dirty="0"/>
              <a:t> </a:t>
            </a:r>
            <a:r>
              <a:rPr lang="en-US" b="1" dirty="0">
                <a:solidFill>
                  <a:srgbClr val="FF0000"/>
                </a:solidFill>
              </a:rPr>
              <a:t>LIMIT</a:t>
            </a:r>
            <a:r>
              <a:rPr lang="en-US" dirty="0"/>
              <a:t> 30";</a:t>
            </a:r>
          </a:p>
          <a:p>
            <a:pPr marL="0" indent="0">
              <a:buNone/>
            </a:pPr>
            <a:endParaRPr lang="en-US" dirty="0"/>
          </a:p>
          <a:p>
            <a:pPr marL="0" indent="0">
              <a:buNone/>
            </a:pPr>
            <a:r>
              <a:rPr lang="en-US" dirty="0"/>
              <a:t>What if we want to select records 16 - 25 (inclusive)?</a:t>
            </a:r>
          </a:p>
          <a:p>
            <a:pPr marL="0" indent="0">
              <a:buNone/>
            </a:pPr>
            <a:r>
              <a:rPr lang="en-US" dirty="0"/>
              <a:t>	$</a:t>
            </a:r>
            <a:r>
              <a:rPr lang="en-US" dirty="0" err="1"/>
              <a:t>sql</a:t>
            </a:r>
            <a:r>
              <a:rPr lang="en-US" dirty="0"/>
              <a:t> = "SELECT * FROM </a:t>
            </a:r>
            <a:r>
              <a:rPr lang="en-US" dirty="0">
                <a:solidFill>
                  <a:schemeClr val="accent3">
                    <a:lumMod val="50000"/>
                  </a:schemeClr>
                </a:solidFill>
              </a:rPr>
              <a:t>Orders</a:t>
            </a:r>
            <a:r>
              <a:rPr lang="en-US" dirty="0"/>
              <a:t> LIMIT 10 </a:t>
            </a:r>
            <a:r>
              <a:rPr lang="en-US" b="1" dirty="0">
                <a:solidFill>
                  <a:srgbClr val="FF0000"/>
                </a:solidFill>
              </a:rPr>
              <a:t>OFFSET</a:t>
            </a:r>
            <a:r>
              <a:rPr lang="en-US" dirty="0"/>
              <a:t> 15";</a:t>
            </a:r>
          </a:p>
          <a:p>
            <a:pPr marL="0" indent="0">
              <a:buNone/>
            </a:pPr>
            <a:r>
              <a:rPr lang="en-US" b="1" dirty="0"/>
              <a:t>	or</a:t>
            </a:r>
          </a:p>
          <a:p>
            <a:pPr marL="0" indent="0">
              <a:buNone/>
            </a:pPr>
            <a:r>
              <a:rPr lang="en-US" b="1" dirty="0"/>
              <a:t>	</a:t>
            </a:r>
            <a:r>
              <a:rPr lang="en-US" dirty="0"/>
              <a:t>$</a:t>
            </a:r>
            <a:r>
              <a:rPr lang="en-US" dirty="0" err="1"/>
              <a:t>sql</a:t>
            </a:r>
            <a:r>
              <a:rPr lang="en-US" dirty="0"/>
              <a:t> = "SELECT * FROM Orders LIMIT 15, 10";</a:t>
            </a:r>
            <a:endParaRPr lang="en-US" b="1" dirty="0"/>
          </a:p>
          <a:p>
            <a:endParaRPr lang="en-US" dirty="0"/>
          </a:p>
        </p:txBody>
      </p:sp>
    </p:spTree>
    <p:extLst>
      <p:ext uri="{BB962C8B-B14F-4D97-AF65-F5344CB8AC3E}">
        <p14:creationId xmlns:p14="http://schemas.microsoft.com/office/powerpoint/2010/main" val="12089478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621FF-1364-DFDE-1BCF-F43B1A4A1D05}"/>
              </a:ext>
            </a:extLst>
          </p:cNvPr>
          <p:cNvSpPr>
            <a:spLocks noGrp="1"/>
          </p:cNvSpPr>
          <p:nvPr>
            <p:ph type="ctrTitle"/>
          </p:nvPr>
        </p:nvSpPr>
        <p:spPr>
          <a:xfrm>
            <a:off x="1143000" y="3276600"/>
            <a:ext cx="5826719" cy="1646302"/>
          </a:xfrm>
        </p:spPr>
        <p:txBody>
          <a:bodyPr/>
          <a:lstStyle/>
          <a:p>
            <a:r>
              <a:rPr lang="en-US" dirty="0"/>
              <a:t>MySQL Prepared statements with examples</a:t>
            </a:r>
          </a:p>
        </p:txBody>
      </p:sp>
    </p:spTree>
    <p:extLst>
      <p:ext uri="{BB962C8B-B14F-4D97-AF65-F5344CB8AC3E}">
        <p14:creationId xmlns:p14="http://schemas.microsoft.com/office/powerpoint/2010/main" val="28018435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Prepared Statements</a:t>
            </a:r>
          </a:p>
        </p:txBody>
      </p:sp>
      <p:sp>
        <p:nvSpPr>
          <p:cNvPr id="3" name="Content Placeholder 2"/>
          <p:cNvSpPr>
            <a:spLocks noGrp="1"/>
          </p:cNvSpPr>
          <p:nvPr>
            <p:ph idx="1"/>
          </p:nvPr>
        </p:nvSpPr>
        <p:spPr/>
        <p:txBody>
          <a:bodyPr>
            <a:normAutofit/>
          </a:bodyPr>
          <a:lstStyle/>
          <a:p>
            <a:r>
              <a:rPr lang="en-US" dirty="0"/>
              <a:t>A prepared statement (also known as parameterized statement) is simply a SQL query template containing placeholder instead of the actual parameter values. These placeholders will be replaced by the actual values at the time of execution of the statement.</a:t>
            </a:r>
          </a:p>
          <a:p>
            <a:r>
              <a:rPr lang="en-US" dirty="0" err="1"/>
              <a:t>MySQLi</a:t>
            </a:r>
            <a:r>
              <a:rPr lang="en-US" dirty="0"/>
              <a:t> supports the use of anonymous positional placeholder (?), as shown below:</a:t>
            </a:r>
          </a:p>
          <a:p>
            <a:pPr marL="0" indent="0">
              <a:buNone/>
            </a:pPr>
            <a:r>
              <a:rPr lang="en-US" dirty="0">
                <a:solidFill>
                  <a:srgbClr val="FF0000"/>
                </a:solidFill>
              </a:rPr>
              <a:t>INSERT</a:t>
            </a:r>
            <a:r>
              <a:rPr lang="en-US" dirty="0"/>
              <a:t> </a:t>
            </a:r>
            <a:r>
              <a:rPr lang="en-US" dirty="0">
                <a:solidFill>
                  <a:schemeClr val="accent1"/>
                </a:solidFill>
              </a:rPr>
              <a:t>INTO </a:t>
            </a:r>
            <a:r>
              <a:rPr lang="en-US" dirty="0"/>
              <a:t> </a:t>
            </a:r>
            <a:r>
              <a:rPr lang="en-US" dirty="0" err="1"/>
              <a:t>MyGuests</a:t>
            </a:r>
            <a:r>
              <a:rPr lang="en-US" dirty="0"/>
              <a:t> (</a:t>
            </a:r>
            <a:r>
              <a:rPr lang="en-US" dirty="0" err="1"/>
              <a:t>first_name</a:t>
            </a:r>
            <a:r>
              <a:rPr lang="en-US" dirty="0"/>
              <a:t>, </a:t>
            </a:r>
            <a:r>
              <a:rPr lang="en-US" dirty="0" err="1"/>
              <a:t>last_name</a:t>
            </a:r>
            <a:r>
              <a:rPr lang="en-US" dirty="0"/>
              <a:t>, email) </a:t>
            </a:r>
            <a:r>
              <a:rPr lang="en-US" dirty="0">
                <a:solidFill>
                  <a:srgbClr val="FF0000"/>
                </a:solidFill>
              </a:rPr>
              <a:t>VALUES</a:t>
            </a:r>
            <a:r>
              <a:rPr lang="en-US" dirty="0"/>
              <a:t> (?, ?, ?);</a:t>
            </a:r>
          </a:p>
          <a:p>
            <a:endParaRPr lang="en-US" dirty="0"/>
          </a:p>
        </p:txBody>
      </p:sp>
    </p:spTree>
    <p:extLst>
      <p:ext uri="{BB962C8B-B14F-4D97-AF65-F5344CB8AC3E}">
        <p14:creationId xmlns:p14="http://schemas.microsoft.com/office/powerpoint/2010/main" val="35399932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Prepared Statements </a:t>
            </a:r>
            <a:r>
              <a:rPr lang="en-US" sz="2000" dirty="0"/>
              <a:t>(Cont.)</a:t>
            </a:r>
          </a:p>
        </p:txBody>
      </p:sp>
      <p:sp>
        <p:nvSpPr>
          <p:cNvPr id="3" name="Content Placeholder 2"/>
          <p:cNvSpPr>
            <a:spLocks noGrp="1"/>
          </p:cNvSpPr>
          <p:nvPr>
            <p:ph idx="1"/>
          </p:nvPr>
        </p:nvSpPr>
        <p:spPr/>
        <p:txBody>
          <a:bodyPr>
            <a:normAutofit fontScale="92500" lnSpcReduction="10000"/>
          </a:bodyPr>
          <a:lstStyle/>
          <a:p>
            <a:r>
              <a:rPr lang="en-US" dirty="0"/>
              <a:t>The prepared statement execution consists of two stages: prepare and execute.</a:t>
            </a:r>
          </a:p>
          <a:p>
            <a:pPr lvl="1"/>
            <a:r>
              <a:rPr lang="en-US" b="1" dirty="0"/>
              <a:t>Prepare</a:t>
            </a:r>
            <a:r>
              <a:rPr lang="en-US" dirty="0"/>
              <a:t> — At the prepare stage a SQL statement template is created and sent to the database server. The server parses the statement template, performs a syntax check and query optimization, and stores it for later use.</a:t>
            </a:r>
          </a:p>
          <a:p>
            <a:pPr lvl="1"/>
            <a:endParaRPr lang="en-US" b="1" dirty="0"/>
          </a:p>
          <a:p>
            <a:pPr lvl="1"/>
            <a:r>
              <a:rPr lang="en-US" b="1" dirty="0"/>
              <a:t>Execute</a:t>
            </a:r>
            <a:r>
              <a:rPr lang="en-US" dirty="0"/>
              <a:t> — During execute the parameter values are sent to the server. The server creates a statement from the statement template and these values to execute it.</a:t>
            </a:r>
          </a:p>
          <a:p>
            <a:r>
              <a:rPr lang="en-US" dirty="0"/>
              <a:t>Prepared statements are very useful, particularly in situations when you execute a particular statement multiple times with different values, for example, a series of </a:t>
            </a:r>
            <a:r>
              <a:rPr lang="en-US" dirty="0">
                <a:solidFill>
                  <a:srgbClr val="FF0000"/>
                </a:solidFill>
              </a:rPr>
              <a:t>INSERT </a:t>
            </a:r>
            <a:r>
              <a:rPr lang="en-US" dirty="0"/>
              <a:t>statements. The following section describes some of the major benefits of using it.</a:t>
            </a:r>
          </a:p>
          <a:p>
            <a:endParaRPr lang="en-US" dirty="0"/>
          </a:p>
        </p:txBody>
      </p:sp>
    </p:spTree>
    <p:extLst>
      <p:ext uri="{BB962C8B-B14F-4D97-AF65-F5344CB8AC3E}">
        <p14:creationId xmlns:p14="http://schemas.microsoft.com/office/powerpoint/2010/main" val="27181936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a:t>Advantages of Using Prepared Statements</a:t>
            </a:r>
            <a:endParaRPr lang="en-US" dirty="0"/>
          </a:p>
        </p:txBody>
      </p:sp>
      <p:sp>
        <p:nvSpPr>
          <p:cNvPr id="3" name="Content Placeholder 2"/>
          <p:cNvSpPr>
            <a:spLocks noGrp="1"/>
          </p:cNvSpPr>
          <p:nvPr>
            <p:ph idx="1"/>
          </p:nvPr>
        </p:nvSpPr>
        <p:spPr/>
        <p:txBody>
          <a:bodyPr>
            <a:normAutofit fontScale="85000" lnSpcReduction="20000"/>
          </a:bodyPr>
          <a:lstStyle/>
          <a:p>
            <a:r>
              <a:rPr lang="en-US" dirty="0"/>
              <a:t>A prepared statement can execute the same statement repeatedly with high efficiency, because the statement is parsed only once again, while it can be executed multiple times. </a:t>
            </a:r>
          </a:p>
          <a:p>
            <a:r>
              <a:rPr lang="en-US" dirty="0"/>
              <a:t>It also minimize bandwidth usage, since upon every execution only the placeholder values need to be transmitted to the database server instead of the complete SQL statement.</a:t>
            </a:r>
          </a:p>
          <a:p>
            <a:r>
              <a:rPr lang="en-US" dirty="0"/>
              <a:t>Prepared statements also provide strong protection against </a:t>
            </a:r>
            <a:r>
              <a:rPr lang="en-US" dirty="0">
                <a:hlinkClick r:id="rId2"/>
              </a:rPr>
              <a:t>SQL injection</a:t>
            </a:r>
            <a:r>
              <a:rPr lang="en-US" dirty="0"/>
              <a:t>, because parameter values are not embedded directly inside the SQL query string. </a:t>
            </a:r>
          </a:p>
          <a:p>
            <a:pPr lvl="1"/>
            <a:r>
              <a:rPr lang="en-US" dirty="0"/>
              <a:t>The parameter values are sent to the database server separately from the query using a different protocol and thus cannot interfere with it.</a:t>
            </a:r>
          </a:p>
          <a:p>
            <a:pPr lvl="1"/>
            <a:r>
              <a:rPr lang="en-US" dirty="0"/>
              <a:t>The server uses these values directly at the point of execution, after the statement template is parsed. </a:t>
            </a:r>
          </a:p>
          <a:p>
            <a:pPr lvl="1"/>
            <a:r>
              <a:rPr lang="en-US" dirty="0"/>
              <a:t>That's why the prepared statements are less error-prone, and thus considered as one of the most critical element in database security.</a:t>
            </a:r>
          </a:p>
          <a:p>
            <a:endParaRPr lang="en-US" dirty="0"/>
          </a:p>
        </p:txBody>
      </p:sp>
    </p:spTree>
    <p:extLst>
      <p:ext uri="{BB962C8B-B14F-4D97-AF65-F5344CB8AC3E}">
        <p14:creationId xmlns:p14="http://schemas.microsoft.com/office/powerpoint/2010/main" val="4209887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Example</a:t>
            </a:r>
          </a:p>
        </p:txBody>
      </p:sp>
      <p:sp>
        <p:nvSpPr>
          <p:cNvPr id="5123" name="Rectangle 3"/>
          <p:cNvSpPr>
            <a:spLocks noGrp="1" noChangeArrowheads="1"/>
          </p:cNvSpPr>
          <p:nvPr>
            <p:ph idx="1"/>
          </p:nvPr>
        </p:nvSpPr>
        <p:spPr/>
        <p:txBody>
          <a:bodyPr>
            <a:normAutofit fontScale="92500" lnSpcReduction="10000"/>
          </a:bodyPr>
          <a:lstStyle/>
          <a:p>
            <a:pPr marL="0" indent="0">
              <a:buNone/>
            </a:pPr>
            <a:r>
              <a:rPr lang="en-US" dirty="0"/>
              <a:t>&lt;?</a:t>
            </a:r>
            <a:r>
              <a:rPr lang="en-US" dirty="0" err="1"/>
              <a:t>php</a:t>
            </a:r>
            <a:br>
              <a:rPr lang="en-US" dirty="0"/>
            </a:br>
            <a:r>
              <a:rPr lang="en-US" dirty="0"/>
              <a:t>$</a:t>
            </a:r>
            <a:r>
              <a:rPr lang="en-US" dirty="0" err="1"/>
              <a:t>servername</a:t>
            </a:r>
            <a:r>
              <a:rPr lang="en-US" dirty="0"/>
              <a:t> = "</a:t>
            </a:r>
            <a:r>
              <a:rPr lang="en-US" dirty="0" err="1"/>
              <a:t>localhost</a:t>
            </a:r>
            <a:r>
              <a:rPr lang="en-US" dirty="0"/>
              <a:t>";</a:t>
            </a:r>
            <a:br>
              <a:rPr lang="en-US" dirty="0"/>
            </a:br>
            <a:r>
              <a:rPr lang="en-US" dirty="0"/>
              <a:t>$username = "username";</a:t>
            </a:r>
            <a:br>
              <a:rPr lang="en-US" dirty="0"/>
            </a:br>
            <a:r>
              <a:rPr lang="en-US" dirty="0"/>
              <a:t>$password = "password";</a:t>
            </a:r>
            <a:br>
              <a:rPr lang="en-US" dirty="0"/>
            </a:br>
            <a:r>
              <a:rPr lang="en-US" dirty="0"/>
              <a:t>$</a:t>
            </a:r>
            <a:r>
              <a:rPr lang="en-US" dirty="0" err="1"/>
              <a:t>dbname</a:t>
            </a:r>
            <a:r>
              <a:rPr lang="en-US" dirty="0"/>
              <a:t> = "</a:t>
            </a:r>
            <a:r>
              <a:rPr lang="en-US" dirty="0" err="1"/>
              <a:t>myDB</a:t>
            </a:r>
            <a:r>
              <a:rPr lang="en-US" dirty="0"/>
              <a:t>";</a:t>
            </a:r>
            <a:br>
              <a:rPr lang="en-US" dirty="0"/>
            </a:br>
            <a:br>
              <a:rPr lang="en-US" dirty="0"/>
            </a:br>
            <a:r>
              <a:rPr lang="en-US" dirty="0">
                <a:solidFill>
                  <a:schemeClr val="bg1">
                    <a:lumMod val="50000"/>
                  </a:schemeClr>
                </a:solidFill>
              </a:rPr>
              <a:t>// Create connection</a:t>
            </a:r>
            <a:br>
              <a:rPr lang="en-US" dirty="0">
                <a:solidFill>
                  <a:schemeClr val="bg1">
                    <a:lumMod val="50000"/>
                  </a:schemeClr>
                </a:solidFill>
              </a:rPr>
            </a:br>
            <a:r>
              <a:rPr lang="en-US" dirty="0">
                <a:solidFill>
                  <a:srgbClr val="00B0F0"/>
                </a:solidFill>
              </a:rPr>
              <a:t>$conn </a:t>
            </a:r>
            <a:r>
              <a:rPr lang="en-US" dirty="0"/>
              <a:t>= new </a:t>
            </a:r>
            <a:r>
              <a:rPr lang="en-US" dirty="0" err="1"/>
              <a:t>mysqli</a:t>
            </a:r>
            <a:r>
              <a:rPr lang="en-US" dirty="0"/>
              <a:t>($</a:t>
            </a:r>
            <a:r>
              <a:rPr lang="en-US" dirty="0" err="1"/>
              <a:t>servername</a:t>
            </a:r>
            <a:r>
              <a:rPr lang="en-US" dirty="0"/>
              <a:t>, $username, $password, $</a:t>
            </a:r>
            <a:r>
              <a:rPr lang="en-US" dirty="0" err="1"/>
              <a:t>dbname</a:t>
            </a:r>
            <a:r>
              <a:rPr lang="en-US" dirty="0"/>
              <a:t>);</a:t>
            </a:r>
            <a:br>
              <a:rPr lang="en-US" dirty="0"/>
            </a:br>
            <a:br>
              <a:rPr lang="en-US" dirty="0"/>
            </a:br>
            <a:r>
              <a:rPr lang="en-US" dirty="0">
                <a:solidFill>
                  <a:schemeClr val="bg1">
                    <a:lumMod val="50000"/>
                  </a:schemeClr>
                </a:solidFill>
              </a:rPr>
              <a:t>// Check connection</a:t>
            </a:r>
            <a:br>
              <a:rPr lang="en-US" dirty="0"/>
            </a:br>
            <a:r>
              <a:rPr lang="en-US" dirty="0"/>
              <a:t>if (</a:t>
            </a:r>
            <a:r>
              <a:rPr lang="en-US" dirty="0">
                <a:solidFill>
                  <a:srgbClr val="00B0F0"/>
                </a:solidFill>
              </a:rPr>
              <a:t>$conn</a:t>
            </a:r>
            <a:r>
              <a:rPr lang="en-US" dirty="0"/>
              <a:t>-&gt;</a:t>
            </a:r>
            <a:r>
              <a:rPr lang="en-US" dirty="0" err="1"/>
              <a:t>connect_error</a:t>
            </a:r>
            <a:r>
              <a:rPr lang="en-US" dirty="0"/>
              <a:t>) {</a:t>
            </a:r>
            <a:br>
              <a:rPr lang="en-US" dirty="0"/>
            </a:br>
            <a:r>
              <a:rPr lang="en-US" dirty="0"/>
              <a:t>    die("Connection failed: " . $conn-&gt;</a:t>
            </a:r>
            <a:r>
              <a:rPr lang="en-US" dirty="0" err="1"/>
              <a:t>connect_error</a:t>
            </a:r>
            <a:r>
              <a:rPr lang="en-US" dirty="0"/>
              <a:t>);</a:t>
            </a:r>
            <a:br>
              <a:rPr lang="en-US" dirty="0"/>
            </a:br>
            <a:r>
              <a:rPr lang="en-US" dirty="0"/>
              <a:t>}</a:t>
            </a:r>
            <a:br>
              <a:rPr lang="en-US" dirty="0"/>
            </a:br>
            <a:br>
              <a:rPr lang="en-US" dirty="0"/>
            </a:br>
            <a:endParaRPr lang="en-US" b="1" dirty="0"/>
          </a:p>
        </p:txBody>
      </p:sp>
    </p:spTree>
    <p:extLst>
      <p:ext uri="{BB962C8B-B14F-4D97-AF65-F5344CB8AC3E}">
        <p14:creationId xmlns:p14="http://schemas.microsoft.com/office/powerpoint/2010/main" val="4082801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Example </a:t>
            </a:r>
            <a:r>
              <a:rPr lang="en-US" sz="2400" dirty="0"/>
              <a:t>(Cont.)</a:t>
            </a:r>
            <a:endParaRPr lang="en-US" dirty="0"/>
          </a:p>
        </p:txBody>
      </p:sp>
      <p:sp>
        <p:nvSpPr>
          <p:cNvPr id="5" name="Content Placeholder 4"/>
          <p:cNvSpPr>
            <a:spLocks noGrp="1"/>
          </p:cNvSpPr>
          <p:nvPr>
            <p:ph idx="1"/>
          </p:nvPr>
        </p:nvSpPr>
        <p:spPr/>
        <p:txBody>
          <a:bodyPr>
            <a:normAutofit/>
          </a:bodyPr>
          <a:lstStyle/>
          <a:p>
            <a:pPr marL="0" indent="0">
              <a:buNone/>
            </a:pPr>
            <a:br>
              <a:rPr lang="en-US" dirty="0"/>
            </a:br>
            <a:r>
              <a:rPr lang="en-US" dirty="0">
                <a:solidFill>
                  <a:schemeClr val="bg1">
                    <a:lumMod val="50000"/>
                  </a:schemeClr>
                </a:solidFill>
              </a:rPr>
              <a:t>// prepare and bind</a:t>
            </a:r>
            <a:br>
              <a:rPr lang="en-US" dirty="0">
                <a:solidFill>
                  <a:schemeClr val="bg1">
                    <a:lumMod val="50000"/>
                  </a:schemeClr>
                </a:solidFill>
              </a:rPr>
            </a:br>
            <a:r>
              <a:rPr lang="en-US" dirty="0">
                <a:solidFill>
                  <a:srgbClr val="0000FF"/>
                </a:solidFill>
              </a:rPr>
              <a:t>$</a:t>
            </a:r>
            <a:r>
              <a:rPr lang="en-US" dirty="0" err="1">
                <a:solidFill>
                  <a:srgbClr val="0000FF"/>
                </a:solidFill>
              </a:rPr>
              <a:t>stmt</a:t>
            </a:r>
            <a:r>
              <a:rPr lang="en-US" dirty="0">
                <a:solidFill>
                  <a:srgbClr val="0000FF"/>
                </a:solidFill>
              </a:rPr>
              <a:t> </a:t>
            </a:r>
            <a:r>
              <a:rPr lang="en-US" dirty="0"/>
              <a:t>= </a:t>
            </a:r>
            <a:r>
              <a:rPr lang="en-US" dirty="0">
                <a:solidFill>
                  <a:srgbClr val="00B0F0"/>
                </a:solidFill>
              </a:rPr>
              <a:t>$conn-</a:t>
            </a:r>
            <a:r>
              <a:rPr lang="en-US" dirty="0"/>
              <a:t>&gt;</a:t>
            </a:r>
            <a:r>
              <a:rPr lang="en-US" b="1" dirty="0">
                <a:solidFill>
                  <a:srgbClr val="FF0000"/>
                </a:solidFill>
              </a:rPr>
              <a:t>prepare</a:t>
            </a:r>
            <a:r>
              <a:rPr lang="en-US" dirty="0"/>
              <a:t>("INSERT INTO </a:t>
            </a:r>
            <a:r>
              <a:rPr lang="en-US" dirty="0" err="1"/>
              <a:t>MyGuests</a:t>
            </a:r>
            <a:r>
              <a:rPr lang="en-US" dirty="0"/>
              <a:t> (</a:t>
            </a:r>
            <a:r>
              <a:rPr lang="en-US" dirty="0" err="1"/>
              <a:t>firstname</a:t>
            </a:r>
            <a:r>
              <a:rPr lang="en-US" dirty="0"/>
              <a:t>, </a:t>
            </a:r>
            <a:r>
              <a:rPr lang="en-US" dirty="0" err="1"/>
              <a:t>lastname</a:t>
            </a:r>
            <a:r>
              <a:rPr lang="en-US" dirty="0"/>
              <a:t>, email) VALUES (?, ?, ?)");</a:t>
            </a:r>
            <a:br>
              <a:rPr lang="en-US" dirty="0"/>
            </a:br>
            <a:r>
              <a:rPr lang="en-US" dirty="0">
                <a:solidFill>
                  <a:srgbClr val="0000FF"/>
                </a:solidFill>
              </a:rPr>
              <a:t>$</a:t>
            </a:r>
            <a:r>
              <a:rPr lang="en-US" dirty="0" err="1">
                <a:solidFill>
                  <a:srgbClr val="0000FF"/>
                </a:solidFill>
              </a:rPr>
              <a:t>stmt</a:t>
            </a:r>
            <a:r>
              <a:rPr lang="en-US" dirty="0">
                <a:solidFill>
                  <a:srgbClr val="0000FF"/>
                </a:solidFill>
              </a:rPr>
              <a:t>-</a:t>
            </a:r>
            <a:r>
              <a:rPr lang="en-US" dirty="0"/>
              <a:t>&gt;</a:t>
            </a:r>
            <a:r>
              <a:rPr lang="en-US" dirty="0" err="1">
                <a:solidFill>
                  <a:srgbClr val="FF0000"/>
                </a:solidFill>
              </a:rPr>
              <a:t>bind_param</a:t>
            </a:r>
            <a:r>
              <a:rPr lang="en-US" dirty="0"/>
              <a:t>("</a:t>
            </a:r>
            <a:r>
              <a:rPr lang="en-US" i="1" dirty="0" err="1">
                <a:solidFill>
                  <a:srgbClr val="FF0000"/>
                </a:solidFill>
              </a:rPr>
              <a:t>sss</a:t>
            </a:r>
            <a:r>
              <a:rPr lang="en-US" dirty="0"/>
              <a:t>", $</a:t>
            </a:r>
            <a:r>
              <a:rPr lang="en-US" dirty="0" err="1"/>
              <a:t>firstname</a:t>
            </a:r>
            <a:r>
              <a:rPr lang="en-US" dirty="0"/>
              <a:t>, $</a:t>
            </a:r>
            <a:r>
              <a:rPr lang="en-US" dirty="0" err="1"/>
              <a:t>lastname</a:t>
            </a:r>
            <a:r>
              <a:rPr lang="en-US" dirty="0"/>
              <a:t>, $email);</a:t>
            </a:r>
            <a:br>
              <a:rPr lang="en-US" dirty="0"/>
            </a:br>
            <a:br>
              <a:rPr lang="en-US" dirty="0"/>
            </a:br>
            <a:r>
              <a:rPr lang="en-US" dirty="0">
                <a:solidFill>
                  <a:schemeClr val="bg1">
                    <a:lumMod val="50000"/>
                  </a:schemeClr>
                </a:solidFill>
              </a:rPr>
              <a:t>// set parameters and execute</a:t>
            </a:r>
            <a:br>
              <a:rPr lang="en-US" dirty="0">
                <a:solidFill>
                  <a:schemeClr val="bg1">
                    <a:lumMod val="50000"/>
                  </a:schemeClr>
                </a:solidFill>
              </a:rPr>
            </a:br>
            <a:r>
              <a:rPr lang="en-US" dirty="0"/>
              <a:t>$</a:t>
            </a:r>
            <a:r>
              <a:rPr lang="en-US" dirty="0" err="1"/>
              <a:t>firstname</a:t>
            </a:r>
            <a:r>
              <a:rPr lang="en-US" dirty="0"/>
              <a:t> = "John";</a:t>
            </a:r>
            <a:br>
              <a:rPr lang="en-US" dirty="0"/>
            </a:br>
            <a:r>
              <a:rPr lang="en-US" dirty="0"/>
              <a:t>$</a:t>
            </a:r>
            <a:r>
              <a:rPr lang="en-US" dirty="0" err="1"/>
              <a:t>lastname</a:t>
            </a:r>
            <a:r>
              <a:rPr lang="en-US" dirty="0"/>
              <a:t> = "Doe";</a:t>
            </a:r>
            <a:br>
              <a:rPr lang="en-US" dirty="0"/>
            </a:br>
            <a:r>
              <a:rPr lang="en-US" dirty="0"/>
              <a:t>$email = "john@example.com";</a:t>
            </a:r>
            <a:br>
              <a:rPr lang="en-US" dirty="0"/>
            </a:br>
            <a:r>
              <a:rPr lang="en-US" dirty="0">
                <a:solidFill>
                  <a:srgbClr val="0000FF"/>
                </a:solidFill>
              </a:rPr>
              <a:t>$</a:t>
            </a:r>
            <a:r>
              <a:rPr lang="en-US" dirty="0" err="1">
                <a:solidFill>
                  <a:srgbClr val="0000FF"/>
                </a:solidFill>
              </a:rPr>
              <a:t>stmt</a:t>
            </a:r>
            <a:r>
              <a:rPr lang="en-US" dirty="0"/>
              <a:t>-&gt;</a:t>
            </a:r>
            <a:r>
              <a:rPr lang="en-US" dirty="0">
                <a:solidFill>
                  <a:srgbClr val="FF0000"/>
                </a:solidFill>
              </a:rPr>
              <a:t>execute();</a:t>
            </a:r>
            <a:br>
              <a:rPr lang="en-US" dirty="0"/>
            </a:br>
            <a:endParaRPr lang="en-US" b="1" dirty="0"/>
          </a:p>
        </p:txBody>
      </p:sp>
    </p:spTree>
    <p:extLst>
      <p:ext uri="{BB962C8B-B14F-4D97-AF65-F5344CB8AC3E}">
        <p14:creationId xmlns:p14="http://schemas.microsoft.com/office/powerpoint/2010/main" val="38467430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Example </a:t>
            </a:r>
            <a:r>
              <a:rPr lang="en-US" sz="2400" dirty="0"/>
              <a:t>(Cont.)</a:t>
            </a:r>
            <a:endParaRPr lang="en-US" dirty="0"/>
          </a:p>
        </p:txBody>
      </p:sp>
      <p:sp>
        <p:nvSpPr>
          <p:cNvPr id="5" name="Content Placeholder 4"/>
          <p:cNvSpPr>
            <a:spLocks noGrp="1"/>
          </p:cNvSpPr>
          <p:nvPr>
            <p:ph idx="1"/>
          </p:nvPr>
        </p:nvSpPr>
        <p:spPr/>
        <p:txBody>
          <a:bodyPr>
            <a:normAutofit fontScale="92500" lnSpcReduction="10000"/>
          </a:bodyPr>
          <a:lstStyle/>
          <a:p>
            <a:pPr marL="0" indent="0">
              <a:buNone/>
            </a:pPr>
            <a:r>
              <a:rPr lang="en-US" dirty="0"/>
              <a:t>$</a:t>
            </a:r>
            <a:r>
              <a:rPr lang="en-US" dirty="0" err="1"/>
              <a:t>firstname</a:t>
            </a:r>
            <a:r>
              <a:rPr lang="en-US" dirty="0"/>
              <a:t> = "Mary";</a:t>
            </a:r>
            <a:br>
              <a:rPr lang="en-US" dirty="0"/>
            </a:br>
            <a:r>
              <a:rPr lang="en-US" dirty="0"/>
              <a:t>$</a:t>
            </a:r>
            <a:r>
              <a:rPr lang="en-US" dirty="0" err="1"/>
              <a:t>lastname</a:t>
            </a:r>
            <a:r>
              <a:rPr lang="en-US" dirty="0"/>
              <a:t> = "Moe";</a:t>
            </a:r>
            <a:br>
              <a:rPr lang="en-US" dirty="0"/>
            </a:br>
            <a:r>
              <a:rPr lang="en-US" dirty="0"/>
              <a:t>$email = "mary@example.com";</a:t>
            </a:r>
            <a:br>
              <a:rPr lang="en-US" dirty="0"/>
            </a:br>
            <a:r>
              <a:rPr lang="en-US" dirty="0">
                <a:solidFill>
                  <a:srgbClr val="0000FF"/>
                </a:solidFill>
              </a:rPr>
              <a:t>$</a:t>
            </a:r>
            <a:r>
              <a:rPr lang="en-US" dirty="0" err="1">
                <a:solidFill>
                  <a:srgbClr val="0000FF"/>
                </a:solidFill>
              </a:rPr>
              <a:t>stmt</a:t>
            </a:r>
            <a:r>
              <a:rPr lang="en-US" dirty="0"/>
              <a:t>-&gt;</a:t>
            </a:r>
            <a:r>
              <a:rPr lang="en-US" dirty="0">
                <a:solidFill>
                  <a:srgbClr val="FF0000"/>
                </a:solidFill>
              </a:rPr>
              <a:t>execute();</a:t>
            </a:r>
            <a:br>
              <a:rPr lang="en-US" sz="2400" dirty="0"/>
            </a:br>
            <a:br>
              <a:rPr lang="en-US" dirty="0"/>
            </a:br>
            <a:r>
              <a:rPr lang="en-US" dirty="0"/>
              <a:t>$</a:t>
            </a:r>
            <a:r>
              <a:rPr lang="en-US" dirty="0" err="1"/>
              <a:t>firstname</a:t>
            </a:r>
            <a:r>
              <a:rPr lang="en-US" dirty="0"/>
              <a:t> = "Julie";</a:t>
            </a:r>
            <a:br>
              <a:rPr lang="en-US" dirty="0"/>
            </a:br>
            <a:r>
              <a:rPr lang="en-US" dirty="0"/>
              <a:t>$</a:t>
            </a:r>
            <a:r>
              <a:rPr lang="en-US" dirty="0" err="1"/>
              <a:t>lastname</a:t>
            </a:r>
            <a:r>
              <a:rPr lang="en-US" dirty="0"/>
              <a:t> = "Dooley";</a:t>
            </a:r>
            <a:br>
              <a:rPr lang="en-US" dirty="0"/>
            </a:br>
            <a:r>
              <a:rPr lang="en-US" dirty="0"/>
              <a:t>$email = "julie@example.com";</a:t>
            </a:r>
            <a:br>
              <a:rPr lang="en-US" dirty="0"/>
            </a:br>
            <a:r>
              <a:rPr lang="en-US" dirty="0">
                <a:solidFill>
                  <a:srgbClr val="0000FF"/>
                </a:solidFill>
              </a:rPr>
              <a:t>$</a:t>
            </a:r>
            <a:r>
              <a:rPr lang="en-US" dirty="0" err="1">
                <a:solidFill>
                  <a:srgbClr val="0000FF"/>
                </a:solidFill>
              </a:rPr>
              <a:t>stmt</a:t>
            </a:r>
            <a:r>
              <a:rPr lang="en-US" dirty="0"/>
              <a:t>-&gt;</a:t>
            </a:r>
            <a:r>
              <a:rPr lang="en-US" dirty="0">
                <a:solidFill>
                  <a:srgbClr val="FF0000"/>
                </a:solidFill>
              </a:rPr>
              <a:t>execute();</a:t>
            </a:r>
            <a:br>
              <a:rPr lang="en-US" sz="2400" dirty="0"/>
            </a:br>
            <a:br>
              <a:rPr lang="en-US" dirty="0"/>
            </a:br>
            <a:r>
              <a:rPr lang="en-US" dirty="0"/>
              <a:t>echo "New records created successfully";</a:t>
            </a:r>
            <a:br>
              <a:rPr lang="en-US" dirty="0"/>
            </a:br>
            <a:br>
              <a:rPr lang="en-US" dirty="0"/>
            </a:br>
            <a:r>
              <a:rPr lang="en-US" dirty="0">
                <a:solidFill>
                  <a:srgbClr val="0000FF"/>
                </a:solidFill>
              </a:rPr>
              <a:t>$</a:t>
            </a:r>
            <a:r>
              <a:rPr lang="en-US" dirty="0" err="1">
                <a:solidFill>
                  <a:srgbClr val="0000FF"/>
                </a:solidFill>
              </a:rPr>
              <a:t>stmt</a:t>
            </a:r>
            <a:r>
              <a:rPr lang="en-US" dirty="0"/>
              <a:t>-&gt;</a:t>
            </a:r>
            <a:r>
              <a:rPr lang="en-US" dirty="0">
                <a:solidFill>
                  <a:srgbClr val="FF0000"/>
                </a:solidFill>
              </a:rPr>
              <a:t>close();</a:t>
            </a:r>
            <a:br>
              <a:rPr lang="en-US" dirty="0">
                <a:solidFill>
                  <a:srgbClr val="FF0000"/>
                </a:solidFill>
              </a:rPr>
            </a:br>
            <a:r>
              <a:rPr lang="en-US" dirty="0">
                <a:solidFill>
                  <a:srgbClr val="00B0F0"/>
                </a:solidFill>
              </a:rPr>
              <a:t>$conn</a:t>
            </a:r>
            <a:r>
              <a:rPr lang="en-US" dirty="0"/>
              <a:t>-&gt;</a:t>
            </a:r>
            <a:r>
              <a:rPr lang="en-US" dirty="0">
                <a:solidFill>
                  <a:srgbClr val="FF0000"/>
                </a:solidFill>
              </a:rPr>
              <a:t>close();</a:t>
            </a:r>
            <a:br>
              <a:rPr lang="en-US" dirty="0">
                <a:solidFill>
                  <a:srgbClr val="FF0000"/>
                </a:solidFill>
              </a:rPr>
            </a:br>
            <a:r>
              <a:rPr lang="en-US" dirty="0"/>
              <a:t>?&gt;</a:t>
            </a:r>
            <a:endParaRPr lang="en-US" b="1" dirty="0"/>
          </a:p>
        </p:txBody>
      </p:sp>
    </p:spTree>
    <p:extLst>
      <p:ext uri="{BB962C8B-B14F-4D97-AF65-F5344CB8AC3E}">
        <p14:creationId xmlns:p14="http://schemas.microsoft.com/office/powerpoint/2010/main" val="41707362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PHP form handling, input validation</a:t>
            </a:r>
          </a:p>
        </p:txBody>
      </p:sp>
    </p:spTree>
    <p:extLst>
      <p:ext uri="{BB962C8B-B14F-4D97-AF65-F5344CB8AC3E}">
        <p14:creationId xmlns:p14="http://schemas.microsoft.com/office/powerpoint/2010/main" val="8436607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Handling</a:t>
            </a:r>
          </a:p>
        </p:txBody>
      </p:sp>
      <p:sp>
        <p:nvSpPr>
          <p:cNvPr id="3" name="Content Placeholder 2"/>
          <p:cNvSpPr>
            <a:spLocks noGrp="1"/>
          </p:cNvSpPr>
          <p:nvPr>
            <p:ph idx="1"/>
          </p:nvPr>
        </p:nvSpPr>
        <p:spPr/>
        <p:txBody>
          <a:bodyPr/>
          <a:lstStyle/>
          <a:p>
            <a:r>
              <a:rPr lang="en-GB" altLang="en-US" dirty="0"/>
              <a:t>The PHP $_GET and $_POST variables are used to process forms in PHP</a:t>
            </a:r>
            <a:endParaRPr lang="en-IE" altLang="en-US" dirty="0"/>
          </a:p>
          <a:p>
            <a:r>
              <a:rPr lang="en-GB" altLang="en-US" dirty="0"/>
              <a:t>Form elements in an HTML/PHP page will automatically be available to your PHP scripts.</a:t>
            </a:r>
          </a:p>
          <a:p>
            <a:r>
              <a:rPr lang="en-US" b="1" dirty="0"/>
              <a:t>GET</a:t>
            </a:r>
            <a:r>
              <a:rPr lang="en-US" dirty="0"/>
              <a:t> when you want to retrieve data </a:t>
            </a:r>
          </a:p>
          <a:p>
            <a:r>
              <a:rPr lang="en-US" b="1" dirty="0"/>
              <a:t>POST</a:t>
            </a:r>
            <a:r>
              <a:rPr lang="en-US" dirty="0"/>
              <a:t> when you want to send data</a:t>
            </a:r>
            <a:endParaRPr lang="en-GB" altLang="en-US" dirty="0"/>
          </a:p>
          <a:p>
            <a:endParaRPr lang="en-US" dirty="0"/>
          </a:p>
        </p:txBody>
      </p:sp>
    </p:spTree>
    <p:extLst>
      <p:ext uri="{BB962C8B-B14F-4D97-AF65-F5344CB8AC3E}">
        <p14:creationId xmlns:p14="http://schemas.microsoft.com/office/powerpoint/2010/main" val="6234075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GB" altLang="en-US"/>
              <a:t>$_POST</a:t>
            </a:r>
          </a:p>
        </p:txBody>
      </p:sp>
      <p:sp>
        <p:nvSpPr>
          <p:cNvPr id="4098" name="Rectangle 3"/>
          <p:cNvSpPr>
            <a:spLocks noGrp="1" noChangeArrowheads="1"/>
          </p:cNvSpPr>
          <p:nvPr>
            <p:ph idx="1"/>
          </p:nvPr>
        </p:nvSpPr>
        <p:spPr/>
        <p:txBody>
          <a:bodyPr/>
          <a:lstStyle/>
          <a:p>
            <a:r>
              <a:rPr lang="en-GB" altLang="en-US" dirty="0"/>
              <a:t>The $_POST variable is an array of variable names and values sent by the HTTP POST method</a:t>
            </a:r>
          </a:p>
          <a:p>
            <a:r>
              <a:rPr lang="en-GB" altLang="en-US" dirty="0"/>
              <a:t>The $_POST variable is used to collect values from a form with method="post“</a:t>
            </a:r>
          </a:p>
          <a:p>
            <a:r>
              <a:rPr lang="en-GB" altLang="en-US" dirty="0"/>
              <a:t>Information sent from a form with the POST method is invisible to others and has no limits on the amount of information to send</a:t>
            </a:r>
          </a:p>
        </p:txBody>
      </p:sp>
    </p:spTree>
    <p:extLst>
      <p:ext uri="{BB962C8B-B14F-4D97-AF65-F5344CB8AC3E}">
        <p14:creationId xmlns:p14="http://schemas.microsoft.com/office/powerpoint/2010/main" val="10818951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IE" altLang="en-US"/>
              <a:t>Example - $_POST</a:t>
            </a:r>
          </a:p>
        </p:txBody>
      </p:sp>
      <p:sp>
        <p:nvSpPr>
          <p:cNvPr id="9219" name="Content Placeholder 2"/>
          <p:cNvSpPr>
            <a:spLocks noGrp="1"/>
          </p:cNvSpPr>
          <p:nvPr>
            <p:ph idx="1"/>
          </p:nvPr>
        </p:nvSpPr>
        <p:spPr>
          <a:xfrm>
            <a:off x="4189165" y="1978025"/>
            <a:ext cx="4891488" cy="4351338"/>
          </a:xfrm>
          <a:ln>
            <a:solidFill>
              <a:schemeClr val="accent2"/>
            </a:solidFill>
          </a:ln>
        </p:spPr>
        <p:txBody>
          <a:bodyPr>
            <a:noAutofit/>
          </a:bodyPr>
          <a:lstStyle/>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&lt;html&gt;</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&lt;head&gt;</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&lt;title&gt;Grab form values&lt;/title&gt;</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&lt;/head&gt;</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&lt;body&gt;</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Welcome &lt;?</a:t>
            </a:r>
            <a:r>
              <a:rPr lang="en-US" altLang="en-US" sz="2000" dirty="0" err="1">
                <a:latin typeface="Consolas" panose="020B0609020204030204" pitchFamily="49" charset="0"/>
                <a:cs typeface="Consolas" panose="020B0609020204030204" pitchFamily="49" charset="0"/>
              </a:rPr>
              <a:t>php</a:t>
            </a:r>
            <a:r>
              <a:rPr lang="en-US" altLang="en-US" sz="2000" dirty="0">
                <a:latin typeface="Consolas" panose="020B0609020204030204" pitchFamily="49" charset="0"/>
                <a:cs typeface="Consolas" panose="020B0609020204030204" pitchFamily="49" charset="0"/>
              </a:rPr>
              <a:t> echo $_POST["name"];?&gt;.&lt;</a:t>
            </a:r>
            <a:r>
              <a:rPr lang="en-US" altLang="en-US" sz="2000" dirty="0" err="1">
                <a:latin typeface="Consolas" panose="020B0609020204030204" pitchFamily="49" charset="0"/>
                <a:cs typeface="Consolas" panose="020B0609020204030204" pitchFamily="49" charset="0"/>
              </a:rPr>
              <a:t>br</a:t>
            </a:r>
            <a:r>
              <a:rPr lang="en-US" altLang="en-US" sz="2000" dirty="0">
                <a:latin typeface="Consolas" panose="020B0609020204030204" pitchFamily="49" charset="0"/>
                <a:cs typeface="Consolas" panose="020B0609020204030204" pitchFamily="49" charset="0"/>
              </a:rPr>
              <a:t>/&gt;</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You are &lt;?</a:t>
            </a:r>
            <a:r>
              <a:rPr lang="en-US" altLang="en-US" sz="2000" dirty="0" err="1">
                <a:latin typeface="Consolas" panose="020B0609020204030204" pitchFamily="49" charset="0"/>
                <a:cs typeface="Consolas" panose="020B0609020204030204" pitchFamily="49" charset="0"/>
              </a:rPr>
              <a:t>php</a:t>
            </a:r>
            <a:r>
              <a:rPr lang="en-US" altLang="en-US" sz="2000" dirty="0">
                <a:latin typeface="Consolas" panose="020B0609020204030204" pitchFamily="49" charset="0"/>
                <a:cs typeface="Consolas" panose="020B0609020204030204" pitchFamily="49" charset="0"/>
              </a:rPr>
              <a:t> echo $_POST["age"];?&gt; years old</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&lt;/body&gt;</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&lt;/html&gt;</a:t>
            </a:r>
          </a:p>
        </p:txBody>
      </p:sp>
      <p:sp>
        <p:nvSpPr>
          <p:cNvPr id="4" name="Content Placeholder 2"/>
          <p:cNvSpPr txBox="1">
            <a:spLocks/>
          </p:cNvSpPr>
          <p:nvPr/>
        </p:nvSpPr>
        <p:spPr>
          <a:xfrm>
            <a:off x="98458" y="1978025"/>
            <a:ext cx="4049391" cy="4351338"/>
          </a:xfrm>
          <a:prstGeom prst="rect">
            <a:avLst/>
          </a:prstGeom>
          <a:ln>
            <a:solidFill>
              <a:schemeClr val="accent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None/>
            </a:pPr>
            <a:r>
              <a:rPr lang="en-IE" altLang="en-US" sz="1800" dirty="0">
                <a:latin typeface="Consolas" panose="020B0609020204030204" pitchFamily="49" charset="0"/>
                <a:cs typeface="Consolas" panose="020B0609020204030204" pitchFamily="49" charset="0"/>
              </a:rPr>
              <a:t>&lt;html&gt;</a:t>
            </a:r>
          </a:p>
          <a:p>
            <a:pPr>
              <a:lnSpc>
                <a:spcPct val="80000"/>
              </a:lnSpc>
              <a:buFont typeface="Wingdings" panose="05000000000000000000" pitchFamily="2" charset="2"/>
              <a:buNone/>
            </a:pPr>
            <a:r>
              <a:rPr lang="en-IE" altLang="en-US" sz="1800" dirty="0">
                <a:latin typeface="Consolas" panose="020B0609020204030204" pitchFamily="49" charset="0"/>
                <a:cs typeface="Consolas" panose="020B0609020204030204" pitchFamily="49" charset="0"/>
              </a:rPr>
              <a:t>&lt;body&gt;</a:t>
            </a:r>
          </a:p>
          <a:p>
            <a:pPr>
              <a:lnSpc>
                <a:spcPct val="80000"/>
              </a:lnSpc>
              <a:buFont typeface="Wingdings" panose="05000000000000000000" pitchFamily="2" charset="2"/>
              <a:buNone/>
            </a:pPr>
            <a:r>
              <a:rPr lang="en-IE" altLang="en-US" sz="1800" dirty="0">
                <a:latin typeface="Consolas" panose="020B0609020204030204" pitchFamily="49" charset="0"/>
                <a:cs typeface="Consolas" panose="020B0609020204030204" pitchFamily="49" charset="0"/>
              </a:rPr>
              <a:t>&lt;form action="</a:t>
            </a:r>
            <a:r>
              <a:rPr lang="en-IE" altLang="en-US" sz="1800" dirty="0" err="1">
                <a:latin typeface="Consolas" panose="020B0609020204030204" pitchFamily="49" charset="0"/>
                <a:cs typeface="Consolas" panose="020B0609020204030204" pitchFamily="49" charset="0"/>
              </a:rPr>
              <a:t>newpage.php</a:t>
            </a:r>
            <a:r>
              <a:rPr lang="en-IE" altLang="en-US" sz="1800" dirty="0">
                <a:latin typeface="Consolas" panose="020B0609020204030204" pitchFamily="49" charset="0"/>
                <a:cs typeface="Consolas" panose="020B0609020204030204" pitchFamily="49" charset="0"/>
              </a:rPr>
              <a:t>" method="post"&gt;</a:t>
            </a:r>
          </a:p>
          <a:p>
            <a:pPr>
              <a:lnSpc>
                <a:spcPct val="80000"/>
              </a:lnSpc>
              <a:buFont typeface="Wingdings" panose="05000000000000000000" pitchFamily="2" charset="2"/>
              <a:buNone/>
            </a:pPr>
            <a:r>
              <a:rPr lang="en-IE" altLang="en-US" sz="1800" dirty="0">
                <a:latin typeface="Consolas" panose="020B0609020204030204" pitchFamily="49" charset="0"/>
                <a:cs typeface="Consolas" panose="020B0609020204030204" pitchFamily="49" charset="0"/>
              </a:rPr>
              <a:t>Name: &lt;input type="text" name="name"&gt;</a:t>
            </a:r>
          </a:p>
          <a:p>
            <a:pPr>
              <a:lnSpc>
                <a:spcPct val="80000"/>
              </a:lnSpc>
              <a:buFont typeface="Wingdings" panose="05000000000000000000" pitchFamily="2" charset="2"/>
              <a:buNone/>
            </a:pPr>
            <a:r>
              <a:rPr lang="en-IE" altLang="en-US" sz="1800" dirty="0">
                <a:latin typeface="Consolas" panose="020B0609020204030204" pitchFamily="49" charset="0"/>
                <a:cs typeface="Consolas" panose="020B0609020204030204" pitchFamily="49" charset="0"/>
              </a:rPr>
              <a:t>Age: &lt;input type="text" name="age"&gt;</a:t>
            </a:r>
          </a:p>
          <a:p>
            <a:pPr>
              <a:lnSpc>
                <a:spcPct val="80000"/>
              </a:lnSpc>
              <a:buFont typeface="Wingdings" panose="05000000000000000000" pitchFamily="2" charset="2"/>
              <a:buNone/>
            </a:pPr>
            <a:r>
              <a:rPr lang="en-IE" altLang="en-US" sz="1800" dirty="0">
                <a:latin typeface="Consolas" panose="020B0609020204030204" pitchFamily="49" charset="0"/>
                <a:cs typeface="Consolas" panose="020B0609020204030204" pitchFamily="49" charset="0"/>
              </a:rPr>
              <a:t>&lt;input type="submit"&gt;</a:t>
            </a:r>
          </a:p>
          <a:p>
            <a:pPr>
              <a:lnSpc>
                <a:spcPct val="80000"/>
              </a:lnSpc>
              <a:buFont typeface="Wingdings" panose="05000000000000000000" pitchFamily="2" charset="2"/>
              <a:buNone/>
            </a:pPr>
            <a:r>
              <a:rPr lang="en-IE" altLang="en-US" sz="1800" dirty="0">
                <a:latin typeface="Consolas" panose="020B0609020204030204" pitchFamily="49" charset="0"/>
                <a:cs typeface="Consolas" panose="020B0609020204030204" pitchFamily="49" charset="0"/>
              </a:rPr>
              <a:t>&lt;/form&gt;</a:t>
            </a:r>
          </a:p>
          <a:p>
            <a:pPr>
              <a:lnSpc>
                <a:spcPct val="80000"/>
              </a:lnSpc>
              <a:buFont typeface="Wingdings" panose="05000000000000000000" pitchFamily="2" charset="2"/>
              <a:buNone/>
            </a:pPr>
            <a:r>
              <a:rPr lang="en-IE" altLang="en-US" sz="1800" dirty="0">
                <a:latin typeface="Consolas" panose="020B0609020204030204" pitchFamily="49" charset="0"/>
                <a:cs typeface="Consolas" panose="020B0609020204030204" pitchFamily="49" charset="0"/>
              </a:rPr>
              <a:t>&lt;/body&gt;</a:t>
            </a:r>
          </a:p>
          <a:p>
            <a:pPr>
              <a:lnSpc>
                <a:spcPct val="80000"/>
              </a:lnSpc>
              <a:buFont typeface="Wingdings" panose="05000000000000000000" pitchFamily="2" charset="2"/>
              <a:buNone/>
            </a:pPr>
            <a:r>
              <a:rPr lang="en-IE" altLang="en-US" sz="1800" dirty="0">
                <a:latin typeface="Consolas" panose="020B0609020204030204" pitchFamily="49" charset="0"/>
                <a:cs typeface="Consolas" panose="020B0609020204030204" pitchFamily="49" charset="0"/>
              </a:rPr>
              <a:t>&lt;/html&gt;</a:t>
            </a:r>
          </a:p>
          <a:p>
            <a:endParaRPr lang="en-IE" altLang="en-US" sz="1800" dirty="0"/>
          </a:p>
        </p:txBody>
      </p:sp>
      <p:sp>
        <p:nvSpPr>
          <p:cNvPr id="2" name="TextBox 1"/>
          <p:cNvSpPr txBox="1"/>
          <p:nvPr/>
        </p:nvSpPr>
        <p:spPr>
          <a:xfrm>
            <a:off x="98458" y="1575412"/>
            <a:ext cx="1669750" cy="369332"/>
          </a:xfrm>
          <a:prstGeom prst="rect">
            <a:avLst/>
          </a:prstGeom>
          <a:noFill/>
        </p:spPr>
        <p:txBody>
          <a:bodyPr wrap="square" rtlCol="0">
            <a:spAutoFit/>
          </a:bodyPr>
          <a:lstStyle/>
          <a:p>
            <a:r>
              <a:rPr lang="en-US" dirty="0"/>
              <a:t>Form.html</a:t>
            </a:r>
          </a:p>
        </p:txBody>
      </p:sp>
      <p:sp>
        <p:nvSpPr>
          <p:cNvPr id="6" name="TextBox 5"/>
          <p:cNvSpPr txBox="1"/>
          <p:nvPr/>
        </p:nvSpPr>
        <p:spPr>
          <a:xfrm>
            <a:off x="4131324" y="1633050"/>
            <a:ext cx="1669750" cy="369332"/>
          </a:xfrm>
          <a:prstGeom prst="rect">
            <a:avLst/>
          </a:prstGeom>
          <a:noFill/>
        </p:spPr>
        <p:txBody>
          <a:bodyPr wrap="square" rtlCol="0">
            <a:spAutoFit/>
          </a:bodyPr>
          <a:lstStyle/>
          <a:p>
            <a:r>
              <a:rPr lang="en-US" dirty="0" err="1"/>
              <a:t>newpage.php</a:t>
            </a:r>
            <a:endParaRPr lang="en-US" dirty="0"/>
          </a:p>
        </p:txBody>
      </p:sp>
    </p:spTree>
    <p:extLst>
      <p:ext uri="{BB962C8B-B14F-4D97-AF65-F5344CB8AC3E}">
        <p14:creationId xmlns:p14="http://schemas.microsoft.com/office/powerpoint/2010/main" val="27028425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IE" altLang="en-US"/>
              <a:t>$_GET</a:t>
            </a:r>
          </a:p>
        </p:txBody>
      </p:sp>
      <p:sp>
        <p:nvSpPr>
          <p:cNvPr id="3" name="Content Placeholder 2"/>
          <p:cNvSpPr>
            <a:spLocks noGrp="1"/>
          </p:cNvSpPr>
          <p:nvPr>
            <p:ph idx="1"/>
          </p:nvPr>
        </p:nvSpPr>
        <p:spPr/>
        <p:txBody>
          <a:bodyPr>
            <a:normAutofit/>
          </a:bodyPr>
          <a:lstStyle/>
          <a:p>
            <a:r>
              <a:rPr lang="en-GB" dirty="0"/>
              <a:t>The $_GET variable is an array of variable names and values sent by the HTTP GET method</a:t>
            </a:r>
          </a:p>
          <a:p>
            <a:r>
              <a:rPr lang="en-GB" dirty="0"/>
              <a:t>The $_GET variable is used to collect values from a form with method="get"</a:t>
            </a:r>
          </a:p>
          <a:p>
            <a:r>
              <a:rPr lang="en-GB" dirty="0"/>
              <a:t>Information sent from a form with the GET method is visible to everyone (it will be displayed in the browser's address bar) and it has limits on the amount of information to send.</a:t>
            </a:r>
            <a:endParaRPr lang="en-IE" dirty="0"/>
          </a:p>
        </p:txBody>
      </p:sp>
    </p:spTree>
    <p:extLst>
      <p:ext uri="{BB962C8B-B14F-4D97-AF65-F5344CB8AC3E}">
        <p14:creationId xmlns:p14="http://schemas.microsoft.com/office/powerpoint/2010/main" val="40821488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IE" altLang="en-US" dirty="0"/>
              <a:t>Example - $_GET</a:t>
            </a:r>
          </a:p>
        </p:txBody>
      </p:sp>
      <p:sp>
        <p:nvSpPr>
          <p:cNvPr id="9219" name="Content Placeholder 2"/>
          <p:cNvSpPr>
            <a:spLocks noGrp="1"/>
          </p:cNvSpPr>
          <p:nvPr>
            <p:ph idx="1"/>
          </p:nvPr>
        </p:nvSpPr>
        <p:spPr>
          <a:xfrm>
            <a:off x="4189165" y="1978025"/>
            <a:ext cx="4891488" cy="4351338"/>
          </a:xfrm>
          <a:ln>
            <a:solidFill>
              <a:schemeClr val="accent2"/>
            </a:solidFill>
          </a:ln>
        </p:spPr>
        <p:txBody>
          <a:bodyPr>
            <a:noAutofit/>
          </a:bodyPr>
          <a:lstStyle/>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&lt;html&gt;</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&lt;head&gt;</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&lt;title&gt;Grab form values&lt;/title&gt;</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&lt;/head&gt;</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&lt;body&gt;</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Welcome &lt;?</a:t>
            </a:r>
            <a:r>
              <a:rPr lang="en-US" altLang="en-US" sz="2000" dirty="0" err="1">
                <a:latin typeface="Consolas" panose="020B0609020204030204" pitchFamily="49" charset="0"/>
                <a:cs typeface="Consolas" panose="020B0609020204030204" pitchFamily="49" charset="0"/>
              </a:rPr>
              <a:t>php</a:t>
            </a:r>
            <a:r>
              <a:rPr lang="en-US" altLang="en-US" sz="2000" dirty="0">
                <a:latin typeface="Consolas" panose="020B0609020204030204" pitchFamily="49" charset="0"/>
                <a:cs typeface="Consolas" panose="020B0609020204030204" pitchFamily="49" charset="0"/>
              </a:rPr>
              <a:t> echo $_GET["name"];?&gt;.&lt;</a:t>
            </a:r>
            <a:r>
              <a:rPr lang="en-US" altLang="en-US" sz="2000" dirty="0" err="1">
                <a:latin typeface="Consolas" panose="020B0609020204030204" pitchFamily="49" charset="0"/>
                <a:cs typeface="Consolas" panose="020B0609020204030204" pitchFamily="49" charset="0"/>
              </a:rPr>
              <a:t>br</a:t>
            </a:r>
            <a:r>
              <a:rPr lang="en-US" altLang="en-US" sz="2000" dirty="0">
                <a:latin typeface="Consolas" panose="020B0609020204030204" pitchFamily="49" charset="0"/>
                <a:cs typeface="Consolas" panose="020B0609020204030204" pitchFamily="49" charset="0"/>
              </a:rPr>
              <a:t>/&gt;</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You are &lt;?</a:t>
            </a:r>
            <a:r>
              <a:rPr lang="en-US" altLang="en-US" sz="2000" dirty="0" err="1">
                <a:latin typeface="Consolas" panose="020B0609020204030204" pitchFamily="49" charset="0"/>
                <a:cs typeface="Consolas" panose="020B0609020204030204" pitchFamily="49" charset="0"/>
              </a:rPr>
              <a:t>php</a:t>
            </a:r>
            <a:r>
              <a:rPr lang="en-US" altLang="en-US" sz="2000" dirty="0">
                <a:latin typeface="Consolas" panose="020B0609020204030204" pitchFamily="49" charset="0"/>
                <a:cs typeface="Consolas" panose="020B0609020204030204" pitchFamily="49" charset="0"/>
              </a:rPr>
              <a:t> echo $_GET["age"];?&gt; years old</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&lt;/body&gt;</a:t>
            </a:r>
          </a:p>
          <a:p>
            <a:pPr>
              <a:lnSpc>
                <a:spcPct val="80000"/>
              </a:lnSpc>
              <a:buFont typeface="Wingdings" panose="05000000000000000000" pitchFamily="2" charset="2"/>
              <a:buNone/>
            </a:pPr>
            <a:r>
              <a:rPr lang="en-US" altLang="en-US" sz="2000" dirty="0">
                <a:latin typeface="Consolas" panose="020B0609020204030204" pitchFamily="49" charset="0"/>
                <a:cs typeface="Consolas" panose="020B0609020204030204" pitchFamily="49" charset="0"/>
              </a:rPr>
              <a:t>&lt;/html&gt;</a:t>
            </a:r>
          </a:p>
          <a:p>
            <a:pPr>
              <a:lnSpc>
                <a:spcPct val="80000"/>
              </a:lnSpc>
              <a:buFont typeface="Wingdings" panose="05000000000000000000" pitchFamily="2" charset="2"/>
              <a:buNone/>
            </a:pPr>
            <a:endParaRPr lang="en-US" altLang="en-US" sz="2000" dirty="0">
              <a:latin typeface="Consolas" panose="020B0609020204030204" pitchFamily="49" charset="0"/>
              <a:cs typeface="Consolas" panose="020B0609020204030204" pitchFamily="49" charset="0"/>
            </a:endParaRPr>
          </a:p>
        </p:txBody>
      </p:sp>
      <p:sp>
        <p:nvSpPr>
          <p:cNvPr id="4" name="Content Placeholder 2"/>
          <p:cNvSpPr txBox="1">
            <a:spLocks/>
          </p:cNvSpPr>
          <p:nvPr/>
        </p:nvSpPr>
        <p:spPr>
          <a:xfrm>
            <a:off x="98458" y="1978025"/>
            <a:ext cx="4049391" cy="4351338"/>
          </a:xfrm>
          <a:prstGeom prst="rect">
            <a:avLst/>
          </a:prstGeom>
          <a:ln>
            <a:solidFill>
              <a:schemeClr val="accent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None/>
            </a:pPr>
            <a:r>
              <a:rPr lang="en-US" altLang="en-US" sz="1800" dirty="0">
                <a:latin typeface="Consolas" panose="020B0609020204030204" pitchFamily="49" charset="0"/>
                <a:cs typeface="Consolas" panose="020B0609020204030204" pitchFamily="49" charset="0"/>
              </a:rPr>
              <a:t>&lt;html&gt;</a:t>
            </a:r>
          </a:p>
          <a:p>
            <a:pPr>
              <a:lnSpc>
                <a:spcPct val="80000"/>
              </a:lnSpc>
              <a:buFont typeface="Wingdings" panose="05000000000000000000" pitchFamily="2" charset="2"/>
              <a:buNone/>
            </a:pPr>
            <a:r>
              <a:rPr lang="en-US" altLang="en-US" sz="1800" dirty="0">
                <a:latin typeface="Consolas" panose="020B0609020204030204" pitchFamily="49" charset="0"/>
                <a:cs typeface="Consolas" panose="020B0609020204030204" pitchFamily="49" charset="0"/>
              </a:rPr>
              <a:t>&lt;body&gt;</a:t>
            </a:r>
          </a:p>
          <a:p>
            <a:pPr>
              <a:lnSpc>
                <a:spcPct val="80000"/>
              </a:lnSpc>
              <a:buFont typeface="Wingdings" panose="05000000000000000000" pitchFamily="2" charset="2"/>
              <a:buNone/>
            </a:pPr>
            <a:r>
              <a:rPr lang="en-US" altLang="en-US" sz="1800" dirty="0">
                <a:latin typeface="Consolas" panose="020B0609020204030204" pitchFamily="49" charset="0"/>
                <a:cs typeface="Consolas" panose="020B0609020204030204" pitchFamily="49" charset="0"/>
              </a:rPr>
              <a:t>&lt;form action="</a:t>
            </a:r>
            <a:r>
              <a:rPr lang="en-US" altLang="en-US" sz="1800" dirty="0" err="1">
                <a:latin typeface="Consolas" panose="020B0609020204030204" pitchFamily="49" charset="0"/>
                <a:cs typeface="Consolas" panose="020B0609020204030204" pitchFamily="49" charset="0"/>
              </a:rPr>
              <a:t>get.php</a:t>
            </a:r>
            <a:r>
              <a:rPr lang="en-US" altLang="en-US" sz="1800" dirty="0">
                <a:latin typeface="Consolas" panose="020B0609020204030204" pitchFamily="49" charset="0"/>
                <a:cs typeface="Consolas" panose="020B0609020204030204" pitchFamily="49" charset="0"/>
              </a:rPr>
              <a:t>" method="get"&gt;</a:t>
            </a:r>
          </a:p>
          <a:p>
            <a:pPr>
              <a:lnSpc>
                <a:spcPct val="80000"/>
              </a:lnSpc>
              <a:buFont typeface="Wingdings" panose="05000000000000000000" pitchFamily="2" charset="2"/>
              <a:buNone/>
            </a:pPr>
            <a:r>
              <a:rPr lang="en-US" altLang="en-US" sz="1800" dirty="0">
                <a:latin typeface="Consolas" panose="020B0609020204030204" pitchFamily="49" charset="0"/>
                <a:cs typeface="Consolas" panose="020B0609020204030204" pitchFamily="49" charset="0"/>
              </a:rPr>
              <a:t>Name: &lt;input type="text" name="name"&gt;</a:t>
            </a:r>
          </a:p>
          <a:p>
            <a:pPr>
              <a:lnSpc>
                <a:spcPct val="80000"/>
              </a:lnSpc>
              <a:buFont typeface="Wingdings" panose="05000000000000000000" pitchFamily="2" charset="2"/>
              <a:buNone/>
            </a:pPr>
            <a:r>
              <a:rPr lang="en-US" altLang="en-US" sz="1800" dirty="0">
                <a:latin typeface="Consolas" panose="020B0609020204030204" pitchFamily="49" charset="0"/>
                <a:cs typeface="Consolas" panose="020B0609020204030204" pitchFamily="49" charset="0"/>
              </a:rPr>
              <a:t>Age: &lt;input type="text" name="age"&gt;</a:t>
            </a:r>
          </a:p>
          <a:p>
            <a:pPr>
              <a:lnSpc>
                <a:spcPct val="80000"/>
              </a:lnSpc>
              <a:buFont typeface="Wingdings" panose="05000000000000000000" pitchFamily="2" charset="2"/>
              <a:buNone/>
            </a:pPr>
            <a:r>
              <a:rPr lang="en-US" altLang="en-US" sz="1800" dirty="0">
                <a:latin typeface="Consolas" panose="020B0609020204030204" pitchFamily="49" charset="0"/>
                <a:cs typeface="Consolas" panose="020B0609020204030204" pitchFamily="49" charset="0"/>
              </a:rPr>
              <a:t>&lt;input type="submit"&gt;</a:t>
            </a:r>
          </a:p>
          <a:p>
            <a:pPr>
              <a:lnSpc>
                <a:spcPct val="80000"/>
              </a:lnSpc>
              <a:buFont typeface="Wingdings" panose="05000000000000000000" pitchFamily="2" charset="2"/>
              <a:buNone/>
            </a:pPr>
            <a:r>
              <a:rPr lang="en-US" altLang="en-US" sz="1800" dirty="0">
                <a:latin typeface="Consolas" panose="020B0609020204030204" pitchFamily="49" charset="0"/>
                <a:cs typeface="Consolas" panose="020B0609020204030204" pitchFamily="49" charset="0"/>
              </a:rPr>
              <a:t>&lt;/form&gt;</a:t>
            </a:r>
          </a:p>
          <a:p>
            <a:pPr>
              <a:lnSpc>
                <a:spcPct val="80000"/>
              </a:lnSpc>
              <a:buFont typeface="Wingdings" panose="05000000000000000000" pitchFamily="2" charset="2"/>
              <a:buNone/>
            </a:pPr>
            <a:r>
              <a:rPr lang="en-US" altLang="en-US" sz="1800" dirty="0">
                <a:latin typeface="Consolas" panose="020B0609020204030204" pitchFamily="49" charset="0"/>
                <a:cs typeface="Consolas" panose="020B0609020204030204" pitchFamily="49" charset="0"/>
              </a:rPr>
              <a:t>&lt;/body&gt;</a:t>
            </a:r>
          </a:p>
          <a:p>
            <a:pPr>
              <a:lnSpc>
                <a:spcPct val="80000"/>
              </a:lnSpc>
              <a:buFont typeface="Wingdings" panose="05000000000000000000" pitchFamily="2" charset="2"/>
              <a:buNone/>
            </a:pPr>
            <a:r>
              <a:rPr lang="en-US" altLang="en-US" sz="1800" dirty="0">
                <a:latin typeface="Consolas" panose="020B0609020204030204" pitchFamily="49" charset="0"/>
                <a:cs typeface="Consolas" panose="020B0609020204030204" pitchFamily="49" charset="0"/>
              </a:rPr>
              <a:t>&lt;/html&gt;</a:t>
            </a:r>
          </a:p>
          <a:p>
            <a:pPr>
              <a:lnSpc>
                <a:spcPct val="80000"/>
              </a:lnSpc>
              <a:buFont typeface="Wingdings" panose="05000000000000000000" pitchFamily="2" charset="2"/>
              <a:buNone/>
            </a:pPr>
            <a:endParaRPr lang="en-US" altLang="en-US" sz="1800" dirty="0">
              <a:latin typeface="Consolas" panose="020B0609020204030204" pitchFamily="49" charset="0"/>
              <a:cs typeface="Consolas" panose="020B0609020204030204" pitchFamily="49" charset="0"/>
            </a:endParaRPr>
          </a:p>
        </p:txBody>
      </p:sp>
      <p:sp>
        <p:nvSpPr>
          <p:cNvPr id="2" name="TextBox 1"/>
          <p:cNvSpPr txBox="1"/>
          <p:nvPr/>
        </p:nvSpPr>
        <p:spPr>
          <a:xfrm>
            <a:off x="98458" y="1575412"/>
            <a:ext cx="1669750" cy="369332"/>
          </a:xfrm>
          <a:prstGeom prst="rect">
            <a:avLst/>
          </a:prstGeom>
          <a:noFill/>
        </p:spPr>
        <p:txBody>
          <a:bodyPr wrap="square" rtlCol="0">
            <a:spAutoFit/>
          </a:bodyPr>
          <a:lstStyle/>
          <a:p>
            <a:r>
              <a:rPr lang="en-US" dirty="0"/>
              <a:t>Form.html</a:t>
            </a:r>
          </a:p>
        </p:txBody>
      </p:sp>
      <p:sp>
        <p:nvSpPr>
          <p:cNvPr id="6" name="TextBox 5"/>
          <p:cNvSpPr txBox="1"/>
          <p:nvPr/>
        </p:nvSpPr>
        <p:spPr>
          <a:xfrm>
            <a:off x="4131324" y="1633050"/>
            <a:ext cx="1669750" cy="369332"/>
          </a:xfrm>
          <a:prstGeom prst="rect">
            <a:avLst/>
          </a:prstGeom>
          <a:noFill/>
        </p:spPr>
        <p:txBody>
          <a:bodyPr wrap="square" rtlCol="0">
            <a:spAutoFit/>
          </a:bodyPr>
          <a:lstStyle/>
          <a:p>
            <a:r>
              <a:rPr lang="en-US" dirty="0" err="1"/>
              <a:t>get.php</a:t>
            </a:r>
            <a:endParaRPr lang="en-US" dirty="0"/>
          </a:p>
        </p:txBody>
      </p:sp>
    </p:spTree>
    <p:extLst>
      <p:ext uri="{BB962C8B-B14F-4D97-AF65-F5344CB8AC3E}">
        <p14:creationId xmlns:p14="http://schemas.microsoft.com/office/powerpoint/2010/main" val="17089107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PHP MySQL</a:t>
            </a:r>
          </a:p>
        </p:txBody>
      </p:sp>
      <p:sp>
        <p:nvSpPr>
          <p:cNvPr id="3" name="Content Placeholder 2"/>
          <p:cNvSpPr>
            <a:spLocks noGrp="1"/>
          </p:cNvSpPr>
          <p:nvPr>
            <p:ph idx="1"/>
          </p:nvPr>
        </p:nvSpPr>
        <p:spPr>
          <a:xfrm>
            <a:off x="628650" y="1825625"/>
            <a:ext cx="8138022" cy="4351338"/>
          </a:xfrm>
        </p:spPr>
        <p:txBody>
          <a:bodyPr/>
          <a:lstStyle/>
          <a:p>
            <a:r>
              <a:rPr lang="en-US" dirty="0"/>
              <a:t>Insert</a:t>
            </a:r>
          </a:p>
          <a:p>
            <a:pPr lvl="1"/>
            <a:r>
              <a:rPr lang="en-US" sz="2000" dirty="0">
                <a:latin typeface="Consolas" panose="020B0609020204030204" pitchFamily="49" charset="0"/>
                <a:cs typeface="Consolas" panose="020B0609020204030204" pitchFamily="49" charset="0"/>
              </a:rPr>
              <a:t>INSERT INTO users(</a:t>
            </a:r>
            <a:r>
              <a:rPr lang="en-US" sz="2000" dirty="0" err="1">
                <a:latin typeface="Consolas" panose="020B0609020204030204" pitchFamily="49" charset="0"/>
                <a:cs typeface="Consolas" panose="020B0609020204030204" pitchFamily="49" charset="0"/>
              </a:rPr>
              <a:t>firstname</a:t>
            </a:r>
            <a:r>
              <a:rPr lang="en-US" sz="2000" dirty="0">
                <a:latin typeface="Consolas" panose="020B0609020204030204" pitchFamily="49" charset="0"/>
                <a:cs typeface="Consolas" panose="020B0609020204030204" pitchFamily="49" charset="0"/>
              </a:rPr>
              <a:t>, </a:t>
            </a:r>
            <a:r>
              <a:rPr lang="en-US" sz="2000" dirty="0" err="1">
                <a:latin typeface="Consolas" panose="020B0609020204030204" pitchFamily="49" charset="0"/>
                <a:cs typeface="Consolas" panose="020B0609020204030204" pitchFamily="49" charset="0"/>
              </a:rPr>
              <a:t>lastname</a:t>
            </a:r>
            <a:r>
              <a:rPr lang="en-US" sz="2000" dirty="0">
                <a:latin typeface="Consolas" panose="020B0609020204030204" pitchFamily="49" charset="0"/>
                <a:cs typeface="Consolas" panose="020B0609020204030204" pitchFamily="49" charset="0"/>
              </a:rPr>
              <a:t>, email, password, gender) </a:t>
            </a:r>
          </a:p>
          <a:p>
            <a:pPr marL="457200" lvl="1" indent="0">
              <a:buNone/>
            </a:pPr>
            <a:r>
              <a:rPr lang="en-US" sz="2000" dirty="0">
                <a:latin typeface="Consolas" panose="020B0609020204030204" pitchFamily="49" charset="0"/>
                <a:cs typeface="Consolas" panose="020B0609020204030204" pitchFamily="49" charset="0"/>
              </a:rPr>
              <a:t>VALUES ('$</a:t>
            </a:r>
            <a:r>
              <a:rPr lang="en-US" sz="2000" dirty="0" err="1">
                <a:latin typeface="Consolas" panose="020B0609020204030204" pitchFamily="49" charset="0"/>
                <a:cs typeface="Consolas" panose="020B0609020204030204" pitchFamily="49" charset="0"/>
              </a:rPr>
              <a:t>first_name','$last_name','$email','$password','$gender</a:t>
            </a:r>
            <a:r>
              <a:rPr lang="en-US" sz="2000" dirty="0">
                <a:latin typeface="Consolas" panose="020B0609020204030204" pitchFamily="49" charset="0"/>
                <a:cs typeface="Consolas" panose="020B0609020204030204" pitchFamily="49" charset="0"/>
              </a:rPr>
              <a:t>')";</a:t>
            </a:r>
          </a:p>
          <a:p>
            <a:pPr lvl="1"/>
            <a:endParaRPr lang="en-US" dirty="0"/>
          </a:p>
        </p:txBody>
      </p:sp>
    </p:spTree>
    <p:extLst>
      <p:ext uri="{BB962C8B-B14F-4D97-AF65-F5344CB8AC3E}">
        <p14:creationId xmlns:p14="http://schemas.microsoft.com/office/powerpoint/2010/main" val="11480144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PHP Session</a:t>
            </a:r>
          </a:p>
        </p:txBody>
      </p:sp>
      <p:sp>
        <p:nvSpPr>
          <p:cNvPr id="3" name="Content Placeholder 2"/>
          <p:cNvSpPr>
            <a:spLocks noGrp="1"/>
          </p:cNvSpPr>
          <p:nvPr>
            <p:ph idx="1"/>
          </p:nvPr>
        </p:nvSpPr>
        <p:spPr/>
        <p:txBody>
          <a:bodyPr>
            <a:normAutofit fontScale="92500" lnSpcReduction="20000"/>
          </a:bodyPr>
          <a:lstStyle/>
          <a:p>
            <a:pPr algn="just"/>
            <a:r>
              <a:rPr lang="en-US" dirty="0"/>
              <a:t>A session is a way to store information (in variables) to be used across multiple pages.</a:t>
            </a:r>
          </a:p>
          <a:p>
            <a:pPr algn="just"/>
            <a:r>
              <a:rPr lang="en-US" dirty="0"/>
              <a:t>When you work with an application, you open it, do some changes, and then you close it. This is much like a Session. The computer knows who you are. It knows when you start the application and when you end. But on the internet there is one problem: the web server does not know who you are or what you do, because the HTTP address doesn't maintain state.</a:t>
            </a:r>
          </a:p>
          <a:p>
            <a:pPr algn="just"/>
            <a:r>
              <a:rPr lang="en-US" dirty="0"/>
              <a:t>Session variables solve this problem by storing user information to be used across multiple pages (e.g. username, favorite color, </a:t>
            </a:r>
            <a:r>
              <a:rPr lang="en-US" dirty="0" err="1"/>
              <a:t>etc</a:t>
            </a:r>
            <a:r>
              <a:rPr lang="en-US" dirty="0"/>
              <a:t>). By default, session variables last until the user closes the browser.</a:t>
            </a:r>
          </a:p>
          <a:p>
            <a:pPr algn="just"/>
            <a:r>
              <a:rPr lang="en-US" dirty="0"/>
              <a:t>So; Session variables hold information about one single user, and are available to all pages in one application.</a:t>
            </a:r>
          </a:p>
          <a:p>
            <a:pPr algn="just"/>
            <a:endParaRPr lang="en-US" dirty="0"/>
          </a:p>
          <a:p>
            <a:pPr algn="just"/>
            <a:endParaRPr lang="en-US" dirty="0"/>
          </a:p>
          <a:p>
            <a:pPr algn="just"/>
            <a:endParaRPr lang="en-US" dirty="0"/>
          </a:p>
        </p:txBody>
      </p:sp>
    </p:spTree>
    <p:extLst>
      <p:ext uri="{BB962C8B-B14F-4D97-AF65-F5344CB8AC3E}">
        <p14:creationId xmlns:p14="http://schemas.microsoft.com/office/powerpoint/2010/main" val="34907830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PHP Session</a:t>
            </a:r>
          </a:p>
        </p:txBody>
      </p:sp>
      <p:sp>
        <p:nvSpPr>
          <p:cNvPr id="3" name="Content Placeholder 2"/>
          <p:cNvSpPr>
            <a:spLocks noGrp="1"/>
          </p:cNvSpPr>
          <p:nvPr>
            <p:ph idx="1"/>
          </p:nvPr>
        </p:nvSpPr>
        <p:spPr/>
        <p:txBody>
          <a:bodyPr>
            <a:normAutofit fontScale="92500" lnSpcReduction="10000"/>
          </a:bodyPr>
          <a:lstStyle/>
          <a:p>
            <a:pPr algn="just"/>
            <a:r>
              <a:rPr lang="en-US" dirty="0"/>
              <a:t>Unlike a cookie, the information is not stored on the users computer</a:t>
            </a:r>
          </a:p>
          <a:p>
            <a:pPr algn="just"/>
            <a:r>
              <a:rPr lang="en-US" dirty="0"/>
              <a:t>You can store data using cookies but it has some security issues. Since cookies are stored on user's computer it is possible for an attacker to easily modify a cookie content to insert potentially harmful data in your application that might break your application.</a:t>
            </a:r>
          </a:p>
          <a:p>
            <a:pPr algn="just"/>
            <a:r>
              <a:rPr lang="en-US" dirty="0"/>
              <a:t>Also every time the browser requests a URL to the server, all the cookie data for a website is automatically sent to the server within the request. It means if you have stored 5 cookies on user's system, each having 4KB in size, the browser needs to upload 20KB of data each time the user views a page, which can affect your site's performance.</a:t>
            </a:r>
          </a:p>
          <a:p>
            <a:pPr algn="just"/>
            <a:r>
              <a:rPr lang="en-US" dirty="0"/>
              <a:t>You can solve both of these issues by using the </a:t>
            </a:r>
            <a:r>
              <a:rPr lang="en-US" dirty="0" err="1"/>
              <a:t>Php</a:t>
            </a:r>
            <a:r>
              <a:rPr lang="en-US" dirty="0"/>
              <a:t> session.</a:t>
            </a:r>
          </a:p>
          <a:p>
            <a:pPr algn="just"/>
            <a:endParaRPr lang="en-US" dirty="0"/>
          </a:p>
          <a:p>
            <a:pPr algn="just"/>
            <a:endParaRPr lang="en-US" dirty="0"/>
          </a:p>
        </p:txBody>
      </p:sp>
    </p:spTree>
    <p:extLst>
      <p:ext uri="{BB962C8B-B14F-4D97-AF65-F5344CB8AC3E}">
        <p14:creationId xmlns:p14="http://schemas.microsoft.com/office/powerpoint/2010/main" val="28202285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Start a PHP Session</a:t>
            </a:r>
          </a:p>
        </p:txBody>
      </p:sp>
      <p:sp>
        <p:nvSpPr>
          <p:cNvPr id="3" name="Content Placeholder 2"/>
          <p:cNvSpPr>
            <a:spLocks noGrp="1"/>
          </p:cNvSpPr>
          <p:nvPr>
            <p:ph idx="1"/>
          </p:nvPr>
        </p:nvSpPr>
        <p:spPr/>
        <p:txBody>
          <a:bodyPr>
            <a:normAutofit/>
          </a:bodyPr>
          <a:lstStyle/>
          <a:p>
            <a:pPr marL="0" indent="0" algn="just">
              <a:buNone/>
            </a:pPr>
            <a:r>
              <a:rPr lang="en-US" dirty="0"/>
              <a:t> A session is started with the </a:t>
            </a:r>
            <a:r>
              <a:rPr lang="en-US" dirty="0">
                <a:solidFill>
                  <a:srgbClr val="FF0000"/>
                </a:solidFill>
              </a:rPr>
              <a:t>session_start() </a:t>
            </a:r>
            <a:r>
              <a:rPr lang="en-US" dirty="0"/>
              <a:t>function.</a:t>
            </a:r>
          </a:p>
          <a:p>
            <a:pPr marL="0" indent="0" algn="just">
              <a:buNone/>
            </a:pPr>
            <a:r>
              <a:rPr lang="en-US" dirty="0"/>
              <a:t>Session variables are set with the </a:t>
            </a:r>
            <a:r>
              <a:rPr lang="en-US" dirty="0" err="1"/>
              <a:t>Php</a:t>
            </a:r>
            <a:r>
              <a:rPr lang="en-US" dirty="0"/>
              <a:t> global variable: </a:t>
            </a:r>
            <a:r>
              <a:rPr lang="en-US" dirty="0">
                <a:solidFill>
                  <a:srgbClr val="FF0000"/>
                </a:solidFill>
              </a:rPr>
              <a:t>$_SESSION.</a:t>
            </a:r>
          </a:p>
          <a:p>
            <a:pPr marL="0" indent="0" algn="just">
              <a:buNone/>
            </a:pPr>
            <a:r>
              <a:rPr lang="en-US" dirty="0">
                <a:solidFill>
                  <a:schemeClr val="tx1"/>
                </a:solidFill>
              </a:rPr>
              <a:t>To begin a new session, simply call the </a:t>
            </a:r>
            <a:r>
              <a:rPr lang="en-US" dirty="0" err="1">
                <a:solidFill>
                  <a:schemeClr val="tx1"/>
                </a:solidFill>
              </a:rPr>
              <a:t>Php</a:t>
            </a:r>
            <a:r>
              <a:rPr lang="en-US" dirty="0">
                <a:solidFill>
                  <a:schemeClr val="tx1"/>
                </a:solidFill>
              </a:rPr>
              <a:t> session_start() function. It will create a new session and generate a unique session ID for the user.</a:t>
            </a:r>
          </a:p>
          <a:p>
            <a:pPr marL="0" indent="0" algn="just">
              <a:buNone/>
            </a:pPr>
            <a:r>
              <a:rPr lang="en-US" dirty="0">
                <a:solidFill>
                  <a:schemeClr val="tx1"/>
                </a:solidFill>
              </a:rPr>
              <a:t>        </a:t>
            </a:r>
            <a:r>
              <a:rPr lang="en-US" dirty="0"/>
              <a:t>&lt;?</a:t>
            </a:r>
            <a:r>
              <a:rPr lang="en-US" dirty="0" err="1"/>
              <a:t>php</a:t>
            </a:r>
            <a:r>
              <a:rPr lang="en-US" dirty="0"/>
              <a:t> </a:t>
            </a:r>
          </a:p>
          <a:p>
            <a:pPr marL="519113" indent="0" algn="just">
              <a:buNone/>
            </a:pPr>
            <a:r>
              <a:rPr lang="en-US" dirty="0"/>
              <a:t>// Starting session </a:t>
            </a:r>
          </a:p>
          <a:p>
            <a:pPr marL="519113" indent="0" algn="just">
              <a:buNone/>
            </a:pPr>
            <a:r>
              <a:rPr lang="en-US" dirty="0"/>
              <a:t>session_start(); </a:t>
            </a:r>
          </a:p>
          <a:p>
            <a:pPr marL="519113" indent="0" algn="just">
              <a:buNone/>
            </a:pPr>
            <a:r>
              <a:rPr lang="en-US" dirty="0"/>
              <a:t>?&gt;</a:t>
            </a:r>
          </a:p>
          <a:p>
            <a:pPr marL="0" indent="0" algn="just">
              <a:buNone/>
            </a:pPr>
            <a:endParaRPr lang="en-US" dirty="0">
              <a:solidFill>
                <a:srgbClr val="FF0000"/>
              </a:solidFill>
            </a:endParaRPr>
          </a:p>
          <a:p>
            <a:pPr marL="0" indent="0" algn="just">
              <a:buNone/>
            </a:pPr>
            <a:endParaRPr lang="en-US" dirty="0">
              <a:solidFill>
                <a:srgbClr val="FF0000"/>
              </a:solidFill>
            </a:endParaRPr>
          </a:p>
        </p:txBody>
      </p:sp>
    </p:spTree>
    <p:extLst>
      <p:ext uri="{BB962C8B-B14F-4D97-AF65-F5344CB8AC3E}">
        <p14:creationId xmlns:p14="http://schemas.microsoft.com/office/powerpoint/2010/main" val="19762856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dirty="0"/>
              <a:t>Storing and Accessing Session Data</a:t>
            </a:r>
          </a:p>
        </p:txBody>
      </p:sp>
      <p:sp>
        <p:nvSpPr>
          <p:cNvPr id="3" name="Content Placeholder 2"/>
          <p:cNvSpPr>
            <a:spLocks noGrp="1"/>
          </p:cNvSpPr>
          <p:nvPr>
            <p:ph idx="1"/>
          </p:nvPr>
        </p:nvSpPr>
        <p:spPr/>
        <p:txBody>
          <a:bodyPr>
            <a:normAutofit fontScale="92500" lnSpcReduction="20000"/>
          </a:bodyPr>
          <a:lstStyle/>
          <a:p>
            <a:r>
              <a:rPr lang="en-US" dirty="0"/>
              <a:t>You can store all your session data as key-value pairs in the $_SESSION[] </a:t>
            </a:r>
            <a:r>
              <a:rPr lang="en-US" dirty="0" err="1"/>
              <a:t>superglobal</a:t>
            </a:r>
            <a:r>
              <a:rPr lang="en-US" dirty="0"/>
              <a:t> array. The stored data can be accessed during lifetime of a session.</a:t>
            </a:r>
          </a:p>
          <a:p>
            <a:r>
              <a:rPr lang="en-US" dirty="0"/>
              <a:t> Consider the following script, which creates a new session and registers two session variables.</a:t>
            </a:r>
          </a:p>
          <a:p>
            <a:pPr marL="428625" indent="0">
              <a:buNone/>
            </a:pPr>
            <a:r>
              <a:rPr lang="en-US" dirty="0"/>
              <a:t>&lt;?</a:t>
            </a:r>
            <a:r>
              <a:rPr lang="en-US" dirty="0" err="1"/>
              <a:t>php</a:t>
            </a:r>
            <a:endParaRPr lang="en-US" dirty="0"/>
          </a:p>
          <a:p>
            <a:pPr marL="428625" indent="0">
              <a:buNone/>
            </a:pPr>
            <a:r>
              <a:rPr lang="en-US" dirty="0"/>
              <a:t> // Starting session </a:t>
            </a:r>
          </a:p>
          <a:p>
            <a:pPr marL="428625" indent="0">
              <a:buNone/>
            </a:pPr>
            <a:r>
              <a:rPr lang="en-US" dirty="0"/>
              <a:t>session_start(); </a:t>
            </a:r>
          </a:p>
          <a:p>
            <a:pPr marL="428625" indent="0">
              <a:buNone/>
            </a:pPr>
            <a:r>
              <a:rPr lang="en-US" dirty="0"/>
              <a:t>// Storing session data </a:t>
            </a:r>
          </a:p>
          <a:p>
            <a:pPr marL="428625" indent="0">
              <a:buNone/>
            </a:pPr>
            <a:r>
              <a:rPr lang="en-US" dirty="0"/>
              <a:t>$_SESSION["</a:t>
            </a:r>
            <a:r>
              <a:rPr lang="en-US" dirty="0" err="1"/>
              <a:t>firstname</a:t>
            </a:r>
            <a:r>
              <a:rPr lang="en-US" dirty="0"/>
              <a:t>"] = "Peter";</a:t>
            </a:r>
          </a:p>
          <a:p>
            <a:pPr marL="428625" indent="0">
              <a:buNone/>
            </a:pPr>
            <a:r>
              <a:rPr lang="en-US" dirty="0"/>
              <a:t> $_SESSION["</a:t>
            </a:r>
            <a:r>
              <a:rPr lang="en-US" dirty="0" err="1"/>
              <a:t>lastname</a:t>
            </a:r>
            <a:r>
              <a:rPr lang="en-US" dirty="0"/>
              <a:t>"] = "Parker"; </a:t>
            </a:r>
          </a:p>
          <a:p>
            <a:pPr marL="428625" indent="0">
              <a:buNone/>
            </a:pPr>
            <a:r>
              <a:rPr lang="en-US" dirty="0"/>
              <a:t>?&gt;</a:t>
            </a:r>
          </a:p>
        </p:txBody>
      </p:sp>
    </p:spTree>
    <p:extLst>
      <p:ext uri="{BB962C8B-B14F-4D97-AF65-F5344CB8AC3E}">
        <p14:creationId xmlns:p14="http://schemas.microsoft.com/office/powerpoint/2010/main" val="23812956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Storing and Accessing Session Data</a:t>
            </a:r>
          </a:p>
        </p:txBody>
      </p:sp>
      <p:sp>
        <p:nvSpPr>
          <p:cNvPr id="3" name="Content Placeholder 2"/>
          <p:cNvSpPr>
            <a:spLocks noGrp="1"/>
          </p:cNvSpPr>
          <p:nvPr>
            <p:ph idx="1"/>
          </p:nvPr>
        </p:nvSpPr>
        <p:spPr>
          <a:xfrm>
            <a:off x="822960" y="1845734"/>
            <a:ext cx="7543800" cy="4527770"/>
          </a:xfrm>
        </p:spPr>
        <p:txBody>
          <a:bodyPr>
            <a:normAutofit/>
          </a:bodyPr>
          <a:lstStyle/>
          <a:p>
            <a:r>
              <a:rPr lang="en-US" dirty="0"/>
              <a:t>To access the session data we set on our previous example from any other page on the same web domain — simply recreate the session by calling session_start() and then pass the corresponding key to the $_SESSION associative array.</a:t>
            </a:r>
          </a:p>
          <a:p>
            <a:pPr marL="800100" lvl="2" indent="0">
              <a:buNone/>
            </a:pPr>
            <a:r>
              <a:rPr lang="en-US" dirty="0"/>
              <a:t>          &lt;?</a:t>
            </a:r>
            <a:r>
              <a:rPr lang="en-US" dirty="0" err="1"/>
              <a:t>php</a:t>
            </a:r>
            <a:r>
              <a:rPr lang="en-US" dirty="0"/>
              <a:t> </a:t>
            </a:r>
          </a:p>
          <a:p>
            <a:pPr marL="800100" lvl="2" indent="0">
              <a:buNone/>
            </a:pPr>
            <a:r>
              <a:rPr lang="en-US" dirty="0"/>
              <a:t>           // Starting session </a:t>
            </a:r>
          </a:p>
          <a:p>
            <a:pPr marL="800100" lvl="2" indent="0">
              <a:buNone/>
            </a:pPr>
            <a:r>
              <a:rPr lang="en-US" dirty="0"/>
              <a:t>           session_start(); </a:t>
            </a:r>
          </a:p>
          <a:p>
            <a:pPr marL="800100" lvl="2" indent="0">
              <a:buNone/>
            </a:pPr>
            <a:r>
              <a:rPr lang="en-US" dirty="0"/>
              <a:t>           // Accessing session data</a:t>
            </a:r>
          </a:p>
          <a:p>
            <a:pPr marL="800100" lvl="2" indent="0">
              <a:buNone/>
            </a:pPr>
            <a:r>
              <a:rPr lang="en-US" dirty="0"/>
              <a:t>           echo 'Hi, ' . $_SESSION["</a:t>
            </a:r>
            <a:r>
              <a:rPr lang="en-US" dirty="0" err="1"/>
              <a:t>firstname</a:t>
            </a:r>
            <a:r>
              <a:rPr lang="en-US" dirty="0"/>
              <a:t>"] . ' ' . $_SESSION["</a:t>
            </a:r>
            <a:r>
              <a:rPr lang="en-US" dirty="0" err="1"/>
              <a:t>lastname</a:t>
            </a:r>
            <a:r>
              <a:rPr lang="en-US" dirty="0"/>
              <a:t>"]; </a:t>
            </a:r>
          </a:p>
          <a:p>
            <a:pPr marL="800100" lvl="2" indent="0">
              <a:buNone/>
            </a:pPr>
            <a:r>
              <a:rPr lang="en-US" dirty="0"/>
              <a:t>              ?&gt;</a:t>
            </a:r>
          </a:p>
          <a:p>
            <a:pPr marL="800100" lvl="2" indent="0">
              <a:buNone/>
            </a:pPr>
            <a:r>
              <a:rPr lang="en-US" dirty="0">
                <a:solidFill>
                  <a:srgbClr val="FF0000"/>
                </a:solidFill>
              </a:rPr>
              <a:t>Output</a:t>
            </a:r>
          </a:p>
          <a:p>
            <a:pPr marL="800100" lvl="2" indent="0">
              <a:buNone/>
            </a:pPr>
            <a:r>
              <a:rPr lang="en-US" dirty="0"/>
              <a:t>Hi, Peter Parker</a:t>
            </a:r>
          </a:p>
        </p:txBody>
      </p:sp>
    </p:spTree>
    <p:extLst>
      <p:ext uri="{BB962C8B-B14F-4D97-AF65-F5344CB8AC3E}">
        <p14:creationId xmlns:p14="http://schemas.microsoft.com/office/powerpoint/2010/main" val="39469134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Destroy a PHP Session</a:t>
            </a:r>
          </a:p>
        </p:txBody>
      </p:sp>
      <p:sp>
        <p:nvSpPr>
          <p:cNvPr id="3" name="Content Placeholder 2"/>
          <p:cNvSpPr>
            <a:spLocks noGrp="1"/>
          </p:cNvSpPr>
          <p:nvPr>
            <p:ph idx="1"/>
          </p:nvPr>
        </p:nvSpPr>
        <p:spPr/>
        <p:txBody>
          <a:bodyPr>
            <a:normAutofit/>
          </a:bodyPr>
          <a:lstStyle/>
          <a:p>
            <a:r>
              <a:rPr lang="en-US" dirty="0"/>
              <a:t>If you want to remove certain session data, simply unset the corresponding key of the $_SESSION associative array, as shown in the following example:</a:t>
            </a:r>
          </a:p>
          <a:p>
            <a:pPr marL="0" indent="0">
              <a:buNone/>
            </a:pPr>
            <a:r>
              <a:rPr lang="en-US" dirty="0"/>
              <a:t>&lt;?</a:t>
            </a:r>
            <a:r>
              <a:rPr lang="en-US" dirty="0" err="1"/>
              <a:t>php</a:t>
            </a:r>
            <a:r>
              <a:rPr lang="en-US" dirty="0"/>
              <a:t> </a:t>
            </a:r>
          </a:p>
          <a:p>
            <a:pPr marL="0" indent="0">
              <a:buNone/>
            </a:pPr>
            <a:r>
              <a:rPr lang="en-US" dirty="0"/>
              <a:t>  // Starting session </a:t>
            </a:r>
          </a:p>
          <a:p>
            <a:pPr marL="0" indent="0">
              <a:buNone/>
            </a:pPr>
            <a:r>
              <a:rPr lang="en-US" dirty="0"/>
              <a:t>     session_start(); </a:t>
            </a:r>
          </a:p>
          <a:p>
            <a:pPr marL="0" indent="0">
              <a:buNone/>
            </a:pPr>
            <a:r>
              <a:rPr lang="en-US" dirty="0"/>
              <a:t>   // Removing session data</a:t>
            </a:r>
          </a:p>
          <a:p>
            <a:pPr marL="0" indent="0">
              <a:buNone/>
            </a:pPr>
            <a:r>
              <a:rPr lang="en-US" dirty="0"/>
              <a:t>      if(</a:t>
            </a:r>
            <a:r>
              <a:rPr lang="en-US" dirty="0" err="1"/>
              <a:t>isset</a:t>
            </a:r>
            <a:r>
              <a:rPr lang="en-US" dirty="0"/>
              <a:t>($_SESSION["</a:t>
            </a:r>
            <a:r>
              <a:rPr lang="en-US" dirty="0" err="1"/>
              <a:t>lastname</a:t>
            </a:r>
            <a:r>
              <a:rPr lang="en-US" dirty="0"/>
              <a:t>"]))</a:t>
            </a:r>
          </a:p>
          <a:p>
            <a:pPr marL="0" indent="0">
              <a:buNone/>
            </a:pPr>
            <a:r>
              <a:rPr lang="en-US" dirty="0"/>
              <a:t>       { unset($_SESSION["</a:t>
            </a:r>
            <a:r>
              <a:rPr lang="en-US" dirty="0" err="1"/>
              <a:t>lastname</a:t>
            </a:r>
            <a:r>
              <a:rPr lang="en-US" dirty="0"/>
              <a:t>"]); } </a:t>
            </a:r>
          </a:p>
          <a:p>
            <a:pPr marL="0" indent="0">
              <a:buNone/>
            </a:pPr>
            <a:r>
              <a:rPr lang="en-US" dirty="0"/>
              <a:t>?&gt;</a:t>
            </a:r>
          </a:p>
        </p:txBody>
      </p:sp>
    </p:spTree>
    <p:extLst>
      <p:ext uri="{BB962C8B-B14F-4D97-AF65-F5344CB8AC3E}">
        <p14:creationId xmlns:p14="http://schemas.microsoft.com/office/powerpoint/2010/main" val="16387815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Destroy a PHP Session</a:t>
            </a:r>
          </a:p>
        </p:txBody>
      </p:sp>
      <p:sp>
        <p:nvSpPr>
          <p:cNvPr id="3" name="Content Placeholder 2"/>
          <p:cNvSpPr>
            <a:spLocks noGrp="1"/>
          </p:cNvSpPr>
          <p:nvPr>
            <p:ph idx="1"/>
          </p:nvPr>
        </p:nvSpPr>
        <p:spPr/>
        <p:txBody>
          <a:bodyPr>
            <a:normAutofit fontScale="85000" lnSpcReduction="10000"/>
          </a:bodyPr>
          <a:lstStyle/>
          <a:p>
            <a:pPr marL="511175" indent="-457200"/>
            <a:r>
              <a:rPr lang="en-US" dirty="0"/>
              <a:t>To destroy a session completely, simply call the </a:t>
            </a:r>
            <a:r>
              <a:rPr lang="en-US" dirty="0" err="1"/>
              <a:t>session_destroy</a:t>
            </a:r>
            <a:r>
              <a:rPr lang="en-US" dirty="0"/>
              <a:t>() function. This function does not need any argument and a single call destroys all the session data.</a:t>
            </a:r>
          </a:p>
          <a:p>
            <a:pPr marL="511175" indent="-457200"/>
            <a:r>
              <a:rPr lang="en-US" dirty="0"/>
              <a:t>Before destroying a session with the </a:t>
            </a:r>
            <a:r>
              <a:rPr lang="en-US" dirty="0" err="1"/>
              <a:t>session_destroy</a:t>
            </a:r>
            <a:r>
              <a:rPr lang="en-US" dirty="0"/>
              <a:t>() function, you need to first recreate the session environment if it is not already there using the session_start() function, so that there is something to destroy.</a:t>
            </a:r>
          </a:p>
          <a:p>
            <a:pPr marL="0" indent="0">
              <a:buNone/>
            </a:pPr>
            <a:r>
              <a:rPr lang="en-US" dirty="0"/>
              <a:t>    &lt;?</a:t>
            </a:r>
            <a:r>
              <a:rPr lang="en-US" dirty="0" err="1"/>
              <a:t>php</a:t>
            </a:r>
            <a:endParaRPr lang="en-US" dirty="0"/>
          </a:p>
          <a:p>
            <a:pPr marL="0" indent="0">
              <a:buNone/>
            </a:pPr>
            <a:r>
              <a:rPr lang="en-US" dirty="0"/>
              <a:t>          // Starting session</a:t>
            </a:r>
          </a:p>
          <a:p>
            <a:pPr marL="0" indent="0">
              <a:buNone/>
            </a:pPr>
            <a:r>
              <a:rPr lang="en-US" dirty="0"/>
              <a:t>            session_start();</a:t>
            </a:r>
          </a:p>
          <a:p>
            <a:pPr marL="0" indent="0">
              <a:buNone/>
            </a:pPr>
            <a:r>
              <a:rPr lang="en-US" dirty="0"/>
              <a:t>          // Destroying session</a:t>
            </a:r>
          </a:p>
          <a:p>
            <a:pPr marL="0" indent="0">
              <a:buNone/>
            </a:pPr>
            <a:r>
              <a:rPr lang="en-US" dirty="0"/>
              <a:t>           </a:t>
            </a:r>
            <a:r>
              <a:rPr lang="en-US" dirty="0" err="1"/>
              <a:t>session_destroy</a:t>
            </a:r>
            <a:r>
              <a:rPr lang="en-US" dirty="0"/>
              <a:t>();</a:t>
            </a:r>
          </a:p>
          <a:p>
            <a:pPr marL="0" indent="0">
              <a:buNone/>
            </a:pPr>
            <a:r>
              <a:rPr lang="en-US" dirty="0"/>
              <a:t>       ?&gt;</a:t>
            </a:r>
          </a:p>
        </p:txBody>
      </p:sp>
    </p:spTree>
    <p:extLst>
      <p:ext uri="{BB962C8B-B14F-4D97-AF65-F5344CB8AC3E}">
        <p14:creationId xmlns:p14="http://schemas.microsoft.com/office/powerpoint/2010/main" val="13034771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PHP Cookie</a:t>
            </a:r>
          </a:p>
        </p:txBody>
      </p:sp>
      <p:sp>
        <p:nvSpPr>
          <p:cNvPr id="3" name="Content Placeholder 2"/>
          <p:cNvSpPr>
            <a:spLocks noGrp="1"/>
          </p:cNvSpPr>
          <p:nvPr>
            <p:ph idx="1"/>
          </p:nvPr>
        </p:nvSpPr>
        <p:spPr/>
        <p:txBody>
          <a:bodyPr>
            <a:normAutofit fontScale="92500" lnSpcReduction="10000"/>
          </a:bodyPr>
          <a:lstStyle/>
          <a:p>
            <a:pPr fontAlgn="base"/>
            <a:r>
              <a:rPr lang="en-US" dirty="0"/>
              <a:t>A cookie is a small text file that lets you store a small amount of data (nearly 4KB) on the user's computer. They are typically used to keeping track of information such as username that the site can retrieve to personalize the page when user visit the website next time.</a:t>
            </a:r>
          </a:p>
          <a:p>
            <a:pPr fontAlgn="base"/>
            <a:r>
              <a:rPr lang="en-US" dirty="0"/>
              <a:t>Each time the browser requests a page to the server, all the data in the cookie is automatically sent to the server within the request.</a:t>
            </a:r>
          </a:p>
          <a:p>
            <a:pPr fontAlgn="base"/>
            <a:r>
              <a:rPr lang="en-US" dirty="0"/>
              <a:t>The </a:t>
            </a:r>
            <a:r>
              <a:rPr lang="en-US" dirty="0" err="1">
                <a:solidFill>
                  <a:srgbClr val="FF0000"/>
                </a:solidFill>
              </a:rPr>
              <a:t>setcookie</a:t>
            </a:r>
            <a:r>
              <a:rPr lang="en-US" dirty="0">
                <a:solidFill>
                  <a:srgbClr val="FF0000"/>
                </a:solidFill>
              </a:rPr>
              <a:t>() </a:t>
            </a:r>
            <a:r>
              <a:rPr lang="en-US" dirty="0"/>
              <a:t>function is used to set a cookie in PHP. Make sure you call the </a:t>
            </a:r>
            <a:r>
              <a:rPr lang="en-US" dirty="0" err="1">
                <a:solidFill>
                  <a:srgbClr val="FF0000"/>
                </a:solidFill>
              </a:rPr>
              <a:t>setcookie</a:t>
            </a:r>
            <a:r>
              <a:rPr lang="en-US" dirty="0">
                <a:solidFill>
                  <a:srgbClr val="FF0000"/>
                </a:solidFill>
              </a:rPr>
              <a:t>() </a:t>
            </a:r>
            <a:r>
              <a:rPr lang="en-US" dirty="0"/>
              <a:t>function before any output generated by your script otherwise cookie will not set. The basic syntax of this function can be given with:</a:t>
            </a:r>
          </a:p>
          <a:p>
            <a:pPr fontAlgn="base"/>
            <a:endParaRPr lang="en-US" dirty="0"/>
          </a:p>
          <a:p>
            <a:pPr marL="423862" indent="0" fontAlgn="base">
              <a:buNone/>
            </a:pPr>
            <a:r>
              <a:rPr lang="en-US" dirty="0" err="1">
                <a:solidFill>
                  <a:srgbClr val="FF0000"/>
                </a:solidFill>
              </a:rPr>
              <a:t>setcookie</a:t>
            </a:r>
            <a:r>
              <a:rPr lang="en-US" dirty="0">
                <a:solidFill>
                  <a:srgbClr val="FF0000"/>
                </a:solidFill>
              </a:rPr>
              <a:t>(name, value, expire, path, domain, secure);</a:t>
            </a:r>
          </a:p>
          <a:p>
            <a:endParaRPr lang="en-US" dirty="0"/>
          </a:p>
        </p:txBody>
      </p:sp>
    </p:spTree>
    <p:extLst>
      <p:ext uri="{BB962C8B-B14F-4D97-AF65-F5344CB8AC3E}">
        <p14:creationId xmlns:p14="http://schemas.microsoft.com/office/powerpoint/2010/main" val="25557207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114123093"/>
              </p:ext>
            </p:extLst>
          </p:nvPr>
        </p:nvGraphicFramePr>
        <p:xfrm>
          <a:off x="990600" y="668468"/>
          <a:ext cx="7467600" cy="5579932"/>
        </p:xfrm>
        <a:graphic>
          <a:graphicData uri="http://schemas.openxmlformats.org/drawingml/2006/table">
            <a:tbl>
              <a:tblPr/>
              <a:tblGrid>
                <a:gridCol w="1474371">
                  <a:extLst>
                    <a:ext uri="{9D8B030D-6E8A-4147-A177-3AD203B41FA5}">
                      <a16:colId xmlns:a16="http://schemas.microsoft.com/office/drawing/2014/main" val="1478898118"/>
                    </a:ext>
                  </a:extLst>
                </a:gridCol>
                <a:gridCol w="5993229">
                  <a:extLst>
                    <a:ext uri="{9D8B030D-6E8A-4147-A177-3AD203B41FA5}">
                      <a16:colId xmlns:a16="http://schemas.microsoft.com/office/drawing/2014/main" val="1790079910"/>
                    </a:ext>
                  </a:extLst>
                </a:gridCol>
              </a:tblGrid>
              <a:tr h="367469">
                <a:tc>
                  <a:txBody>
                    <a:bodyPr/>
                    <a:lstStyle/>
                    <a:p>
                      <a:pPr algn="l" fontAlgn="t"/>
                      <a:r>
                        <a:rPr lang="en-US" sz="2000" dirty="0">
                          <a:solidFill>
                            <a:srgbClr val="000000"/>
                          </a:solidFill>
                          <a:effectLst/>
                        </a:rPr>
                        <a:t>Parameter</a:t>
                      </a:r>
                    </a:p>
                  </a:txBody>
                  <a:tcPr marL="33889" marR="33889" marT="51640" marB="51640">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8F8F8"/>
                    </a:solidFill>
                  </a:tcPr>
                </a:tc>
                <a:tc>
                  <a:txBody>
                    <a:bodyPr/>
                    <a:lstStyle/>
                    <a:p>
                      <a:pPr algn="l" fontAlgn="t"/>
                      <a:r>
                        <a:rPr lang="en-US" sz="2000">
                          <a:solidFill>
                            <a:srgbClr val="000000"/>
                          </a:solidFill>
                          <a:effectLst/>
                        </a:rPr>
                        <a:t>Description</a:t>
                      </a:r>
                    </a:p>
                  </a:txBody>
                  <a:tcPr marL="33889" marR="33889" marT="51640" marB="51640">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8F8F8"/>
                    </a:solidFill>
                  </a:tcPr>
                </a:tc>
                <a:extLst>
                  <a:ext uri="{0D108BD9-81ED-4DB2-BD59-A6C34878D82A}">
                    <a16:rowId xmlns:a16="http://schemas.microsoft.com/office/drawing/2014/main" val="4293878613"/>
                  </a:ext>
                </a:extLst>
              </a:tr>
              <a:tr h="318254">
                <a:tc>
                  <a:txBody>
                    <a:bodyPr/>
                    <a:lstStyle/>
                    <a:p>
                      <a:pPr fontAlgn="t"/>
                      <a:r>
                        <a:rPr lang="en-US" sz="2000">
                          <a:solidFill>
                            <a:srgbClr val="484848"/>
                          </a:solidFill>
                          <a:effectLst/>
                        </a:rPr>
                        <a:t>name</a:t>
                      </a:r>
                    </a:p>
                  </a:txBody>
                  <a:tcPr marL="33889" marR="33889" marT="32275" marB="32275">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fontAlgn="t"/>
                      <a:r>
                        <a:rPr lang="en-US" sz="2000" dirty="0">
                          <a:solidFill>
                            <a:srgbClr val="484848"/>
                          </a:solidFill>
                          <a:effectLst/>
                        </a:rPr>
                        <a:t>The name of the cookie.</a:t>
                      </a:r>
                    </a:p>
                  </a:txBody>
                  <a:tcPr marL="33889" marR="33889" marT="32275" marB="32275">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extLst>
                  <a:ext uri="{0D108BD9-81ED-4DB2-BD59-A6C34878D82A}">
                    <a16:rowId xmlns:a16="http://schemas.microsoft.com/office/drawing/2014/main" val="961150094"/>
                  </a:ext>
                </a:extLst>
              </a:tr>
              <a:tr h="790714">
                <a:tc>
                  <a:txBody>
                    <a:bodyPr/>
                    <a:lstStyle/>
                    <a:p>
                      <a:pPr fontAlgn="t"/>
                      <a:r>
                        <a:rPr lang="en-US" sz="2000">
                          <a:solidFill>
                            <a:srgbClr val="484848"/>
                          </a:solidFill>
                          <a:effectLst/>
                        </a:rPr>
                        <a:t>value</a:t>
                      </a:r>
                    </a:p>
                  </a:txBody>
                  <a:tcPr marL="33889" marR="33889" marT="32275" marB="32275">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fontAlgn="t"/>
                      <a:r>
                        <a:rPr lang="en-US" sz="2000">
                          <a:solidFill>
                            <a:srgbClr val="484848"/>
                          </a:solidFill>
                          <a:effectLst/>
                        </a:rPr>
                        <a:t>The value of the cookie. Do not store sensitive information since this value is stored on the user's computer.</a:t>
                      </a:r>
                    </a:p>
                  </a:txBody>
                  <a:tcPr marL="33889" marR="33889" marT="32275" marB="32275">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extLst>
                  <a:ext uri="{0D108BD9-81ED-4DB2-BD59-A6C34878D82A}">
                    <a16:rowId xmlns:a16="http://schemas.microsoft.com/office/drawing/2014/main" val="2497106541"/>
                  </a:ext>
                </a:extLst>
              </a:tr>
              <a:tr h="1026944">
                <a:tc>
                  <a:txBody>
                    <a:bodyPr/>
                    <a:lstStyle/>
                    <a:p>
                      <a:pPr fontAlgn="t"/>
                      <a:r>
                        <a:rPr lang="en-US" sz="2000">
                          <a:solidFill>
                            <a:srgbClr val="484848"/>
                          </a:solidFill>
                          <a:effectLst/>
                        </a:rPr>
                        <a:t>expires</a:t>
                      </a:r>
                    </a:p>
                  </a:txBody>
                  <a:tcPr marL="33889" marR="33889" marT="32275" marB="32275">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fontAlgn="t"/>
                      <a:r>
                        <a:rPr lang="en-US" sz="2000" dirty="0">
                          <a:solidFill>
                            <a:srgbClr val="484848"/>
                          </a:solidFill>
                          <a:effectLst/>
                        </a:rPr>
                        <a:t>The expiry date in UNIX timestamp format. After this time cookie will become inaccessible. The default value is 0.</a:t>
                      </a:r>
                    </a:p>
                  </a:txBody>
                  <a:tcPr marL="33889" marR="33889" marT="32275" marB="32275">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extLst>
                  <a:ext uri="{0D108BD9-81ED-4DB2-BD59-A6C34878D82A}">
                    <a16:rowId xmlns:a16="http://schemas.microsoft.com/office/drawing/2014/main" val="3692960940"/>
                  </a:ext>
                </a:extLst>
              </a:tr>
              <a:tr h="1026944">
                <a:tc>
                  <a:txBody>
                    <a:bodyPr/>
                    <a:lstStyle/>
                    <a:p>
                      <a:pPr fontAlgn="t"/>
                      <a:r>
                        <a:rPr lang="en-US" sz="2000">
                          <a:solidFill>
                            <a:srgbClr val="484848"/>
                          </a:solidFill>
                          <a:effectLst/>
                        </a:rPr>
                        <a:t>path</a:t>
                      </a:r>
                    </a:p>
                  </a:txBody>
                  <a:tcPr marL="33889" marR="33889" marT="32275" marB="32275">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fontAlgn="t"/>
                      <a:r>
                        <a:rPr lang="en-US" sz="2000">
                          <a:solidFill>
                            <a:srgbClr val="484848"/>
                          </a:solidFill>
                          <a:effectLst/>
                        </a:rPr>
                        <a:t>Specify the path on the server for which the cookie will be available. If set to /, the cookie will be available within the entire domain.</a:t>
                      </a:r>
                    </a:p>
                  </a:txBody>
                  <a:tcPr marL="33889" marR="33889" marT="32275" marB="32275">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extLst>
                  <a:ext uri="{0D108BD9-81ED-4DB2-BD59-A6C34878D82A}">
                    <a16:rowId xmlns:a16="http://schemas.microsoft.com/office/drawing/2014/main" val="4007672000"/>
                  </a:ext>
                </a:extLst>
              </a:tr>
              <a:tr h="790714">
                <a:tc>
                  <a:txBody>
                    <a:bodyPr/>
                    <a:lstStyle/>
                    <a:p>
                      <a:pPr fontAlgn="t"/>
                      <a:r>
                        <a:rPr lang="en-US" sz="2000">
                          <a:solidFill>
                            <a:srgbClr val="484848"/>
                          </a:solidFill>
                          <a:effectLst/>
                        </a:rPr>
                        <a:t>domain</a:t>
                      </a:r>
                    </a:p>
                  </a:txBody>
                  <a:tcPr marL="33889" marR="33889" marT="32275" marB="32275">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fontAlgn="t"/>
                      <a:r>
                        <a:rPr lang="en-US" sz="2000">
                          <a:solidFill>
                            <a:srgbClr val="484848"/>
                          </a:solidFill>
                          <a:effectLst/>
                        </a:rPr>
                        <a:t>Specify the domain for which the cookie is available to e.g www.example.com.</a:t>
                      </a:r>
                    </a:p>
                  </a:txBody>
                  <a:tcPr marL="33889" marR="33889" marT="32275" marB="32275">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extLst>
                  <a:ext uri="{0D108BD9-81ED-4DB2-BD59-A6C34878D82A}">
                    <a16:rowId xmlns:a16="http://schemas.microsoft.com/office/drawing/2014/main" val="1190113678"/>
                  </a:ext>
                </a:extLst>
              </a:tr>
              <a:tr h="790714">
                <a:tc>
                  <a:txBody>
                    <a:bodyPr/>
                    <a:lstStyle/>
                    <a:p>
                      <a:pPr fontAlgn="t"/>
                      <a:r>
                        <a:rPr lang="en-US" sz="2000">
                          <a:solidFill>
                            <a:srgbClr val="484848"/>
                          </a:solidFill>
                          <a:effectLst/>
                        </a:rPr>
                        <a:t>secure</a:t>
                      </a:r>
                    </a:p>
                  </a:txBody>
                  <a:tcPr marL="33889" marR="33889" marT="32275" marB="32275">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tc>
                  <a:txBody>
                    <a:bodyPr/>
                    <a:lstStyle/>
                    <a:p>
                      <a:pPr fontAlgn="t"/>
                      <a:r>
                        <a:rPr lang="en-US" sz="2000" dirty="0">
                          <a:solidFill>
                            <a:srgbClr val="484848"/>
                          </a:solidFill>
                          <a:effectLst/>
                        </a:rPr>
                        <a:t>This field, if present, indicates that the cookie should be sent only if a secure HTTPS connection exists.</a:t>
                      </a:r>
                    </a:p>
                  </a:txBody>
                  <a:tcPr marL="33889" marR="33889" marT="32275" marB="32275">
                    <a:lnL w="9525" cap="flat" cmpd="sng" algn="ctr">
                      <a:solidFill>
                        <a:srgbClr val="DCE3EB"/>
                      </a:solidFill>
                      <a:prstDash val="solid"/>
                      <a:round/>
                      <a:headEnd type="none" w="med" len="med"/>
                      <a:tailEnd type="none" w="med" len="med"/>
                    </a:lnL>
                    <a:lnR w="9525" cap="flat" cmpd="sng" algn="ctr">
                      <a:solidFill>
                        <a:srgbClr val="DCE3EB"/>
                      </a:solidFill>
                      <a:prstDash val="solid"/>
                      <a:round/>
                      <a:headEnd type="none" w="med" len="med"/>
                      <a:tailEnd type="none" w="med" len="med"/>
                    </a:lnR>
                    <a:lnT w="9525" cap="flat" cmpd="sng" algn="ctr">
                      <a:solidFill>
                        <a:srgbClr val="DCE3EB"/>
                      </a:solidFill>
                      <a:prstDash val="solid"/>
                      <a:round/>
                      <a:headEnd type="none" w="med" len="med"/>
                      <a:tailEnd type="none" w="med" len="med"/>
                    </a:lnT>
                    <a:lnB w="9525" cap="flat" cmpd="sng" algn="ctr">
                      <a:solidFill>
                        <a:srgbClr val="DCE3EB"/>
                      </a:solidFill>
                      <a:prstDash val="solid"/>
                      <a:round/>
                      <a:headEnd type="none" w="med" len="med"/>
                      <a:tailEnd type="none" w="med" len="med"/>
                    </a:lnB>
                    <a:solidFill>
                      <a:srgbClr val="FFFFFF"/>
                    </a:solidFill>
                  </a:tcPr>
                </a:tc>
                <a:extLst>
                  <a:ext uri="{0D108BD9-81ED-4DB2-BD59-A6C34878D82A}">
                    <a16:rowId xmlns:a16="http://schemas.microsoft.com/office/drawing/2014/main" val="2869160452"/>
                  </a:ext>
                </a:extLst>
              </a:tr>
            </a:tbl>
          </a:graphicData>
        </a:graphic>
      </p:graphicFrame>
    </p:spTree>
    <p:extLst>
      <p:ext uri="{BB962C8B-B14F-4D97-AF65-F5344CB8AC3E}">
        <p14:creationId xmlns:p14="http://schemas.microsoft.com/office/powerpoint/2010/main" val="12864525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Php</a:t>
            </a:r>
            <a:r>
              <a:rPr lang="en-US" dirty="0"/>
              <a:t> Cookie</a:t>
            </a:r>
          </a:p>
        </p:txBody>
      </p:sp>
      <p:sp>
        <p:nvSpPr>
          <p:cNvPr id="3" name="Content Placeholder 2"/>
          <p:cNvSpPr>
            <a:spLocks noGrp="1"/>
          </p:cNvSpPr>
          <p:nvPr>
            <p:ph idx="1"/>
          </p:nvPr>
        </p:nvSpPr>
        <p:spPr/>
        <p:txBody>
          <a:bodyPr>
            <a:normAutofit fontScale="85000" lnSpcReduction="20000"/>
          </a:bodyPr>
          <a:lstStyle/>
          <a:p>
            <a:pPr marL="511175" indent="-457200"/>
            <a:r>
              <a:rPr lang="en-US" dirty="0"/>
              <a:t>If the expiration time of the cookie is set to 0, or omitted, the cookie will expire at the end of the session i.e. when the browser closes.</a:t>
            </a:r>
          </a:p>
          <a:p>
            <a:pPr marL="511175" indent="-457200"/>
            <a:r>
              <a:rPr lang="en-US" dirty="0"/>
              <a:t>All the arguments except the name are optional. You may also replace an argument with an empty string ("") in order to skip that argument, however to skip the expire argument use a zero (0) instead, since it is an integer.</a:t>
            </a:r>
          </a:p>
          <a:p>
            <a:pPr marL="511175" indent="-457200"/>
            <a:r>
              <a:rPr lang="en-US" dirty="0"/>
              <a:t>Here's an example that uses </a:t>
            </a:r>
            <a:r>
              <a:rPr lang="en-US" dirty="0" err="1"/>
              <a:t>setcookie</a:t>
            </a:r>
            <a:r>
              <a:rPr lang="en-US" dirty="0"/>
              <a:t>() function to create a cookie named username and assign the value </a:t>
            </a:r>
            <a:r>
              <a:rPr lang="en-US" dirty="0" err="1"/>
              <a:t>value</a:t>
            </a:r>
            <a:r>
              <a:rPr lang="en-US" dirty="0"/>
              <a:t> John Carter to it. It also specify that the cookie will expire after 30 days (30 days * 24 hours * 60 min * 60 sec).</a:t>
            </a:r>
          </a:p>
          <a:p>
            <a:pPr marL="400050" lvl="1" indent="0">
              <a:buNone/>
            </a:pPr>
            <a:r>
              <a:rPr lang="en-US" dirty="0"/>
              <a:t>  &lt;?</a:t>
            </a:r>
            <a:r>
              <a:rPr lang="en-US" dirty="0" err="1"/>
              <a:t>php</a:t>
            </a:r>
            <a:r>
              <a:rPr lang="en-US" dirty="0"/>
              <a:t> </a:t>
            </a:r>
          </a:p>
          <a:p>
            <a:pPr marL="400050" lvl="1" indent="0">
              <a:buNone/>
            </a:pPr>
            <a:r>
              <a:rPr lang="en-US" dirty="0"/>
              <a:t>        // Setting a cookie</a:t>
            </a:r>
          </a:p>
          <a:p>
            <a:pPr marL="400050" lvl="1" indent="0">
              <a:buNone/>
            </a:pPr>
            <a:r>
              <a:rPr lang="en-US" dirty="0"/>
              <a:t>         </a:t>
            </a:r>
            <a:r>
              <a:rPr lang="en-US" dirty="0" err="1"/>
              <a:t>setcookie</a:t>
            </a:r>
            <a:r>
              <a:rPr lang="en-US" dirty="0"/>
              <a:t>("username", "John Carter", time()+30*24*60*60); </a:t>
            </a:r>
          </a:p>
          <a:p>
            <a:pPr marL="400050" lvl="1" indent="0">
              <a:buNone/>
            </a:pPr>
            <a:r>
              <a:rPr lang="en-US" dirty="0"/>
              <a:t>       ?&gt;</a:t>
            </a:r>
          </a:p>
        </p:txBody>
      </p:sp>
    </p:spTree>
    <p:extLst>
      <p:ext uri="{BB962C8B-B14F-4D97-AF65-F5344CB8AC3E}">
        <p14:creationId xmlns:p14="http://schemas.microsoft.com/office/powerpoint/2010/main" val="32193399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Accessing Cookies Values</a:t>
            </a:r>
          </a:p>
        </p:txBody>
      </p:sp>
      <p:sp>
        <p:nvSpPr>
          <p:cNvPr id="3" name="Content Placeholder 2"/>
          <p:cNvSpPr>
            <a:spLocks noGrp="1"/>
          </p:cNvSpPr>
          <p:nvPr>
            <p:ph idx="1"/>
          </p:nvPr>
        </p:nvSpPr>
        <p:spPr/>
        <p:txBody>
          <a:bodyPr>
            <a:normAutofit/>
          </a:bodyPr>
          <a:lstStyle/>
          <a:p>
            <a:pPr algn="just"/>
            <a:r>
              <a:rPr lang="en-US" dirty="0"/>
              <a:t>The </a:t>
            </a:r>
            <a:r>
              <a:rPr lang="en-US" dirty="0" err="1"/>
              <a:t>Php</a:t>
            </a:r>
            <a:r>
              <a:rPr lang="en-US" dirty="0"/>
              <a:t> $_COOKIE </a:t>
            </a:r>
            <a:r>
              <a:rPr lang="en-US" dirty="0" err="1"/>
              <a:t>superglobal</a:t>
            </a:r>
            <a:r>
              <a:rPr lang="en-US" dirty="0"/>
              <a:t> variable is used to retrieve a cookie value. It typically an associative array that contains a list of all the cookies values sent by the browser in the current request, keyed by cookie name. The individual cookie value can be accessed using standard array notation, for example to display the username cookie set in the previous example, you could use the following code.</a:t>
            </a:r>
          </a:p>
          <a:p>
            <a:pPr marL="400050" lvl="1" indent="0">
              <a:buNone/>
            </a:pPr>
            <a:r>
              <a:rPr lang="en-US" dirty="0"/>
              <a:t>&lt;?</a:t>
            </a:r>
            <a:r>
              <a:rPr lang="en-US" dirty="0" err="1"/>
              <a:t>php</a:t>
            </a:r>
            <a:r>
              <a:rPr lang="en-US" dirty="0"/>
              <a:t> </a:t>
            </a:r>
          </a:p>
          <a:p>
            <a:pPr marL="400050" lvl="1" indent="0">
              <a:buNone/>
            </a:pPr>
            <a:r>
              <a:rPr lang="en-US" dirty="0"/>
              <a:t> // Accessing an individual cookie value </a:t>
            </a:r>
          </a:p>
          <a:p>
            <a:pPr marL="400050" lvl="1" indent="0">
              <a:buNone/>
            </a:pPr>
            <a:r>
              <a:rPr lang="en-US" dirty="0"/>
              <a:t>  echo $_COOKIE["username"];</a:t>
            </a:r>
          </a:p>
          <a:p>
            <a:pPr marL="400050" lvl="1" indent="0">
              <a:buNone/>
            </a:pPr>
            <a:r>
              <a:rPr lang="en-US" dirty="0"/>
              <a:t> ?&gt;</a:t>
            </a:r>
          </a:p>
          <a:p>
            <a:endParaRPr lang="en-US" dirty="0"/>
          </a:p>
        </p:txBody>
      </p:sp>
    </p:spTree>
    <p:extLst>
      <p:ext uri="{BB962C8B-B14F-4D97-AF65-F5344CB8AC3E}">
        <p14:creationId xmlns:p14="http://schemas.microsoft.com/office/powerpoint/2010/main" val="14388830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Accessing Cookies Values</a:t>
            </a:r>
          </a:p>
        </p:txBody>
      </p:sp>
      <p:sp>
        <p:nvSpPr>
          <p:cNvPr id="3" name="Content Placeholder 2"/>
          <p:cNvSpPr>
            <a:spLocks noGrp="1"/>
          </p:cNvSpPr>
          <p:nvPr>
            <p:ph idx="1"/>
          </p:nvPr>
        </p:nvSpPr>
        <p:spPr/>
        <p:txBody>
          <a:bodyPr>
            <a:normAutofit fontScale="92500" lnSpcReduction="10000"/>
          </a:bodyPr>
          <a:lstStyle/>
          <a:p>
            <a:r>
              <a:rPr lang="en-US" dirty="0"/>
              <a:t>It's a good practice to check whether a cookie is set or not before accessing its value. To do this you can use the </a:t>
            </a:r>
            <a:r>
              <a:rPr lang="en-US" dirty="0" err="1"/>
              <a:t>Php</a:t>
            </a:r>
            <a:r>
              <a:rPr lang="en-US" dirty="0"/>
              <a:t> </a:t>
            </a:r>
            <a:r>
              <a:rPr lang="en-US" dirty="0" err="1"/>
              <a:t>isset</a:t>
            </a:r>
            <a:r>
              <a:rPr lang="en-US" dirty="0"/>
              <a:t>() function, like this:</a:t>
            </a:r>
          </a:p>
          <a:p>
            <a:pPr marL="428625" indent="0">
              <a:buNone/>
            </a:pPr>
            <a:r>
              <a:rPr lang="en-US" dirty="0"/>
              <a:t>&lt;?</a:t>
            </a:r>
            <a:r>
              <a:rPr lang="en-US" dirty="0" err="1"/>
              <a:t>php</a:t>
            </a:r>
            <a:r>
              <a:rPr lang="en-US" dirty="0"/>
              <a:t> </a:t>
            </a:r>
          </a:p>
          <a:p>
            <a:pPr marL="428625" indent="0">
              <a:buNone/>
            </a:pPr>
            <a:r>
              <a:rPr lang="en-US" dirty="0"/>
              <a:t> // Verifying whether a cookie is set or not</a:t>
            </a:r>
          </a:p>
          <a:p>
            <a:pPr marL="428625" indent="0">
              <a:buNone/>
            </a:pPr>
            <a:r>
              <a:rPr lang="en-US" dirty="0"/>
              <a:t> if(</a:t>
            </a:r>
            <a:r>
              <a:rPr lang="en-US" dirty="0" err="1"/>
              <a:t>isset</a:t>
            </a:r>
            <a:r>
              <a:rPr lang="en-US" dirty="0"/>
              <a:t>($_COOKIE["username"]))</a:t>
            </a:r>
          </a:p>
          <a:p>
            <a:pPr marL="428625" indent="0">
              <a:buNone/>
            </a:pPr>
            <a:r>
              <a:rPr lang="en-US" dirty="0"/>
              <a:t> { echo "Hi " . $_COOKIE["username"]; } </a:t>
            </a:r>
          </a:p>
          <a:p>
            <a:pPr marL="428625" indent="0">
              <a:buNone/>
            </a:pPr>
            <a:r>
              <a:rPr lang="en-US" dirty="0"/>
              <a:t> else{ echo "Welcome Guest!"; } </a:t>
            </a:r>
          </a:p>
          <a:p>
            <a:pPr marL="428625" indent="0">
              <a:buNone/>
            </a:pPr>
            <a:r>
              <a:rPr lang="en-US" dirty="0"/>
              <a:t> ?&gt;</a:t>
            </a:r>
          </a:p>
          <a:p>
            <a:r>
              <a:rPr lang="en-US" dirty="0"/>
              <a:t>You can use the </a:t>
            </a:r>
            <a:r>
              <a:rPr lang="en-US" dirty="0" err="1"/>
              <a:t>print_r</a:t>
            </a:r>
            <a:r>
              <a:rPr lang="en-US" dirty="0"/>
              <a:t>() function like </a:t>
            </a:r>
            <a:r>
              <a:rPr lang="en-US" dirty="0" err="1"/>
              <a:t>print_r</a:t>
            </a:r>
            <a:r>
              <a:rPr lang="en-US" dirty="0"/>
              <a:t>($_COOKIE); to see the structure of this $_COOKIE associative array, like you with other arrays.</a:t>
            </a:r>
          </a:p>
          <a:p>
            <a:pPr marL="287338" indent="-287338">
              <a:buFont typeface="Wingdings" panose="05000000000000000000" pitchFamily="2" charset="2"/>
              <a:buChar char="q"/>
            </a:pPr>
            <a:endParaRPr lang="en-US" dirty="0"/>
          </a:p>
          <a:p>
            <a:endParaRPr lang="en-US" dirty="0"/>
          </a:p>
        </p:txBody>
      </p:sp>
    </p:spTree>
    <p:extLst>
      <p:ext uri="{BB962C8B-B14F-4D97-AF65-F5344CB8AC3E}">
        <p14:creationId xmlns:p14="http://schemas.microsoft.com/office/powerpoint/2010/main" val="31634454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Removing Cookies</a:t>
            </a:r>
          </a:p>
        </p:txBody>
      </p:sp>
      <p:sp>
        <p:nvSpPr>
          <p:cNvPr id="8" name="Content Placeholder 7"/>
          <p:cNvSpPr>
            <a:spLocks noGrp="1"/>
          </p:cNvSpPr>
          <p:nvPr>
            <p:ph idx="1"/>
          </p:nvPr>
        </p:nvSpPr>
        <p:spPr/>
        <p:txBody>
          <a:bodyPr>
            <a:normAutofit fontScale="92500" lnSpcReduction="10000"/>
          </a:bodyPr>
          <a:lstStyle/>
          <a:p>
            <a:r>
              <a:rPr lang="en-US" dirty="0"/>
              <a:t>You should pass exactly the same path, domain, and other arguments that you have used when you first created the cookie in order to ensure that the correct cookie is deleted.</a:t>
            </a:r>
          </a:p>
          <a:p>
            <a:r>
              <a:rPr lang="en-US" dirty="0"/>
              <a:t>You can delete a cookie by calling the same </a:t>
            </a:r>
            <a:r>
              <a:rPr lang="en-US" dirty="0" err="1"/>
              <a:t>setcookie</a:t>
            </a:r>
            <a:r>
              <a:rPr lang="en-US" dirty="0"/>
              <a:t>() function with the cookie name and any value (such as an empty string) however this time you need the set the expiration date in the past, as shown in the example below:</a:t>
            </a:r>
          </a:p>
          <a:p>
            <a:pPr marL="400050" lvl="1" indent="0">
              <a:buNone/>
            </a:pPr>
            <a:r>
              <a:rPr lang="en-US" dirty="0"/>
              <a:t>&lt;?</a:t>
            </a:r>
            <a:r>
              <a:rPr lang="en-US" dirty="0" err="1"/>
              <a:t>php</a:t>
            </a:r>
            <a:r>
              <a:rPr lang="en-US" dirty="0"/>
              <a:t> </a:t>
            </a:r>
          </a:p>
          <a:p>
            <a:pPr marL="400050" lvl="1" indent="0">
              <a:buNone/>
            </a:pPr>
            <a:r>
              <a:rPr lang="en-US" dirty="0"/>
              <a:t>   // Deleting a cookie </a:t>
            </a:r>
          </a:p>
          <a:p>
            <a:pPr marL="400050" lvl="1" indent="0">
              <a:buNone/>
            </a:pPr>
            <a:r>
              <a:rPr lang="en-US" dirty="0"/>
              <a:t>        </a:t>
            </a:r>
            <a:r>
              <a:rPr lang="en-US" dirty="0" err="1"/>
              <a:t>setcookie</a:t>
            </a:r>
            <a:r>
              <a:rPr lang="en-US" dirty="0"/>
              <a:t>("username", "", time()-3600); </a:t>
            </a:r>
          </a:p>
          <a:p>
            <a:pPr marL="400050" lvl="1" indent="0">
              <a:buNone/>
            </a:pPr>
            <a:r>
              <a:rPr lang="en-US" dirty="0"/>
              <a:t>    ?&gt;</a:t>
            </a:r>
          </a:p>
        </p:txBody>
      </p:sp>
    </p:spTree>
    <p:extLst>
      <p:ext uri="{BB962C8B-B14F-4D97-AF65-F5344CB8AC3E}">
        <p14:creationId xmlns:p14="http://schemas.microsoft.com/office/powerpoint/2010/main" val="292127700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279</TotalTime>
  <Words>3866</Words>
  <Application>Microsoft Office PowerPoint</Application>
  <PresentationFormat>On-screen Show (4:3)</PresentationFormat>
  <Paragraphs>475</Paragraphs>
  <Slides>81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81</vt:i4>
      </vt:variant>
    </vt:vector>
  </HeadingPairs>
  <TitlesOfParts>
    <vt:vector size="89" baseType="lpstr">
      <vt:lpstr>Arial</vt:lpstr>
      <vt:lpstr>Bookman Uralic</vt:lpstr>
      <vt:lpstr>Calibri</vt:lpstr>
      <vt:lpstr>Consolas</vt:lpstr>
      <vt:lpstr>Trebuchet MS</vt:lpstr>
      <vt:lpstr>Wingdings</vt:lpstr>
      <vt:lpstr>Wingdings 3</vt:lpstr>
      <vt:lpstr>Facet</vt:lpstr>
      <vt:lpstr>PHP</vt:lpstr>
      <vt:lpstr>Server-side Technologies</vt:lpstr>
      <vt:lpstr>What is PHP?</vt:lpstr>
      <vt:lpstr>What is a PHP File?</vt:lpstr>
      <vt:lpstr>What Can PHP Do?</vt:lpstr>
      <vt:lpstr>Why PHP?</vt:lpstr>
      <vt:lpstr>Basic PHP Syntax</vt:lpstr>
      <vt:lpstr>PowerPoint Presentation</vt:lpstr>
      <vt:lpstr>Data Types</vt:lpstr>
      <vt:lpstr>PHP Variables</vt:lpstr>
      <vt:lpstr>Creating (Declaring) PHP Variables</vt:lpstr>
      <vt:lpstr>PHP echo and print Statements</vt:lpstr>
      <vt:lpstr>Php Operators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PHP Arrays</vt:lpstr>
      <vt:lpstr>Create an Array in PHP</vt:lpstr>
      <vt:lpstr>PHP Indexed Arrays</vt:lpstr>
      <vt:lpstr>PHP Associative Arrays</vt:lpstr>
      <vt:lpstr>PHP Associative Arrays</vt:lpstr>
      <vt:lpstr>PHP Multidimensional Arrays</vt:lpstr>
      <vt:lpstr>PHP Multidimensional Arrays</vt:lpstr>
      <vt:lpstr>Decision Making</vt:lpstr>
      <vt:lpstr>Loops</vt:lpstr>
      <vt:lpstr>User Defined Functions</vt:lpstr>
      <vt:lpstr>PowerPoint Presentation</vt:lpstr>
      <vt:lpstr> Using PHP for database connectivity</vt:lpstr>
      <vt:lpstr>PowerPoint Presentation</vt:lpstr>
      <vt:lpstr>Introduction</vt:lpstr>
      <vt:lpstr>MySQL Basics</vt:lpstr>
      <vt:lpstr>Database Terms Review</vt:lpstr>
      <vt:lpstr>MySQLi Functions</vt:lpstr>
      <vt:lpstr>Accessing MySQL</vt:lpstr>
      <vt:lpstr>The Process for Connecting MySQL via PHP</vt:lpstr>
      <vt:lpstr>A Connection File</vt:lpstr>
      <vt:lpstr>PHP Create a MySQL Database</vt:lpstr>
      <vt:lpstr>PHP Create MySQL Tables</vt:lpstr>
      <vt:lpstr>PHP Create MySQL Tables (cont.)</vt:lpstr>
      <vt:lpstr>PHP Create MySQL Tables (cont.)</vt:lpstr>
      <vt:lpstr>PHP Create MySQL Tables (cont.)</vt:lpstr>
      <vt:lpstr>PHP Insert Data Into MySQL</vt:lpstr>
      <vt:lpstr>PHP Insert Data Into MySQL</vt:lpstr>
      <vt:lpstr>PHP Get ID of Last Inserted Record</vt:lpstr>
      <vt:lpstr>PHP Select Data From MySQL</vt:lpstr>
      <vt:lpstr>PHP Select Data From MySQL (cont.)</vt:lpstr>
      <vt:lpstr>PHP Delete Data From MySQL</vt:lpstr>
      <vt:lpstr>PHP Update Data in MySQL</vt:lpstr>
      <vt:lpstr>PHP Limit Data Selections From MySQL</vt:lpstr>
      <vt:lpstr>MySQL Prepared statements with examples</vt:lpstr>
      <vt:lpstr>Prepared Statements</vt:lpstr>
      <vt:lpstr>Prepared Statements (Cont.)</vt:lpstr>
      <vt:lpstr>Advantages of Using Prepared Statements</vt:lpstr>
      <vt:lpstr>Example</vt:lpstr>
      <vt:lpstr>Example (Cont.)</vt:lpstr>
      <vt:lpstr>Example (Cont.)</vt:lpstr>
      <vt:lpstr>PHP form handling, input validation</vt:lpstr>
      <vt:lpstr>Form Handling</vt:lpstr>
      <vt:lpstr>$_POST</vt:lpstr>
      <vt:lpstr>Example - $_POST</vt:lpstr>
      <vt:lpstr>$_GET</vt:lpstr>
      <vt:lpstr>Example - $_GET</vt:lpstr>
      <vt:lpstr>PHP MySQL</vt:lpstr>
      <vt:lpstr> PHP Session</vt:lpstr>
      <vt:lpstr>PHP Session</vt:lpstr>
      <vt:lpstr>Start a PHP Session</vt:lpstr>
      <vt:lpstr>Storing and Accessing Session Data</vt:lpstr>
      <vt:lpstr>Storing and Accessing Session Data</vt:lpstr>
      <vt:lpstr>Destroy a PHP Session</vt:lpstr>
      <vt:lpstr>Destroy a PHP Session</vt:lpstr>
      <vt:lpstr>PHP Cookie</vt:lpstr>
      <vt:lpstr>PowerPoint Presentation</vt:lpstr>
      <vt:lpstr>Php Cookie</vt:lpstr>
      <vt:lpstr>Accessing Cookies Values</vt:lpstr>
      <vt:lpstr>Accessing Cookies Values</vt:lpstr>
      <vt:lpstr>Removing Cookies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Engineering</dc:title>
  <dc:creator>Surayya Obaid</dc:creator>
  <cp:lastModifiedBy>Fariha Shafiq</cp:lastModifiedBy>
  <cp:revision>10</cp:revision>
  <dcterms:created xsi:type="dcterms:W3CDTF">2023-06-12T15:00:13Z</dcterms:created>
  <dcterms:modified xsi:type="dcterms:W3CDTF">2024-08-26T14:21:41Z</dcterms:modified>
</cp:coreProperties>
</file>