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728" r:id="rId1"/>
  </p:sldMasterIdLst>
  <p:notesMasterIdLst>
    <p:notesMasterId r:id="rId75"/>
  </p:notesMasterIdLst>
  <p:sldIdLst>
    <p:sldId id="258" r:id="rId2"/>
    <p:sldId id="271" r:id="rId3"/>
    <p:sldId id="270" r:id="rId4"/>
    <p:sldId id="272" r:id="rId5"/>
    <p:sldId id="273" r:id="rId6"/>
    <p:sldId id="274" r:id="rId7"/>
    <p:sldId id="275" r:id="rId8"/>
    <p:sldId id="276" r:id="rId9"/>
    <p:sldId id="277" r:id="rId10"/>
    <p:sldId id="278" r:id="rId11"/>
    <p:sldId id="279" r:id="rId12"/>
    <p:sldId id="280" r:id="rId13"/>
    <p:sldId id="281" r:id="rId14"/>
    <p:sldId id="282" r:id="rId15"/>
    <p:sldId id="283" r:id="rId16"/>
    <p:sldId id="284" r:id="rId17"/>
    <p:sldId id="285" r:id="rId18"/>
    <p:sldId id="286" r:id="rId19"/>
    <p:sldId id="287" r:id="rId20"/>
    <p:sldId id="288" r:id="rId21"/>
    <p:sldId id="290" r:id="rId22"/>
    <p:sldId id="289" r:id="rId23"/>
    <p:sldId id="291" r:id="rId24"/>
    <p:sldId id="292" r:id="rId25"/>
    <p:sldId id="293" r:id="rId26"/>
    <p:sldId id="294" r:id="rId27"/>
    <p:sldId id="295" r:id="rId28"/>
    <p:sldId id="296" r:id="rId29"/>
    <p:sldId id="322" r:id="rId30"/>
    <p:sldId id="323" r:id="rId31"/>
    <p:sldId id="297" r:id="rId32"/>
    <p:sldId id="298" r:id="rId33"/>
    <p:sldId id="299" r:id="rId34"/>
    <p:sldId id="300" r:id="rId35"/>
    <p:sldId id="301" r:id="rId36"/>
    <p:sldId id="302" r:id="rId37"/>
    <p:sldId id="303" r:id="rId38"/>
    <p:sldId id="304" r:id="rId39"/>
    <p:sldId id="305" r:id="rId40"/>
    <p:sldId id="306" r:id="rId41"/>
    <p:sldId id="312" r:id="rId42"/>
    <p:sldId id="313" r:id="rId43"/>
    <p:sldId id="314" r:id="rId44"/>
    <p:sldId id="315" r:id="rId45"/>
    <p:sldId id="316" r:id="rId46"/>
    <p:sldId id="317" r:id="rId47"/>
    <p:sldId id="307" r:id="rId48"/>
    <p:sldId id="308" r:id="rId49"/>
    <p:sldId id="309" r:id="rId50"/>
    <p:sldId id="310" r:id="rId51"/>
    <p:sldId id="311" r:id="rId52"/>
    <p:sldId id="318" r:id="rId53"/>
    <p:sldId id="319" r:id="rId54"/>
    <p:sldId id="324" r:id="rId55"/>
    <p:sldId id="325" r:id="rId56"/>
    <p:sldId id="326" r:id="rId57"/>
    <p:sldId id="327" r:id="rId58"/>
    <p:sldId id="328" r:id="rId59"/>
    <p:sldId id="329" r:id="rId60"/>
    <p:sldId id="330" r:id="rId61"/>
    <p:sldId id="331" r:id="rId62"/>
    <p:sldId id="332" r:id="rId63"/>
    <p:sldId id="333" r:id="rId64"/>
    <p:sldId id="334" r:id="rId65"/>
    <p:sldId id="335" r:id="rId66"/>
    <p:sldId id="336" r:id="rId67"/>
    <p:sldId id="338" r:id="rId68"/>
    <p:sldId id="337" r:id="rId69"/>
    <p:sldId id="339" r:id="rId70"/>
    <p:sldId id="340" r:id="rId71"/>
    <p:sldId id="341" r:id="rId72"/>
    <p:sldId id="342" r:id="rId73"/>
    <p:sldId id="343" r:id="rId7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C2E9C57-3744-4DD9-BDAD-69E577D23F1B}">
          <p14:sldIdLst>
            <p14:sldId id="258"/>
            <p14:sldId id="271"/>
            <p14:sldId id="270"/>
            <p14:sldId id="272"/>
            <p14:sldId id="273"/>
            <p14:sldId id="274"/>
            <p14:sldId id="275"/>
            <p14:sldId id="276"/>
            <p14:sldId id="277"/>
            <p14:sldId id="278"/>
            <p14:sldId id="279"/>
            <p14:sldId id="280"/>
            <p14:sldId id="281"/>
            <p14:sldId id="282"/>
            <p14:sldId id="283"/>
          </p14:sldIdLst>
        </p14:section>
        <p14:section name="Tables" id="{3B6BE6DF-8219-4F7F-AF25-AB84C0E438F9}">
          <p14:sldIdLst>
            <p14:sldId id="284"/>
            <p14:sldId id="285"/>
            <p14:sldId id="286"/>
            <p14:sldId id="287"/>
            <p14:sldId id="288"/>
            <p14:sldId id="290"/>
            <p14:sldId id="289"/>
            <p14:sldId id="291"/>
            <p14:sldId id="292"/>
            <p14:sldId id="293"/>
            <p14:sldId id="294"/>
          </p14:sldIdLst>
        </p14:section>
        <p14:section name="Indexes" id="{713D8D8F-358A-4EE6-84AF-BC820055ED8B}">
          <p14:sldIdLst>
            <p14:sldId id="295"/>
            <p14:sldId id="296"/>
            <p14:sldId id="322"/>
            <p14:sldId id="323"/>
          </p14:sldIdLst>
        </p14:section>
        <p14:section name="Referential Integrity" id="{BEBEEBEB-7219-42F7-9828-1DCA10084D90}">
          <p14:sldIdLst>
            <p14:sldId id="297"/>
          </p14:sldIdLst>
        </p14:section>
        <p14:section name="Show Command" id="{6BF58A8C-CCED-4112-94F5-AD57898D4AF3}">
          <p14:sldIdLst>
            <p14:sldId id="298"/>
            <p14:sldId id="299"/>
          </p14:sldIdLst>
        </p14:section>
        <p14:section name="Like" id="{A57B0149-E7F7-4CF1-AD8E-2610607B362B}">
          <p14:sldIdLst>
            <p14:sldId id="300"/>
          </p14:sldIdLst>
        </p14:section>
        <p14:section name="Show Indexes" id="{6809E18D-E898-436D-9A2A-80B859D7D556}">
          <p14:sldIdLst>
            <p14:sldId id="301"/>
            <p14:sldId id="302"/>
          </p14:sldIdLst>
        </p14:section>
        <p14:section name="Show Table Status" id="{9FB2EEB2-9D5B-4F3F-BAEA-C9F486A5C5EE}">
          <p14:sldIdLst>
            <p14:sldId id="303"/>
            <p14:sldId id="304"/>
          </p14:sldIdLst>
        </p14:section>
        <p14:section name="Show User" id="{1448D91C-E2ED-4222-952F-C46F3EFA1700}">
          <p14:sldIdLst>
            <p14:sldId id="305"/>
          </p14:sldIdLst>
        </p14:section>
        <p14:section name="Alter" id="{20BA0214-6BA7-4A79-B989-11F3D8E41693}">
          <p14:sldIdLst>
            <p14:sldId id="306"/>
            <p14:sldId id="312"/>
            <p14:sldId id="313"/>
            <p14:sldId id="314"/>
          </p14:sldIdLst>
        </p14:section>
        <p14:section name="Drop" id="{A78BFA55-9A12-4516-AC92-33A3D7AF81F4}">
          <p14:sldIdLst>
            <p14:sldId id="315"/>
          </p14:sldIdLst>
        </p14:section>
        <p14:section name="Rename Table" id="{AA34464F-3CD5-445C-9EB6-FECB7845562C}">
          <p14:sldIdLst>
            <p14:sldId id="316"/>
            <p14:sldId id="317"/>
          </p14:sldIdLst>
        </p14:section>
        <p14:section name="Insert" id="{3E28ECE8-31D3-432B-B82B-AFBCC6AADAA3}">
          <p14:sldIdLst>
            <p14:sldId id="307"/>
          </p14:sldIdLst>
        </p14:section>
        <p14:section name="Select" id="{26C57BE1-8B32-45C6-A301-750E020AB53A}">
          <p14:sldIdLst>
            <p14:sldId id="308"/>
          </p14:sldIdLst>
        </p14:section>
        <p14:section name="Distinct" id="{87788717-BB57-4592-993B-36AEFCF7FD0B}">
          <p14:sldIdLst>
            <p14:sldId id="309"/>
          </p14:sldIdLst>
        </p14:section>
        <p14:section name="Where" id="{9F703F07-CCB7-402C-8DCD-409104265BC1}">
          <p14:sldIdLst>
            <p14:sldId id="310"/>
            <p14:sldId id="311"/>
          </p14:sldIdLst>
        </p14:section>
        <p14:section name="Drop" id="{C5003E61-C60E-47C1-8084-F5DD2E2A9BEC}">
          <p14:sldIdLst>
            <p14:sldId id="318"/>
          </p14:sldIdLst>
        </p14:section>
        <p14:section name="Delete" id="{0C492492-28F9-4812-A9B6-75A2D9587F9B}">
          <p14:sldIdLst>
            <p14:sldId id="319"/>
          </p14:sldIdLst>
        </p14:section>
        <p14:section name="Orderby" id="{C2882102-7BA9-4EB2-8EE6-CDE89C2BB6D0}">
          <p14:sldIdLst>
            <p14:sldId id="324"/>
            <p14:sldId id="325"/>
          </p14:sldIdLst>
        </p14:section>
        <p14:section name="Joins" id="{0E7CACA6-BCF8-4C03-B611-AC00ECD84D77}">
          <p14:sldIdLst>
            <p14:sldId id="326"/>
            <p14:sldId id="327"/>
            <p14:sldId id="328"/>
            <p14:sldId id="329"/>
            <p14:sldId id="330"/>
            <p14:sldId id="331"/>
            <p14:sldId id="332"/>
            <p14:sldId id="333"/>
            <p14:sldId id="334"/>
            <p14:sldId id="335"/>
            <p14:sldId id="336"/>
            <p14:sldId id="338"/>
          </p14:sldIdLst>
        </p14:section>
        <p14:section name="Substring" id="{7765EFD0-DE10-4633-A34F-1355BC687DD8}">
          <p14:sldIdLst>
            <p14:sldId id="337"/>
          </p14:sldIdLst>
        </p14:section>
        <p14:section name="SubQueries" id="{D4B6FA41-9CD4-43E1-BD93-21E19033659F}">
          <p14:sldIdLst>
            <p14:sldId id="339"/>
            <p14:sldId id="340"/>
            <p14:sldId id="341"/>
            <p14:sldId id="342"/>
          </p14:sldIdLst>
        </p14:section>
        <p14:section name="Functions" id="{D36AFF0B-A1FC-43FF-BD4D-EA26B0839F61}">
          <p14:sldIdLst>
            <p14:sldId id="34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F6D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57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5ABDAEF-1B08-428D-A54A-5103BBC80151}" type="datetimeFigureOut">
              <a:rPr lang="en-US" smtClean="0"/>
              <a:t>3/18/2020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3ECC0CC-29BD-4FC7-8339-2579211D66BA}" type="slidenum">
              <a:rPr lang="en-US" smtClean="0"/>
              <a:t>‹#›</a:t>
            </a:fld>
            <a:endParaRPr lang="en-US"/>
          </a:p>
        </p:txBody>
      </p:sp>
    </p:spTree>
    <p:extLst>
      <p:ext uri="{BB962C8B-B14F-4D97-AF65-F5344CB8AC3E}">
        <p14:creationId xmlns:p14="http://schemas.microsoft.com/office/powerpoint/2010/main" val="3703871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2" cstate="print"/>
          <a:srcRect t="33333"/>
          <a:stretch>
            <a:fillRect/>
          </a:stretch>
        </p:blipFill>
        <p:spPr>
          <a:xfrm>
            <a:off x="0" y="0"/>
            <a:ext cx="9144000" cy="4572000"/>
          </a:xfrm>
          <a:prstGeom prst="rect">
            <a:avLst/>
          </a:prstGeom>
        </p:spPr>
      </p:pic>
      <p:sp>
        <p:nvSpPr>
          <p:cNvPr id="4" name="Date Placeholder 3"/>
          <p:cNvSpPr>
            <a:spLocks noGrp="1"/>
          </p:cNvSpPr>
          <p:nvPr>
            <p:ph type="dt" sz="half" idx="10"/>
          </p:nvPr>
        </p:nvSpPr>
        <p:spPr/>
        <p:txBody>
          <a:bodyPr/>
          <a:lstStyle/>
          <a:p>
            <a:fld id="{2233D26B-DFC2-4248-8ED0-AD3E108CBDD7}" type="datetime1">
              <a:rPr lang="en-US" smtClean="0"/>
              <a:pPr/>
              <a:t>3/18/2020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237106-F2ED-405E-BC33-CC3CF426205F}" type="slidenum">
              <a:rPr lang="en-US" smtClean="0"/>
              <a:pPr/>
              <a:t>‹#›</a:t>
            </a:fld>
            <a:endParaRPr lang="en-US"/>
          </a:p>
        </p:txBody>
      </p:sp>
      <p:sp>
        <p:nvSpPr>
          <p:cNvPr id="3" name="Subtitle 2"/>
          <p:cNvSpPr>
            <a:spLocks noGrp="1"/>
          </p:cNvSpPr>
          <p:nvPr>
            <p:ph type="subTitle" idx="1"/>
          </p:nvPr>
        </p:nvSpPr>
        <p:spPr>
          <a:xfrm>
            <a:off x="1219200" y="3886200"/>
            <a:ext cx="6400800" cy="1752600"/>
          </a:xfrm>
        </p:spPr>
        <p:txBody>
          <a:bodyPr>
            <a:normAutofit/>
          </a:bodyPr>
          <a:lstStyle>
            <a:lvl1pPr marL="0" indent="0" algn="ctr">
              <a:buNone/>
              <a:defRPr sz="1700" baseline="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2" name="Title 1"/>
          <p:cNvSpPr>
            <a:spLocks noGrp="1"/>
          </p:cNvSpPr>
          <p:nvPr>
            <p:ph type="ctrTitle"/>
          </p:nvPr>
        </p:nvSpPr>
        <p:spPr>
          <a:xfrm>
            <a:off x="685800" y="2007888"/>
            <a:ext cx="7772400" cy="1470025"/>
          </a:xfrm>
        </p:spPr>
        <p:txBody>
          <a:bodyPr/>
          <a:lstStyle>
            <a:lvl1pPr algn="ctr">
              <a:defRPr sz="3200"/>
            </a:lvl1pPr>
          </a:lstStyle>
          <a:p>
            <a:r>
              <a:rPr lang="en-US"/>
              <a:t>Click to edit Master 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7924800" cy="1143000"/>
          </a:xfrm>
        </p:spPr>
        <p:txBody>
          <a:bodyPr/>
          <a:lstStyle/>
          <a:p>
            <a:r>
              <a:rPr lang="en-US"/>
              <a:t>Click to edit Master title style</a:t>
            </a:r>
            <a:endParaRPr lang="en-US" dirty="0"/>
          </a:p>
        </p:txBody>
      </p:sp>
      <p:sp>
        <p:nvSpPr>
          <p:cNvPr id="4" name="Date Placeholder 3"/>
          <p:cNvSpPr>
            <a:spLocks noGrp="1"/>
          </p:cNvSpPr>
          <p:nvPr>
            <p:ph type="dt" sz="half" idx="10"/>
          </p:nvPr>
        </p:nvSpPr>
        <p:spPr/>
        <p:txBody>
          <a:bodyPr/>
          <a:lstStyle/>
          <a:p>
            <a:fld id="{8F97F932-D99A-4087-BFB1-EA42FAFC8D2C}" type="datetime1">
              <a:rPr lang="en-US" smtClean="0"/>
              <a:pPr/>
              <a:t>3/18/2020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237106-F2ED-405E-BC33-CC3CF426205F}" type="slidenum">
              <a:rPr lang="en-US" smtClean="0"/>
              <a:pPr/>
              <a:t>‹#›</a:t>
            </a:fld>
            <a:endParaRPr lang="en-US"/>
          </a:p>
        </p:txBody>
      </p:sp>
      <p:sp>
        <p:nvSpPr>
          <p:cNvPr id="8" name="Content Placeholder 7"/>
          <p:cNvSpPr>
            <a:spLocks noGrp="1"/>
          </p:cNvSpPr>
          <p:nvPr>
            <p:ph sz="quarter" idx="13"/>
          </p:nvPr>
        </p:nvSpPr>
        <p:spPr>
          <a:xfrm>
            <a:off x="609600" y="1600200"/>
            <a:ext cx="79248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600" y="4962525"/>
            <a:ext cx="7885113" cy="1362075"/>
          </a:xfrm>
        </p:spPr>
        <p:txBody>
          <a:bodyPr anchor="t"/>
          <a:lstStyle>
            <a:lvl1pPr algn="l">
              <a:defRPr sz="3200" b="0" i="0" cap="all" baseline="0"/>
            </a:lvl1pPr>
          </a:lstStyle>
          <a:p>
            <a:r>
              <a:rPr lang="en-US"/>
              <a:t>Click to edit Master title style</a:t>
            </a:r>
            <a:endParaRPr lang="en-US" dirty="0"/>
          </a:p>
        </p:txBody>
      </p:sp>
      <p:sp>
        <p:nvSpPr>
          <p:cNvPr id="3" name="Text Placeholder 2"/>
          <p:cNvSpPr>
            <a:spLocks noGrp="1"/>
          </p:cNvSpPr>
          <p:nvPr>
            <p:ph type="body" idx="1"/>
          </p:nvPr>
        </p:nvSpPr>
        <p:spPr>
          <a:xfrm>
            <a:off x="609600" y="3462338"/>
            <a:ext cx="7885113" cy="1500187"/>
          </a:xfrm>
        </p:spPr>
        <p:txBody>
          <a:bodyPr anchor="b">
            <a:normAutofit/>
          </a:bodyPr>
          <a:lstStyle>
            <a:lvl1pPr marL="0" indent="0">
              <a:buNone/>
              <a:defRPr sz="1700"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9C96367-2F2B-4F6E-ACF4-15FA13738E10}" type="datetime1">
              <a:rPr lang="en-US" smtClean="0"/>
              <a:pPr/>
              <a:t>3/18/2020</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1523C92-45F4-4C30-810D-4886C1BA696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1" name="Content Placeholder 10"/>
          <p:cNvSpPr>
            <a:spLocks noGrp="1"/>
          </p:cNvSpPr>
          <p:nvPr>
            <p:ph sz="quarter" idx="13"/>
          </p:nvPr>
        </p:nvSpPr>
        <p:spPr>
          <a:xfrm>
            <a:off x="609600" y="1600200"/>
            <a:ext cx="3733800" cy="4114800"/>
          </a:xfrm>
        </p:spPr>
        <p:txBody>
          <a:bodyPr/>
          <a:lstStyle>
            <a:lvl5pPr>
              <a:defRPr/>
            </a:lvl5pPr>
            <a:lvl6pPr>
              <a:buClr>
                <a:schemeClr val="tx2"/>
              </a:buClr>
              <a:buFont typeface="Arial" pitchFamily="34" charset="0"/>
              <a:buChar char="•"/>
              <a:defRPr/>
            </a:lvl6pPr>
            <a:lvl7pPr>
              <a:buClr>
                <a:schemeClr val="tx2"/>
              </a:buClr>
              <a:buFont typeface="Arial" pitchFamily="34" charset="0"/>
              <a:buChar char="•"/>
              <a:defRPr/>
            </a:lvl7pPr>
            <a:lvl8pPr>
              <a:buClr>
                <a:schemeClr val="tx2"/>
              </a:buClr>
              <a:buFont typeface="Arial" pitchFamily="34" charset="0"/>
              <a:buChar char="•"/>
              <a:defRPr/>
            </a:lvl8pPr>
            <a:lvl9pPr>
              <a:buClr>
                <a:schemeClr val="tx2"/>
              </a:buClr>
              <a:buFont typeface="Arial" pitchFamily="34" charset="0"/>
              <a:buChar cha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4800600" y="1600200"/>
            <a:ext cx="3733800" cy="41148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609600" y="274638"/>
            <a:ext cx="7924800" cy="1143000"/>
          </a:xfrm>
        </p:spPr>
        <p:txBody>
          <a:bodyPr/>
          <a:lstStyle/>
          <a:p>
            <a:r>
              <a:rPr lang="en-US"/>
              <a:t>Click to edit Master title style</a:t>
            </a:r>
            <a:endParaRPr lang="en-US" dirty="0"/>
          </a:p>
        </p:txBody>
      </p:sp>
      <p:sp>
        <p:nvSpPr>
          <p:cNvPr id="5" name="Date Placeholder 4"/>
          <p:cNvSpPr>
            <a:spLocks noGrp="1"/>
          </p:cNvSpPr>
          <p:nvPr>
            <p:ph type="dt" sz="half" idx="10"/>
          </p:nvPr>
        </p:nvSpPr>
        <p:spPr/>
        <p:txBody>
          <a:bodyPr/>
          <a:lstStyle/>
          <a:p>
            <a:fld id="{8FB3498D-21C7-408B-8EF5-5B55DEF0BFD5}" type="datetime1">
              <a:rPr lang="en-US" smtClean="0"/>
              <a:pPr/>
              <a:t>3/18/2020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237106-F2ED-405E-BC33-CC3CF426205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3" name="Content Placeholder 12"/>
          <p:cNvSpPr>
            <a:spLocks noGrp="1"/>
          </p:cNvSpPr>
          <p:nvPr>
            <p:ph sz="quarter" idx="14"/>
          </p:nvPr>
        </p:nvSpPr>
        <p:spPr>
          <a:xfrm>
            <a:off x="4800600" y="2209800"/>
            <a:ext cx="37338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13"/>
          </p:nvPr>
        </p:nvSpPr>
        <p:spPr>
          <a:xfrm>
            <a:off x="609600" y="2209800"/>
            <a:ext cx="37338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609600" y="274638"/>
            <a:ext cx="7924800" cy="11430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600" y="1600199"/>
            <a:ext cx="37338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800600" y="1600199"/>
            <a:ext cx="37338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84DB246E-8FD1-42FF-94A4-E4133095C37A}" type="datetime1">
              <a:rPr lang="en-US" smtClean="0"/>
              <a:pPr/>
              <a:t>3/18/2020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8237106-F2ED-405E-BC33-CC3CF426205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7924800" cy="11430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93939D4-B818-4372-B1EE-7CB6D5BBC74A}" type="datetime1">
              <a:rPr lang="en-US" smtClean="0"/>
              <a:pPr/>
              <a:t>3/18/2020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8237106-F2ED-405E-BC33-CC3CF426205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35E438-4D0D-4834-B658-A90420491D98}" type="datetime1">
              <a:rPr lang="en-US" smtClean="0"/>
              <a:pPr/>
              <a:t>3/18/2020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8237106-F2ED-405E-BC33-CC3CF426205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Content Placeholder 8"/>
          <p:cNvSpPr>
            <a:spLocks noGrp="1"/>
          </p:cNvSpPr>
          <p:nvPr>
            <p:ph sz="quarter" idx="13"/>
          </p:nvPr>
        </p:nvSpPr>
        <p:spPr>
          <a:xfrm>
            <a:off x="3962400" y="1447800"/>
            <a:ext cx="4648200" cy="426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612648" y="1447800"/>
            <a:ext cx="2971800" cy="1097280"/>
          </a:xfrm>
        </p:spPr>
        <p:txBody>
          <a:bodyPr anchor="b"/>
          <a:lstStyle>
            <a:lvl1pPr algn="l">
              <a:defRPr sz="1800" b="0" i="0" cap="none" baseline="0">
                <a:solidFill>
                  <a:schemeClr val="tx2"/>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612648" y="2547891"/>
            <a:ext cx="2971800" cy="3167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F8ADFA-7142-4015-85E6-1712F15FA709}" type="datetime1">
              <a:rPr lang="en-US" smtClean="0"/>
              <a:pPr/>
              <a:t>3/18/2020</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8237106-F2ED-405E-BC33-CC3CF426205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pic>
        <p:nvPicPr>
          <p:cNvPr id="11" name="Picture 10" descr="horizon.png"/>
          <p:cNvPicPr>
            <a:picLocks noChangeAspect="1"/>
          </p:cNvPicPr>
          <p:nvPr/>
        </p:nvPicPr>
        <p:blipFill>
          <a:blip r:embed="rId2" cstate="print"/>
          <a:stretch>
            <a:fillRect/>
          </a:stretch>
        </p:blipFill>
        <p:spPr>
          <a:xfrm>
            <a:off x="0" y="0"/>
            <a:ext cx="9144000" cy="6858000"/>
          </a:xfrm>
          <a:prstGeom prst="rect">
            <a:avLst/>
          </a:prstGeom>
        </p:spPr>
      </p:pic>
      <p:sp>
        <p:nvSpPr>
          <p:cNvPr id="2" name="Title 1"/>
          <p:cNvSpPr>
            <a:spLocks noGrp="1"/>
          </p:cNvSpPr>
          <p:nvPr>
            <p:ph type="title"/>
          </p:nvPr>
        </p:nvSpPr>
        <p:spPr>
          <a:xfrm>
            <a:off x="609600" y="1447800"/>
            <a:ext cx="2971800" cy="1097280"/>
          </a:xfrm>
        </p:spPr>
        <p:txBody>
          <a:bodyPr anchor="b"/>
          <a:lstStyle>
            <a:lvl1pPr algn="l">
              <a:defRPr sz="1800" b="0" i="0" cap="none" baseline="0">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4657344" y="1447800"/>
            <a:ext cx="3419856" cy="3474720"/>
          </a:xfrm>
          <a:custGeom>
            <a:avLst/>
            <a:gdLst>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74450 w 3419856"/>
              <a:gd name="connsiteY9" fmla="*/ 3429000 h 3429000"/>
              <a:gd name="connsiteX10" fmla="*/ 21806 w 3419856"/>
              <a:gd name="connsiteY10" fmla="*/ 3407194 h 3429000"/>
              <a:gd name="connsiteX11" fmla="*/ 0 w 3419856"/>
              <a:gd name="connsiteY11" fmla="*/ 3354550 h 3429000"/>
              <a:gd name="connsiteX12" fmla="*/ 0 w 3419856"/>
              <a:gd name="connsiteY12" fmla="*/ 74450 h 3429000"/>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21806 w 3419856"/>
              <a:gd name="connsiteY9" fmla="*/ 3407194 h 3429000"/>
              <a:gd name="connsiteX10" fmla="*/ 0 w 3419856"/>
              <a:gd name="connsiteY10" fmla="*/ 3354550 h 3429000"/>
              <a:gd name="connsiteX11" fmla="*/ 0 w 3419856"/>
              <a:gd name="connsiteY11" fmla="*/ 74450 h 3429000"/>
              <a:gd name="connsiteX0" fmla="*/ 0 w 3964392"/>
              <a:gd name="connsiteY0" fmla="*/ 74450 h 3415968"/>
              <a:gd name="connsiteX1" fmla="*/ 21806 w 3964392"/>
              <a:gd name="connsiteY1" fmla="*/ 21806 h 3415968"/>
              <a:gd name="connsiteX2" fmla="*/ 74450 w 3964392"/>
              <a:gd name="connsiteY2" fmla="*/ 0 h 3415968"/>
              <a:gd name="connsiteX3" fmla="*/ 3345406 w 3964392"/>
              <a:gd name="connsiteY3" fmla="*/ 0 h 3415968"/>
              <a:gd name="connsiteX4" fmla="*/ 3398050 w 3964392"/>
              <a:gd name="connsiteY4" fmla="*/ 21806 h 3415968"/>
              <a:gd name="connsiteX5" fmla="*/ 3419856 w 3964392"/>
              <a:gd name="connsiteY5" fmla="*/ 74450 h 3415968"/>
              <a:gd name="connsiteX6" fmla="*/ 3419856 w 3964392"/>
              <a:gd name="connsiteY6" fmla="*/ 3354550 h 3415968"/>
              <a:gd name="connsiteX7" fmla="*/ 3398050 w 3964392"/>
              <a:gd name="connsiteY7" fmla="*/ 3407194 h 3415968"/>
              <a:gd name="connsiteX8" fmla="*/ 21806 w 3964392"/>
              <a:gd name="connsiteY8" fmla="*/ 3407194 h 3415968"/>
              <a:gd name="connsiteX9" fmla="*/ 0 w 3964392"/>
              <a:gd name="connsiteY9" fmla="*/ 3354550 h 3415968"/>
              <a:gd name="connsiteX10" fmla="*/ 0 w 3964392"/>
              <a:gd name="connsiteY10" fmla="*/ 74450 h 3415968"/>
              <a:gd name="connsiteX0" fmla="*/ 0 w 3964392"/>
              <a:gd name="connsiteY0" fmla="*/ 74450 h 3415968"/>
              <a:gd name="connsiteX1" fmla="*/ 21806 w 3964392"/>
              <a:gd name="connsiteY1" fmla="*/ 21806 h 3415968"/>
              <a:gd name="connsiteX2" fmla="*/ 74450 w 3964392"/>
              <a:gd name="connsiteY2" fmla="*/ 0 h 3415968"/>
              <a:gd name="connsiteX3" fmla="*/ 3345406 w 3964392"/>
              <a:gd name="connsiteY3" fmla="*/ 0 h 3415968"/>
              <a:gd name="connsiteX4" fmla="*/ 3398050 w 3964392"/>
              <a:gd name="connsiteY4" fmla="*/ 21806 h 3415968"/>
              <a:gd name="connsiteX5" fmla="*/ 3419856 w 3964392"/>
              <a:gd name="connsiteY5" fmla="*/ 74450 h 3415968"/>
              <a:gd name="connsiteX6" fmla="*/ 3419856 w 3964392"/>
              <a:gd name="connsiteY6" fmla="*/ 3354550 h 3415968"/>
              <a:gd name="connsiteX7" fmla="*/ 3398050 w 3964392"/>
              <a:gd name="connsiteY7" fmla="*/ 3407194 h 3415968"/>
              <a:gd name="connsiteX8" fmla="*/ 21806 w 3964392"/>
              <a:gd name="connsiteY8" fmla="*/ 3407194 h 3415968"/>
              <a:gd name="connsiteX9" fmla="*/ 0 w 3964392"/>
              <a:gd name="connsiteY9" fmla="*/ 3354550 h 3415968"/>
              <a:gd name="connsiteX10" fmla="*/ 0 w 3964392"/>
              <a:gd name="connsiteY10" fmla="*/ 74450 h 3415968"/>
              <a:gd name="connsiteX0" fmla="*/ 0 w 3968026"/>
              <a:gd name="connsiteY0" fmla="*/ 74450 h 3910007"/>
              <a:gd name="connsiteX1" fmla="*/ 21806 w 3968026"/>
              <a:gd name="connsiteY1" fmla="*/ 21806 h 3910007"/>
              <a:gd name="connsiteX2" fmla="*/ 74450 w 3968026"/>
              <a:gd name="connsiteY2" fmla="*/ 0 h 3910007"/>
              <a:gd name="connsiteX3" fmla="*/ 3345406 w 3968026"/>
              <a:gd name="connsiteY3" fmla="*/ 0 h 3910007"/>
              <a:gd name="connsiteX4" fmla="*/ 3398050 w 3968026"/>
              <a:gd name="connsiteY4" fmla="*/ 21806 h 3910007"/>
              <a:gd name="connsiteX5" fmla="*/ 3419856 w 3968026"/>
              <a:gd name="connsiteY5" fmla="*/ 74450 h 3910007"/>
              <a:gd name="connsiteX6" fmla="*/ 3419856 w 3968026"/>
              <a:gd name="connsiteY6" fmla="*/ 3354550 h 3910007"/>
              <a:gd name="connsiteX7" fmla="*/ 3398050 w 3968026"/>
              <a:gd name="connsiteY7" fmla="*/ 3407194 h 3910007"/>
              <a:gd name="connsiteX8" fmla="*/ 0 w 3968026"/>
              <a:gd name="connsiteY8" fmla="*/ 3354550 h 3910007"/>
              <a:gd name="connsiteX9" fmla="*/ 0 w 3968026"/>
              <a:gd name="connsiteY9" fmla="*/ 74450 h 3910007"/>
              <a:gd name="connsiteX0" fmla="*/ 0 w 3419856"/>
              <a:gd name="connsiteY0" fmla="*/ 74450 h 3901233"/>
              <a:gd name="connsiteX1" fmla="*/ 21806 w 3419856"/>
              <a:gd name="connsiteY1" fmla="*/ 21806 h 3901233"/>
              <a:gd name="connsiteX2" fmla="*/ 74450 w 3419856"/>
              <a:gd name="connsiteY2" fmla="*/ 0 h 3901233"/>
              <a:gd name="connsiteX3" fmla="*/ 3345406 w 3419856"/>
              <a:gd name="connsiteY3" fmla="*/ 0 h 3901233"/>
              <a:gd name="connsiteX4" fmla="*/ 3398050 w 3419856"/>
              <a:gd name="connsiteY4" fmla="*/ 21806 h 3901233"/>
              <a:gd name="connsiteX5" fmla="*/ 3419856 w 3419856"/>
              <a:gd name="connsiteY5" fmla="*/ 74450 h 3901233"/>
              <a:gd name="connsiteX6" fmla="*/ 3419856 w 3419856"/>
              <a:gd name="connsiteY6" fmla="*/ 3354550 h 3901233"/>
              <a:gd name="connsiteX7" fmla="*/ 0 w 3419856"/>
              <a:gd name="connsiteY7" fmla="*/ 3354550 h 3901233"/>
              <a:gd name="connsiteX8" fmla="*/ 0 w 3419856"/>
              <a:gd name="connsiteY8" fmla="*/ 74450 h 3901233"/>
              <a:gd name="connsiteX0" fmla="*/ 0 w 3419856"/>
              <a:gd name="connsiteY0" fmla="*/ 74450 h 3354550"/>
              <a:gd name="connsiteX1" fmla="*/ 21806 w 3419856"/>
              <a:gd name="connsiteY1" fmla="*/ 21806 h 3354550"/>
              <a:gd name="connsiteX2" fmla="*/ 74450 w 3419856"/>
              <a:gd name="connsiteY2" fmla="*/ 0 h 3354550"/>
              <a:gd name="connsiteX3" fmla="*/ 3345406 w 3419856"/>
              <a:gd name="connsiteY3" fmla="*/ 0 h 3354550"/>
              <a:gd name="connsiteX4" fmla="*/ 3398050 w 3419856"/>
              <a:gd name="connsiteY4" fmla="*/ 21806 h 3354550"/>
              <a:gd name="connsiteX5" fmla="*/ 3419856 w 3419856"/>
              <a:gd name="connsiteY5" fmla="*/ 74450 h 3354550"/>
              <a:gd name="connsiteX6" fmla="*/ 3419856 w 3419856"/>
              <a:gd name="connsiteY6" fmla="*/ 3354550 h 3354550"/>
              <a:gd name="connsiteX7" fmla="*/ 0 w 3419856"/>
              <a:gd name="connsiteY7" fmla="*/ 3354550 h 3354550"/>
              <a:gd name="connsiteX8" fmla="*/ 0 w 3419856"/>
              <a:gd name="connsiteY8" fmla="*/ 74450 h 335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19856" h="3354550">
                <a:moveTo>
                  <a:pt x="0" y="74450"/>
                </a:moveTo>
                <a:cubicBezTo>
                  <a:pt x="0" y="54705"/>
                  <a:pt x="7844" y="35768"/>
                  <a:pt x="21806" y="21806"/>
                </a:cubicBezTo>
                <a:cubicBezTo>
                  <a:pt x="35768" y="7844"/>
                  <a:pt x="54705" y="0"/>
                  <a:pt x="74450" y="0"/>
                </a:cubicBezTo>
                <a:lnTo>
                  <a:pt x="3345406" y="0"/>
                </a:lnTo>
                <a:cubicBezTo>
                  <a:pt x="3365151" y="0"/>
                  <a:pt x="3384088" y="7844"/>
                  <a:pt x="3398050" y="21806"/>
                </a:cubicBezTo>
                <a:cubicBezTo>
                  <a:pt x="3412012" y="35768"/>
                  <a:pt x="3419856" y="54705"/>
                  <a:pt x="3419856" y="74450"/>
                </a:cubicBezTo>
                <a:lnTo>
                  <a:pt x="3419856" y="3354550"/>
                </a:lnTo>
                <a:lnTo>
                  <a:pt x="0" y="3354550"/>
                </a:lnTo>
                <a:lnTo>
                  <a:pt x="0" y="74450"/>
                </a:lnTo>
                <a:close/>
              </a:path>
            </a:pathLst>
          </a:custGeom>
        </p:spPr>
        <p:txBody>
          <a:bodyPr>
            <a:normAutofit/>
          </a:bodyPr>
          <a:lstStyle>
            <a:lvl1pPr marL="0" indent="0" algn="ctr">
              <a:buNone/>
              <a:defRPr sz="2000" baseline="0">
                <a:solidFill>
                  <a:schemeClr val="tx1">
                    <a:lumMod val="6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09600" y="2547890"/>
            <a:ext cx="2971800" cy="2405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4A581E0-D653-4D78-A48F-41D80498BC7E}" type="datetime1">
              <a:rPr lang="en-US" smtClean="0"/>
              <a:pPr/>
              <a:t>3/18/2020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237106-F2ED-405E-BC33-CC3CF426205F}"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694C003-38E8-486A-9BFD-47E55D87241C}" type="datetime1">
              <a:rPr lang="en-US" smtClean="0"/>
              <a:pPr/>
              <a:t>3/18/2020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237106-F2ED-405E-BC33-CC3CF426205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059EAA3-934B-41DB-B3B1-806F4BE5CC37}" type="datetime1">
              <a:rPr lang="en-US" smtClean="0"/>
              <a:pPr/>
              <a:t>3/18/2020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237106-F2ED-405E-BC33-CC3CF426205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13" cstate="print"/>
          <a:stretch>
            <a:fillRect/>
          </a:stretch>
        </p:blipFill>
        <p:spPr>
          <a:xfrm>
            <a:off x="0" y="0"/>
            <a:ext cx="9144000" cy="6858000"/>
          </a:xfrm>
          <a:prstGeom prst="rect">
            <a:avLst/>
          </a:prstGeom>
        </p:spPr>
      </p:pic>
      <p:sp>
        <p:nvSpPr>
          <p:cNvPr id="2" name="Title Placeholder 1"/>
          <p:cNvSpPr>
            <a:spLocks noGrp="1"/>
          </p:cNvSpPr>
          <p:nvPr>
            <p:ph type="title"/>
          </p:nvPr>
        </p:nvSpPr>
        <p:spPr>
          <a:xfrm>
            <a:off x="609600" y="274638"/>
            <a:ext cx="7924800" cy="1143000"/>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609600" y="1600200"/>
            <a:ext cx="7924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15000" y="6356350"/>
            <a:ext cx="1524000" cy="365125"/>
          </a:xfrm>
          <a:prstGeom prst="rect">
            <a:avLst/>
          </a:prstGeom>
        </p:spPr>
        <p:txBody>
          <a:bodyPr vert="horz" lIns="91440" tIns="45720" rIns="91440" bIns="45720" rtlCol="0" anchor="ctr"/>
          <a:lstStyle>
            <a:lvl1pPr algn="r">
              <a:defRPr sz="1000" strike="noStrike" spc="60" baseline="0">
                <a:solidFill>
                  <a:schemeClr val="tx1"/>
                </a:solidFill>
              </a:defRPr>
            </a:lvl1pPr>
          </a:lstStyle>
          <a:p>
            <a:fld id="{8B3AFFF1-9C47-49F0-AE12-AF188F3F4E82}" type="datetime1">
              <a:rPr lang="en-US" smtClean="0"/>
              <a:pPr/>
              <a:t>3/18/2020</a:t>
            </a:fld>
            <a:endParaRPr lang="en-US" dirty="0"/>
          </a:p>
        </p:txBody>
      </p:sp>
      <p:sp>
        <p:nvSpPr>
          <p:cNvPr id="5" name="Footer Placeholder 4"/>
          <p:cNvSpPr>
            <a:spLocks noGrp="1"/>
          </p:cNvSpPr>
          <p:nvPr>
            <p:ph type="ftr" sz="quarter" idx="3"/>
          </p:nvPr>
        </p:nvSpPr>
        <p:spPr>
          <a:xfrm>
            <a:off x="609600" y="6356350"/>
            <a:ext cx="2895600" cy="365125"/>
          </a:xfrm>
          <a:prstGeom prst="rect">
            <a:avLst/>
          </a:prstGeom>
        </p:spPr>
        <p:txBody>
          <a:bodyPr vert="horz" lIns="91440" tIns="45720" rIns="91440" bIns="45720" rtlCol="0" anchor="ctr"/>
          <a:lstStyle>
            <a:lvl1pPr algn="l">
              <a:defRPr sz="1000" cap="all" spc="60" baseline="0">
                <a:solidFill>
                  <a:schemeClr val="tx1"/>
                </a:solidFill>
              </a:defRPr>
            </a:lvl1pPr>
          </a:lstStyle>
          <a:p>
            <a:endParaRPr lang="en-US" dirty="0"/>
          </a:p>
        </p:txBody>
      </p:sp>
      <p:sp>
        <p:nvSpPr>
          <p:cNvPr id="6" name="Slide Number Placeholder 5"/>
          <p:cNvSpPr>
            <a:spLocks noGrp="1"/>
          </p:cNvSpPr>
          <p:nvPr>
            <p:ph type="sldNum" sz="quarter" idx="4"/>
          </p:nvPr>
        </p:nvSpPr>
        <p:spPr>
          <a:xfrm>
            <a:off x="7543800" y="6356350"/>
            <a:ext cx="990600" cy="365125"/>
          </a:xfrm>
          <a:prstGeom prst="rect">
            <a:avLst/>
          </a:prstGeom>
        </p:spPr>
        <p:txBody>
          <a:bodyPr vert="horz" lIns="91440" tIns="45720" rIns="91440" bIns="45720" rtlCol="0" anchor="ctr"/>
          <a:lstStyle>
            <a:lvl1pPr algn="r">
              <a:defRPr sz="1100" baseline="0">
                <a:solidFill>
                  <a:schemeClr val="tx1"/>
                </a:solidFill>
              </a:defRPr>
            </a:lvl1pPr>
          </a:lstStyle>
          <a:p>
            <a:fld id="{38237106-F2ED-405E-BC33-CC3CF426205F}" type="slidenum">
              <a:rPr lang="en-US" smtClean="0"/>
              <a:pPr/>
              <a:t>‹#›</a:t>
            </a:fld>
            <a:endParaRPr lang="en-US" dirty="0"/>
          </a:p>
        </p:txBody>
      </p:sp>
    </p:spTree>
  </p:cSld>
  <p:clrMap bg1="dk1" tx1="lt1" bg2="dk2" tx2="lt2" accent1="accent1" accent2="accent2" accent3="accent3" accent4="accent4" accent5="accent5" accent6="accent6" hlink="hlink" folHlink="folHlink"/>
  <p:sldLayoutIdLst>
    <p:sldLayoutId id="2147484729" r:id="rId1"/>
    <p:sldLayoutId id="2147484730" r:id="rId2"/>
    <p:sldLayoutId id="2147484731" r:id="rId3"/>
    <p:sldLayoutId id="2147484732" r:id="rId4"/>
    <p:sldLayoutId id="2147484733" r:id="rId5"/>
    <p:sldLayoutId id="2147484734" r:id="rId6"/>
    <p:sldLayoutId id="2147484735" r:id="rId7"/>
    <p:sldLayoutId id="2147484736" r:id="rId8"/>
    <p:sldLayoutId id="2147484737" r:id="rId9"/>
    <p:sldLayoutId id="2147484738" r:id="rId10"/>
    <p:sldLayoutId id="2147484739" r:id="rId11"/>
  </p:sldLayoutIdLst>
  <p:hf sldNum="0" hdr="0" ftr="0" dt="0"/>
  <p:txStyles>
    <p:titleStyle>
      <a:lvl1pPr algn="l" defTabSz="914400" rtl="0" eaLnBrk="1" latinLnBrk="0" hangingPunct="1">
        <a:spcBef>
          <a:spcPct val="0"/>
        </a:spcBef>
        <a:buNone/>
        <a:defRPr sz="3000" kern="1200" cap="all" spc="5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1pPr>
      <a:lvl2pPr marL="742950" indent="-28575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2pPr>
      <a:lvl3pPr marL="11430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3pPr>
      <a:lvl4pPr marL="16002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4pPr>
      <a:lvl5pPr marL="20574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5pPr>
      <a:lvl6pPr marL="25146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6pPr>
      <a:lvl7pPr marL="29718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7pPr>
      <a:lvl8pPr marL="34290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8pPr>
      <a:lvl9pPr marL="38862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searchoracle.techtarget.com/definition/MySQL"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endParaRPr lang="en-US" dirty="0"/>
          </a:p>
        </p:txBody>
      </p:sp>
      <p:sp>
        <p:nvSpPr>
          <p:cNvPr id="3" name="Title 2"/>
          <p:cNvSpPr>
            <a:spLocks noGrp="1"/>
          </p:cNvSpPr>
          <p:nvPr>
            <p:ph type="ctrTitle"/>
          </p:nvPr>
        </p:nvSpPr>
        <p:spPr/>
        <p:txBody>
          <a:bodyPr/>
          <a:lstStyle/>
          <a:p>
            <a:r>
              <a:rPr lang="en-US" dirty="0"/>
              <a:t>MYSQL</a:t>
            </a:r>
          </a:p>
        </p:txBody>
      </p:sp>
    </p:spTree>
    <p:extLst>
      <p:ext uri="{BB962C8B-B14F-4D97-AF65-F5344CB8AC3E}">
        <p14:creationId xmlns:p14="http://schemas.microsoft.com/office/powerpoint/2010/main" val="4689671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EA0CE-EC6F-4B39-896C-DBD3FE98FCA2}"/>
              </a:ext>
            </a:extLst>
          </p:cNvPr>
          <p:cNvSpPr>
            <a:spLocks noGrp="1"/>
          </p:cNvSpPr>
          <p:nvPr>
            <p:ph type="title"/>
          </p:nvPr>
        </p:nvSpPr>
        <p:spPr>
          <a:xfrm>
            <a:off x="609600" y="274638"/>
            <a:ext cx="7924800" cy="639762"/>
          </a:xfrm>
        </p:spPr>
        <p:txBody>
          <a:bodyPr/>
          <a:lstStyle/>
          <a:p>
            <a:r>
              <a:rPr lang="en-US" dirty="0"/>
              <a:t>Introduction:</a:t>
            </a:r>
            <a:endParaRPr lang="en-PK" dirty="0"/>
          </a:p>
        </p:txBody>
      </p:sp>
      <p:sp>
        <p:nvSpPr>
          <p:cNvPr id="3" name="Content Placeholder 2">
            <a:extLst>
              <a:ext uri="{FF2B5EF4-FFF2-40B4-BE49-F238E27FC236}">
                <a16:creationId xmlns:a16="http://schemas.microsoft.com/office/drawing/2014/main" id="{67024865-64D6-4E48-A8A0-518C88CFFC6B}"/>
              </a:ext>
            </a:extLst>
          </p:cNvPr>
          <p:cNvSpPr>
            <a:spLocks noGrp="1"/>
          </p:cNvSpPr>
          <p:nvPr>
            <p:ph sz="quarter" idx="13"/>
          </p:nvPr>
        </p:nvSpPr>
        <p:spPr>
          <a:xfrm>
            <a:off x="457200" y="1066800"/>
            <a:ext cx="8229600" cy="4724400"/>
          </a:xfrm>
        </p:spPr>
        <p:txBody>
          <a:bodyPr>
            <a:normAutofit fontScale="92500" lnSpcReduction="10000"/>
          </a:bodyPr>
          <a:lstStyle/>
          <a:p>
            <a:r>
              <a:rPr lang="en-US" u="sng" dirty="0"/>
              <a:t>Data </a:t>
            </a:r>
            <a:r>
              <a:rPr lang="en-US" dirty="0"/>
              <a:t>: </a:t>
            </a:r>
          </a:p>
          <a:p>
            <a:pPr lvl="1"/>
            <a:r>
              <a:rPr lang="en-US" sz="1500" dirty="0"/>
              <a:t>Collection of facts.</a:t>
            </a:r>
          </a:p>
          <a:p>
            <a:r>
              <a:rPr lang="en-US" u="sng" dirty="0"/>
              <a:t>Database</a:t>
            </a:r>
            <a:r>
              <a:rPr lang="en-US" dirty="0"/>
              <a:t> : </a:t>
            </a:r>
          </a:p>
          <a:p>
            <a:pPr lvl="1"/>
            <a:r>
              <a:rPr lang="en-US" sz="1500" dirty="0"/>
              <a:t>Organized collection of data</a:t>
            </a:r>
          </a:p>
          <a:p>
            <a:r>
              <a:rPr lang="en-US" u="sng" dirty="0"/>
              <a:t>Database Management System</a:t>
            </a:r>
          </a:p>
          <a:p>
            <a:pPr lvl="1"/>
            <a:r>
              <a:rPr lang="en-US" sz="1500" dirty="0"/>
              <a:t>Is a software program that stores and  manages databases</a:t>
            </a:r>
          </a:p>
          <a:p>
            <a:pPr lvl="1"/>
            <a:r>
              <a:rPr lang="en-US" sz="1500" dirty="0"/>
              <a:t>Is responsible for managing the various  database operations such as add, access and process of data.</a:t>
            </a:r>
          </a:p>
          <a:p>
            <a:r>
              <a:rPr lang="en-US" u="sng" dirty="0"/>
              <a:t>Relational Database Management System</a:t>
            </a:r>
          </a:p>
          <a:p>
            <a:pPr lvl="1"/>
            <a:r>
              <a:rPr lang="en-US" sz="1500" dirty="0"/>
              <a:t>DBMS and Relational Database Management System  (RDBMS) perform the same task of storing and managing  data. It stores data in the form of tables.</a:t>
            </a:r>
          </a:p>
          <a:p>
            <a:r>
              <a:rPr lang="en-US" u="sng" dirty="0"/>
              <a:t>Difference between DBMS and RDBMS : </a:t>
            </a:r>
          </a:p>
          <a:p>
            <a:pPr lvl="1"/>
            <a:r>
              <a:rPr lang="en-US" sz="1500" dirty="0"/>
              <a:t>One of the key differences between DBMS and RDBMS is  that RDBMS splits large amount of data into smaller tables  and establishes relationship between the tables</a:t>
            </a:r>
          </a:p>
          <a:p>
            <a:pPr lvl="1"/>
            <a:r>
              <a:rPr lang="en-US" sz="1500" dirty="0"/>
              <a:t>DBMS stores large amount of data in a single table. Also, the  RDBMS is based on a relational model whereas DBMS is not</a:t>
            </a:r>
          </a:p>
          <a:p>
            <a:endParaRPr lang="en-US" dirty="0"/>
          </a:p>
          <a:p>
            <a:pPr marL="0" indent="0">
              <a:buNone/>
            </a:pPr>
            <a:endParaRPr lang="en-PK" dirty="0"/>
          </a:p>
        </p:txBody>
      </p:sp>
    </p:spTree>
    <p:extLst>
      <p:ext uri="{BB962C8B-B14F-4D97-AF65-F5344CB8AC3E}">
        <p14:creationId xmlns:p14="http://schemas.microsoft.com/office/powerpoint/2010/main" val="34852792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MYSQL:</a:t>
            </a:r>
          </a:p>
        </p:txBody>
      </p:sp>
      <p:sp>
        <p:nvSpPr>
          <p:cNvPr id="3" name="Content Placeholder 2"/>
          <p:cNvSpPr>
            <a:spLocks noGrp="1"/>
          </p:cNvSpPr>
          <p:nvPr>
            <p:ph sz="quarter" idx="13"/>
          </p:nvPr>
        </p:nvSpPr>
        <p:spPr/>
        <p:txBody>
          <a:bodyPr/>
          <a:lstStyle/>
          <a:p>
            <a:r>
              <a:rPr lang="en-US" dirty="0"/>
              <a:t>MySQL is an Oracle-backed open source relational database management system (RDBMS) based on Structured Query Language (SQL). MySQL runs on virtually all platforms, including Linux, UNIX and Windows.</a:t>
            </a:r>
          </a:p>
          <a:p>
            <a:r>
              <a:rPr lang="en-US" dirty="0"/>
              <a:t>A relational database consists of different tables in which data is stored such that there is minimal redundancy</a:t>
            </a:r>
          </a:p>
          <a:p>
            <a:r>
              <a:rPr lang="en-US" dirty="0"/>
              <a:t>A relational database also contains relationships or links to related  tables.</a:t>
            </a:r>
          </a:p>
          <a:p>
            <a:endParaRPr lang="en-US" dirty="0"/>
          </a:p>
        </p:txBody>
      </p:sp>
      <p:sp>
        <p:nvSpPr>
          <p:cNvPr id="4" name="Rectangle 3">
            <a:extLst>
              <a:ext uri="{FF2B5EF4-FFF2-40B4-BE49-F238E27FC236}">
                <a16:creationId xmlns:a16="http://schemas.microsoft.com/office/drawing/2014/main" id="{2529332C-C0A1-4319-BD6A-39DDDF2DAA87}"/>
              </a:ext>
            </a:extLst>
          </p:cNvPr>
          <p:cNvSpPr/>
          <p:nvPr/>
        </p:nvSpPr>
        <p:spPr>
          <a:xfrm>
            <a:off x="2286000" y="6398696"/>
            <a:ext cx="5867400" cy="369332"/>
          </a:xfrm>
          <a:prstGeom prst="rect">
            <a:avLst/>
          </a:prstGeom>
        </p:spPr>
        <p:txBody>
          <a:bodyPr wrap="square">
            <a:spAutoFit/>
          </a:bodyPr>
          <a:lstStyle/>
          <a:p>
            <a:r>
              <a:rPr lang="en-US" dirty="0">
                <a:hlinkClick r:id="rId2"/>
              </a:rPr>
              <a:t>https://searchoracle.techtarget.com/definition/MySQL</a:t>
            </a:r>
            <a:endParaRPr lang="en-PK" dirty="0"/>
          </a:p>
        </p:txBody>
      </p:sp>
    </p:spTree>
    <p:extLst>
      <p:ext uri="{BB962C8B-B14F-4D97-AF65-F5344CB8AC3E}">
        <p14:creationId xmlns:p14="http://schemas.microsoft.com/office/powerpoint/2010/main" val="2472423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61087-8316-4788-AEA8-9A6694737164}"/>
              </a:ext>
            </a:extLst>
          </p:cNvPr>
          <p:cNvSpPr>
            <a:spLocks noGrp="1"/>
          </p:cNvSpPr>
          <p:nvPr>
            <p:ph type="title"/>
          </p:nvPr>
        </p:nvSpPr>
        <p:spPr>
          <a:xfrm>
            <a:off x="609600" y="274638"/>
            <a:ext cx="7924800" cy="639762"/>
          </a:xfrm>
        </p:spPr>
        <p:txBody>
          <a:bodyPr/>
          <a:lstStyle/>
          <a:p>
            <a:r>
              <a:rPr lang="en-US" dirty="0"/>
              <a:t>TECHNICAL Features of MySQL:</a:t>
            </a:r>
            <a:endParaRPr lang="en-PK" dirty="0"/>
          </a:p>
        </p:txBody>
      </p:sp>
      <p:sp>
        <p:nvSpPr>
          <p:cNvPr id="3" name="Content Placeholder 2">
            <a:extLst>
              <a:ext uri="{FF2B5EF4-FFF2-40B4-BE49-F238E27FC236}">
                <a16:creationId xmlns:a16="http://schemas.microsoft.com/office/drawing/2014/main" id="{4DEE501B-EBCB-45D4-8DDE-B92F549E0C35}"/>
              </a:ext>
            </a:extLst>
          </p:cNvPr>
          <p:cNvSpPr>
            <a:spLocks noGrp="1"/>
          </p:cNvSpPr>
          <p:nvPr>
            <p:ph sz="quarter" idx="13"/>
          </p:nvPr>
        </p:nvSpPr>
        <p:spPr>
          <a:xfrm>
            <a:off x="609600" y="914400"/>
            <a:ext cx="7924800" cy="4800600"/>
          </a:xfrm>
        </p:spPr>
        <p:txBody>
          <a:bodyPr/>
          <a:lstStyle/>
          <a:p>
            <a:r>
              <a:rPr lang="en-US" dirty="0"/>
              <a:t>Is written in C and C++</a:t>
            </a:r>
          </a:p>
          <a:p>
            <a:r>
              <a:rPr lang="en-US" dirty="0"/>
              <a:t>Is tested with different compilers</a:t>
            </a:r>
          </a:p>
          <a:p>
            <a:r>
              <a:rPr lang="en-US" dirty="0"/>
              <a:t>Is compatible with different operating systems</a:t>
            </a:r>
          </a:p>
          <a:p>
            <a:r>
              <a:rPr lang="en-US" dirty="0"/>
              <a:t>Has support for multiple storage engines, both  transactional and non-transactional</a:t>
            </a:r>
          </a:p>
          <a:p>
            <a:r>
              <a:rPr lang="en-US" dirty="0"/>
              <a:t>Has Application Programming Interfaces (APIs) for  accessing MySQL database available in many languages,  including C, C++, Eiffel, Java, Perl, PHP, Python, Ruby and  </a:t>
            </a:r>
            <a:r>
              <a:rPr lang="en-US" dirty="0" err="1"/>
              <a:t>Tcl</a:t>
            </a:r>
            <a:r>
              <a:rPr lang="en-US" dirty="0"/>
              <a:t>.</a:t>
            </a:r>
          </a:p>
          <a:p>
            <a:r>
              <a:rPr lang="en-US" dirty="0"/>
              <a:t>Is using multiple kernel threads or processing units, if  available, for data processing</a:t>
            </a:r>
          </a:p>
          <a:p>
            <a:r>
              <a:rPr lang="en-US" dirty="0"/>
              <a:t>Is using multiple processors where available,  boosting performance</a:t>
            </a:r>
          </a:p>
          <a:p>
            <a:r>
              <a:rPr lang="en-US" dirty="0"/>
              <a:t>Has ability to divert memory resources from inactive  thread to active threads for faster processing</a:t>
            </a:r>
          </a:p>
          <a:p>
            <a:r>
              <a:rPr lang="en-US" dirty="0"/>
              <a:t>Has commands and features to retrieve, update and  delete data from several tables</a:t>
            </a:r>
          </a:p>
          <a:p>
            <a:r>
              <a:rPr lang="en-US" dirty="0"/>
              <a:t>Has support for compatibility to be used as a separate  application or as an embedded library</a:t>
            </a:r>
          </a:p>
          <a:p>
            <a:endParaRPr lang="en-PK" dirty="0"/>
          </a:p>
        </p:txBody>
      </p:sp>
    </p:spTree>
    <p:extLst>
      <p:ext uri="{BB962C8B-B14F-4D97-AF65-F5344CB8AC3E}">
        <p14:creationId xmlns:p14="http://schemas.microsoft.com/office/powerpoint/2010/main" val="34101462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01AD6-E074-4195-ADD1-081551423D03}"/>
              </a:ext>
            </a:extLst>
          </p:cNvPr>
          <p:cNvSpPr>
            <a:spLocks noGrp="1"/>
          </p:cNvSpPr>
          <p:nvPr>
            <p:ph type="title"/>
          </p:nvPr>
        </p:nvSpPr>
        <p:spPr>
          <a:xfrm>
            <a:off x="609600" y="274638"/>
            <a:ext cx="7924800" cy="487362"/>
          </a:xfrm>
        </p:spPr>
        <p:txBody>
          <a:bodyPr/>
          <a:lstStyle/>
          <a:p>
            <a:r>
              <a:rPr lang="en-US" dirty="0"/>
              <a:t>Features of mysql:</a:t>
            </a:r>
            <a:endParaRPr lang="en-PK" dirty="0"/>
          </a:p>
        </p:txBody>
      </p:sp>
      <p:sp>
        <p:nvSpPr>
          <p:cNvPr id="3" name="Content Placeholder 2">
            <a:extLst>
              <a:ext uri="{FF2B5EF4-FFF2-40B4-BE49-F238E27FC236}">
                <a16:creationId xmlns:a16="http://schemas.microsoft.com/office/drawing/2014/main" id="{F6C5089A-6962-4033-8C51-3D11C7D5FA5D}"/>
              </a:ext>
            </a:extLst>
          </p:cNvPr>
          <p:cNvSpPr>
            <a:spLocks noGrp="1"/>
          </p:cNvSpPr>
          <p:nvPr>
            <p:ph sz="quarter" idx="13"/>
          </p:nvPr>
        </p:nvSpPr>
        <p:spPr>
          <a:xfrm>
            <a:off x="609600" y="762000"/>
            <a:ext cx="7924800" cy="4953000"/>
          </a:xfrm>
        </p:spPr>
        <p:txBody>
          <a:bodyPr>
            <a:normAutofit lnSpcReduction="10000"/>
          </a:bodyPr>
          <a:lstStyle/>
          <a:p>
            <a:r>
              <a:rPr lang="en-US" b="1" u="sng" dirty="0"/>
              <a:t>Column Types:</a:t>
            </a:r>
          </a:p>
          <a:p>
            <a:pPr lvl="1"/>
            <a:r>
              <a:rPr lang="en-US" dirty="0"/>
              <a:t>Includes multiple column or data types including  numeric, date and time, and string</a:t>
            </a:r>
          </a:p>
          <a:p>
            <a:pPr lvl="1"/>
            <a:r>
              <a:rPr lang="en-US" dirty="0"/>
              <a:t>Includes maps of data types from other databases to  MySQL data types</a:t>
            </a:r>
          </a:p>
          <a:p>
            <a:pPr lvl="1"/>
            <a:r>
              <a:rPr lang="en-US" dirty="0"/>
              <a:t>Includes fixed-length and variable-length strings</a:t>
            </a:r>
          </a:p>
          <a:p>
            <a:r>
              <a:rPr lang="en-US" b="1" u="sng" dirty="0"/>
              <a:t>Commands and Functions</a:t>
            </a:r>
            <a:r>
              <a:rPr lang="en-US" dirty="0"/>
              <a:t>:</a:t>
            </a:r>
          </a:p>
          <a:p>
            <a:pPr lvl="1"/>
            <a:r>
              <a:rPr lang="en-US" dirty="0"/>
              <a:t>Has support for all MySQL operators and functions in the SELECT statement and the WHERE clause</a:t>
            </a:r>
          </a:p>
          <a:p>
            <a:pPr lvl="1"/>
            <a:r>
              <a:rPr lang="en-US" dirty="0"/>
              <a:t>Has support for tables from different databases in one  statement</a:t>
            </a:r>
          </a:p>
          <a:p>
            <a:pPr lvl="1"/>
            <a:r>
              <a:rPr lang="en-US" dirty="0"/>
              <a:t>Has support displaying information about databases, tables and indexes using the SHOW command</a:t>
            </a:r>
          </a:p>
          <a:p>
            <a:pPr lvl="1"/>
            <a:r>
              <a:rPr lang="en-US" dirty="0"/>
              <a:t>Has support for displaying query resolution information using  the EXPLAIN command</a:t>
            </a:r>
          </a:p>
          <a:p>
            <a:pPr lvl="1"/>
            <a:r>
              <a:rPr lang="en-US" dirty="0"/>
              <a:t>Has full support SQL GROUP BY and ORDER BY clauses, group functions, and left and right outer joins</a:t>
            </a:r>
          </a:p>
          <a:p>
            <a:pPr lvl="1"/>
            <a:r>
              <a:rPr lang="en-US" dirty="0"/>
              <a:t>Has support for the use of function names as table or column  name</a:t>
            </a:r>
          </a:p>
          <a:p>
            <a:endParaRPr lang="en-PK" dirty="0"/>
          </a:p>
        </p:txBody>
      </p:sp>
    </p:spTree>
    <p:extLst>
      <p:ext uri="{BB962C8B-B14F-4D97-AF65-F5344CB8AC3E}">
        <p14:creationId xmlns:p14="http://schemas.microsoft.com/office/powerpoint/2010/main" val="3513984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3B58A-1932-4857-AB93-C04B8F18A44C}"/>
              </a:ext>
            </a:extLst>
          </p:cNvPr>
          <p:cNvSpPr>
            <a:spLocks noGrp="1"/>
          </p:cNvSpPr>
          <p:nvPr>
            <p:ph type="title"/>
          </p:nvPr>
        </p:nvSpPr>
        <p:spPr>
          <a:xfrm>
            <a:off x="609600" y="152400"/>
            <a:ext cx="7924800" cy="685800"/>
          </a:xfrm>
        </p:spPr>
        <p:txBody>
          <a:bodyPr/>
          <a:lstStyle/>
          <a:p>
            <a:r>
              <a:rPr lang="en-US" dirty="0"/>
              <a:t>Features:</a:t>
            </a:r>
            <a:endParaRPr lang="en-PK" dirty="0"/>
          </a:p>
        </p:txBody>
      </p:sp>
      <p:sp>
        <p:nvSpPr>
          <p:cNvPr id="3" name="Content Placeholder 2">
            <a:extLst>
              <a:ext uri="{FF2B5EF4-FFF2-40B4-BE49-F238E27FC236}">
                <a16:creationId xmlns:a16="http://schemas.microsoft.com/office/drawing/2014/main" id="{4A319A39-B6AF-497E-AA43-B1F5EBD12C0B}"/>
              </a:ext>
            </a:extLst>
          </p:cNvPr>
          <p:cNvSpPr>
            <a:spLocks noGrp="1"/>
          </p:cNvSpPr>
          <p:nvPr>
            <p:ph sz="quarter" idx="13"/>
          </p:nvPr>
        </p:nvSpPr>
        <p:spPr>
          <a:xfrm>
            <a:off x="609600" y="914400"/>
            <a:ext cx="7924800" cy="4800600"/>
          </a:xfrm>
        </p:spPr>
        <p:txBody>
          <a:bodyPr>
            <a:normAutofit fontScale="92500" lnSpcReduction="10000"/>
          </a:bodyPr>
          <a:lstStyle/>
          <a:p>
            <a:r>
              <a:rPr lang="en-US" b="1" u="sng" dirty="0"/>
              <a:t>Security</a:t>
            </a:r>
            <a:r>
              <a:rPr lang="en-US" dirty="0"/>
              <a:t>:</a:t>
            </a:r>
          </a:p>
          <a:p>
            <a:pPr lvl="1"/>
            <a:r>
              <a:rPr lang="en-US" dirty="0"/>
              <a:t>Has support for in-built data encryption and  decryption</a:t>
            </a:r>
          </a:p>
          <a:p>
            <a:pPr lvl="1"/>
            <a:r>
              <a:rPr lang="en-US" dirty="0"/>
              <a:t>Has support for user account privileges</a:t>
            </a:r>
          </a:p>
          <a:p>
            <a:pPr lvl="1"/>
            <a:r>
              <a:rPr lang="en-US" dirty="0"/>
              <a:t>Has support for password encryption</a:t>
            </a:r>
          </a:p>
          <a:p>
            <a:r>
              <a:rPr lang="en-US" b="1" u="sng" dirty="0"/>
              <a:t>Scalability and Limits</a:t>
            </a:r>
            <a:r>
              <a:rPr lang="en-US" dirty="0"/>
              <a:t>:</a:t>
            </a:r>
          </a:p>
          <a:p>
            <a:pPr lvl="1"/>
            <a:r>
              <a:rPr lang="en-US" dirty="0"/>
              <a:t>Handles large databases that have upto 5 billion rows</a:t>
            </a:r>
          </a:p>
          <a:p>
            <a:pPr lvl="1"/>
            <a:r>
              <a:rPr lang="en-US" dirty="0"/>
              <a:t>Allows upto 64 indexes per table</a:t>
            </a:r>
          </a:p>
          <a:p>
            <a:pPr lvl="1"/>
            <a:r>
              <a:rPr lang="en-US" dirty="0"/>
              <a:t>Allows upto 16 keys per table</a:t>
            </a:r>
          </a:p>
          <a:p>
            <a:r>
              <a:rPr lang="en-US" b="1" u="sng" dirty="0"/>
              <a:t>Connectivity</a:t>
            </a:r>
            <a:r>
              <a:rPr lang="en-US" dirty="0"/>
              <a:t>:</a:t>
            </a:r>
          </a:p>
          <a:p>
            <a:pPr lvl="1"/>
            <a:r>
              <a:rPr lang="en-US" dirty="0"/>
              <a:t>Supports connectivity on any platform to MySQL  server using Transmission Control Protocol/Internet  Protocol (TCP/IP) sockets</a:t>
            </a:r>
          </a:p>
          <a:p>
            <a:pPr lvl="1"/>
            <a:r>
              <a:rPr lang="en-US" dirty="0"/>
              <a:t>Supports connectivity on Windows NT, 2000, XP, 2003,  and Vista using named pipes or shared-memory  connections</a:t>
            </a:r>
          </a:p>
          <a:p>
            <a:pPr lvl="1"/>
            <a:r>
              <a:rPr lang="en-US" dirty="0"/>
              <a:t>Supports connectivity on UNIX systems using UNIX  domain sockets files</a:t>
            </a:r>
          </a:p>
        </p:txBody>
      </p:sp>
    </p:spTree>
    <p:extLst>
      <p:ext uri="{BB962C8B-B14F-4D97-AF65-F5344CB8AC3E}">
        <p14:creationId xmlns:p14="http://schemas.microsoft.com/office/powerpoint/2010/main" val="17316048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F34C5-1223-4019-B42F-4506C620EBF5}"/>
              </a:ext>
            </a:extLst>
          </p:cNvPr>
          <p:cNvSpPr>
            <a:spLocks noGrp="1"/>
          </p:cNvSpPr>
          <p:nvPr>
            <p:ph type="title"/>
          </p:nvPr>
        </p:nvSpPr>
        <p:spPr>
          <a:xfrm>
            <a:off x="609600" y="274638"/>
            <a:ext cx="7924800" cy="639762"/>
          </a:xfrm>
        </p:spPr>
        <p:txBody>
          <a:bodyPr/>
          <a:lstStyle/>
          <a:p>
            <a:r>
              <a:rPr lang="en-US" dirty="0"/>
              <a:t>Features:</a:t>
            </a:r>
            <a:endParaRPr lang="en-PK" dirty="0"/>
          </a:p>
        </p:txBody>
      </p:sp>
      <p:sp>
        <p:nvSpPr>
          <p:cNvPr id="3" name="Content Placeholder 2">
            <a:extLst>
              <a:ext uri="{FF2B5EF4-FFF2-40B4-BE49-F238E27FC236}">
                <a16:creationId xmlns:a16="http://schemas.microsoft.com/office/drawing/2014/main" id="{E15C18C1-2E72-4C0A-A432-1D17878C8739}"/>
              </a:ext>
            </a:extLst>
          </p:cNvPr>
          <p:cNvSpPr>
            <a:spLocks noGrp="1"/>
          </p:cNvSpPr>
          <p:nvPr>
            <p:ph sz="quarter" idx="13"/>
          </p:nvPr>
        </p:nvSpPr>
        <p:spPr>
          <a:xfrm>
            <a:off x="609600" y="1143000"/>
            <a:ext cx="7924800" cy="4572000"/>
          </a:xfrm>
        </p:spPr>
        <p:txBody>
          <a:bodyPr/>
          <a:lstStyle/>
          <a:p>
            <a:r>
              <a:rPr lang="en-US" sz="1600" b="1" u="sng" dirty="0"/>
              <a:t>Localization</a:t>
            </a:r>
            <a:r>
              <a:rPr lang="en-US" dirty="0"/>
              <a:t>:</a:t>
            </a:r>
          </a:p>
          <a:p>
            <a:pPr lvl="1"/>
            <a:r>
              <a:rPr lang="en-US" dirty="0"/>
              <a:t>Displays error messages in languages, such as Czech,  French, German, Japanese, Korean, Norwegian, Polish  and Russian</a:t>
            </a:r>
          </a:p>
          <a:p>
            <a:pPr lvl="1"/>
            <a:r>
              <a:rPr lang="en-US" dirty="0"/>
              <a:t>Supports Unicode and various character sets</a:t>
            </a:r>
          </a:p>
          <a:p>
            <a:pPr lvl="1"/>
            <a:r>
              <a:rPr lang="en-US" dirty="0"/>
              <a:t>Allows data to be stored, sorted and compared using the  chosen character set</a:t>
            </a:r>
          </a:p>
          <a:p>
            <a:endParaRPr lang="en-PK" dirty="0"/>
          </a:p>
        </p:txBody>
      </p:sp>
    </p:spTree>
    <p:extLst>
      <p:ext uri="{BB962C8B-B14F-4D97-AF65-F5344CB8AC3E}">
        <p14:creationId xmlns:p14="http://schemas.microsoft.com/office/powerpoint/2010/main" val="5857475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1AE0F-CAAB-49FD-9B0C-3D036ADF7543}"/>
              </a:ext>
            </a:extLst>
          </p:cNvPr>
          <p:cNvSpPr>
            <a:spLocks noGrp="1"/>
          </p:cNvSpPr>
          <p:nvPr>
            <p:ph type="title"/>
          </p:nvPr>
        </p:nvSpPr>
        <p:spPr>
          <a:xfrm>
            <a:off x="609600" y="274638"/>
            <a:ext cx="7924800" cy="639762"/>
          </a:xfrm>
        </p:spPr>
        <p:txBody>
          <a:bodyPr/>
          <a:lstStyle/>
          <a:p>
            <a:r>
              <a:rPr lang="en-US" dirty="0"/>
              <a:t>Features:</a:t>
            </a:r>
            <a:endParaRPr lang="en-PK" dirty="0"/>
          </a:p>
        </p:txBody>
      </p:sp>
      <p:sp>
        <p:nvSpPr>
          <p:cNvPr id="3" name="Content Placeholder 2">
            <a:extLst>
              <a:ext uri="{FF2B5EF4-FFF2-40B4-BE49-F238E27FC236}">
                <a16:creationId xmlns:a16="http://schemas.microsoft.com/office/drawing/2014/main" id="{DA282256-9D43-4043-B515-98E1B052B45D}"/>
              </a:ext>
            </a:extLst>
          </p:cNvPr>
          <p:cNvSpPr>
            <a:spLocks noGrp="1"/>
          </p:cNvSpPr>
          <p:nvPr>
            <p:ph sz="quarter" idx="13"/>
          </p:nvPr>
        </p:nvSpPr>
        <p:spPr>
          <a:xfrm>
            <a:off x="609600" y="914400"/>
            <a:ext cx="7924800" cy="4800600"/>
          </a:xfrm>
        </p:spPr>
        <p:txBody>
          <a:bodyPr>
            <a:normAutofit lnSpcReduction="10000"/>
          </a:bodyPr>
          <a:lstStyle/>
          <a:p>
            <a:r>
              <a:rPr lang="en-US" b="1" u="sng" dirty="0"/>
              <a:t>Clients and tools:</a:t>
            </a:r>
          </a:p>
          <a:p>
            <a:pPr lvl="1"/>
            <a:r>
              <a:rPr lang="en-US" dirty="0"/>
              <a:t>Provides built-in support to check, optimize and  repair tables</a:t>
            </a:r>
          </a:p>
          <a:p>
            <a:pPr lvl="1"/>
            <a:r>
              <a:rPr lang="en-US" dirty="0"/>
              <a:t>Provides "</a:t>
            </a:r>
            <a:r>
              <a:rPr lang="en-US" b="1" dirty="0"/>
              <a:t>mysql</a:t>
            </a:r>
            <a:r>
              <a:rPr lang="en-US" dirty="0"/>
              <a:t>" tool to execute individual SQL  command or SQL commands stored in a file</a:t>
            </a:r>
          </a:p>
          <a:p>
            <a:pPr lvl="1"/>
            <a:r>
              <a:rPr lang="en-US" dirty="0"/>
              <a:t>Provides "</a:t>
            </a:r>
            <a:r>
              <a:rPr lang="en-US" b="1" dirty="0"/>
              <a:t>mysqlaccess</a:t>
            </a:r>
            <a:r>
              <a:rPr lang="en-US" dirty="0"/>
              <a:t>" tool to check host, user and  database privileges</a:t>
            </a:r>
          </a:p>
          <a:p>
            <a:pPr lvl="1"/>
            <a:r>
              <a:rPr lang="en-US" dirty="0"/>
              <a:t>Provides "</a:t>
            </a:r>
            <a:r>
              <a:rPr lang="en-US" b="1" dirty="0"/>
              <a:t>mysqladmin</a:t>
            </a:r>
            <a:r>
              <a:rPr lang="en-US" dirty="0"/>
              <a:t>" tool to manage the database</a:t>
            </a:r>
          </a:p>
          <a:p>
            <a:pPr lvl="1"/>
            <a:r>
              <a:rPr lang="en-US" dirty="0"/>
              <a:t>Provides "</a:t>
            </a:r>
            <a:r>
              <a:rPr lang="en-US" b="1" dirty="0"/>
              <a:t>mysqldump</a:t>
            </a:r>
            <a:r>
              <a:rPr lang="en-US" dirty="0"/>
              <a:t>" tool to backup the contents of  one or more MySQL database to a file </a:t>
            </a:r>
          </a:p>
          <a:p>
            <a:pPr lvl="1"/>
            <a:r>
              <a:rPr lang="en-US" dirty="0"/>
              <a:t>Provides "</a:t>
            </a:r>
            <a:r>
              <a:rPr lang="en-US" b="1" dirty="0"/>
              <a:t>mysqlhotcopy</a:t>
            </a:r>
            <a:r>
              <a:rPr lang="en-US" dirty="0"/>
              <a:t>" tool to backup a  single database or table on to the same computer</a:t>
            </a:r>
          </a:p>
          <a:p>
            <a:pPr lvl="1"/>
            <a:r>
              <a:rPr lang="en-US" dirty="0"/>
              <a:t>Provides "</a:t>
            </a:r>
            <a:r>
              <a:rPr lang="en-US" b="1" dirty="0"/>
              <a:t>mysqlimport</a:t>
            </a:r>
            <a:r>
              <a:rPr lang="en-US" dirty="0"/>
              <a:t>" tool to import data into a  MySQL table from a file</a:t>
            </a:r>
          </a:p>
          <a:p>
            <a:pPr lvl="1"/>
            <a:r>
              <a:rPr lang="en-US" dirty="0"/>
              <a:t>Provides "</a:t>
            </a:r>
            <a:r>
              <a:rPr lang="en-US" b="1" dirty="0"/>
              <a:t>mysqlshow</a:t>
            </a:r>
            <a:r>
              <a:rPr lang="en-US" dirty="0"/>
              <a:t>" tool to display  information about the database, tables and  columns</a:t>
            </a:r>
          </a:p>
          <a:p>
            <a:pPr lvl="1"/>
            <a:r>
              <a:rPr lang="en-US" dirty="0"/>
              <a:t>Provides "</a:t>
            </a:r>
            <a:r>
              <a:rPr lang="en-US" b="1" dirty="0" err="1"/>
              <a:t>mysqld_safe</a:t>
            </a:r>
            <a:r>
              <a:rPr lang="en-US" dirty="0"/>
              <a:t>" tool that enables safe  start up of the MySQL</a:t>
            </a:r>
          </a:p>
          <a:p>
            <a:endParaRPr lang="en-US" dirty="0"/>
          </a:p>
          <a:p>
            <a:endParaRPr lang="en-PK" dirty="0"/>
          </a:p>
        </p:txBody>
      </p:sp>
    </p:spTree>
    <p:extLst>
      <p:ext uri="{BB962C8B-B14F-4D97-AF65-F5344CB8AC3E}">
        <p14:creationId xmlns:p14="http://schemas.microsoft.com/office/powerpoint/2010/main" val="19904339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B65ED-0D64-418C-B5A3-2DE570C7D3CC}"/>
              </a:ext>
            </a:extLst>
          </p:cNvPr>
          <p:cNvSpPr>
            <a:spLocks noGrp="1"/>
          </p:cNvSpPr>
          <p:nvPr>
            <p:ph type="title"/>
          </p:nvPr>
        </p:nvSpPr>
        <p:spPr>
          <a:xfrm>
            <a:off x="609600" y="274638"/>
            <a:ext cx="7924800" cy="639762"/>
          </a:xfrm>
        </p:spPr>
        <p:txBody>
          <a:bodyPr/>
          <a:lstStyle/>
          <a:p>
            <a:r>
              <a:rPr lang="en-US" dirty="0"/>
              <a:t>Advantages over other rdbms:</a:t>
            </a:r>
            <a:endParaRPr lang="en-PK" dirty="0"/>
          </a:p>
        </p:txBody>
      </p:sp>
      <p:sp>
        <p:nvSpPr>
          <p:cNvPr id="3" name="Content Placeholder 2">
            <a:extLst>
              <a:ext uri="{FF2B5EF4-FFF2-40B4-BE49-F238E27FC236}">
                <a16:creationId xmlns:a16="http://schemas.microsoft.com/office/drawing/2014/main" id="{42EBA2B8-2188-4A26-97A3-A0014281D771}"/>
              </a:ext>
            </a:extLst>
          </p:cNvPr>
          <p:cNvSpPr>
            <a:spLocks noGrp="1"/>
          </p:cNvSpPr>
          <p:nvPr>
            <p:ph sz="quarter" idx="13"/>
          </p:nvPr>
        </p:nvSpPr>
        <p:spPr>
          <a:xfrm>
            <a:off x="609600" y="914400"/>
            <a:ext cx="7924800" cy="4800600"/>
          </a:xfrm>
        </p:spPr>
        <p:txBody>
          <a:bodyPr/>
          <a:lstStyle/>
          <a:p>
            <a:r>
              <a:rPr lang="en-US" dirty="0"/>
              <a:t>Reliable</a:t>
            </a:r>
          </a:p>
          <a:p>
            <a:r>
              <a:rPr lang="en-US" dirty="0"/>
              <a:t>Ease of use</a:t>
            </a:r>
          </a:p>
          <a:p>
            <a:r>
              <a:rPr lang="en-US" dirty="0"/>
              <a:t>Cross platform support</a:t>
            </a:r>
          </a:p>
          <a:p>
            <a:r>
              <a:rPr lang="en-US" dirty="0"/>
              <a:t>Views </a:t>
            </a:r>
          </a:p>
          <a:p>
            <a:r>
              <a:rPr lang="en-US" dirty="0"/>
              <a:t>Stored Procedure</a:t>
            </a:r>
          </a:p>
          <a:p>
            <a:r>
              <a:rPr lang="en-US" dirty="0"/>
              <a:t>Triggers</a:t>
            </a:r>
          </a:p>
          <a:p>
            <a:endParaRPr lang="en-PK" dirty="0"/>
          </a:p>
        </p:txBody>
      </p:sp>
    </p:spTree>
    <p:extLst>
      <p:ext uri="{BB962C8B-B14F-4D97-AF65-F5344CB8AC3E}">
        <p14:creationId xmlns:p14="http://schemas.microsoft.com/office/powerpoint/2010/main" val="13958009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5B206-1BE0-4A9D-9393-5443F4046E9C}"/>
              </a:ext>
            </a:extLst>
          </p:cNvPr>
          <p:cNvSpPr>
            <a:spLocks noGrp="1"/>
          </p:cNvSpPr>
          <p:nvPr>
            <p:ph type="title"/>
          </p:nvPr>
        </p:nvSpPr>
        <p:spPr>
          <a:xfrm>
            <a:off x="609600" y="274638"/>
            <a:ext cx="7924800" cy="715962"/>
          </a:xfrm>
        </p:spPr>
        <p:txBody>
          <a:bodyPr/>
          <a:lstStyle/>
          <a:p>
            <a:r>
              <a:rPr lang="en-US" dirty="0"/>
              <a:t>Comparing MySQL With Other RDBMS</a:t>
            </a:r>
            <a:br>
              <a:rPr lang="en-US" dirty="0"/>
            </a:br>
            <a:endParaRPr lang="en-PK" dirty="0"/>
          </a:p>
        </p:txBody>
      </p:sp>
      <p:sp>
        <p:nvSpPr>
          <p:cNvPr id="3" name="Content Placeholder 2">
            <a:extLst>
              <a:ext uri="{FF2B5EF4-FFF2-40B4-BE49-F238E27FC236}">
                <a16:creationId xmlns:a16="http://schemas.microsoft.com/office/drawing/2014/main" id="{4014DD3A-37CD-455F-A12A-376581E0AF06}"/>
              </a:ext>
            </a:extLst>
          </p:cNvPr>
          <p:cNvSpPr>
            <a:spLocks noGrp="1"/>
          </p:cNvSpPr>
          <p:nvPr>
            <p:ph sz="quarter" idx="13"/>
          </p:nvPr>
        </p:nvSpPr>
        <p:spPr>
          <a:xfrm>
            <a:off x="609600" y="762000"/>
            <a:ext cx="7924800" cy="4953000"/>
          </a:xfrm>
        </p:spPr>
        <p:txBody>
          <a:bodyPr>
            <a:normAutofit fontScale="92500" lnSpcReduction="10000"/>
          </a:bodyPr>
          <a:lstStyle/>
          <a:p>
            <a:r>
              <a:rPr lang="en-US" dirty="0"/>
              <a:t>The commercial databases support almost all the features that  are present in MySQL, but the performance of MySQL is better</a:t>
            </a:r>
          </a:p>
          <a:p>
            <a:r>
              <a:rPr lang="en-US" dirty="0"/>
              <a:t>One drawback in MySQL is that it does not support advanced  SQL3 features such as object oriented data types</a:t>
            </a:r>
          </a:p>
          <a:p>
            <a:r>
              <a:rPr lang="en-US" dirty="0"/>
              <a:t>PostgreSQL supports advanced SQL3 features and is a better  choice as an open-source DBMS</a:t>
            </a:r>
          </a:p>
          <a:p>
            <a:r>
              <a:rPr lang="en-US" dirty="0"/>
              <a:t>PostgreSQL has a major disadvantage in its hidden limit of 8K  of data per row</a:t>
            </a:r>
          </a:p>
          <a:p>
            <a:r>
              <a:rPr lang="en-US" dirty="0"/>
              <a:t>PostgreSQL is more powerful but MySQL is faster</a:t>
            </a:r>
          </a:p>
          <a:p>
            <a:r>
              <a:rPr lang="en-US" dirty="0"/>
              <a:t>The latest versions of PostgreSQL and MySQL  support features, such as sub-selects, stored procedures, triggers , unions, and views</a:t>
            </a:r>
          </a:p>
          <a:p>
            <a:r>
              <a:rPr lang="en-US" dirty="0"/>
              <a:t>Older versions of MySQL did not support all these features. In  addition, because these features are new to MySQL, there are  some performance issues</a:t>
            </a:r>
          </a:p>
          <a:p>
            <a:r>
              <a:rPr lang="en-US" dirty="0"/>
              <a:t>MySQL provides more user-friendly command interface so it is  popular among Web developers</a:t>
            </a:r>
          </a:p>
          <a:p>
            <a:r>
              <a:rPr lang="en-US" dirty="0"/>
              <a:t>MySQL supports more data types and functions as compared  to </a:t>
            </a:r>
            <a:r>
              <a:rPr lang="en-US" dirty="0" err="1"/>
              <a:t>mSQL</a:t>
            </a:r>
            <a:endParaRPr lang="en-US" dirty="0"/>
          </a:p>
          <a:p>
            <a:r>
              <a:rPr lang="en-US" dirty="0" err="1"/>
              <a:t>InstantDB</a:t>
            </a:r>
            <a:r>
              <a:rPr lang="en-US" dirty="0"/>
              <a:t> competes well with MySQL when you consider the  different features</a:t>
            </a:r>
          </a:p>
          <a:p>
            <a:r>
              <a:rPr lang="en-US" dirty="0"/>
              <a:t>MySQL is faster as compared to </a:t>
            </a:r>
            <a:r>
              <a:rPr lang="en-US" dirty="0" err="1"/>
              <a:t>InstantDB</a:t>
            </a:r>
            <a:endParaRPr lang="en-US" dirty="0"/>
          </a:p>
        </p:txBody>
      </p:sp>
    </p:spTree>
    <p:extLst>
      <p:ext uri="{BB962C8B-B14F-4D97-AF65-F5344CB8AC3E}">
        <p14:creationId xmlns:p14="http://schemas.microsoft.com/office/powerpoint/2010/main" val="18576539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54CAA-C43A-4060-83C3-0D65233C77B8}"/>
              </a:ext>
            </a:extLst>
          </p:cNvPr>
          <p:cNvSpPr>
            <a:spLocks noGrp="1"/>
          </p:cNvSpPr>
          <p:nvPr>
            <p:ph type="title"/>
          </p:nvPr>
        </p:nvSpPr>
        <p:spPr>
          <a:xfrm>
            <a:off x="609600" y="274638"/>
            <a:ext cx="7924800" cy="639762"/>
          </a:xfrm>
        </p:spPr>
        <p:txBody>
          <a:bodyPr/>
          <a:lstStyle/>
          <a:p>
            <a:r>
              <a:rPr lang="en-US" dirty="0"/>
              <a:t>Advantages of php in mysql environment:</a:t>
            </a:r>
            <a:endParaRPr lang="en-PK" dirty="0"/>
          </a:p>
        </p:txBody>
      </p:sp>
      <p:sp>
        <p:nvSpPr>
          <p:cNvPr id="3" name="Content Placeholder 2">
            <a:extLst>
              <a:ext uri="{FF2B5EF4-FFF2-40B4-BE49-F238E27FC236}">
                <a16:creationId xmlns:a16="http://schemas.microsoft.com/office/drawing/2014/main" id="{9AF9E5B4-5B7D-4603-821C-639053A6A2DD}"/>
              </a:ext>
            </a:extLst>
          </p:cNvPr>
          <p:cNvSpPr>
            <a:spLocks noGrp="1"/>
          </p:cNvSpPr>
          <p:nvPr>
            <p:ph sz="quarter" idx="13"/>
          </p:nvPr>
        </p:nvSpPr>
        <p:spPr>
          <a:xfrm>
            <a:off x="609600" y="914400"/>
            <a:ext cx="7924800" cy="4800600"/>
          </a:xfrm>
        </p:spPr>
        <p:txBody>
          <a:bodyPr/>
          <a:lstStyle/>
          <a:p>
            <a:r>
              <a:rPr lang="en-US" dirty="0"/>
              <a:t>Consider a database connected to a server as shown</a:t>
            </a:r>
          </a:p>
          <a:p>
            <a:pPr lvl="1"/>
            <a:r>
              <a:rPr lang="en-US" dirty="0"/>
              <a:t>The database, server, and client maintain a two-way  communication</a:t>
            </a:r>
          </a:p>
          <a:p>
            <a:pPr lvl="1"/>
            <a:r>
              <a:rPr lang="en-US" dirty="0"/>
              <a:t>If several clients make a request to the server for the same  data, then the server will return the data to all the clients  and results in slow performance of the system</a:t>
            </a:r>
          </a:p>
          <a:p>
            <a:pPr lvl="1"/>
            <a:r>
              <a:rPr lang="en-US" dirty="0"/>
              <a:t>The advantage of using PHP is that the database can be  accessed directly through a Web page</a:t>
            </a:r>
          </a:p>
          <a:p>
            <a:pPr lvl="1"/>
            <a:r>
              <a:rPr lang="en-US" dirty="0"/>
              <a:t>In this scenario, the client will request for a PHP file</a:t>
            </a:r>
          </a:p>
          <a:p>
            <a:pPr lvl="1"/>
            <a:r>
              <a:rPr lang="en-US" dirty="0"/>
              <a:t>The PHP preprocessor will connect to the database,  retrieve the data, convert the data into HTML format,  and send it to the browser</a:t>
            </a:r>
          </a:p>
          <a:p>
            <a:pPr lvl="1"/>
            <a:endParaRPr lang="en-US" dirty="0"/>
          </a:p>
          <a:p>
            <a:endParaRPr lang="en-PK" dirty="0"/>
          </a:p>
        </p:txBody>
      </p:sp>
      <p:pic>
        <p:nvPicPr>
          <p:cNvPr id="10" name="Picture 9">
            <a:extLst>
              <a:ext uri="{FF2B5EF4-FFF2-40B4-BE49-F238E27FC236}">
                <a16:creationId xmlns:a16="http://schemas.microsoft.com/office/drawing/2014/main" id="{E482C043-09FE-4E9E-B359-244AEAB176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24100" y="3505200"/>
            <a:ext cx="4495800" cy="2532374"/>
          </a:xfrm>
          <a:prstGeom prst="rect">
            <a:avLst/>
          </a:prstGeom>
        </p:spPr>
      </p:pic>
      <p:sp>
        <p:nvSpPr>
          <p:cNvPr id="11" name="Oval 10">
            <a:extLst>
              <a:ext uri="{FF2B5EF4-FFF2-40B4-BE49-F238E27FC236}">
                <a16:creationId xmlns:a16="http://schemas.microsoft.com/office/drawing/2014/main" id="{C211B18C-292B-4435-8417-4E63D2FE6C78}"/>
              </a:ext>
            </a:extLst>
          </p:cNvPr>
          <p:cNvSpPr/>
          <p:nvPr/>
        </p:nvSpPr>
        <p:spPr>
          <a:xfrm>
            <a:off x="6934200" y="4572000"/>
            <a:ext cx="11430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Clients</a:t>
            </a:r>
            <a:endParaRPr lang="en-PK" dirty="0"/>
          </a:p>
        </p:txBody>
      </p:sp>
      <p:sp>
        <p:nvSpPr>
          <p:cNvPr id="12" name="Oval 11">
            <a:extLst>
              <a:ext uri="{FF2B5EF4-FFF2-40B4-BE49-F238E27FC236}">
                <a16:creationId xmlns:a16="http://schemas.microsoft.com/office/drawing/2014/main" id="{3422F781-1377-40B6-B8D2-54598850381B}"/>
              </a:ext>
            </a:extLst>
          </p:cNvPr>
          <p:cNvSpPr/>
          <p:nvPr/>
        </p:nvSpPr>
        <p:spPr>
          <a:xfrm>
            <a:off x="4114800" y="5653752"/>
            <a:ext cx="11430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Server</a:t>
            </a:r>
            <a:endParaRPr lang="en-PK" dirty="0"/>
          </a:p>
        </p:txBody>
      </p:sp>
    </p:spTree>
    <p:extLst>
      <p:ext uri="{BB962C8B-B14F-4D97-AF65-F5344CB8AC3E}">
        <p14:creationId xmlns:p14="http://schemas.microsoft.com/office/powerpoint/2010/main" val="38475129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9B97C-5C0D-4CC2-B69C-74FDF313B25C}"/>
              </a:ext>
            </a:extLst>
          </p:cNvPr>
          <p:cNvSpPr>
            <a:spLocks noGrp="1"/>
          </p:cNvSpPr>
          <p:nvPr>
            <p:ph type="title"/>
          </p:nvPr>
        </p:nvSpPr>
        <p:spPr>
          <a:xfrm>
            <a:off x="609600" y="274638"/>
            <a:ext cx="7924800" cy="563562"/>
          </a:xfrm>
        </p:spPr>
        <p:txBody>
          <a:bodyPr/>
          <a:lstStyle/>
          <a:p>
            <a:r>
              <a:rPr lang="en-US" dirty="0"/>
              <a:t>Requirements of PHP script:</a:t>
            </a:r>
            <a:endParaRPr lang="en-PK" dirty="0"/>
          </a:p>
        </p:txBody>
      </p:sp>
      <p:sp>
        <p:nvSpPr>
          <p:cNvPr id="3" name="Content Placeholder 2">
            <a:extLst>
              <a:ext uri="{FF2B5EF4-FFF2-40B4-BE49-F238E27FC236}">
                <a16:creationId xmlns:a16="http://schemas.microsoft.com/office/drawing/2014/main" id="{8137B5DE-6B65-4C76-A72E-93DDBA9E322B}"/>
              </a:ext>
            </a:extLst>
          </p:cNvPr>
          <p:cNvSpPr>
            <a:spLocks noGrp="1"/>
          </p:cNvSpPr>
          <p:nvPr>
            <p:ph sz="quarter" idx="13"/>
          </p:nvPr>
        </p:nvSpPr>
        <p:spPr>
          <a:xfrm>
            <a:off x="609600" y="1143000"/>
            <a:ext cx="7924800" cy="4572000"/>
          </a:xfrm>
        </p:spPr>
        <p:txBody>
          <a:bodyPr/>
          <a:lstStyle/>
          <a:p>
            <a:r>
              <a:rPr lang="en-US" dirty="0"/>
              <a:t>To run a PHP script, you will need to install the following  software:</a:t>
            </a:r>
          </a:p>
          <a:p>
            <a:pPr lvl="1"/>
            <a:r>
              <a:rPr lang="en-US" dirty="0"/>
              <a:t>Web server</a:t>
            </a:r>
          </a:p>
          <a:p>
            <a:pPr lvl="1"/>
            <a:r>
              <a:rPr lang="en-US" dirty="0"/>
              <a:t>PHP</a:t>
            </a:r>
          </a:p>
          <a:p>
            <a:pPr lvl="1"/>
            <a:r>
              <a:rPr lang="en-US" dirty="0"/>
              <a:t>MySQL</a:t>
            </a:r>
          </a:p>
          <a:p>
            <a:r>
              <a:rPr lang="en-US" dirty="0"/>
              <a:t>PHP supports different operating systems such as Mac  OS X, Linux, UNIX, and Windows</a:t>
            </a:r>
          </a:p>
          <a:p>
            <a:r>
              <a:rPr lang="en-US" dirty="0"/>
              <a:t>Both PHP and MySQL are open source</a:t>
            </a:r>
          </a:p>
          <a:p>
            <a:r>
              <a:rPr lang="en-US" dirty="0"/>
              <a:t>This feature makes them cost effective as compared to  other software products</a:t>
            </a:r>
          </a:p>
          <a:p>
            <a:endParaRPr lang="en-US" dirty="0"/>
          </a:p>
          <a:p>
            <a:endParaRPr lang="en-PK" dirty="0"/>
          </a:p>
        </p:txBody>
      </p:sp>
      <p:sp>
        <p:nvSpPr>
          <p:cNvPr id="4" name="Oval 3">
            <a:extLst>
              <a:ext uri="{FF2B5EF4-FFF2-40B4-BE49-F238E27FC236}">
                <a16:creationId xmlns:a16="http://schemas.microsoft.com/office/drawing/2014/main" id="{FC0CBB88-11AC-4AF7-8A63-7381B26DC800}"/>
              </a:ext>
            </a:extLst>
          </p:cNvPr>
          <p:cNvSpPr/>
          <p:nvPr/>
        </p:nvSpPr>
        <p:spPr>
          <a:xfrm>
            <a:off x="1676400" y="4267200"/>
            <a:ext cx="5562600" cy="76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PHPMyAdmin is an administrative interface for MySQL databases</a:t>
            </a:r>
          </a:p>
        </p:txBody>
      </p:sp>
    </p:spTree>
    <p:extLst>
      <p:ext uri="{BB962C8B-B14F-4D97-AF65-F5344CB8AC3E}">
        <p14:creationId xmlns:p14="http://schemas.microsoft.com/office/powerpoint/2010/main" val="29589745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F83CD-4E4E-4277-937B-E20A63E0DC88}"/>
              </a:ext>
            </a:extLst>
          </p:cNvPr>
          <p:cNvSpPr>
            <a:spLocks noGrp="1"/>
          </p:cNvSpPr>
          <p:nvPr>
            <p:ph type="title"/>
          </p:nvPr>
        </p:nvSpPr>
        <p:spPr>
          <a:xfrm>
            <a:off x="609600" y="274638"/>
            <a:ext cx="7924800" cy="639762"/>
          </a:xfrm>
        </p:spPr>
        <p:txBody>
          <a:bodyPr/>
          <a:lstStyle/>
          <a:p>
            <a:r>
              <a:rPr lang="en-US" dirty="0"/>
              <a:t>open-source software license:</a:t>
            </a:r>
            <a:endParaRPr lang="en-PK" dirty="0"/>
          </a:p>
        </p:txBody>
      </p:sp>
      <p:sp>
        <p:nvSpPr>
          <p:cNvPr id="3" name="Content Placeholder 2">
            <a:extLst>
              <a:ext uri="{FF2B5EF4-FFF2-40B4-BE49-F238E27FC236}">
                <a16:creationId xmlns:a16="http://schemas.microsoft.com/office/drawing/2014/main" id="{91ADB14A-EA8C-402D-BA32-2C1632675D9F}"/>
              </a:ext>
            </a:extLst>
          </p:cNvPr>
          <p:cNvSpPr>
            <a:spLocks noGrp="1"/>
          </p:cNvSpPr>
          <p:nvPr>
            <p:ph sz="quarter" idx="13"/>
          </p:nvPr>
        </p:nvSpPr>
        <p:spPr>
          <a:xfrm>
            <a:off x="609600" y="1066800"/>
            <a:ext cx="7924800" cy="4876800"/>
          </a:xfrm>
        </p:spPr>
        <p:txBody>
          <a:bodyPr>
            <a:normAutofit/>
          </a:bodyPr>
          <a:lstStyle/>
          <a:p>
            <a:r>
              <a:rPr lang="en-US" dirty="0"/>
              <a:t>An open-source software license permits users to read,  access, change, and reuse the source code of a  software product</a:t>
            </a:r>
          </a:p>
          <a:p>
            <a:r>
              <a:rPr lang="en-US" dirty="0"/>
              <a:t>Open-source software does not necessarily mean free  software</a:t>
            </a:r>
          </a:p>
          <a:p>
            <a:r>
              <a:rPr lang="en-US" dirty="0"/>
              <a:t>The advantage of using open-source software is that  the developer can customize as per requirements</a:t>
            </a:r>
          </a:p>
          <a:p>
            <a:r>
              <a:rPr lang="en-US" dirty="0"/>
              <a:t>There is no limit on the customization and there are  various troubleshooting and performance tips freely  available on the Internet for open-source software</a:t>
            </a:r>
          </a:p>
          <a:p>
            <a:r>
              <a:rPr lang="en-US" dirty="0"/>
              <a:t>Open-source license does not allow you to sell  customized software</a:t>
            </a:r>
          </a:p>
          <a:p>
            <a:r>
              <a:rPr lang="en-US" dirty="0"/>
              <a:t>You will have to provide the modified source code when  you distribute the software</a:t>
            </a:r>
          </a:p>
          <a:p>
            <a:r>
              <a:rPr lang="en-US" dirty="0"/>
              <a:t>The source code must be distributed along with the  binary</a:t>
            </a:r>
          </a:p>
          <a:p>
            <a:r>
              <a:rPr lang="en-US" dirty="0"/>
              <a:t>The software can be modified as required and  redistributed under the same terms as the original  software</a:t>
            </a:r>
          </a:p>
          <a:p>
            <a:r>
              <a:rPr lang="en-US" dirty="0"/>
              <a:t>When the software is used as a part of development of  other applications, the software must be redistributed  with the application without any royalty or fee</a:t>
            </a:r>
          </a:p>
          <a:p>
            <a:endParaRPr lang="en-PK" dirty="0"/>
          </a:p>
        </p:txBody>
      </p:sp>
    </p:spTree>
    <p:extLst>
      <p:ext uri="{BB962C8B-B14F-4D97-AF65-F5344CB8AC3E}">
        <p14:creationId xmlns:p14="http://schemas.microsoft.com/office/powerpoint/2010/main" val="33956340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7AB41-9055-4201-87FC-12A5D24F9621}"/>
              </a:ext>
            </a:extLst>
          </p:cNvPr>
          <p:cNvSpPr>
            <a:spLocks noGrp="1"/>
          </p:cNvSpPr>
          <p:nvPr>
            <p:ph type="title"/>
          </p:nvPr>
        </p:nvSpPr>
        <p:spPr/>
        <p:txBody>
          <a:bodyPr/>
          <a:lstStyle/>
          <a:p>
            <a:r>
              <a:rPr lang="en-US" dirty="0"/>
              <a:t>Licensing of mysql:</a:t>
            </a:r>
            <a:endParaRPr lang="en-PK" dirty="0"/>
          </a:p>
        </p:txBody>
      </p:sp>
      <p:sp>
        <p:nvSpPr>
          <p:cNvPr id="3" name="Content Placeholder 2">
            <a:extLst>
              <a:ext uri="{FF2B5EF4-FFF2-40B4-BE49-F238E27FC236}">
                <a16:creationId xmlns:a16="http://schemas.microsoft.com/office/drawing/2014/main" id="{854161F9-396D-4767-B668-03EFE2038DEA}"/>
              </a:ext>
            </a:extLst>
          </p:cNvPr>
          <p:cNvSpPr>
            <a:spLocks noGrp="1"/>
          </p:cNvSpPr>
          <p:nvPr>
            <p:ph sz="quarter" idx="13"/>
          </p:nvPr>
        </p:nvSpPr>
        <p:spPr/>
        <p:txBody>
          <a:bodyPr/>
          <a:lstStyle/>
          <a:p>
            <a:r>
              <a:rPr lang="en-US" dirty="0"/>
              <a:t>MySQL is available under two licensing schemes:</a:t>
            </a:r>
          </a:p>
          <a:p>
            <a:pPr lvl="1"/>
            <a:r>
              <a:rPr lang="en-US" dirty="0"/>
              <a:t>General Public License (GPL) – Applies to developers  who use, and/or distribute open source software  under the GPL</a:t>
            </a:r>
          </a:p>
          <a:p>
            <a:pPr lvl="1"/>
            <a:r>
              <a:rPr lang="en-US" dirty="0"/>
              <a:t>Commercial License – Applies to developers who  only use MySQL to develop their own executables  and not the source code</a:t>
            </a:r>
          </a:p>
          <a:p>
            <a:endParaRPr lang="en-PK" dirty="0"/>
          </a:p>
        </p:txBody>
      </p:sp>
    </p:spTree>
    <p:extLst>
      <p:ext uri="{BB962C8B-B14F-4D97-AF65-F5344CB8AC3E}">
        <p14:creationId xmlns:p14="http://schemas.microsoft.com/office/powerpoint/2010/main" val="29562796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8400C-EE07-4551-BF22-696E197BB8C6}"/>
              </a:ext>
            </a:extLst>
          </p:cNvPr>
          <p:cNvSpPr>
            <a:spLocks noGrp="1"/>
          </p:cNvSpPr>
          <p:nvPr>
            <p:ph type="title"/>
          </p:nvPr>
        </p:nvSpPr>
        <p:spPr>
          <a:xfrm>
            <a:off x="609600" y="274638"/>
            <a:ext cx="7924800" cy="639762"/>
          </a:xfrm>
        </p:spPr>
        <p:txBody>
          <a:bodyPr/>
          <a:lstStyle/>
          <a:p>
            <a:r>
              <a:rPr lang="en-US" dirty="0"/>
              <a:t>Creating database:</a:t>
            </a:r>
            <a:endParaRPr lang="en-PK" dirty="0"/>
          </a:p>
        </p:txBody>
      </p:sp>
      <p:sp>
        <p:nvSpPr>
          <p:cNvPr id="3" name="Content Placeholder 2">
            <a:extLst>
              <a:ext uri="{FF2B5EF4-FFF2-40B4-BE49-F238E27FC236}">
                <a16:creationId xmlns:a16="http://schemas.microsoft.com/office/drawing/2014/main" id="{81B99802-DC85-44EB-8E07-BFB6C767F5D7}"/>
              </a:ext>
            </a:extLst>
          </p:cNvPr>
          <p:cNvSpPr>
            <a:spLocks noGrp="1"/>
          </p:cNvSpPr>
          <p:nvPr>
            <p:ph sz="quarter" idx="13"/>
          </p:nvPr>
        </p:nvSpPr>
        <p:spPr>
          <a:xfrm>
            <a:off x="609600" y="990600"/>
            <a:ext cx="7924800" cy="4724400"/>
          </a:xfrm>
        </p:spPr>
        <p:txBody>
          <a:bodyPr/>
          <a:lstStyle/>
          <a:p>
            <a:r>
              <a:rPr lang="en-US" dirty="0"/>
              <a:t>Syntax:</a:t>
            </a:r>
          </a:p>
          <a:p>
            <a:endParaRPr lang="en-US" dirty="0"/>
          </a:p>
          <a:p>
            <a:pPr lvl="1"/>
            <a:r>
              <a:rPr lang="en-US" dirty="0"/>
              <a:t>where,</a:t>
            </a:r>
          </a:p>
          <a:p>
            <a:pPr lvl="2"/>
            <a:r>
              <a:rPr lang="en-US" dirty="0"/>
              <a:t>CREATE DATABASE – adds a new database to the MySQL instance</a:t>
            </a:r>
          </a:p>
          <a:p>
            <a:pPr lvl="2"/>
            <a:r>
              <a:rPr lang="en-US" dirty="0"/>
              <a:t>IF NOT EXISTS – checks for the existence of databases with the same name before adding the new database</a:t>
            </a:r>
          </a:p>
          <a:p>
            <a:pPr lvl="2"/>
            <a:r>
              <a:rPr lang="en-US" dirty="0"/>
              <a:t>dbname – specifies a name for the new database</a:t>
            </a:r>
          </a:p>
          <a:p>
            <a:endParaRPr lang="en-PK" dirty="0"/>
          </a:p>
        </p:txBody>
      </p:sp>
      <p:sp>
        <p:nvSpPr>
          <p:cNvPr id="4" name="Rectangle 3">
            <a:extLst>
              <a:ext uri="{FF2B5EF4-FFF2-40B4-BE49-F238E27FC236}">
                <a16:creationId xmlns:a16="http://schemas.microsoft.com/office/drawing/2014/main" id="{4451869A-4334-4A38-A4E5-488D98D285A8}"/>
              </a:ext>
            </a:extLst>
          </p:cNvPr>
          <p:cNvSpPr/>
          <p:nvPr/>
        </p:nvSpPr>
        <p:spPr>
          <a:xfrm>
            <a:off x="1447800" y="1371600"/>
            <a:ext cx="54864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CREATE DATABASE [IF NOT EXISTS] &lt;dbname&gt;;</a:t>
            </a:r>
          </a:p>
        </p:txBody>
      </p:sp>
    </p:spTree>
    <p:extLst>
      <p:ext uri="{BB962C8B-B14F-4D97-AF65-F5344CB8AC3E}">
        <p14:creationId xmlns:p14="http://schemas.microsoft.com/office/powerpoint/2010/main" val="4770149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C3DDF-0ECB-4952-B4CD-03FDE549958D}"/>
              </a:ext>
            </a:extLst>
          </p:cNvPr>
          <p:cNvSpPr>
            <a:spLocks noGrp="1"/>
          </p:cNvSpPr>
          <p:nvPr>
            <p:ph type="title"/>
          </p:nvPr>
        </p:nvSpPr>
        <p:spPr>
          <a:xfrm>
            <a:off x="609600" y="274638"/>
            <a:ext cx="7924800" cy="639762"/>
          </a:xfrm>
        </p:spPr>
        <p:txBody>
          <a:bodyPr/>
          <a:lstStyle/>
          <a:p>
            <a:r>
              <a:rPr lang="en-US" dirty="0"/>
              <a:t>Working with tables:</a:t>
            </a:r>
            <a:endParaRPr lang="en-PK" dirty="0"/>
          </a:p>
        </p:txBody>
      </p:sp>
      <p:sp>
        <p:nvSpPr>
          <p:cNvPr id="3" name="Content Placeholder 2">
            <a:extLst>
              <a:ext uri="{FF2B5EF4-FFF2-40B4-BE49-F238E27FC236}">
                <a16:creationId xmlns:a16="http://schemas.microsoft.com/office/drawing/2014/main" id="{88C2D053-917A-4D62-B354-0BF9DB44078C}"/>
              </a:ext>
            </a:extLst>
          </p:cNvPr>
          <p:cNvSpPr>
            <a:spLocks noGrp="1"/>
          </p:cNvSpPr>
          <p:nvPr>
            <p:ph sz="quarter" idx="13"/>
          </p:nvPr>
        </p:nvSpPr>
        <p:spPr>
          <a:xfrm>
            <a:off x="609600" y="914400"/>
            <a:ext cx="7924800" cy="4800600"/>
          </a:xfrm>
        </p:spPr>
        <p:txBody>
          <a:bodyPr>
            <a:normAutofit fontScale="92500" lnSpcReduction="10000"/>
          </a:bodyPr>
          <a:lstStyle/>
          <a:p>
            <a:r>
              <a:rPr lang="en-US" dirty="0"/>
              <a:t>As compared to a DBMS, RDBMS stores data in different tables  to ensure consistency and faster search and retrieval  operations</a:t>
            </a:r>
          </a:p>
          <a:p>
            <a:r>
              <a:rPr lang="en-US" dirty="0"/>
              <a:t>A table stores data in rows and columns</a:t>
            </a:r>
          </a:p>
          <a:p>
            <a:r>
              <a:rPr lang="en-US" dirty="0"/>
              <a:t>A field in a table is called a column and row is called a record</a:t>
            </a:r>
          </a:p>
          <a:p>
            <a:r>
              <a:rPr lang="en-US" dirty="0"/>
              <a:t>A record is also defined as collection of fields</a:t>
            </a:r>
          </a:p>
          <a:p>
            <a:r>
              <a:rPr lang="en-US" sz="2200" b="1" u="sng" dirty="0"/>
              <a:t>Data Types:</a:t>
            </a:r>
          </a:p>
          <a:p>
            <a:pPr lvl="1"/>
            <a:r>
              <a:rPr lang="en-US" dirty="0"/>
              <a:t>Data types define the type of the data that will be stored in a  column</a:t>
            </a:r>
          </a:p>
          <a:p>
            <a:pPr lvl="1"/>
            <a:r>
              <a:rPr lang="en-US" dirty="0"/>
              <a:t>Data types also define the size and the type of data that can be stored in the column</a:t>
            </a:r>
          </a:p>
          <a:p>
            <a:pPr lvl="1"/>
            <a:r>
              <a:rPr lang="en-US" dirty="0"/>
              <a:t>MySQL supports different data types to store values</a:t>
            </a:r>
          </a:p>
          <a:p>
            <a:pPr lvl="1"/>
            <a:r>
              <a:rPr lang="en-US" dirty="0"/>
              <a:t>Following are the different categories under which the data can be categorized:</a:t>
            </a:r>
          </a:p>
          <a:p>
            <a:pPr lvl="2"/>
            <a:r>
              <a:rPr lang="en-US" dirty="0"/>
              <a:t>Numeric data types</a:t>
            </a:r>
          </a:p>
          <a:p>
            <a:pPr lvl="2"/>
            <a:r>
              <a:rPr lang="en-US" dirty="0"/>
              <a:t>Date and time data types</a:t>
            </a:r>
          </a:p>
          <a:p>
            <a:pPr lvl="2"/>
            <a:r>
              <a:rPr lang="en-US" dirty="0"/>
              <a:t>String data types</a:t>
            </a:r>
          </a:p>
          <a:p>
            <a:pPr lvl="2"/>
            <a:r>
              <a:rPr lang="en-US" dirty="0"/>
              <a:t>Complex data types (like </a:t>
            </a:r>
            <a:r>
              <a:rPr lang="en-US" dirty="0" err="1"/>
              <a:t>enum</a:t>
            </a:r>
            <a:r>
              <a:rPr lang="en-US" dirty="0"/>
              <a:t>)</a:t>
            </a:r>
          </a:p>
        </p:txBody>
      </p:sp>
    </p:spTree>
    <p:extLst>
      <p:ext uri="{BB962C8B-B14F-4D97-AF65-F5344CB8AC3E}">
        <p14:creationId xmlns:p14="http://schemas.microsoft.com/office/powerpoint/2010/main" val="21138846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5B8E2-A697-4444-B1A0-58177E60EBCB}"/>
              </a:ext>
            </a:extLst>
          </p:cNvPr>
          <p:cNvSpPr>
            <a:spLocks noGrp="1"/>
          </p:cNvSpPr>
          <p:nvPr>
            <p:ph type="title"/>
          </p:nvPr>
        </p:nvSpPr>
        <p:spPr>
          <a:xfrm>
            <a:off x="609600" y="274638"/>
            <a:ext cx="7924800" cy="563562"/>
          </a:xfrm>
        </p:spPr>
        <p:txBody>
          <a:bodyPr/>
          <a:lstStyle/>
          <a:p>
            <a:r>
              <a:rPr lang="en-IN" dirty="0"/>
              <a:t>Complex Data Type:</a:t>
            </a:r>
            <a:endParaRPr lang="en-PK" dirty="0"/>
          </a:p>
        </p:txBody>
      </p:sp>
      <p:sp>
        <p:nvSpPr>
          <p:cNvPr id="3" name="Content Placeholder 2">
            <a:extLst>
              <a:ext uri="{FF2B5EF4-FFF2-40B4-BE49-F238E27FC236}">
                <a16:creationId xmlns:a16="http://schemas.microsoft.com/office/drawing/2014/main" id="{D54A3109-B550-49BE-86B4-08D7597A3AE9}"/>
              </a:ext>
            </a:extLst>
          </p:cNvPr>
          <p:cNvSpPr>
            <a:spLocks noGrp="1"/>
          </p:cNvSpPr>
          <p:nvPr>
            <p:ph sz="quarter" idx="13"/>
          </p:nvPr>
        </p:nvSpPr>
        <p:spPr>
          <a:xfrm>
            <a:off x="838200" y="2514600"/>
            <a:ext cx="7696200" cy="3200400"/>
          </a:xfrm>
        </p:spPr>
        <p:txBody>
          <a:bodyPr>
            <a:normAutofit lnSpcReduction="10000"/>
          </a:bodyPr>
          <a:lstStyle/>
          <a:p>
            <a:r>
              <a:rPr lang="en-US" dirty="0"/>
              <a:t>Consider the following example:</a:t>
            </a:r>
          </a:p>
          <a:p>
            <a:pPr marL="0" indent="0">
              <a:buNone/>
            </a:pPr>
            <a:r>
              <a:rPr lang="en-US" dirty="0"/>
              <a:t>CREATE TABLE MY_CITY</a:t>
            </a:r>
          </a:p>
          <a:p>
            <a:pPr marL="0" indent="0">
              <a:buNone/>
            </a:pPr>
            <a:r>
              <a:rPr lang="en-US" dirty="0"/>
              <a:t>(CITY_ID INT UNSIGNED AUTO_INCREMENT PRIMARY KEY,</a:t>
            </a:r>
          </a:p>
          <a:p>
            <a:pPr marL="0" indent="0">
              <a:buNone/>
            </a:pPr>
            <a:r>
              <a:rPr lang="en-US" dirty="0"/>
              <a:t>CITY_NAME ENUM(‘CHICAGO’,’DALLAS’,’COLUMBUS’));</a:t>
            </a:r>
          </a:p>
          <a:p>
            <a:r>
              <a:rPr lang="en-US" dirty="0"/>
              <a:t>The code will create a table MY_CITY with two columns, CITY_ID and CITY_NAME</a:t>
            </a:r>
          </a:p>
          <a:p>
            <a:r>
              <a:rPr lang="en-US" dirty="0"/>
              <a:t>The data type for CITY_NAME has been defined as ENUM</a:t>
            </a:r>
          </a:p>
          <a:p>
            <a:r>
              <a:rPr lang="en-US" dirty="0"/>
              <a:t>When you add records to the table using the INSERT command, this  data type will allow you to use one of the city names specified in the  ENUM list as the column value when you add rows to the table</a:t>
            </a:r>
          </a:p>
          <a:p>
            <a:endParaRPr lang="en-PK" dirty="0"/>
          </a:p>
        </p:txBody>
      </p:sp>
      <p:sp>
        <p:nvSpPr>
          <p:cNvPr id="5" name="Rectangle 4">
            <a:extLst>
              <a:ext uri="{FF2B5EF4-FFF2-40B4-BE49-F238E27FC236}">
                <a16:creationId xmlns:a16="http://schemas.microsoft.com/office/drawing/2014/main" id="{DA498791-F6A4-4CE6-AD4B-BED8F0E87761}"/>
              </a:ext>
            </a:extLst>
          </p:cNvPr>
          <p:cNvSpPr/>
          <p:nvPr/>
        </p:nvSpPr>
        <p:spPr>
          <a:xfrm>
            <a:off x="838200" y="1006228"/>
            <a:ext cx="7391400" cy="1200329"/>
          </a:xfrm>
          <a:prstGeom prst="rect">
            <a:avLst/>
          </a:prstGeom>
        </p:spPr>
        <p:txBody>
          <a:bodyPr wrap="square">
            <a:spAutoFit/>
          </a:bodyPr>
          <a:lstStyle/>
          <a:p>
            <a:pPr marL="285750" indent="-285750">
              <a:buFont typeface="Arial" panose="020B0604020202020204" pitchFamily="34" charset="0"/>
              <a:buChar char="•"/>
            </a:pPr>
            <a:r>
              <a:rPr lang="en-US" dirty="0"/>
              <a:t>The SET data type is similar to ENUM</a:t>
            </a:r>
          </a:p>
          <a:p>
            <a:pPr marL="285750" indent="-285750">
              <a:buFont typeface="Arial" panose="020B0604020202020204" pitchFamily="34" charset="0"/>
              <a:buChar char="•"/>
            </a:pPr>
            <a:r>
              <a:rPr lang="en-US" dirty="0"/>
              <a:t>While an ENUM data type restricts you to selecting one  of many predefined values, SET data type allows you to  choose more than one of the predefined values</a:t>
            </a:r>
          </a:p>
        </p:txBody>
      </p:sp>
    </p:spTree>
    <p:extLst>
      <p:ext uri="{BB962C8B-B14F-4D97-AF65-F5344CB8AC3E}">
        <p14:creationId xmlns:p14="http://schemas.microsoft.com/office/powerpoint/2010/main" val="15587104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5F228-7AF3-4F84-AA05-0EC401E7FCBE}"/>
              </a:ext>
            </a:extLst>
          </p:cNvPr>
          <p:cNvSpPr>
            <a:spLocks noGrp="1"/>
          </p:cNvSpPr>
          <p:nvPr>
            <p:ph type="title"/>
          </p:nvPr>
        </p:nvSpPr>
        <p:spPr>
          <a:xfrm>
            <a:off x="609600" y="274638"/>
            <a:ext cx="7924800" cy="639762"/>
          </a:xfrm>
        </p:spPr>
        <p:txBody>
          <a:bodyPr/>
          <a:lstStyle/>
          <a:p>
            <a:r>
              <a:rPr lang="en-IN" dirty="0"/>
              <a:t>Tables in </a:t>
            </a:r>
            <a:r>
              <a:rPr lang="en-IN" dirty="0" err="1"/>
              <a:t>Mysql</a:t>
            </a:r>
            <a:r>
              <a:rPr lang="en-IN" dirty="0"/>
              <a:t>:</a:t>
            </a:r>
            <a:endParaRPr lang="en-PK" dirty="0"/>
          </a:p>
        </p:txBody>
      </p:sp>
      <p:sp>
        <p:nvSpPr>
          <p:cNvPr id="3" name="Content Placeholder 2">
            <a:extLst>
              <a:ext uri="{FF2B5EF4-FFF2-40B4-BE49-F238E27FC236}">
                <a16:creationId xmlns:a16="http://schemas.microsoft.com/office/drawing/2014/main" id="{FBFA2175-748E-428E-9D04-E1BF0453FC48}"/>
              </a:ext>
            </a:extLst>
          </p:cNvPr>
          <p:cNvSpPr>
            <a:spLocks noGrp="1"/>
          </p:cNvSpPr>
          <p:nvPr>
            <p:ph sz="quarter" idx="13"/>
          </p:nvPr>
        </p:nvSpPr>
        <p:spPr>
          <a:xfrm>
            <a:off x="609600" y="990600"/>
            <a:ext cx="7924800" cy="4724400"/>
          </a:xfrm>
        </p:spPr>
        <p:txBody>
          <a:bodyPr/>
          <a:lstStyle/>
          <a:p>
            <a:r>
              <a:rPr lang="en-US" dirty="0"/>
              <a:t>A relational database contains several related tables</a:t>
            </a:r>
          </a:p>
          <a:p>
            <a:r>
              <a:rPr lang="en-US" dirty="0"/>
              <a:t>The maximum length of a field name is 64 characters</a:t>
            </a:r>
          </a:p>
          <a:p>
            <a:r>
              <a:rPr lang="en-US" dirty="0"/>
              <a:t>MySQL supports two types of tables:</a:t>
            </a:r>
          </a:p>
          <a:p>
            <a:pPr lvl="1"/>
            <a:r>
              <a:rPr lang="en-US" dirty="0"/>
              <a:t>Transaction-safe tables: enables you to execute transactions or  data manipulation commands without losing data. You can undo  the changes made to transaction-safe tables</a:t>
            </a:r>
          </a:p>
          <a:p>
            <a:pPr lvl="1"/>
            <a:r>
              <a:rPr lang="en-US" dirty="0"/>
              <a:t>Non-transaction safe tables: also allows you to execute  transaction or data manipulation commands. However, you  cannot undo the changes made to non-transaction safe tables  because the changes are permanent.</a:t>
            </a:r>
            <a:endParaRPr lang="en-PK" dirty="0"/>
          </a:p>
        </p:txBody>
      </p:sp>
    </p:spTree>
    <p:extLst>
      <p:ext uri="{BB962C8B-B14F-4D97-AF65-F5344CB8AC3E}">
        <p14:creationId xmlns:p14="http://schemas.microsoft.com/office/powerpoint/2010/main" val="37158139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DCF5A-9701-44DC-A514-0015B25FCB89}"/>
              </a:ext>
            </a:extLst>
          </p:cNvPr>
          <p:cNvSpPr>
            <a:spLocks noGrp="1"/>
          </p:cNvSpPr>
          <p:nvPr>
            <p:ph type="title"/>
          </p:nvPr>
        </p:nvSpPr>
        <p:spPr>
          <a:xfrm>
            <a:off x="609600" y="274638"/>
            <a:ext cx="7924800" cy="639762"/>
          </a:xfrm>
        </p:spPr>
        <p:txBody>
          <a:bodyPr/>
          <a:lstStyle/>
          <a:p>
            <a:r>
              <a:rPr lang="en-IN" dirty="0"/>
              <a:t>Features of </a:t>
            </a:r>
            <a:r>
              <a:rPr lang="en-US" dirty="0"/>
              <a:t>transaction-safe tables:</a:t>
            </a:r>
            <a:endParaRPr lang="en-PK" dirty="0"/>
          </a:p>
        </p:txBody>
      </p:sp>
      <p:sp>
        <p:nvSpPr>
          <p:cNvPr id="3" name="Content Placeholder 2">
            <a:extLst>
              <a:ext uri="{FF2B5EF4-FFF2-40B4-BE49-F238E27FC236}">
                <a16:creationId xmlns:a16="http://schemas.microsoft.com/office/drawing/2014/main" id="{831AAC04-080E-4DAE-9C1B-9CF3ED809794}"/>
              </a:ext>
            </a:extLst>
          </p:cNvPr>
          <p:cNvSpPr>
            <a:spLocks noGrp="1"/>
          </p:cNvSpPr>
          <p:nvPr>
            <p:ph sz="quarter" idx="13"/>
          </p:nvPr>
        </p:nvSpPr>
        <p:spPr>
          <a:xfrm>
            <a:off x="609600" y="914400"/>
            <a:ext cx="7924800" cy="2667000"/>
          </a:xfrm>
        </p:spPr>
        <p:txBody>
          <a:bodyPr/>
          <a:lstStyle/>
          <a:p>
            <a:r>
              <a:rPr lang="en-US" dirty="0"/>
              <a:t>Following are the features of transaction-safe tables:</a:t>
            </a:r>
          </a:p>
          <a:p>
            <a:r>
              <a:rPr lang="en-US" dirty="0"/>
              <a:t>Provides safety from data loss and allows MySQL to recover data,  from a backup and the transaction log, in case of a crash or  hardware failure</a:t>
            </a:r>
          </a:p>
          <a:p>
            <a:r>
              <a:rPr lang="en-US" dirty="0"/>
              <a:t>Enables to combine and execute statements using the COMMIT command</a:t>
            </a:r>
          </a:p>
          <a:p>
            <a:r>
              <a:rPr lang="en-US" dirty="0"/>
              <a:t>Enables to undo the changes made to the data using the ROLLBACK command</a:t>
            </a:r>
          </a:p>
          <a:p>
            <a:r>
              <a:rPr lang="en-US" dirty="0"/>
              <a:t>Enables concurrency while simultaneously reading data from tables</a:t>
            </a:r>
          </a:p>
          <a:p>
            <a:r>
              <a:rPr lang="en-US" dirty="0"/>
              <a:t>Examples of transaction-safe tables are </a:t>
            </a:r>
            <a:r>
              <a:rPr lang="en-US" dirty="0" err="1"/>
              <a:t>InnoDB</a:t>
            </a:r>
            <a:endParaRPr lang="en-US" dirty="0"/>
          </a:p>
          <a:p>
            <a:endParaRPr lang="en-PK" dirty="0"/>
          </a:p>
        </p:txBody>
      </p:sp>
      <p:sp>
        <p:nvSpPr>
          <p:cNvPr id="4" name="Title 1">
            <a:extLst>
              <a:ext uri="{FF2B5EF4-FFF2-40B4-BE49-F238E27FC236}">
                <a16:creationId xmlns:a16="http://schemas.microsoft.com/office/drawing/2014/main" id="{5545523B-C9AC-40A4-9DFF-A1452DEE4F8B}"/>
              </a:ext>
            </a:extLst>
          </p:cNvPr>
          <p:cNvSpPr txBox="1">
            <a:spLocks/>
          </p:cNvSpPr>
          <p:nvPr/>
        </p:nvSpPr>
        <p:spPr>
          <a:xfrm>
            <a:off x="609600" y="3475038"/>
            <a:ext cx="7924800" cy="639762"/>
          </a:xfrm>
          <a:prstGeom prst="rect">
            <a:avLst/>
          </a:prstGeom>
        </p:spPr>
        <p:txBody>
          <a:bodyPr vert="horz" lIns="91440" tIns="45720" rIns="91440" bIns="45720" rtlCol="0" anchor="b" anchorCtr="0">
            <a:noAutofit/>
          </a:bodyPr>
          <a:lstStyle>
            <a:lvl1pPr algn="l" defTabSz="914400" rtl="0" eaLnBrk="1" latinLnBrk="0" hangingPunct="1">
              <a:spcBef>
                <a:spcPct val="0"/>
              </a:spcBef>
              <a:buNone/>
              <a:defRPr sz="3000" kern="1200" cap="all" spc="5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800" dirty="0"/>
              <a:t>Features of Non-</a:t>
            </a:r>
            <a:r>
              <a:rPr lang="en-US" sz="2800" dirty="0"/>
              <a:t>transaction-safe tables:</a:t>
            </a:r>
            <a:endParaRPr lang="en-PK" sz="2800" dirty="0"/>
          </a:p>
        </p:txBody>
      </p:sp>
      <p:sp>
        <p:nvSpPr>
          <p:cNvPr id="5" name="Rectangle 4">
            <a:extLst>
              <a:ext uri="{FF2B5EF4-FFF2-40B4-BE49-F238E27FC236}">
                <a16:creationId xmlns:a16="http://schemas.microsoft.com/office/drawing/2014/main" id="{6A00F076-9AAE-4A18-8021-7D07EBBE1A7B}"/>
              </a:ext>
            </a:extLst>
          </p:cNvPr>
          <p:cNvSpPr/>
          <p:nvPr/>
        </p:nvSpPr>
        <p:spPr>
          <a:xfrm>
            <a:off x="838200" y="4114800"/>
            <a:ext cx="7162800" cy="1477328"/>
          </a:xfrm>
          <a:prstGeom prst="rect">
            <a:avLst/>
          </a:prstGeom>
        </p:spPr>
        <p:txBody>
          <a:bodyPr wrap="square">
            <a:spAutoFit/>
          </a:bodyPr>
          <a:lstStyle/>
          <a:p>
            <a:pPr marL="285750" indent="-285750">
              <a:buFont typeface="Arial" panose="020B0604020202020204" pitchFamily="34" charset="0"/>
              <a:buChar char="•"/>
            </a:pPr>
            <a:r>
              <a:rPr lang="en-US" dirty="0"/>
              <a:t>Following are the features of non-transaction safe tables:</a:t>
            </a:r>
          </a:p>
          <a:p>
            <a:pPr marL="742950" lvl="1" indent="-285750">
              <a:buFont typeface="Arial" panose="020B0604020202020204" pitchFamily="34" charset="0"/>
              <a:buChar char="•"/>
            </a:pPr>
            <a:r>
              <a:rPr lang="en-US" dirty="0"/>
              <a:t>Faster than the transaction-safe tables as no transaction overhead is required</a:t>
            </a:r>
          </a:p>
          <a:p>
            <a:pPr marL="742950" lvl="1" indent="-285750">
              <a:buFont typeface="Arial" panose="020B0604020202020204" pitchFamily="34" charset="0"/>
              <a:buChar char="•"/>
            </a:pPr>
            <a:r>
              <a:rPr lang="en-US" dirty="0"/>
              <a:t>Require less disk space</a:t>
            </a:r>
          </a:p>
          <a:p>
            <a:pPr marL="742950" lvl="1" indent="-285750">
              <a:buFont typeface="Arial" panose="020B0604020202020204" pitchFamily="34" charset="0"/>
              <a:buChar char="•"/>
            </a:pPr>
            <a:r>
              <a:rPr lang="en-US" dirty="0"/>
              <a:t>Require less memory for updates</a:t>
            </a:r>
          </a:p>
        </p:txBody>
      </p:sp>
    </p:spTree>
    <p:extLst>
      <p:ext uri="{BB962C8B-B14F-4D97-AF65-F5344CB8AC3E}">
        <p14:creationId xmlns:p14="http://schemas.microsoft.com/office/powerpoint/2010/main" val="26978963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FFC8A-7F6F-4BE7-8586-CA4CE0ADE1CD}"/>
              </a:ext>
            </a:extLst>
          </p:cNvPr>
          <p:cNvSpPr>
            <a:spLocks noGrp="1"/>
          </p:cNvSpPr>
          <p:nvPr>
            <p:ph type="title"/>
          </p:nvPr>
        </p:nvSpPr>
        <p:spPr>
          <a:xfrm>
            <a:off x="609600" y="274638"/>
            <a:ext cx="7924800" cy="515620"/>
          </a:xfrm>
        </p:spPr>
        <p:txBody>
          <a:bodyPr/>
          <a:lstStyle/>
          <a:p>
            <a:r>
              <a:rPr lang="en-IN" dirty="0"/>
              <a:t>Storage engine:</a:t>
            </a:r>
            <a:endParaRPr lang="en-PK" dirty="0"/>
          </a:p>
        </p:txBody>
      </p:sp>
      <p:sp>
        <p:nvSpPr>
          <p:cNvPr id="3" name="Content Placeholder 2">
            <a:extLst>
              <a:ext uri="{FF2B5EF4-FFF2-40B4-BE49-F238E27FC236}">
                <a16:creationId xmlns:a16="http://schemas.microsoft.com/office/drawing/2014/main" id="{57CD105D-D14E-4F1B-BCFD-614D5119391A}"/>
              </a:ext>
            </a:extLst>
          </p:cNvPr>
          <p:cNvSpPr>
            <a:spLocks noGrp="1"/>
          </p:cNvSpPr>
          <p:nvPr>
            <p:ph sz="quarter" idx="13"/>
          </p:nvPr>
        </p:nvSpPr>
        <p:spPr>
          <a:xfrm>
            <a:off x="609600" y="790258"/>
            <a:ext cx="7924800" cy="4924742"/>
          </a:xfrm>
        </p:spPr>
        <p:txBody>
          <a:bodyPr/>
          <a:lstStyle/>
          <a:p>
            <a:r>
              <a:rPr lang="en-US" dirty="0"/>
              <a:t>MySQL supports storage engines for different table types</a:t>
            </a:r>
          </a:p>
          <a:p>
            <a:r>
              <a:rPr lang="en-US" dirty="0"/>
              <a:t>Storage engines handle both transaction-safe and non-transaction  safe tables</a:t>
            </a:r>
          </a:p>
          <a:p>
            <a:endParaRPr lang="en-PK" dirty="0"/>
          </a:p>
        </p:txBody>
      </p:sp>
      <p:graphicFrame>
        <p:nvGraphicFramePr>
          <p:cNvPr id="5" name="object 5">
            <a:extLst>
              <a:ext uri="{FF2B5EF4-FFF2-40B4-BE49-F238E27FC236}">
                <a16:creationId xmlns:a16="http://schemas.microsoft.com/office/drawing/2014/main" id="{1C1C7987-B106-48C4-87A8-E88FF37C008A}"/>
              </a:ext>
            </a:extLst>
          </p:cNvPr>
          <p:cNvGraphicFramePr>
            <a:graphicFrameLocks noGrp="1"/>
          </p:cNvGraphicFramePr>
          <p:nvPr>
            <p:extLst>
              <p:ext uri="{D42A27DB-BD31-4B8C-83A1-F6EECF244321}">
                <p14:modId xmlns:p14="http://schemas.microsoft.com/office/powerpoint/2010/main" val="2264642222"/>
              </p:ext>
            </p:extLst>
          </p:nvPr>
        </p:nvGraphicFramePr>
        <p:xfrm>
          <a:off x="457200" y="1600200"/>
          <a:ext cx="8382000" cy="4191001"/>
        </p:xfrm>
        <a:graphic>
          <a:graphicData uri="http://schemas.openxmlformats.org/drawingml/2006/table">
            <a:tbl>
              <a:tblPr firstRow="1" bandRow="1">
                <a:tableStyleId>{616DA210-FB5B-4158-B5E0-FEB733F419BA}</a:tableStyleId>
              </a:tblPr>
              <a:tblGrid>
                <a:gridCol w="2014904">
                  <a:extLst>
                    <a:ext uri="{9D8B030D-6E8A-4147-A177-3AD203B41FA5}">
                      <a16:colId xmlns:a16="http://schemas.microsoft.com/office/drawing/2014/main" val="20000"/>
                    </a:ext>
                  </a:extLst>
                </a:gridCol>
                <a:gridCol w="6367096">
                  <a:extLst>
                    <a:ext uri="{9D8B030D-6E8A-4147-A177-3AD203B41FA5}">
                      <a16:colId xmlns:a16="http://schemas.microsoft.com/office/drawing/2014/main" val="20001"/>
                    </a:ext>
                  </a:extLst>
                </a:gridCol>
              </a:tblGrid>
              <a:tr h="235664">
                <a:tc>
                  <a:txBody>
                    <a:bodyPr/>
                    <a:lstStyle/>
                    <a:p>
                      <a:pPr marL="607695" algn="ctr">
                        <a:lnSpc>
                          <a:spcPct val="100000"/>
                        </a:lnSpc>
                        <a:spcBef>
                          <a:spcPts val="265"/>
                        </a:spcBef>
                      </a:pPr>
                      <a:r>
                        <a:rPr sz="1200" spc="-130" dirty="0">
                          <a:latin typeface="Arial" panose="020B0604020202020204" pitchFamily="34" charset="0"/>
                          <a:cs typeface="Arial" panose="020B0604020202020204" pitchFamily="34" charset="0"/>
                        </a:rPr>
                        <a:t>Storage</a:t>
                      </a:r>
                      <a:r>
                        <a:rPr sz="1200" spc="-65" dirty="0">
                          <a:latin typeface="Arial" panose="020B0604020202020204" pitchFamily="34" charset="0"/>
                          <a:cs typeface="Arial" panose="020B0604020202020204" pitchFamily="34" charset="0"/>
                        </a:rPr>
                        <a:t> </a:t>
                      </a:r>
                      <a:r>
                        <a:rPr sz="1200" spc="-140" dirty="0">
                          <a:latin typeface="Arial" panose="020B0604020202020204" pitchFamily="34" charset="0"/>
                          <a:cs typeface="Arial" panose="020B0604020202020204" pitchFamily="34" charset="0"/>
                        </a:rPr>
                        <a:t>Engine</a:t>
                      </a:r>
                      <a:endParaRPr sz="1200" dirty="0">
                        <a:latin typeface="Arial" panose="020B0604020202020204" pitchFamily="34" charset="0"/>
                        <a:cs typeface="Arial" panose="020B0604020202020204" pitchFamily="34" charset="0"/>
                      </a:endParaRPr>
                    </a:p>
                  </a:txBody>
                  <a:tcPr marL="0" marR="0" marT="33655" marB="0"/>
                </a:tc>
                <a:tc>
                  <a:txBody>
                    <a:bodyPr/>
                    <a:lstStyle/>
                    <a:p>
                      <a:pPr marL="29845" algn="ctr">
                        <a:lnSpc>
                          <a:spcPct val="100000"/>
                        </a:lnSpc>
                        <a:spcBef>
                          <a:spcPts val="265"/>
                        </a:spcBef>
                      </a:pPr>
                      <a:r>
                        <a:rPr sz="1200" spc="-100" dirty="0">
                          <a:latin typeface="Arial" panose="020B0604020202020204" pitchFamily="34" charset="0"/>
                          <a:cs typeface="Arial" panose="020B0604020202020204" pitchFamily="34" charset="0"/>
                        </a:rPr>
                        <a:t>Feature</a:t>
                      </a:r>
                      <a:endParaRPr sz="1200">
                        <a:latin typeface="Arial" panose="020B0604020202020204" pitchFamily="34" charset="0"/>
                        <a:cs typeface="Arial" panose="020B0604020202020204" pitchFamily="34" charset="0"/>
                      </a:endParaRPr>
                    </a:p>
                  </a:txBody>
                  <a:tcPr marL="0" marR="0" marT="33655" marB="0"/>
                </a:tc>
                <a:extLst>
                  <a:ext uri="{0D108BD9-81ED-4DB2-BD59-A6C34878D82A}">
                    <a16:rowId xmlns:a16="http://schemas.microsoft.com/office/drawing/2014/main" val="10000"/>
                  </a:ext>
                </a:extLst>
              </a:tr>
              <a:tr h="298232">
                <a:tc>
                  <a:txBody>
                    <a:bodyPr/>
                    <a:lstStyle/>
                    <a:p>
                      <a:pPr marL="105410">
                        <a:lnSpc>
                          <a:spcPct val="100000"/>
                        </a:lnSpc>
                        <a:spcBef>
                          <a:spcPts val="180"/>
                        </a:spcBef>
                      </a:pPr>
                      <a:r>
                        <a:rPr sz="1200" spc="-5" dirty="0">
                          <a:latin typeface="Arial" panose="020B0604020202020204" pitchFamily="34" charset="0"/>
                          <a:cs typeface="Arial" panose="020B0604020202020204" pitchFamily="34" charset="0"/>
                        </a:rPr>
                        <a:t>MyISAM</a:t>
                      </a:r>
                      <a:endParaRPr sz="1200" dirty="0">
                        <a:latin typeface="Arial" panose="020B0604020202020204" pitchFamily="34" charset="0"/>
                        <a:cs typeface="Arial" panose="020B0604020202020204" pitchFamily="34" charset="0"/>
                      </a:endParaRPr>
                    </a:p>
                  </a:txBody>
                  <a:tcPr marL="0" marR="0" marT="22860" marB="0"/>
                </a:tc>
                <a:tc>
                  <a:txBody>
                    <a:bodyPr/>
                    <a:lstStyle/>
                    <a:p>
                      <a:pPr marL="106045">
                        <a:lnSpc>
                          <a:spcPct val="100000"/>
                        </a:lnSpc>
                        <a:spcBef>
                          <a:spcPts val="265"/>
                        </a:spcBef>
                      </a:pPr>
                      <a:r>
                        <a:rPr sz="1200" spc="-105" dirty="0">
                          <a:latin typeface="Arial" panose="020B0604020202020204" pitchFamily="34" charset="0"/>
                          <a:cs typeface="Arial" panose="020B0604020202020204" pitchFamily="34" charset="0"/>
                        </a:rPr>
                        <a:t>Is </a:t>
                      </a:r>
                      <a:r>
                        <a:rPr sz="1200" spc="-20" dirty="0">
                          <a:latin typeface="Arial" panose="020B0604020202020204" pitchFamily="34" charset="0"/>
                          <a:cs typeface="Arial" panose="020B0604020202020204" pitchFamily="34" charset="0"/>
                        </a:rPr>
                        <a:t>the </a:t>
                      </a:r>
                      <a:r>
                        <a:rPr sz="1200" spc="-30" dirty="0">
                          <a:latin typeface="Arial" panose="020B0604020202020204" pitchFamily="34" charset="0"/>
                          <a:cs typeface="Arial" panose="020B0604020202020204" pitchFamily="34" charset="0"/>
                        </a:rPr>
                        <a:t>default </a:t>
                      </a:r>
                      <a:r>
                        <a:rPr sz="1200" spc="-75" dirty="0">
                          <a:latin typeface="Arial" panose="020B0604020202020204" pitchFamily="34" charset="0"/>
                          <a:cs typeface="Arial" panose="020B0604020202020204" pitchFamily="34" charset="0"/>
                        </a:rPr>
                        <a:t>storage </a:t>
                      </a:r>
                      <a:r>
                        <a:rPr sz="1200" spc="-65" dirty="0">
                          <a:latin typeface="Arial" panose="020B0604020202020204" pitchFamily="34" charset="0"/>
                          <a:cs typeface="Arial" panose="020B0604020202020204" pitchFamily="34" charset="0"/>
                        </a:rPr>
                        <a:t>engine </a:t>
                      </a:r>
                      <a:r>
                        <a:rPr sz="1200" spc="10" dirty="0">
                          <a:latin typeface="Arial" panose="020B0604020202020204" pitchFamily="34" charset="0"/>
                          <a:cs typeface="Arial" panose="020B0604020202020204" pitchFamily="34" charset="0"/>
                        </a:rPr>
                        <a:t>to</a:t>
                      </a:r>
                      <a:r>
                        <a:rPr sz="1200" spc="-285" dirty="0">
                          <a:latin typeface="Arial" panose="020B0604020202020204" pitchFamily="34" charset="0"/>
                          <a:cs typeface="Arial" panose="020B0604020202020204" pitchFamily="34" charset="0"/>
                        </a:rPr>
                        <a:t> </a:t>
                      </a:r>
                      <a:r>
                        <a:rPr sz="1200" spc="-60" dirty="0">
                          <a:latin typeface="Arial" panose="020B0604020202020204" pitchFamily="34" charset="0"/>
                          <a:cs typeface="Arial" panose="020B0604020202020204" pitchFamily="34" charset="0"/>
                        </a:rPr>
                        <a:t>handle tables</a:t>
                      </a:r>
                      <a:endParaRPr sz="1200" dirty="0">
                        <a:latin typeface="Arial" panose="020B0604020202020204" pitchFamily="34" charset="0"/>
                        <a:cs typeface="Arial" panose="020B0604020202020204" pitchFamily="34" charset="0"/>
                      </a:endParaRPr>
                    </a:p>
                  </a:txBody>
                  <a:tcPr marL="0" marR="0" marT="33655" marB="0"/>
                </a:tc>
                <a:extLst>
                  <a:ext uri="{0D108BD9-81ED-4DB2-BD59-A6C34878D82A}">
                    <a16:rowId xmlns:a16="http://schemas.microsoft.com/office/drawing/2014/main" val="10001"/>
                  </a:ext>
                </a:extLst>
              </a:tr>
              <a:tr h="312715">
                <a:tc>
                  <a:txBody>
                    <a:bodyPr/>
                    <a:lstStyle/>
                    <a:p>
                      <a:pPr marL="105410">
                        <a:lnSpc>
                          <a:spcPct val="100000"/>
                        </a:lnSpc>
                        <a:spcBef>
                          <a:spcPts val="180"/>
                        </a:spcBef>
                      </a:pPr>
                      <a:r>
                        <a:rPr sz="1200" spc="-5" dirty="0">
                          <a:latin typeface="Arial" panose="020B0604020202020204" pitchFamily="34" charset="0"/>
                          <a:cs typeface="Arial" panose="020B0604020202020204" pitchFamily="34" charset="0"/>
                        </a:rPr>
                        <a:t>InnoDB</a:t>
                      </a:r>
                      <a:endParaRPr sz="1200" dirty="0">
                        <a:latin typeface="Arial" panose="020B0604020202020204" pitchFamily="34" charset="0"/>
                        <a:cs typeface="Arial" panose="020B0604020202020204" pitchFamily="34" charset="0"/>
                      </a:endParaRPr>
                    </a:p>
                  </a:txBody>
                  <a:tcPr marL="0" marR="0" marT="22860" marB="0"/>
                </a:tc>
                <a:tc>
                  <a:txBody>
                    <a:bodyPr/>
                    <a:lstStyle/>
                    <a:p>
                      <a:pPr marL="106045">
                        <a:lnSpc>
                          <a:spcPct val="100000"/>
                        </a:lnSpc>
                        <a:spcBef>
                          <a:spcPts val="265"/>
                        </a:spcBef>
                      </a:pPr>
                      <a:r>
                        <a:rPr sz="1200" spc="-85" dirty="0">
                          <a:latin typeface="Arial" panose="020B0604020202020204" pitchFamily="34" charset="0"/>
                          <a:cs typeface="Arial" panose="020B0604020202020204" pitchFamily="34" charset="0"/>
                        </a:rPr>
                        <a:t>Provides </a:t>
                      </a:r>
                      <a:r>
                        <a:rPr sz="1200" spc="-35" dirty="0">
                          <a:latin typeface="Arial" panose="020B0604020202020204" pitchFamily="34" charset="0"/>
                          <a:cs typeface="Arial" panose="020B0604020202020204" pitchFamily="34" charset="0"/>
                        </a:rPr>
                        <a:t>commit, </a:t>
                      </a:r>
                      <a:r>
                        <a:rPr sz="1200" spc="-50" dirty="0">
                          <a:latin typeface="Arial" panose="020B0604020202020204" pitchFamily="34" charset="0"/>
                          <a:cs typeface="Arial" panose="020B0604020202020204" pitchFamily="34" charset="0"/>
                        </a:rPr>
                        <a:t>rollback, </a:t>
                      </a:r>
                      <a:r>
                        <a:rPr sz="1200" spc="-70" dirty="0">
                          <a:latin typeface="Arial" panose="020B0604020202020204" pitchFamily="34" charset="0"/>
                          <a:cs typeface="Arial" panose="020B0604020202020204" pitchFamily="34" charset="0"/>
                        </a:rPr>
                        <a:t>and </a:t>
                      </a:r>
                      <a:r>
                        <a:rPr sz="1200" spc="-90" dirty="0">
                          <a:latin typeface="Arial" panose="020B0604020202020204" pitchFamily="34" charset="0"/>
                          <a:cs typeface="Arial" panose="020B0604020202020204" pitchFamily="34" charset="0"/>
                        </a:rPr>
                        <a:t>crash </a:t>
                      </a:r>
                      <a:r>
                        <a:rPr sz="1200" spc="-65" dirty="0">
                          <a:latin typeface="Arial" panose="020B0604020202020204" pitchFamily="34" charset="0"/>
                          <a:cs typeface="Arial" panose="020B0604020202020204" pitchFamily="34" charset="0"/>
                        </a:rPr>
                        <a:t>recovery </a:t>
                      </a:r>
                      <a:r>
                        <a:rPr sz="1200" spc="-60" dirty="0">
                          <a:latin typeface="Arial" panose="020B0604020202020204" pitchFamily="34" charset="0"/>
                          <a:cs typeface="Arial" panose="020B0604020202020204" pitchFamily="34" charset="0"/>
                        </a:rPr>
                        <a:t>characteristics </a:t>
                      </a:r>
                      <a:r>
                        <a:rPr sz="1200" spc="10" dirty="0">
                          <a:latin typeface="Arial" panose="020B0604020202020204" pitchFamily="34" charset="0"/>
                          <a:cs typeface="Arial" panose="020B0604020202020204" pitchFamily="34" charset="0"/>
                        </a:rPr>
                        <a:t>to </a:t>
                      </a:r>
                      <a:r>
                        <a:rPr sz="1200" spc="-90" dirty="0">
                          <a:latin typeface="Arial" panose="020B0604020202020204" pitchFamily="34" charset="0"/>
                          <a:cs typeface="Arial" panose="020B0604020202020204" pitchFamily="34" charset="0"/>
                        </a:rPr>
                        <a:t>secure</a:t>
                      </a:r>
                      <a:r>
                        <a:rPr sz="1200" spc="-305" dirty="0">
                          <a:latin typeface="Arial" panose="020B0604020202020204" pitchFamily="34" charset="0"/>
                          <a:cs typeface="Arial" panose="020B0604020202020204" pitchFamily="34" charset="0"/>
                        </a:rPr>
                        <a:t> </a:t>
                      </a:r>
                      <a:r>
                        <a:rPr sz="1200" spc="-60" dirty="0">
                          <a:latin typeface="Arial" panose="020B0604020202020204" pitchFamily="34" charset="0"/>
                          <a:cs typeface="Arial" panose="020B0604020202020204" pitchFamily="34" charset="0"/>
                        </a:rPr>
                        <a:t>data</a:t>
                      </a:r>
                      <a:endParaRPr sz="1200">
                        <a:latin typeface="Arial" panose="020B0604020202020204" pitchFamily="34" charset="0"/>
                        <a:cs typeface="Arial" panose="020B0604020202020204" pitchFamily="34" charset="0"/>
                      </a:endParaRPr>
                    </a:p>
                  </a:txBody>
                  <a:tcPr marL="0" marR="0" marT="33655" marB="0"/>
                </a:tc>
                <a:extLst>
                  <a:ext uri="{0D108BD9-81ED-4DB2-BD59-A6C34878D82A}">
                    <a16:rowId xmlns:a16="http://schemas.microsoft.com/office/drawing/2014/main" val="10002"/>
                  </a:ext>
                </a:extLst>
              </a:tr>
              <a:tr h="312715">
                <a:tc>
                  <a:txBody>
                    <a:bodyPr/>
                    <a:lstStyle/>
                    <a:p>
                      <a:pPr marL="105410">
                        <a:lnSpc>
                          <a:spcPct val="100000"/>
                        </a:lnSpc>
                        <a:spcBef>
                          <a:spcPts val="180"/>
                        </a:spcBef>
                      </a:pPr>
                      <a:r>
                        <a:rPr sz="1200" spc="-5" dirty="0">
                          <a:latin typeface="Arial" panose="020B0604020202020204" pitchFamily="34" charset="0"/>
                          <a:cs typeface="Arial" panose="020B0604020202020204" pitchFamily="34" charset="0"/>
                        </a:rPr>
                        <a:t>MERGE</a:t>
                      </a:r>
                      <a:endParaRPr sz="1200">
                        <a:latin typeface="Arial" panose="020B0604020202020204" pitchFamily="34" charset="0"/>
                        <a:cs typeface="Arial" panose="020B0604020202020204" pitchFamily="34" charset="0"/>
                      </a:endParaRPr>
                    </a:p>
                  </a:txBody>
                  <a:tcPr marL="0" marR="0" marT="22860" marB="0"/>
                </a:tc>
                <a:tc>
                  <a:txBody>
                    <a:bodyPr/>
                    <a:lstStyle/>
                    <a:p>
                      <a:pPr marL="106045">
                        <a:lnSpc>
                          <a:spcPct val="100000"/>
                        </a:lnSpc>
                        <a:spcBef>
                          <a:spcPts val="265"/>
                        </a:spcBef>
                      </a:pPr>
                      <a:r>
                        <a:rPr sz="1200" spc="-60" dirty="0">
                          <a:latin typeface="Arial" panose="020B0604020202020204" pitchFamily="34" charset="0"/>
                          <a:cs typeface="Arial" panose="020B0604020202020204" pitchFamily="34" charset="0"/>
                        </a:rPr>
                        <a:t>Allows</a:t>
                      </a:r>
                      <a:r>
                        <a:rPr sz="1200" spc="-80" dirty="0">
                          <a:latin typeface="Arial" panose="020B0604020202020204" pitchFamily="34" charset="0"/>
                          <a:cs typeface="Arial" panose="020B0604020202020204" pitchFamily="34" charset="0"/>
                        </a:rPr>
                        <a:t> </a:t>
                      </a:r>
                      <a:r>
                        <a:rPr sz="1200" spc="-70" dirty="0">
                          <a:latin typeface="Arial" panose="020B0604020202020204" pitchFamily="34" charset="0"/>
                          <a:cs typeface="Arial" panose="020B0604020202020204" pitchFamily="34" charset="0"/>
                        </a:rPr>
                        <a:t>developers</a:t>
                      </a:r>
                      <a:r>
                        <a:rPr sz="1200" spc="-65" dirty="0">
                          <a:latin typeface="Arial" panose="020B0604020202020204" pitchFamily="34" charset="0"/>
                          <a:cs typeface="Arial" panose="020B0604020202020204" pitchFamily="34" charset="0"/>
                        </a:rPr>
                        <a:t> </a:t>
                      </a:r>
                      <a:r>
                        <a:rPr sz="1200" spc="10" dirty="0">
                          <a:latin typeface="Arial" panose="020B0604020202020204" pitchFamily="34" charset="0"/>
                          <a:cs typeface="Arial" panose="020B0604020202020204" pitchFamily="34" charset="0"/>
                        </a:rPr>
                        <a:t>to</a:t>
                      </a:r>
                      <a:r>
                        <a:rPr sz="1200" spc="-90" dirty="0">
                          <a:latin typeface="Arial" panose="020B0604020202020204" pitchFamily="34" charset="0"/>
                          <a:cs typeface="Arial" panose="020B0604020202020204" pitchFamily="34" charset="0"/>
                        </a:rPr>
                        <a:t> </a:t>
                      </a:r>
                      <a:r>
                        <a:rPr sz="1200" spc="-60" dirty="0">
                          <a:latin typeface="Arial" panose="020B0604020202020204" pitchFamily="34" charset="0"/>
                          <a:cs typeface="Arial" panose="020B0604020202020204" pitchFamily="34" charset="0"/>
                        </a:rPr>
                        <a:t>create</a:t>
                      </a:r>
                      <a:r>
                        <a:rPr sz="1200" spc="-80" dirty="0">
                          <a:latin typeface="Arial" panose="020B0604020202020204" pitchFamily="34" charset="0"/>
                          <a:cs typeface="Arial" panose="020B0604020202020204" pitchFamily="34" charset="0"/>
                        </a:rPr>
                        <a:t> </a:t>
                      </a:r>
                      <a:r>
                        <a:rPr sz="1200" spc="-60" dirty="0">
                          <a:latin typeface="Arial" panose="020B0604020202020204" pitchFamily="34" charset="0"/>
                          <a:cs typeface="Arial" panose="020B0604020202020204" pitchFamily="34" charset="0"/>
                        </a:rPr>
                        <a:t>tables</a:t>
                      </a:r>
                      <a:r>
                        <a:rPr sz="1200" spc="-75" dirty="0">
                          <a:latin typeface="Arial" panose="020B0604020202020204" pitchFamily="34" charset="0"/>
                          <a:cs typeface="Arial" panose="020B0604020202020204" pitchFamily="34" charset="0"/>
                        </a:rPr>
                        <a:t> </a:t>
                      </a:r>
                      <a:r>
                        <a:rPr sz="1200" spc="5" dirty="0">
                          <a:latin typeface="Arial" panose="020B0604020202020204" pitchFamily="34" charset="0"/>
                          <a:cs typeface="Arial" panose="020B0604020202020204" pitchFamily="34" charset="0"/>
                        </a:rPr>
                        <a:t>with</a:t>
                      </a:r>
                      <a:r>
                        <a:rPr sz="1200" spc="-75" dirty="0">
                          <a:latin typeface="Arial" panose="020B0604020202020204" pitchFamily="34" charset="0"/>
                          <a:cs typeface="Arial" panose="020B0604020202020204" pitchFamily="34" charset="0"/>
                        </a:rPr>
                        <a:t> </a:t>
                      </a:r>
                      <a:r>
                        <a:rPr sz="1200" spc="-40" dirty="0">
                          <a:latin typeface="Arial" panose="020B0604020202020204" pitchFamily="34" charset="0"/>
                          <a:cs typeface="Arial" panose="020B0604020202020204" pitchFamily="34" charset="0"/>
                        </a:rPr>
                        <a:t>identical</a:t>
                      </a:r>
                      <a:r>
                        <a:rPr sz="1200" spc="-85" dirty="0">
                          <a:latin typeface="Arial" panose="020B0604020202020204" pitchFamily="34" charset="0"/>
                          <a:cs typeface="Arial" panose="020B0604020202020204" pitchFamily="34" charset="0"/>
                        </a:rPr>
                        <a:t> </a:t>
                      </a:r>
                      <a:r>
                        <a:rPr sz="1200" spc="-55" dirty="0">
                          <a:latin typeface="Arial" panose="020B0604020202020204" pitchFamily="34" charset="0"/>
                          <a:cs typeface="Arial" panose="020B0604020202020204" pitchFamily="34" charset="0"/>
                        </a:rPr>
                        <a:t>column</a:t>
                      </a:r>
                      <a:r>
                        <a:rPr sz="1200" spc="-85" dirty="0">
                          <a:latin typeface="Arial" panose="020B0604020202020204" pitchFamily="34" charset="0"/>
                          <a:cs typeface="Arial" panose="020B0604020202020204" pitchFamily="34" charset="0"/>
                        </a:rPr>
                        <a:t> </a:t>
                      </a:r>
                      <a:r>
                        <a:rPr sz="1200" spc="-70" dirty="0">
                          <a:latin typeface="Arial" panose="020B0604020202020204" pitchFamily="34" charset="0"/>
                          <a:cs typeface="Arial" panose="020B0604020202020204" pitchFamily="34" charset="0"/>
                        </a:rPr>
                        <a:t>and</a:t>
                      </a:r>
                      <a:r>
                        <a:rPr sz="1200" spc="-90" dirty="0">
                          <a:latin typeface="Arial" panose="020B0604020202020204" pitchFamily="34" charset="0"/>
                          <a:cs typeface="Arial" panose="020B0604020202020204" pitchFamily="34" charset="0"/>
                        </a:rPr>
                        <a:t> </a:t>
                      </a:r>
                      <a:r>
                        <a:rPr sz="1200" spc="-60" dirty="0">
                          <a:latin typeface="Arial" panose="020B0604020202020204" pitchFamily="34" charset="0"/>
                          <a:cs typeface="Arial" panose="020B0604020202020204" pitchFamily="34" charset="0"/>
                        </a:rPr>
                        <a:t>index</a:t>
                      </a:r>
                      <a:r>
                        <a:rPr sz="1200" spc="-75" dirty="0">
                          <a:latin typeface="Arial" panose="020B0604020202020204" pitchFamily="34" charset="0"/>
                          <a:cs typeface="Arial" panose="020B0604020202020204" pitchFamily="34" charset="0"/>
                        </a:rPr>
                        <a:t> </a:t>
                      </a:r>
                      <a:r>
                        <a:rPr sz="1200" spc="-25" dirty="0">
                          <a:latin typeface="Arial" panose="020B0604020202020204" pitchFamily="34" charset="0"/>
                          <a:cs typeface="Arial" panose="020B0604020202020204" pitchFamily="34" charset="0"/>
                        </a:rPr>
                        <a:t>information</a:t>
                      </a:r>
                      <a:endParaRPr sz="1200">
                        <a:latin typeface="Arial" panose="020B0604020202020204" pitchFamily="34" charset="0"/>
                        <a:cs typeface="Arial" panose="020B0604020202020204" pitchFamily="34" charset="0"/>
                      </a:endParaRPr>
                    </a:p>
                  </a:txBody>
                  <a:tcPr marL="0" marR="0" marT="33655" marB="0"/>
                </a:tc>
                <a:extLst>
                  <a:ext uri="{0D108BD9-81ED-4DB2-BD59-A6C34878D82A}">
                    <a16:rowId xmlns:a16="http://schemas.microsoft.com/office/drawing/2014/main" val="10003"/>
                  </a:ext>
                </a:extLst>
              </a:tr>
              <a:tr h="646510">
                <a:tc>
                  <a:txBody>
                    <a:bodyPr/>
                    <a:lstStyle/>
                    <a:p>
                      <a:pPr marL="105410">
                        <a:lnSpc>
                          <a:spcPct val="100000"/>
                        </a:lnSpc>
                        <a:spcBef>
                          <a:spcPts val="180"/>
                        </a:spcBef>
                      </a:pPr>
                      <a:r>
                        <a:rPr sz="1200" spc="-5" dirty="0">
                          <a:latin typeface="Arial" panose="020B0604020202020204" pitchFamily="34" charset="0"/>
                          <a:cs typeface="Arial" panose="020B0604020202020204" pitchFamily="34" charset="0"/>
                        </a:rPr>
                        <a:t>MEMORY</a:t>
                      </a:r>
                      <a:r>
                        <a:rPr sz="1200" spc="-20" dirty="0">
                          <a:latin typeface="Arial" panose="020B0604020202020204" pitchFamily="34" charset="0"/>
                          <a:cs typeface="Arial" panose="020B0604020202020204" pitchFamily="34" charset="0"/>
                        </a:rPr>
                        <a:t> </a:t>
                      </a:r>
                      <a:r>
                        <a:rPr sz="1200" spc="-5" dirty="0">
                          <a:latin typeface="Arial" panose="020B0604020202020204" pitchFamily="34" charset="0"/>
                          <a:cs typeface="Arial" panose="020B0604020202020204" pitchFamily="34" charset="0"/>
                        </a:rPr>
                        <a:t>(HEAP)</a:t>
                      </a:r>
                      <a:endParaRPr sz="1200">
                        <a:latin typeface="Arial" panose="020B0604020202020204" pitchFamily="34" charset="0"/>
                        <a:cs typeface="Arial" panose="020B0604020202020204" pitchFamily="34" charset="0"/>
                      </a:endParaRPr>
                    </a:p>
                  </a:txBody>
                  <a:tcPr marL="0" marR="0" marT="22860" marB="0"/>
                </a:tc>
                <a:tc>
                  <a:txBody>
                    <a:bodyPr/>
                    <a:lstStyle/>
                    <a:p>
                      <a:pPr marL="106045" marR="169545">
                        <a:lnSpc>
                          <a:spcPct val="100000"/>
                        </a:lnSpc>
                        <a:spcBef>
                          <a:spcPts val="265"/>
                        </a:spcBef>
                      </a:pPr>
                      <a:r>
                        <a:rPr sz="1200" spc="-60" dirty="0">
                          <a:latin typeface="Arial" panose="020B0604020202020204" pitchFamily="34" charset="0"/>
                          <a:cs typeface="Arial" panose="020B0604020202020204" pitchFamily="34" charset="0"/>
                        </a:rPr>
                        <a:t>Allows </a:t>
                      </a:r>
                      <a:r>
                        <a:rPr sz="1200" spc="-70" dirty="0">
                          <a:latin typeface="Arial" panose="020B0604020202020204" pitchFamily="34" charset="0"/>
                          <a:cs typeface="Arial" panose="020B0604020202020204" pitchFamily="34" charset="0"/>
                        </a:rPr>
                        <a:t>developers </a:t>
                      </a:r>
                      <a:r>
                        <a:rPr sz="1200" spc="10" dirty="0">
                          <a:latin typeface="Arial" panose="020B0604020202020204" pitchFamily="34" charset="0"/>
                          <a:cs typeface="Arial" panose="020B0604020202020204" pitchFamily="34" charset="0"/>
                        </a:rPr>
                        <a:t>to </a:t>
                      </a:r>
                      <a:r>
                        <a:rPr sz="1200" spc="-60" dirty="0">
                          <a:latin typeface="Arial" panose="020B0604020202020204" pitchFamily="34" charset="0"/>
                          <a:cs typeface="Arial" panose="020B0604020202020204" pitchFamily="34" charset="0"/>
                        </a:rPr>
                        <a:t>create tables </a:t>
                      </a:r>
                      <a:r>
                        <a:rPr sz="1200" spc="-5" dirty="0">
                          <a:latin typeface="Arial" panose="020B0604020202020204" pitchFamily="34" charset="0"/>
                          <a:cs typeface="Arial" panose="020B0604020202020204" pitchFamily="34" charset="0"/>
                        </a:rPr>
                        <a:t>that </a:t>
                      </a:r>
                      <a:r>
                        <a:rPr sz="1200" spc="-50" dirty="0">
                          <a:latin typeface="Arial" panose="020B0604020202020204" pitchFamily="34" charset="0"/>
                          <a:cs typeface="Arial" panose="020B0604020202020204" pitchFamily="34" charset="0"/>
                        </a:rPr>
                        <a:t>store contents </a:t>
                      </a:r>
                      <a:r>
                        <a:rPr sz="1200" spc="-20" dirty="0">
                          <a:latin typeface="Arial" panose="020B0604020202020204" pitchFamily="34" charset="0"/>
                          <a:cs typeface="Arial" panose="020B0604020202020204" pitchFamily="34" charset="0"/>
                        </a:rPr>
                        <a:t>in the </a:t>
                      </a:r>
                      <a:r>
                        <a:rPr sz="1200" spc="-60" dirty="0">
                          <a:latin typeface="Arial" panose="020B0604020202020204" pitchFamily="34" charset="0"/>
                          <a:cs typeface="Arial" panose="020B0604020202020204" pitchFamily="34" charset="0"/>
                        </a:rPr>
                        <a:t>memory. </a:t>
                      </a:r>
                      <a:r>
                        <a:rPr sz="1200" spc="-160" dirty="0">
                          <a:latin typeface="Arial" panose="020B0604020202020204" pitchFamily="34" charset="0"/>
                          <a:cs typeface="Arial" panose="020B0604020202020204" pitchFamily="34" charset="0"/>
                        </a:rPr>
                        <a:t>MEMORY  </a:t>
                      </a:r>
                      <a:r>
                        <a:rPr sz="1200" spc="-60" dirty="0">
                          <a:latin typeface="Arial" panose="020B0604020202020204" pitchFamily="34" charset="0"/>
                          <a:cs typeface="Arial" panose="020B0604020202020204" pitchFamily="34" charset="0"/>
                        </a:rPr>
                        <a:t>tables </a:t>
                      </a:r>
                      <a:r>
                        <a:rPr sz="1200" spc="-100" dirty="0">
                          <a:latin typeface="Arial" panose="020B0604020202020204" pitchFamily="34" charset="0"/>
                          <a:cs typeface="Arial" panose="020B0604020202020204" pitchFamily="34" charset="0"/>
                        </a:rPr>
                        <a:t>can </a:t>
                      </a:r>
                      <a:r>
                        <a:rPr sz="1200" spc="-95" dirty="0">
                          <a:latin typeface="Arial" panose="020B0604020202020204" pitchFamily="34" charset="0"/>
                          <a:cs typeface="Arial" panose="020B0604020202020204" pitchFamily="34" charset="0"/>
                        </a:rPr>
                        <a:t>have </a:t>
                      </a:r>
                      <a:r>
                        <a:rPr sz="1200" spc="-20" dirty="0">
                          <a:latin typeface="Arial" panose="020B0604020202020204" pitchFamily="34" charset="0"/>
                          <a:cs typeface="Arial" panose="020B0604020202020204" pitchFamily="34" charset="0"/>
                        </a:rPr>
                        <a:t>upto </a:t>
                      </a:r>
                      <a:r>
                        <a:rPr sz="1200" spc="-80" dirty="0">
                          <a:latin typeface="Arial" panose="020B0604020202020204" pitchFamily="34" charset="0"/>
                          <a:cs typeface="Arial" panose="020B0604020202020204" pitchFamily="34" charset="0"/>
                        </a:rPr>
                        <a:t>64 </a:t>
                      </a:r>
                      <a:r>
                        <a:rPr sz="1200" spc="-85" dirty="0">
                          <a:latin typeface="Arial" panose="020B0604020202020204" pitchFamily="34" charset="0"/>
                          <a:cs typeface="Arial" panose="020B0604020202020204" pitchFamily="34" charset="0"/>
                        </a:rPr>
                        <a:t>indexes </a:t>
                      </a:r>
                      <a:r>
                        <a:rPr sz="1200" spc="-40" dirty="0">
                          <a:latin typeface="Arial" panose="020B0604020202020204" pitchFamily="34" charset="0"/>
                          <a:cs typeface="Arial" panose="020B0604020202020204" pitchFamily="34" charset="0"/>
                        </a:rPr>
                        <a:t>per table, </a:t>
                      </a:r>
                      <a:r>
                        <a:rPr sz="1200" spc="-80" dirty="0">
                          <a:latin typeface="Arial" panose="020B0604020202020204" pitchFamily="34" charset="0"/>
                          <a:cs typeface="Arial" panose="020B0604020202020204" pitchFamily="34" charset="0"/>
                        </a:rPr>
                        <a:t>16 </a:t>
                      </a:r>
                      <a:r>
                        <a:rPr sz="1200" spc="-70" dirty="0">
                          <a:latin typeface="Arial" panose="020B0604020202020204" pitchFamily="34" charset="0"/>
                          <a:cs typeface="Arial" panose="020B0604020202020204" pitchFamily="34" charset="0"/>
                        </a:rPr>
                        <a:t>columns </a:t>
                      </a:r>
                      <a:r>
                        <a:rPr sz="1200" spc="-40" dirty="0">
                          <a:latin typeface="Arial" panose="020B0604020202020204" pitchFamily="34" charset="0"/>
                          <a:cs typeface="Arial" panose="020B0604020202020204" pitchFamily="34" charset="0"/>
                        </a:rPr>
                        <a:t>per </a:t>
                      </a:r>
                      <a:r>
                        <a:rPr sz="1200" spc="-60" dirty="0">
                          <a:latin typeface="Arial" panose="020B0604020202020204" pitchFamily="34" charset="0"/>
                          <a:cs typeface="Arial" panose="020B0604020202020204" pitchFamily="34" charset="0"/>
                        </a:rPr>
                        <a:t>index, </a:t>
                      </a:r>
                      <a:r>
                        <a:rPr sz="1200" spc="-70" dirty="0">
                          <a:latin typeface="Arial" panose="020B0604020202020204" pitchFamily="34" charset="0"/>
                          <a:cs typeface="Arial" panose="020B0604020202020204" pitchFamily="34" charset="0"/>
                        </a:rPr>
                        <a:t>and </a:t>
                      </a:r>
                      <a:r>
                        <a:rPr sz="1200" spc="-120" dirty="0">
                          <a:latin typeface="Arial" panose="020B0604020202020204" pitchFamily="34" charset="0"/>
                          <a:cs typeface="Arial" panose="020B0604020202020204" pitchFamily="34" charset="0"/>
                        </a:rPr>
                        <a:t>a </a:t>
                      </a:r>
                      <a:r>
                        <a:rPr sz="1200" spc="-65" dirty="0">
                          <a:latin typeface="Arial" panose="020B0604020202020204" pitchFamily="34" charset="0"/>
                          <a:cs typeface="Arial" panose="020B0604020202020204" pitchFamily="34" charset="0"/>
                        </a:rPr>
                        <a:t>maximum  </a:t>
                      </a:r>
                      <a:r>
                        <a:rPr sz="1200" spc="-100" dirty="0">
                          <a:latin typeface="Arial" panose="020B0604020202020204" pitchFamily="34" charset="0"/>
                          <a:cs typeface="Arial" panose="020B0604020202020204" pitchFamily="34" charset="0"/>
                        </a:rPr>
                        <a:t>key </a:t>
                      </a:r>
                      <a:r>
                        <a:rPr sz="1200" spc="-40" dirty="0">
                          <a:latin typeface="Arial" panose="020B0604020202020204" pitchFamily="34" charset="0"/>
                          <a:cs typeface="Arial" panose="020B0604020202020204" pitchFamily="34" charset="0"/>
                        </a:rPr>
                        <a:t>length </a:t>
                      </a:r>
                      <a:r>
                        <a:rPr sz="1200" spc="-5" dirty="0">
                          <a:latin typeface="Arial" panose="020B0604020202020204" pitchFamily="34" charset="0"/>
                          <a:cs typeface="Arial" panose="020B0604020202020204" pitchFamily="34" charset="0"/>
                        </a:rPr>
                        <a:t>of </a:t>
                      </a:r>
                      <a:r>
                        <a:rPr sz="1200" spc="-85" dirty="0">
                          <a:latin typeface="Arial" panose="020B0604020202020204" pitchFamily="34" charset="0"/>
                          <a:cs typeface="Arial" panose="020B0604020202020204" pitchFamily="34" charset="0"/>
                        </a:rPr>
                        <a:t>3072</a:t>
                      </a:r>
                      <a:r>
                        <a:rPr sz="1200" spc="-170" dirty="0">
                          <a:latin typeface="Arial" panose="020B0604020202020204" pitchFamily="34" charset="0"/>
                          <a:cs typeface="Arial" panose="020B0604020202020204" pitchFamily="34" charset="0"/>
                        </a:rPr>
                        <a:t> </a:t>
                      </a:r>
                      <a:r>
                        <a:rPr sz="1200" spc="-60" dirty="0">
                          <a:latin typeface="Arial" panose="020B0604020202020204" pitchFamily="34" charset="0"/>
                          <a:cs typeface="Arial" panose="020B0604020202020204" pitchFamily="34" charset="0"/>
                        </a:rPr>
                        <a:t>bytes</a:t>
                      </a:r>
                      <a:endParaRPr sz="1200">
                        <a:latin typeface="Arial" panose="020B0604020202020204" pitchFamily="34" charset="0"/>
                        <a:cs typeface="Arial" panose="020B0604020202020204" pitchFamily="34" charset="0"/>
                      </a:endParaRPr>
                    </a:p>
                  </a:txBody>
                  <a:tcPr marL="0" marR="0" marT="33655" marB="0"/>
                </a:tc>
                <a:extLst>
                  <a:ext uri="{0D108BD9-81ED-4DB2-BD59-A6C34878D82A}">
                    <a16:rowId xmlns:a16="http://schemas.microsoft.com/office/drawing/2014/main" val="10004"/>
                  </a:ext>
                </a:extLst>
              </a:tr>
              <a:tr h="236235">
                <a:tc>
                  <a:txBody>
                    <a:bodyPr/>
                    <a:lstStyle/>
                    <a:p>
                      <a:pPr marL="105410">
                        <a:lnSpc>
                          <a:spcPct val="100000"/>
                        </a:lnSpc>
                        <a:spcBef>
                          <a:spcPts val="185"/>
                        </a:spcBef>
                      </a:pPr>
                      <a:r>
                        <a:rPr sz="1200" spc="-5" dirty="0">
                          <a:latin typeface="Arial" panose="020B0604020202020204" pitchFamily="34" charset="0"/>
                          <a:cs typeface="Arial" panose="020B0604020202020204" pitchFamily="34" charset="0"/>
                        </a:rPr>
                        <a:t>EXAMPLE</a:t>
                      </a:r>
                      <a:endParaRPr sz="1200">
                        <a:latin typeface="Arial" panose="020B0604020202020204" pitchFamily="34" charset="0"/>
                        <a:cs typeface="Arial" panose="020B0604020202020204" pitchFamily="34" charset="0"/>
                      </a:endParaRPr>
                    </a:p>
                  </a:txBody>
                  <a:tcPr marL="0" marR="0" marT="23495" marB="0"/>
                </a:tc>
                <a:tc>
                  <a:txBody>
                    <a:bodyPr/>
                    <a:lstStyle/>
                    <a:p>
                      <a:pPr marL="106045">
                        <a:lnSpc>
                          <a:spcPct val="100000"/>
                        </a:lnSpc>
                        <a:spcBef>
                          <a:spcPts val="270"/>
                        </a:spcBef>
                      </a:pPr>
                      <a:r>
                        <a:rPr sz="1200" spc="-60" dirty="0">
                          <a:latin typeface="Arial" panose="020B0604020202020204" pitchFamily="34" charset="0"/>
                          <a:cs typeface="Arial" panose="020B0604020202020204" pitchFamily="34" charset="0"/>
                        </a:rPr>
                        <a:t>Allows</a:t>
                      </a:r>
                      <a:r>
                        <a:rPr sz="1200" spc="-80" dirty="0">
                          <a:latin typeface="Arial" panose="020B0604020202020204" pitchFamily="34" charset="0"/>
                          <a:cs typeface="Arial" panose="020B0604020202020204" pitchFamily="34" charset="0"/>
                        </a:rPr>
                        <a:t> </a:t>
                      </a:r>
                      <a:r>
                        <a:rPr sz="1200" spc="-70" dirty="0">
                          <a:latin typeface="Arial" panose="020B0604020202020204" pitchFamily="34" charset="0"/>
                          <a:cs typeface="Arial" panose="020B0604020202020204" pitchFamily="34" charset="0"/>
                        </a:rPr>
                        <a:t>developers </a:t>
                      </a:r>
                      <a:r>
                        <a:rPr sz="1200" spc="10" dirty="0">
                          <a:latin typeface="Arial" panose="020B0604020202020204" pitchFamily="34" charset="0"/>
                          <a:cs typeface="Arial" panose="020B0604020202020204" pitchFamily="34" charset="0"/>
                        </a:rPr>
                        <a:t>to</a:t>
                      </a:r>
                      <a:r>
                        <a:rPr sz="1200" spc="-95" dirty="0">
                          <a:latin typeface="Arial" panose="020B0604020202020204" pitchFamily="34" charset="0"/>
                          <a:cs typeface="Arial" panose="020B0604020202020204" pitchFamily="34" charset="0"/>
                        </a:rPr>
                        <a:t> </a:t>
                      </a:r>
                      <a:r>
                        <a:rPr sz="1200" spc="-60" dirty="0">
                          <a:latin typeface="Arial" panose="020B0604020202020204" pitchFamily="34" charset="0"/>
                          <a:cs typeface="Arial" panose="020B0604020202020204" pitchFamily="34" charset="0"/>
                        </a:rPr>
                        <a:t>create</a:t>
                      </a:r>
                      <a:r>
                        <a:rPr sz="1200" spc="-85" dirty="0">
                          <a:latin typeface="Arial" panose="020B0604020202020204" pitchFamily="34" charset="0"/>
                          <a:cs typeface="Arial" panose="020B0604020202020204" pitchFamily="34" charset="0"/>
                        </a:rPr>
                        <a:t> </a:t>
                      </a:r>
                      <a:r>
                        <a:rPr sz="1200" spc="-60" dirty="0">
                          <a:latin typeface="Arial" panose="020B0604020202020204" pitchFamily="34" charset="0"/>
                          <a:cs typeface="Arial" panose="020B0604020202020204" pitchFamily="34" charset="0"/>
                        </a:rPr>
                        <a:t>dummy</a:t>
                      </a:r>
                      <a:r>
                        <a:rPr sz="1200" spc="-100" dirty="0">
                          <a:latin typeface="Arial" panose="020B0604020202020204" pitchFamily="34" charset="0"/>
                          <a:cs typeface="Arial" panose="020B0604020202020204" pitchFamily="34" charset="0"/>
                        </a:rPr>
                        <a:t> </a:t>
                      </a:r>
                      <a:r>
                        <a:rPr sz="1200" spc="-60" dirty="0">
                          <a:latin typeface="Arial" panose="020B0604020202020204" pitchFamily="34" charset="0"/>
                          <a:cs typeface="Arial" panose="020B0604020202020204" pitchFamily="34" charset="0"/>
                        </a:rPr>
                        <a:t>tables</a:t>
                      </a:r>
                      <a:r>
                        <a:rPr sz="1200" spc="-75" dirty="0">
                          <a:latin typeface="Arial" panose="020B0604020202020204" pitchFamily="34" charset="0"/>
                          <a:cs typeface="Arial" panose="020B0604020202020204" pitchFamily="34" charset="0"/>
                        </a:rPr>
                        <a:t> </a:t>
                      </a:r>
                      <a:r>
                        <a:rPr sz="1200" spc="-50" dirty="0">
                          <a:latin typeface="Arial" panose="020B0604020202020204" pitchFamily="34" charset="0"/>
                          <a:cs typeface="Arial" panose="020B0604020202020204" pitchFamily="34" charset="0"/>
                        </a:rPr>
                        <a:t>where</a:t>
                      </a:r>
                      <a:r>
                        <a:rPr sz="1200" spc="-75" dirty="0">
                          <a:latin typeface="Arial" panose="020B0604020202020204" pitchFamily="34" charset="0"/>
                          <a:cs typeface="Arial" panose="020B0604020202020204" pitchFamily="34" charset="0"/>
                        </a:rPr>
                        <a:t> </a:t>
                      </a:r>
                      <a:r>
                        <a:rPr sz="1200" spc="-45" dirty="0">
                          <a:latin typeface="Arial" panose="020B0604020202020204" pitchFamily="34" charset="0"/>
                          <a:cs typeface="Arial" panose="020B0604020202020204" pitchFamily="34" charset="0"/>
                        </a:rPr>
                        <a:t>no</a:t>
                      </a:r>
                      <a:r>
                        <a:rPr sz="1200" spc="-80" dirty="0">
                          <a:latin typeface="Arial" panose="020B0604020202020204" pitchFamily="34" charset="0"/>
                          <a:cs typeface="Arial" panose="020B0604020202020204" pitchFamily="34" charset="0"/>
                        </a:rPr>
                        <a:t> </a:t>
                      </a:r>
                      <a:r>
                        <a:rPr sz="1200" spc="-60" dirty="0">
                          <a:latin typeface="Arial" panose="020B0604020202020204" pitchFamily="34" charset="0"/>
                          <a:cs typeface="Arial" panose="020B0604020202020204" pitchFamily="34" charset="0"/>
                        </a:rPr>
                        <a:t>data</a:t>
                      </a:r>
                      <a:r>
                        <a:rPr sz="1200" spc="-105" dirty="0">
                          <a:latin typeface="Arial" panose="020B0604020202020204" pitchFamily="34" charset="0"/>
                          <a:cs typeface="Arial" panose="020B0604020202020204" pitchFamily="34" charset="0"/>
                        </a:rPr>
                        <a:t> </a:t>
                      </a:r>
                      <a:r>
                        <a:rPr sz="1200" spc="5" dirty="0">
                          <a:latin typeface="Arial" panose="020B0604020202020204" pitchFamily="34" charset="0"/>
                          <a:cs typeface="Arial" panose="020B0604020202020204" pitchFamily="34" charset="0"/>
                        </a:rPr>
                        <a:t>will</a:t>
                      </a:r>
                      <a:r>
                        <a:rPr sz="1200" spc="-70" dirty="0">
                          <a:latin typeface="Arial" panose="020B0604020202020204" pitchFamily="34" charset="0"/>
                          <a:cs typeface="Arial" panose="020B0604020202020204" pitchFamily="34" charset="0"/>
                        </a:rPr>
                        <a:t> be</a:t>
                      </a:r>
                      <a:r>
                        <a:rPr sz="1200" spc="-75" dirty="0">
                          <a:latin typeface="Arial" panose="020B0604020202020204" pitchFamily="34" charset="0"/>
                          <a:cs typeface="Arial" panose="020B0604020202020204" pitchFamily="34" charset="0"/>
                        </a:rPr>
                        <a:t> </a:t>
                      </a:r>
                      <a:r>
                        <a:rPr sz="1200" spc="-50" dirty="0">
                          <a:latin typeface="Arial" panose="020B0604020202020204" pitchFamily="34" charset="0"/>
                          <a:cs typeface="Arial" panose="020B0604020202020204" pitchFamily="34" charset="0"/>
                        </a:rPr>
                        <a:t>stored</a:t>
                      </a:r>
                      <a:endParaRPr sz="1200">
                        <a:latin typeface="Arial" panose="020B0604020202020204" pitchFamily="34" charset="0"/>
                        <a:cs typeface="Arial" panose="020B0604020202020204" pitchFamily="34" charset="0"/>
                      </a:endParaRPr>
                    </a:p>
                  </a:txBody>
                  <a:tcPr marL="0" marR="0" marT="34290" marB="0"/>
                </a:tc>
                <a:extLst>
                  <a:ext uri="{0D108BD9-81ED-4DB2-BD59-A6C34878D82A}">
                    <a16:rowId xmlns:a16="http://schemas.microsoft.com/office/drawing/2014/main" val="10005"/>
                  </a:ext>
                </a:extLst>
              </a:tr>
              <a:tr h="680830">
                <a:tc>
                  <a:txBody>
                    <a:bodyPr/>
                    <a:lstStyle/>
                    <a:p>
                      <a:pPr marL="105410">
                        <a:lnSpc>
                          <a:spcPct val="100000"/>
                        </a:lnSpc>
                        <a:spcBef>
                          <a:spcPts val="185"/>
                        </a:spcBef>
                      </a:pPr>
                      <a:r>
                        <a:rPr sz="1200" spc="-5" dirty="0">
                          <a:latin typeface="Arial" panose="020B0604020202020204" pitchFamily="34" charset="0"/>
                          <a:cs typeface="Arial" panose="020B0604020202020204" pitchFamily="34" charset="0"/>
                        </a:rPr>
                        <a:t>FEDERATED</a:t>
                      </a:r>
                      <a:endParaRPr sz="1200">
                        <a:latin typeface="Arial" panose="020B0604020202020204" pitchFamily="34" charset="0"/>
                        <a:cs typeface="Arial" panose="020B0604020202020204" pitchFamily="34" charset="0"/>
                      </a:endParaRPr>
                    </a:p>
                  </a:txBody>
                  <a:tcPr marL="0" marR="0" marT="23495" marB="0"/>
                </a:tc>
                <a:tc>
                  <a:txBody>
                    <a:bodyPr/>
                    <a:lstStyle/>
                    <a:p>
                      <a:pPr marL="106045" marR="156210">
                        <a:lnSpc>
                          <a:spcPct val="100000"/>
                        </a:lnSpc>
                        <a:spcBef>
                          <a:spcPts val="270"/>
                        </a:spcBef>
                      </a:pPr>
                      <a:r>
                        <a:rPr sz="1200" spc="-85" dirty="0">
                          <a:latin typeface="Arial" panose="020B0604020202020204" pitchFamily="34" charset="0"/>
                          <a:cs typeface="Arial" panose="020B0604020202020204" pitchFamily="34" charset="0"/>
                        </a:rPr>
                        <a:t>Provides </a:t>
                      </a:r>
                      <a:r>
                        <a:rPr sz="1200" spc="-130" dirty="0">
                          <a:latin typeface="Arial" panose="020B0604020202020204" pitchFamily="34" charset="0"/>
                          <a:cs typeface="Arial" panose="020B0604020202020204" pitchFamily="34" charset="0"/>
                        </a:rPr>
                        <a:t>access </a:t>
                      </a:r>
                      <a:r>
                        <a:rPr sz="1200" spc="15" dirty="0">
                          <a:latin typeface="Arial" panose="020B0604020202020204" pitchFamily="34" charset="0"/>
                          <a:cs typeface="Arial" panose="020B0604020202020204" pitchFamily="34" charset="0"/>
                        </a:rPr>
                        <a:t>to </a:t>
                      </a:r>
                      <a:r>
                        <a:rPr sz="1200" spc="-60" dirty="0">
                          <a:latin typeface="Arial" panose="020B0604020202020204" pitchFamily="34" charset="0"/>
                          <a:cs typeface="Arial" panose="020B0604020202020204" pitchFamily="34" charset="0"/>
                        </a:rPr>
                        <a:t>data </a:t>
                      </a:r>
                      <a:r>
                        <a:rPr sz="1200" spc="-20" dirty="0">
                          <a:latin typeface="Arial" panose="020B0604020202020204" pitchFamily="34" charset="0"/>
                          <a:cs typeface="Arial" panose="020B0604020202020204" pitchFamily="34" charset="0"/>
                        </a:rPr>
                        <a:t>from </a:t>
                      </a:r>
                      <a:r>
                        <a:rPr sz="1200" spc="-60" dirty="0">
                          <a:latin typeface="Arial" panose="020B0604020202020204" pitchFamily="34" charset="0"/>
                          <a:cs typeface="Arial" panose="020B0604020202020204" pitchFamily="34" charset="0"/>
                        </a:rPr>
                        <a:t>tables </a:t>
                      </a:r>
                      <a:r>
                        <a:rPr sz="1200" spc="-20" dirty="0">
                          <a:latin typeface="Arial" panose="020B0604020202020204" pitchFamily="34" charset="0"/>
                          <a:cs typeface="Arial" panose="020B0604020202020204" pitchFamily="34" charset="0"/>
                        </a:rPr>
                        <a:t>in </a:t>
                      </a:r>
                      <a:r>
                        <a:rPr sz="1200" spc="-35" dirty="0">
                          <a:latin typeface="Arial" panose="020B0604020202020204" pitchFamily="34" charset="0"/>
                          <a:cs typeface="Arial" panose="020B0604020202020204" pitchFamily="34" charset="0"/>
                        </a:rPr>
                        <a:t>remote </a:t>
                      </a:r>
                      <a:r>
                        <a:rPr sz="1200" spc="-90" dirty="0">
                          <a:latin typeface="Arial" panose="020B0604020202020204" pitchFamily="34" charset="0"/>
                          <a:cs typeface="Arial" panose="020B0604020202020204" pitchFamily="34" charset="0"/>
                        </a:rPr>
                        <a:t>databases </a:t>
                      </a:r>
                      <a:r>
                        <a:rPr sz="1200" dirty="0">
                          <a:latin typeface="Arial" panose="020B0604020202020204" pitchFamily="34" charset="0"/>
                          <a:cs typeface="Arial" panose="020B0604020202020204" pitchFamily="34" charset="0"/>
                        </a:rPr>
                        <a:t>without </a:t>
                      </a:r>
                      <a:r>
                        <a:rPr sz="1200" spc="-70" dirty="0">
                          <a:latin typeface="Arial" panose="020B0604020202020204" pitchFamily="34" charset="0"/>
                          <a:cs typeface="Arial" panose="020B0604020202020204" pitchFamily="34" charset="0"/>
                        </a:rPr>
                        <a:t>copying </a:t>
                      </a:r>
                      <a:r>
                        <a:rPr sz="1200" spc="-60" dirty="0">
                          <a:latin typeface="Arial" panose="020B0604020202020204" pitchFamily="34" charset="0"/>
                          <a:cs typeface="Arial" panose="020B0604020202020204" pitchFamily="34" charset="0"/>
                        </a:rPr>
                        <a:t>data </a:t>
                      </a:r>
                      <a:r>
                        <a:rPr sz="1200" spc="10" dirty="0">
                          <a:latin typeface="Arial" panose="020B0604020202020204" pitchFamily="34" charset="0"/>
                          <a:cs typeface="Arial" panose="020B0604020202020204" pitchFamily="34" charset="0"/>
                        </a:rPr>
                        <a:t>to  </a:t>
                      </a:r>
                      <a:r>
                        <a:rPr sz="1200" spc="-20" dirty="0">
                          <a:latin typeface="Arial" panose="020B0604020202020204" pitchFamily="34" charset="0"/>
                          <a:cs typeface="Arial" panose="020B0604020202020204" pitchFamily="34" charset="0"/>
                        </a:rPr>
                        <a:t>the</a:t>
                      </a:r>
                      <a:r>
                        <a:rPr sz="1200" spc="-85" dirty="0">
                          <a:latin typeface="Arial" panose="020B0604020202020204" pitchFamily="34" charset="0"/>
                          <a:cs typeface="Arial" panose="020B0604020202020204" pitchFamily="34" charset="0"/>
                        </a:rPr>
                        <a:t> </a:t>
                      </a:r>
                      <a:r>
                        <a:rPr sz="1200" spc="-55" dirty="0">
                          <a:latin typeface="Arial" panose="020B0604020202020204" pitchFamily="34" charset="0"/>
                          <a:cs typeface="Arial" panose="020B0604020202020204" pitchFamily="34" charset="0"/>
                        </a:rPr>
                        <a:t>local</a:t>
                      </a:r>
                      <a:r>
                        <a:rPr sz="1200" spc="-85" dirty="0">
                          <a:latin typeface="Arial" panose="020B0604020202020204" pitchFamily="34" charset="0"/>
                          <a:cs typeface="Arial" panose="020B0604020202020204" pitchFamily="34" charset="0"/>
                        </a:rPr>
                        <a:t> server.</a:t>
                      </a:r>
                      <a:r>
                        <a:rPr sz="1200" spc="-65" dirty="0">
                          <a:latin typeface="Arial" panose="020B0604020202020204" pitchFamily="34" charset="0"/>
                          <a:cs typeface="Arial" panose="020B0604020202020204" pitchFamily="34" charset="0"/>
                        </a:rPr>
                        <a:t> </a:t>
                      </a:r>
                      <a:r>
                        <a:rPr sz="1200" spc="-100" dirty="0">
                          <a:latin typeface="Arial" panose="020B0604020202020204" pitchFamily="34" charset="0"/>
                          <a:cs typeface="Arial" panose="020B0604020202020204" pitchFamily="34" charset="0"/>
                        </a:rPr>
                        <a:t>This</a:t>
                      </a:r>
                      <a:r>
                        <a:rPr sz="1200" spc="-85" dirty="0">
                          <a:latin typeface="Arial" panose="020B0604020202020204" pitchFamily="34" charset="0"/>
                          <a:cs typeface="Arial" panose="020B0604020202020204" pitchFamily="34" charset="0"/>
                        </a:rPr>
                        <a:t> </a:t>
                      </a:r>
                      <a:r>
                        <a:rPr sz="1200" spc="-65" dirty="0">
                          <a:latin typeface="Arial" panose="020B0604020202020204" pitchFamily="34" charset="0"/>
                          <a:cs typeface="Arial" panose="020B0604020202020204" pitchFamily="34" charset="0"/>
                        </a:rPr>
                        <a:t>engine</a:t>
                      </a:r>
                      <a:r>
                        <a:rPr sz="1200" spc="-85" dirty="0">
                          <a:latin typeface="Arial" panose="020B0604020202020204" pitchFamily="34" charset="0"/>
                          <a:cs typeface="Arial" panose="020B0604020202020204" pitchFamily="34" charset="0"/>
                        </a:rPr>
                        <a:t> </a:t>
                      </a:r>
                      <a:r>
                        <a:rPr sz="1200" spc="-90" dirty="0">
                          <a:latin typeface="Arial" panose="020B0604020202020204" pitchFamily="34" charset="0"/>
                          <a:cs typeface="Arial" panose="020B0604020202020204" pitchFamily="34" charset="0"/>
                        </a:rPr>
                        <a:t>does</a:t>
                      </a:r>
                      <a:r>
                        <a:rPr sz="1200" spc="-75" dirty="0">
                          <a:latin typeface="Arial" panose="020B0604020202020204" pitchFamily="34" charset="0"/>
                          <a:cs typeface="Arial" panose="020B0604020202020204" pitchFamily="34" charset="0"/>
                        </a:rPr>
                        <a:t> </a:t>
                      </a:r>
                      <a:r>
                        <a:rPr sz="1200" spc="-5" dirty="0">
                          <a:latin typeface="Arial" panose="020B0604020202020204" pitchFamily="34" charset="0"/>
                          <a:cs typeface="Arial" panose="020B0604020202020204" pitchFamily="34" charset="0"/>
                        </a:rPr>
                        <a:t>not</a:t>
                      </a:r>
                      <a:r>
                        <a:rPr sz="1200" spc="-85" dirty="0">
                          <a:latin typeface="Arial" panose="020B0604020202020204" pitchFamily="34" charset="0"/>
                          <a:cs typeface="Arial" panose="020B0604020202020204" pitchFamily="34" charset="0"/>
                        </a:rPr>
                        <a:t> </a:t>
                      </a:r>
                      <a:r>
                        <a:rPr sz="1200" spc="-60" dirty="0">
                          <a:latin typeface="Arial" panose="020B0604020202020204" pitchFamily="34" charset="0"/>
                          <a:cs typeface="Arial" panose="020B0604020202020204" pitchFamily="34" charset="0"/>
                        </a:rPr>
                        <a:t>create</a:t>
                      </a:r>
                      <a:r>
                        <a:rPr sz="1200" spc="-80" dirty="0">
                          <a:latin typeface="Arial" panose="020B0604020202020204" pitchFamily="34" charset="0"/>
                          <a:cs typeface="Arial" panose="020B0604020202020204" pitchFamily="34" charset="0"/>
                        </a:rPr>
                        <a:t> </a:t>
                      </a:r>
                      <a:r>
                        <a:rPr sz="1200" spc="-120" dirty="0">
                          <a:latin typeface="Arial" panose="020B0604020202020204" pitchFamily="34" charset="0"/>
                          <a:cs typeface="Arial" panose="020B0604020202020204" pitchFamily="34" charset="0"/>
                        </a:rPr>
                        <a:t>a</a:t>
                      </a:r>
                      <a:r>
                        <a:rPr sz="1200" spc="-95" dirty="0">
                          <a:latin typeface="Arial" panose="020B0604020202020204" pitchFamily="34" charset="0"/>
                          <a:cs typeface="Arial" panose="020B0604020202020204" pitchFamily="34" charset="0"/>
                        </a:rPr>
                        <a:t> </a:t>
                      </a:r>
                      <a:r>
                        <a:rPr sz="1200" spc="-50" dirty="0">
                          <a:latin typeface="Arial" panose="020B0604020202020204" pitchFamily="34" charset="0"/>
                          <a:cs typeface="Arial" panose="020B0604020202020204" pitchFamily="34" charset="0"/>
                        </a:rPr>
                        <a:t>replica</a:t>
                      </a:r>
                      <a:r>
                        <a:rPr sz="1200" spc="-75" dirty="0">
                          <a:latin typeface="Arial" panose="020B0604020202020204" pitchFamily="34" charset="0"/>
                          <a:cs typeface="Arial" panose="020B0604020202020204" pitchFamily="34" charset="0"/>
                        </a:rPr>
                        <a:t> </a:t>
                      </a:r>
                      <a:r>
                        <a:rPr sz="1200" spc="-15" dirty="0">
                          <a:latin typeface="Arial" panose="020B0604020202020204" pitchFamily="34" charset="0"/>
                          <a:cs typeface="Arial" panose="020B0604020202020204" pitchFamily="34" charset="0"/>
                        </a:rPr>
                        <a:t>or</a:t>
                      </a:r>
                      <a:r>
                        <a:rPr sz="1200" spc="-75" dirty="0">
                          <a:latin typeface="Arial" panose="020B0604020202020204" pitchFamily="34" charset="0"/>
                          <a:cs typeface="Arial" panose="020B0604020202020204" pitchFamily="34" charset="0"/>
                        </a:rPr>
                        <a:t> </a:t>
                      </a:r>
                      <a:r>
                        <a:rPr sz="1200" spc="-120" dirty="0">
                          <a:latin typeface="Arial" panose="020B0604020202020204" pitchFamily="34" charset="0"/>
                          <a:cs typeface="Arial" panose="020B0604020202020204" pitchFamily="34" charset="0"/>
                        </a:rPr>
                        <a:t>a</a:t>
                      </a:r>
                      <a:r>
                        <a:rPr sz="1200" spc="-90" dirty="0">
                          <a:latin typeface="Arial" panose="020B0604020202020204" pitchFamily="34" charset="0"/>
                          <a:cs typeface="Arial" panose="020B0604020202020204" pitchFamily="34" charset="0"/>
                        </a:rPr>
                        <a:t> </a:t>
                      </a:r>
                      <a:r>
                        <a:rPr sz="1200" spc="-80" dirty="0">
                          <a:latin typeface="Arial" panose="020B0604020202020204" pitchFamily="34" charset="0"/>
                          <a:cs typeface="Arial" panose="020B0604020202020204" pitchFamily="34" charset="0"/>
                        </a:rPr>
                        <a:t>copy </a:t>
                      </a:r>
                      <a:r>
                        <a:rPr sz="1200" spc="-5" dirty="0">
                          <a:latin typeface="Arial" panose="020B0604020202020204" pitchFamily="34" charset="0"/>
                          <a:cs typeface="Arial" panose="020B0604020202020204" pitchFamily="34" charset="0"/>
                        </a:rPr>
                        <a:t>of</a:t>
                      </a:r>
                      <a:r>
                        <a:rPr sz="1200" spc="-75" dirty="0">
                          <a:latin typeface="Arial" panose="020B0604020202020204" pitchFamily="34" charset="0"/>
                          <a:cs typeface="Arial" panose="020B0604020202020204" pitchFamily="34" charset="0"/>
                        </a:rPr>
                        <a:t> </a:t>
                      </a:r>
                      <a:r>
                        <a:rPr sz="1200" spc="-20" dirty="0">
                          <a:latin typeface="Arial" panose="020B0604020202020204" pitchFamily="34" charset="0"/>
                          <a:cs typeface="Arial" panose="020B0604020202020204" pitchFamily="34" charset="0"/>
                        </a:rPr>
                        <a:t>the</a:t>
                      </a:r>
                      <a:r>
                        <a:rPr sz="1200" spc="-75" dirty="0">
                          <a:latin typeface="Arial" panose="020B0604020202020204" pitchFamily="34" charset="0"/>
                          <a:cs typeface="Arial" panose="020B0604020202020204" pitchFamily="34" charset="0"/>
                        </a:rPr>
                        <a:t> </a:t>
                      </a:r>
                      <a:r>
                        <a:rPr sz="1200" spc="-85" dirty="0">
                          <a:latin typeface="Arial" panose="020B0604020202020204" pitchFamily="34" charset="0"/>
                          <a:cs typeface="Arial" panose="020B0604020202020204" pitchFamily="34" charset="0"/>
                        </a:rPr>
                        <a:t>database</a:t>
                      </a:r>
                      <a:r>
                        <a:rPr sz="1200" spc="-100" dirty="0">
                          <a:latin typeface="Arial" panose="020B0604020202020204" pitchFamily="34" charset="0"/>
                          <a:cs typeface="Arial" panose="020B0604020202020204" pitchFamily="34" charset="0"/>
                        </a:rPr>
                        <a:t> </a:t>
                      </a:r>
                      <a:r>
                        <a:rPr sz="1200" spc="-15" dirty="0">
                          <a:latin typeface="Arial" panose="020B0604020202020204" pitchFamily="34" charset="0"/>
                          <a:cs typeface="Arial" panose="020B0604020202020204" pitchFamily="34" charset="0"/>
                        </a:rPr>
                        <a:t>or  </a:t>
                      </a:r>
                      <a:r>
                        <a:rPr sz="1200" spc="-60" dirty="0">
                          <a:latin typeface="Arial" panose="020B0604020202020204" pitchFamily="34" charset="0"/>
                          <a:cs typeface="Arial" panose="020B0604020202020204" pitchFamily="34" charset="0"/>
                        </a:rPr>
                        <a:t>tables</a:t>
                      </a:r>
                      <a:r>
                        <a:rPr sz="1200" spc="-80" dirty="0">
                          <a:latin typeface="Arial" panose="020B0604020202020204" pitchFamily="34" charset="0"/>
                          <a:cs typeface="Arial" panose="020B0604020202020204" pitchFamily="34" charset="0"/>
                        </a:rPr>
                        <a:t> </a:t>
                      </a:r>
                      <a:r>
                        <a:rPr sz="1200" spc="10" dirty="0">
                          <a:latin typeface="Arial" panose="020B0604020202020204" pitchFamily="34" charset="0"/>
                          <a:cs typeface="Arial" panose="020B0604020202020204" pitchFamily="34" charset="0"/>
                        </a:rPr>
                        <a:t>to</a:t>
                      </a:r>
                      <a:r>
                        <a:rPr sz="1200" spc="-95" dirty="0">
                          <a:latin typeface="Arial" panose="020B0604020202020204" pitchFamily="34" charset="0"/>
                          <a:cs typeface="Arial" panose="020B0604020202020204" pitchFamily="34" charset="0"/>
                        </a:rPr>
                        <a:t> </a:t>
                      </a:r>
                      <a:r>
                        <a:rPr sz="1200" spc="-20" dirty="0">
                          <a:latin typeface="Arial" panose="020B0604020202020204" pitchFamily="34" charset="0"/>
                          <a:cs typeface="Arial" panose="020B0604020202020204" pitchFamily="34" charset="0"/>
                        </a:rPr>
                        <a:t>the</a:t>
                      </a:r>
                      <a:r>
                        <a:rPr sz="1200" spc="-85" dirty="0">
                          <a:latin typeface="Arial" panose="020B0604020202020204" pitchFamily="34" charset="0"/>
                          <a:cs typeface="Arial" panose="020B0604020202020204" pitchFamily="34" charset="0"/>
                        </a:rPr>
                        <a:t> </a:t>
                      </a:r>
                      <a:r>
                        <a:rPr sz="1200" spc="-55" dirty="0">
                          <a:latin typeface="Arial" panose="020B0604020202020204" pitchFamily="34" charset="0"/>
                          <a:cs typeface="Arial" panose="020B0604020202020204" pitchFamily="34" charset="0"/>
                        </a:rPr>
                        <a:t>local</a:t>
                      </a:r>
                      <a:r>
                        <a:rPr sz="1200" spc="-75" dirty="0">
                          <a:latin typeface="Arial" panose="020B0604020202020204" pitchFamily="34" charset="0"/>
                          <a:cs typeface="Arial" panose="020B0604020202020204" pitchFamily="34" charset="0"/>
                        </a:rPr>
                        <a:t> </a:t>
                      </a:r>
                      <a:r>
                        <a:rPr sz="1200" spc="-65" dirty="0">
                          <a:latin typeface="Arial" panose="020B0604020202020204" pitchFamily="34" charset="0"/>
                          <a:cs typeface="Arial" panose="020B0604020202020204" pitchFamily="34" charset="0"/>
                        </a:rPr>
                        <a:t>server</a:t>
                      </a:r>
                      <a:r>
                        <a:rPr sz="1200" spc="-75" dirty="0">
                          <a:latin typeface="Arial" panose="020B0604020202020204" pitchFamily="34" charset="0"/>
                          <a:cs typeface="Arial" panose="020B0604020202020204" pitchFamily="34" charset="0"/>
                        </a:rPr>
                        <a:t> </a:t>
                      </a:r>
                      <a:r>
                        <a:rPr sz="1200" spc="-30" dirty="0">
                          <a:latin typeface="Arial" panose="020B0604020202020204" pitchFamily="34" charset="0"/>
                          <a:cs typeface="Arial" panose="020B0604020202020204" pitchFamily="34" charset="0"/>
                        </a:rPr>
                        <a:t>while</a:t>
                      </a:r>
                      <a:r>
                        <a:rPr sz="1200" spc="-60" dirty="0">
                          <a:latin typeface="Arial" panose="020B0604020202020204" pitchFamily="34" charset="0"/>
                          <a:cs typeface="Arial" panose="020B0604020202020204" pitchFamily="34" charset="0"/>
                        </a:rPr>
                        <a:t> </a:t>
                      </a:r>
                      <a:r>
                        <a:rPr sz="1200" spc="-65" dirty="0">
                          <a:latin typeface="Arial" panose="020B0604020202020204" pitchFamily="34" charset="0"/>
                          <a:cs typeface="Arial" panose="020B0604020202020204" pitchFamily="34" charset="0"/>
                        </a:rPr>
                        <a:t>executing</a:t>
                      </a:r>
                      <a:r>
                        <a:rPr sz="1200" spc="-95" dirty="0">
                          <a:latin typeface="Arial" panose="020B0604020202020204" pitchFamily="34" charset="0"/>
                          <a:cs typeface="Arial" panose="020B0604020202020204" pitchFamily="34" charset="0"/>
                        </a:rPr>
                        <a:t> </a:t>
                      </a:r>
                      <a:r>
                        <a:rPr sz="1200" spc="-120" dirty="0">
                          <a:latin typeface="Arial" panose="020B0604020202020204" pitchFamily="34" charset="0"/>
                          <a:cs typeface="Arial" panose="020B0604020202020204" pitchFamily="34" charset="0"/>
                        </a:rPr>
                        <a:t>a</a:t>
                      </a:r>
                      <a:r>
                        <a:rPr sz="1200" spc="-75" dirty="0">
                          <a:latin typeface="Arial" panose="020B0604020202020204" pitchFamily="34" charset="0"/>
                          <a:cs typeface="Arial" panose="020B0604020202020204" pitchFamily="34" charset="0"/>
                        </a:rPr>
                        <a:t> </a:t>
                      </a:r>
                      <a:r>
                        <a:rPr sz="1200" spc="-45" dirty="0">
                          <a:latin typeface="Arial" panose="020B0604020202020204" pitchFamily="34" charset="0"/>
                          <a:cs typeface="Arial" panose="020B0604020202020204" pitchFamily="34" charset="0"/>
                        </a:rPr>
                        <a:t>query</a:t>
                      </a:r>
                      <a:r>
                        <a:rPr sz="1200" spc="-100" dirty="0">
                          <a:latin typeface="Arial" panose="020B0604020202020204" pitchFamily="34" charset="0"/>
                          <a:cs typeface="Arial" panose="020B0604020202020204" pitchFamily="34" charset="0"/>
                        </a:rPr>
                        <a:t> </a:t>
                      </a:r>
                      <a:r>
                        <a:rPr sz="1200" spc="-50" dirty="0">
                          <a:latin typeface="Arial" panose="020B0604020202020204" pitchFamily="34" charset="0"/>
                          <a:cs typeface="Arial" panose="020B0604020202020204" pitchFamily="34" charset="0"/>
                        </a:rPr>
                        <a:t>on</a:t>
                      </a:r>
                      <a:r>
                        <a:rPr sz="1200" spc="-75" dirty="0">
                          <a:latin typeface="Arial" panose="020B0604020202020204" pitchFamily="34" charset="0"/>
                          <a:cs typeface="Arial" panose="020B0604020202020204" pitchFamily="34" charset="0"/>
                        </a:rPr>
                        <a:t> </a:t>
                      </a:r>
                      <a:r>
                        <a:rPr sz="1200" spc="-20" dirty="0">
                          <a:latin typeface="Arial" panose="020B0604020202020204" pitchFamily="34" charset="0"/>
                          <a:cs typeface="Arial" panose="020B0604020202020204" pitchFamily="34" charset="0"/>
                        </a:rPr>
                        <a:t>the</a:t>
                      </a:r>
                      <a:r>
                        <a:rPr sz="1200" spc="-95" dirty="0">
                          <a:latin typeface="Arial" panose="020B0604020202020204" pitchFamily="34" charset="0"/>
                          <a:cs typeface="Arial" panose="020B0604020202020204" pitchFamily="34" charset="0"/>
                        </a:rPr>
                        <a:t> </a:t>
                      </a:r>
                      <a:r>
                        <a:rPr sz="1200" spc="-35" dirty="0">
                          <a:latin typeface="Arial" panose="020B0604020202020204" pitchFamily="34" charset="0"/>
                          <a:cs typeface="Arial" panose="020B0604020202020204" pitchFamily="34" charset="0"/>
                        </a:rPr>
                        <a:t>remote</a:t>
                      </a:r>
                      <a:r>
                        <a:rPr sz="1200" spc="-75" dirty="0">
                          <a:latin typeface="Arial" panose="020B0604020202020204" pitchFamily="34" charset="0"/>
                          <a:cs typeface="Arial" panose="020B0604020202020204" pitchFamily="34" charset="0"/>
                        </a:rPr>
                        <a:t> </a:t>
                      </a:r>
                      <a:r>
                        <a:rPr sz="1200" spc="-65" dirty="0">
                          <a:latin typeface="Arial" panose="020B0604020202020204" pitchFamily="34" charset="0"/>
                          <a:cs typeface="Arial" panose="020B0604020202020204" pitchFamily="34" charset="0"/>
                        </a:rPr>
                        <a:t>server</a:t>
                      </a:r>
                      <a:endParaRPr sz="1200" dirty="0">
                        <a:latin typeface="Arial" panose="020B0604020202020204" pitchFamily="34" charset="0"/>
                        <a:cs typeface="Arial" panose="020B0604020202020204" pitchFamily="34" charset="0"/>
                      </a:endParaRPr>
                    </a:p>
                  </a:txBody>
                  <a:tcPr marL="0" marR="0" marT="34290" marB="0"/>
                </a:tc>
                <a:extLst>
                  <a:ext uri="{0D108BD9-81ED-4DB2-BD59-A6C34878D82A}">
                    <a16:rowId xmlns:a16="http://schemas.microsoft.com/office/drawing/2014/main" val="10006"/>
                  </a:ext>
                </a:extLst>
              </a:tr>
              <a:tr h="308649">
                <a:tc>
                  <a:txBody>
                    <a:bodyPr/>
                    <a:lstStyle/>
                    <a:p>
                      <a:pPr marL="105410">
                        <a:lnSpc>
                          <a:spcPct val="100000"/>
                        </a:lnSpc>
                        <a:spcBef>
                          <a:spcPts val="185"/>
                        </a:spcBef>
                      </a:pPr>
                      <a:r>
                        <a:rPr sz="1200" spc="-5" dirty="0">
                          <a:latin typeface="Arial" panose="020B0604020202020204" pitchFamily="34" charset="0"/>
                          <a:cs typeface="Arial" panose="020B0604020202020204" pitchFamily="34" charset="0"/>
                        </a:rPr>
                        <a:t>ARCHIVE</a:t>
                      </a:r>
                      <a:endParaRPr sz="1200">
                        <a:latin typeface="Arial" panose="020B0604020202020204" pitchFamily="34" charset="0"/>
                        <a:cs typeface="Arial" panose="020B0604020202020204" pitchFamily="34" charset="0"/>
                      </a:endParaRPr>
                    </a:p>
                  </a:txBody>
                  <a:tcPr marL="0" marR="0" marT="23495" marB="0"/>
                </a:tc>
                <a:tc>
                  <a:txBody>
                    <a:bodyPr/>
                    <a:lstStyle/>
                    <a:p>
                      <a:pPr marL="106045">
                        <a:lnSpc>
                          <a:spcPct val="100000"/>
                        </a:lnSpc>
                        <a:spcBef>
                          <a:spcPts val="270"/>
                        </a:spcBef>
                      </a:pPr>
                      <a:r>
                        <a:rPr sz="1200" spc="-60" dirty="0">
                          <a:latin typeface="Arial" panose="020B0604020202020204" pitchFamily="34" charset="0"/>
                          <a:cs typeface="Arial" panose="020B0604020202020204" pitchFamily="34" charset="0"/>
                        </a:rPr>
                        <a:t>Allows</a:t>
                      </a:r>
                      <a:r>
                        <a:rPr sz="1200" spc="-80" dirty="0">
                          <a:latin typeface="Arial" panose="020B0604020202020204" pitchFamily="34" charset="0"/>
                          <a:cs typeface="Arial" panose="020B0604020202020204" pitchFamily="34" charset="0"/>
                        </a:rPr>
                        <a:t> </a:t>
                      </a:r>
                      <a:r>
                        <a:rPr sz="1200" spc="-70" dirty="0">
                          <a:latin typeface="Arial" panose="020B0604020202020204" pitchFamily="34" charset="0"/>
                          <a:cs typeface="Arial" panose="020B0604020202020204" pitchFamily="34" charset="0"/>
                        </a:rPr>
                        <a:t>developers </a:t>
                      </a:r>
                      <a:r>
                        <a:rPr sz="1200" spc="10" dirty="0">
                          <a:latin typeface="Arial" panose="020B0604020202020204" pitchFamily="34" charset="0"/>
                          <a:cs typeface="Arial" panose="020B0604020202020204" pitchFamily="34" charset="0"/>
                        </a:rPr>
                        <a:t>to</a:t>
                      </a:r>
                      <a:r>
                        <a:rPr sz="1200" spc="-95" dirty="0">
                          <a:latin typeface="Arial" panose="020B0604020202020204" pitchFamily="34" charset="0"/>
                          <a:cs typeface="Arial" panose="020B0604020202020204" pitchFamily="34" charset="0"/>
                        </a:rPr>
                        <a:t> </a:t>
                      </a:r>
                      <a:r>
                        <a:rPr sz="1200" spc="-50" dirty="0">
                          <a:latin typeface="Arial" panose="020B0604020202020204" pitchFamily="34" charset="0"/>
                          <a:cs typeface="Arial" panose="020B0604020202020204" pitchFamily="34" charset="0"/>
                        </a:rPr>
                        <a:t>store</a:t>
                      </a:r>
                      <a:r>
                        <a:rPr sz="1200" spc="-95" dirty="0">
                          <a:latin typeface="Arial" panose="020B0604020202020204" pitchFamily="34" charset="0"/>
                          <a:cs typeface="Arial" panose="020B0604020202020204" pitchFamily="34" charset="0"/>
                        </a:rPr>
                        <a:t> </a:t>
                      </a:r>
                      <a:r>
                        <a:rPr sz="1200" spc="-70" dirty="0">
                          <a:latin typeface="Arial" panose="020B0604020202020204" pitchFamily="34" charset="0"/>
                          <a:cs typeface="Arial" panose="020B0604020202020204" pitchFamily="34" charset="0"/>
                        </a:rPr>
                        <a:t>large</a:t>
                      </a:r>
                      <a:r>
                        <a:rPr sz="1200" spc="-80" dirty="0">
                          <a:latin typeface="Arial" panose="020B0604020202020204" pitchFamily="34" charset="0"/>
                          <a:cs typeface="Arial" panose="020B0604020202020204" pitchFamily="34" charset="0"/>
                        </a:rPr>
                        <a:t> </a:t>
                      </a:r>
                      <a:r>
                        <a:rPr sz="1200" spc="-40" dirty="0">
                          <a:latin typeface="Arial" panose="020B0604020202020204" pitchFamily="34" charset="0"/>
                          <a:cs typeface="Arial" panose="020B0604020202020204" pitchFamily="34" charset="0"/>
                        </a:rPr>
                        <a:t>amount</a:t>
                      </a:r>
                      <a:r>
                        <a:rPr sz="1200" spc="-105" dirty="0">
                          <a:latin typeface="Arial" panose="020B0604020202020204" pitchFamily="34" charset="0"/>
                          <a:cs typeface="Arial" panose="020B0604020202020204" pitchFamily="34" charset="0"/>
                        </a:rPr>
                        <a:t> </a:t>
                      </a:r>
                      <a:r>
                        <a:rPr sz="1200" spc="-5" dirty="0">
                          <a:latin typeface="Arial" panose="020B0604020202020204" pitchFamily="34" charset="0"/>
                          <a:cs typeface="Arial" panose="020B0604020202020204" pitchFamily="34" charset="0"/>
                        </a:rPr>
                        <a:t>of</a:t>
                      </a:r>
                      <a:r>
                        <a:rPr sz="1200" spc="-80" dirty="0">
                          <a:latin typeface="Arial" panose="020B0604020202020204" pitchFamily="34" charset="0"/>
                          <a:cs typeface="Arial" panose="020B0604020202020204" pitchFamily="34" charset="0"/>
                        </a:rPr>
                        <a:t> </a:t>
                      </a:r>
                      <a:r>
                        <a:rPr sz="1200" spc="-60" dirty="0">
                          <a:latin typeface="Arial" panose="020B0604020202020204" pitchFamily="34" charset="0"/>
                          <a:cs typeface="Arial" panose="020B0604020202020204" pitchFamily="34" charset="0"/>
                        </a:rPr>
                        <a:t>data</a:t>
                      </a:r>
                      <a:r>
                        <a:rPr sz="1200" spc="-105" dirty="0">
                          <a:latin typeface="Arial" panose="020B0604020202020204" pitchFamily="34" charset="0"/>
                          <a:cs typeface="Arial" panose="020B0604020202020204" pitchFamily="34" charset="0"/>
                        </a:rPr>
                        <a:t> </a:t>
                      </a:r>
                      <a:r>
                        <a:rPr sz="1200" dirty="0">
                          <a:latin typeface="Arial" panose="020B0604020202020204" pitchFamily="34" charset="0"/>
                          <a:cs typeface="Arial" panose="020B0604020202020204" pitchFamily="34" charset="0"/>
                        </a:rPr>
                        <a:t>without</a:t>
                      </a:r>
                      <a:r>
                        <a:rPr sz="1200" spc="-90" dirty="0">
                          <a:latin typeface="Arial" panose="020B0604020202020204" pitchFamily="34" charset="0"/>
                          <a:cs typeface="Arial" panose="020B0604020202020204" pitchFamily="34" charset="0"/>
                        </a:rPr>
                        <a:t> </a:t>
                      </a:r>
                      <a:r>
                        <a:rPr sz="1200" spc="-60" dirty="0">
                          <a:latin typeface="Arial" panose="020B0604020202020204" pitchFamily="34" charset="0"/>
                          <a:cs typeface="Arial" panose="020B0604020202020204" pitchFamily="34" charset="0"/>
                        </a:rPr>
                        <a:t>indexing</a:t>
                      </a:r>
                      <a:endParaRPr sz="1200">
                        <a:latin typeface="Arial" panose="020B0604020202020204" pitchFamily="34" charset="0"/>
                        <a:cs typeface="Arial" panose="020B0604020202020204" pitchFamily="34" charset="0"/>
                      </a:endParaRPr>
                    </a:p>
                  </a:txBody>
                  <a:tcPr marL="0" marR="0" marT="34290" marB="0"/>
                </a:tc>
                <a:extLst>
                  <a:ext uri="{0D108BD9-81ED-4DB2-BD59-A6C34878D82A}">
                    <a16:rowId xmlns:a16="http://schemas.microsoft.com/office/drawing/2014/main" val="10007"/>
                  </a:ext>
                </a:extLst>
              </a:tr>
              <a:tr h="306950">
                <a:tc>
                  <a:txBody>
                    <a:bodyPr/>
                    <a:lstStyle/>
                    <a:p>
                      <a:pPr marL="105410">
                        <a:lnSpc>
                          <a:spcPct val="100000"/>
                        </a:lnSpc>
                        <a:spcBef>
                          <a:spcPts val="185"/>
                        </a:spcBef>
                      </a:pPr>
                      <a:r>
                        <a:rPr sz="1200" spc="-5" dirty="0">
                          <a:latin typeface="Arial" panose="020B0604020202020204" pitchFamily="34" charset="0"/>
                          <a:cs typeface="Arial" panose="020B0604020202020204" pitchFamily="34" charset="0"/>
                        </a:rPr>
                        <a:t>CSV</a:t>
                      </a:r>
                      <a:endParaRPr sz="1200">
                        <a:latin typeface="Arial" panose="020B0604020202020204" pitchFamily="34" charset="0"/>
                        <a:cs typeface="Arial" panose="020B0604020202020204" pitchFamily="34" charset="0"/>
                      </a:endParaRPr>
                    </a:p>
                  </a:txBody>
                  <a:tcPr marL="0" marR="0" marT="23495" marB="0"/>
                </a:tc>
                <a:tc>
                  <a:txBody>
                    <a:bodyPr/>
                    <a:lstStyle/>
                    <a:p>
                      <a:pPr marL="106045">
                        <a:lnSpc>
                          <a:spcPct val="100000"/>
                        </a:lnSpc>
                        <a:spcBef>
                          <a:spcPts val="270"/>
                        </a:spcBef>
                      </a:pPr>
                      <a:r>
                        <a:rPr sz="1200" spc="-60" dirty="0">
                          <a:latin typeface="Arial" panose="020B0604020202020204" pitchFamily="34" charset="0"/>
                          <a:cs typeface="Arial" panose="020B0604020202020204" pitchFamily="34" charset="0"/>
                        </a:rPr>
                        <a:t>Allows</a:t>
                      </a:r>
                      <a:r>
                        <a:rPr sz="1200" spc="-80" dirty="0">
                          <a:latin typeface="Arial" panose="020B0604020202020204" pitchFamily="34" charset="0"/>
                          <a:cs typeface="Arial" panose="020B0604020202020204" pitchFamily="34" charset="0"/>
                        </a:rPr>
                        <a:t> </a:t>
                      </a:r>
                      <a:r>
                        <a:rPr sz="1200" spc="-70" dirty="0">
                          <a:latin typeface="Arial" panose="020B0604020202020204" pitchFamily="34" charset="0"/>
                          <a:cs typeface="Arial" panose="020B0604020202020204" pitchFamily="34" charset="0"/>
                        </a:rPr>
                        <a:t>developers</a:t>
                      </a:r>
                      <a:r>
                        <a:rPr sz="1200" spc="-65" dirty="0">
                          <a:latin typeface="Arial" panose="020B0604020202020204" pitchFamily="34" charset="0"/>
                          <a:cs typeface="Arial" panose="020B0604020202020204" pitchFamily="34" charset="0"/>
                        </a:rPr>
                        <a:t> </a:t>
                      </a:r>
                      <a:r>
                        <a:rPr sz="1200" spc="10" dirty="0">
                          <a:latin typeface="Arial" panose="020B0604020202020204" pitchFamily="34" charset="0"/>
                          <a:cs typeface="Arial" panose="020B0604020202020204" pitchFamily="34" charset="0"/>
                        </a:rPr>
                        <a:t>to</a:t>
                      </a:r>
                      <a:r>
                        <a:rPr sz="1200" spc="-90" dirty="0">
                          <a:latin typeface="Arial" panose="020B0604020202020204" pitchFamily="34" charset="0"/>
                          <a:cs typeface="Arial" panose="020B0604020202020204" pitchFamily="34" charset="0"/>
                        </a:rPr>
                        <a:t> </a:t>
                      </a:r>
                      <a:r>
                        <a:rPr sz="1200" spc="-50" dirty="0">
                          <a:latin typeface="Arial" panose="020B0604020202020204" pitchFamily="34" charset="0"/>
                          <a:cs typeface="Arial" panose="020B0604020202020204" pitchFamily="34" charset="0"/>
                        </a:rPr>
                        <a:t>store</a:t>
                      </a:r>
                      <a:r>
                        <a:rPr sz="1200" spc="-95" dirty="0">
                          <a:latin typeface="Arial" panose="020B0604020202020204" pitchFamily="34" charset="0"/>
                          <a:cs typeface="Arial" panose="020B0604020202020204" pitchFamily="34" charset="0"/>
                        </a:rPr>
                        <a:t> </a:t>
                      </a:r>
                      <a:r>
                        <a:rPr sz="1200" spc="-60" dirty="0">
                          <a:latin typeface="Arial" panose="020B0604020202020204" pitchFamily="34" charset="0"/>
                          <a:cs typeface="Arial" panose="020B0604020202020204" pitchFamily="34" charset="0"/>
                        </a:rPr>
                        <a:t>data</a:t>
                      </a:r>
                      <a:r>
                        <a:rPr sz="1200" spc="-90" dirty="0">
                          <a:latin typeface="Arial" panose="020B0604020202020204" pitchFamily="34" charset="0"/>
                          <a:cs typeface="Arial" panose="020B0604020202020204" pitchFamily="34" charset="0"/>
                        </a:rPr>
                        <a:t> </a:t>
                      </a:r>
                      <a:r>
                        <a:rPr sz="1200" spc="-20" dirty="0">
                          <a:latin typeface="Arial" panose="020B0604020202020204" pitchFamily="34" charset="0"/>
                          <a:cs typeface="Arial" panose="020B0604020202020204" pitchFamily="34" charset="0"/>
                        </a:rPr>
                        <a:t>in</a:t>
                      </a:r>
                      <a:r>
                        <a:rPr sz="1200" spc="-70" dirty="0">
                          <a:latin typeface="Arial" panose="020B0604020202020204" pitchFamily="34" charset="0"/>
                          <a:cs typeface="Arial" panose="020B0604020202020204" pitchFamily="34" charset="0"/>
                        </a:rPr>
                        <a:t> </a:t>
                      </a:r>
                      <a:r>
                        <a:rPr sz="1200" spc="-20" dirty="0">
                          <a:latin typeface="Arial" panose="020B0604020202020204" pitchFamily="34" charset="0"/>
                          <a:cs typeface="Arial" panose="020B0604020202020204" pitchFamily="34" charset="0"/>
                        </a:rPr>
                        <a:t>text</a:t>
                      </a:r>
                      <a:r>
                        <a:rPr sz="1200" spc="-80" dirty="0">
                          <a:latin typeface="Arial" panose="020B0604020202020204" pitchFamily="34" charset="0"/>
                          <a:cs typeface="Arial" panose="020B0604020202020204" pitchFamily="34" charset="0"/>
                        </a:rPr>
                        <a:t> </a:t>
                      </a:r>
                      <a:r>
                        <a:rPr sz="1200" spc="-40" dirty="0">
                          <a:latin typeface="Arial" panose="020B0604020202020204" pitchFamily="34" charset="0"/>
                          <a:cs typeface="Arial" panose="020B0604020202020204" pitchFamily="34" charset="0"/>
                        </a:rPr>
                        <a:t>files</a:t>
                      </a:r>
                      <a:r>
                        <a:rPr sz="1200" spc="-70" dirty="0">
                          <a:latin typeface="Arial" panose="020B0604020202020204" pitchFamily="34" charset="0"/>
                          <a:cs typeface="Arial" panose="020B0604020202020204" pitchFamily="34" charset="0"/>
                        </a:rPr>
                        <a:t> </a:t>
                      </a:r>
                      <a:r>
                        <a:rPr sz="1200" spc="-80" dirty="0">
                          <a:latin typeface="Arial" panose="020B0604020202020204" pitchFamily="34" charset="0"/>
                          <a:cs typeface="Arial" panose="020B0604020202020204" pitchFamily="34" charset="0"/>
                        </a:rPr>
                        <a:t>using</a:t>
                      </a:r>
                      <a:r>
                        <a:rPr sz="1200" spc="-90" dirty="0">
                          <a:latin typeface="Arial" panose="020B0604020202020204" pitchFamily="34" charset="0"/>
                          <a:cs typeface="Arial" panose="020B0604020202020204" pitchFamily="34" charset="0"/>
                        </a:rPr>
                        <a:t> </a:t>
                      </a:r>
                      <a:r>
                        <a:rPr sz="1200" spc="-75" dirty="0">
                          <a:latin typeface="Arial" panose="020B0604020202020204" pitchFamily="34" charset="0"/>
                          <a:cs typeface="Arial" panose="020B0604020202020204" pitchFamily="34" charset="0"/>
                        </a:rPr>
                        <a:t>comma-separated</a:t>
                      </a:r>
                      <a:r>
                        <a:rPr sz="1200" spc="-105" dirty="0">
                          <a:latin typeface="Arial" panose="020B0604020202020204" pitchFamily="34" charset="0"/>
                          <a:cs typeface="Arial" panose="020B0604020202020204" pitchFamily="34" charset="0"/>
                        </a:rPr>
                        <a:t> </a:t>
                      </a:r>
                      <a:r>
                        <a:rPr sz="1200" spc="-85" dirty="0">
                          <a:latin typeface="Arial" panose="020B0604020202020204" pitchFamily="34" charset="0"/>
                          <a:cs typeface="Arial" panose="020B0604020202020204" pitchFamily="34" charset="0"/>
                        </a:rPr>
                        <a:t>values</a:t>
                      </a:r>
                      <a:endParaRPr sz="1200">
                        <a:latin typeface="Arial" panose="020B0604020202020204" pitchFamily="34" charset="0"/>
                        <a:cs typeface="Arial" panose="020B0604020202020204" pitchFamily="34" charset="0"/>
                      </a:endParaRPr>
                    </a:p>
                  </a:txBody>
                  <a:tcPr marL="0" marR="0" marT="34290" marB="0"/>
                </a:tc>
                <a:extLst>
                  <a:ext uri="{0D108BD9-81ED-4DB2-BD59-A6C34878D82A}">
                    <a16:rowId xmlns:a16="http://schemas.microsoft.com/office/drawing/2014/main" val="10008"/>
                  </a:ext>
                </a:extLst>
              </a:tr>
              <a:tr h="852501">
                <a:tc>
                  <a:txBody>
                    <a:bodyPr/>
                    <a:lstStyle/>
                    <a:p>
                      <a:pPr marL="105410">
                        <a:lnSpc>
                          <a:spcPct val="100000"/>
                        </a:lnSpc>
                        <a:spcBef>
                          <a:spcPts val="190"/>
                        </a:spcBef>
                      </a:pPr>
                      <a:r>
                        <a:rPr sz="1200" spc="-5" dirty="0">
                          <a:latin typeface="Arial" panose="020B0604020202020204" pitchFamily="34" charset="0"/>
                          <a:cs typeface="Arial" panose="020B0604020202020204" pitchFamily="34" charset="0"/>
                        </a:rPr>
                        <a:t>BLACKHOLE</a:t>
                      </a:r>
                      <a:endParaRPr sz="1200">
                        <a:latin typeface="Arial" panose="020B0604020202020204" pitchFamily="34" charset="0"/>
                        <a:cs typeface="Arial" panose="020B0604020202020204" pitchFamily="34" charset="0"/>
                      </a:endParaRPr>
                    </a:p>
                  </a:txBody>
                  <a:tcPr marL="0" marR="0" marT="24130" marB="0"/>
                </a:tc>
                <a:tc>
                  <a:txBody>
                    <a:bodyPr/>
                    <a:lstStyle/>
                    <a:p>
                      <a:pPr marL="106045" marR="121285">
                        <a:lnSpc>
                          <a:spcPct val="100000"/>
                        </a:lnSpc>
                        <a:spcBef>
                          <a:spcPts val="270"/>
                        </a:spcBef>
                      </a:pPr>
                      <a:r>
                        <a:rPr sz="1200" spc="-60" dirty="0">
                          <a:latin typeface="Arial" panose="020B0604020202020204" pitchFamily="34" charset="0"/>
                          <a:cs typeface="Arial" panose="020B0604020202020204" pitchFamily="34" charset="0"/>
                        </a:rPr>
                        <a:t>Allows </a:t>
                      </a:r>
                      <a:r>
                        <a:rPr sz="1200" spc="-70" dirty="0">
                          <a:latin typeface="Arial" panose="020B0604020202020204" pitchFamily="34" charset="0"/>
                          <a:cs typeface="Arial" panose="020B0604020202020204" pitchFamily="34" charset="0"/>
                        </a:rPr>
                        <a:t>developers </a:t>
                      </a:r>
                      <a:r>
                        <a:rPr sz="1200" spc="10" dirty="0">
                          <a:latin typeface="Arial" panose="020B0604020202020204" pitchFamily="34" charset="0"/>
                          <a:cs typeface="Arial" panose="020B0604020202020204" pitchFamily="34" charset="0"/>
                        </a:rPr>
                        <a:t>to </a:t>
                      </a:r>
                      <a:r>
                        <a:rPr sz="1200" spc="-70" dirty="0">
                          <a:latin typeface="Arial" panose="020B0604020202020204" pitchFamily="34" charset="0"/>
                          <a:cs typeface="Arial" panose="020B0604020202020204" pitchFamily="34" charset="0"/>
                        </a:rPr>
                        <a:t>accept </a:t>
                      </a:r>
                      <a:r>
                        <a:rPr sz="1200" spc="-60" dirty="0">
                          <a:latin typeface="Arial" panose="020B0604020202020204" pitchFamily="34" charset="0"/>
                          <a:cs typeface="Arial" panose="020B0604020202020204" pitchFamily="34" charset="0"/>
                        </a:rPr>
                        <a:t>data </a:t>
                      </a:r>
                      <a:r>
                        <a:rPr sz="1200" dirty="0">
                          <a:latin typeface="Arial" panose="020B0604020202020204" pitchFamily="34" charset="0"/>
                          <a:cs typeface="Arial" panose="020B0604020202020204" pitchFamily="34" charset="0"/>
                        </a:rPr>
                        <a:t>without </a:t>
                      </a:r>
                      <a:r>
                        <a:rPr sz="1200" spc="-45" dirty="0">
                          <a:latin typeface="Arial" panose="020B0604020202020204" pitchFamily="34" charset="0"/>
                          <a:cs typeface="Arial" panose="020B0604020202020204" pitchFamily="34" charset="0"/>
                        </a:rPr>
                        <a:t>storing. </a:t>
                      </a:r>
                      <a:r>
                        <a:rPr sz="1200" spc="-120" dirty="0">
                          <a:latin typeface="Arial" panose="020B0604020202020204" pitchFamily="34" charset="0"/>
                          <a:cs typeface="Arial" panose="020B0604020202020204" pitchFamily="34" charset="0"/>
                        </a:rPr>
                        <a:t>Tables </a:t>
                      </a:r>
                      <a:r>
                        <a:rPr sz="1200" spc="-5" dirty="0">
                          <a:latin typeface="Arial" panose="020B0604020202020204" pitchFamily="34" charset="0"/>
                          <a:cs typeface="Arial" panose="020B0604020202020204" pitchFamily="34" charset="0"/>
                        </a:rPr>
                        <a:t>that </a:t>
                      </a:r>
                      <a:r>
                        <a:rPr sz="1200" spc="-95" dirty="0">
                          <a:latin typeface="Arial" panose="020B0604020202020204" pitchFamily="34" charset="0"/>
                          <a:cs typeface="Arial" panose="020B0604020202020204" pitchFamily="34" charset="0"/>
                        </a:rPr>
                        <a:t>have </a:t>
                      </a:r>
                      <a:r>
                        <a:rPr sz="1200" spc="-30" dirty="0">
                          <a:latin typeface="Arial" panose="020B0604020202020204" pitchFamily="34" charset="0"/>
                          <a:cs typeface="Arial" panose="020B0604020202020204" pitchFamily="34" charset="0"/>
                        </a:rPr>
                        <a:t>this </a:t>
                      </a:r>
                      <a:r>
                        <a:rPr sz="1200" spc="-75" dirty="0">
                          <a:latin typeface="Arial" panose="020B0604020202020204" pitchFamily="34" charset="0"/>
                          <a:cs typeface="Arial" panose="020B0604020202020204" pitchFamily="34" charset="0"/>
                        </a:rPr>
                        <a:t>storage  </a:t>
                      </a:r>
                      <a:r>
                        <a:rPr sz="1200" spc="-65" dirty="0">
                          <a:latin typeface="Arial" panose="020B0604020202020204" pitchFamily="34" charset="0"/>
                          <a:cs typeface="Arial" panose="020B0604020202020204" pitchFamily="34" charset="0"/>
                        </a:rPr>
                        <a:t>engine </a:t>
                      </a:r>
                      <a:r>
                        <a:rPr sz="1200" spc="5" dirty="0">
                          <a:latin typeface="Arial" panose="020B0604020202020204" pitchFamily="34" charset="0"/>
                          <a:cs typeface="Arial" panose="020B0604020202020204" pitchFamily="34" charset="0"/>
                        </a:rPr>
                        <a:t>will </a:t>
                      </a:r>
                      <a:r>
                        <a:rPr sz="1200" spc="-90" dirty="0">
                          <a:latin typeface="Arial" panose="020B0604020202020204" pitchFamily="34" charset="0"/>
                          <a:cs typeface="Arial" panose="020B0604020202020204" pitchFamily="34" charset="0"/>
                        </a:rPr>
                        <a:t>always </a:t>
                      </a:r>
                      <a:r>
                        <a:rPr sz="1200" spc="-15" dirty="0">
                          <a:latin typeface="Arial" panose="020B0604020202020204" pitchFamily="34" charset="0"/>
                          <a:cs typeface="Arial" panose="020B0604020202020204" pitchFamily="34" charset="0"/>
                        </a:rPr>
                        <a:t>return </a:t>
                      </a:r>
                      <a:r>
                        <a:rPr sz="1200" spc="-85" dirty="0">
                          <a:latin typeface="Arial" panose="020B0604020202020204" pitchFamily="34" charset="0"/>
                          <a:cs typeface="Arial" panose="020B0604020202020204" pitchFamily="34" charset="0"/>
                        </a:rPr>
                        <a:t>an </a:t>
                      </a:r>
                      <a:r>
                        <a:rPr sz="1200" spc="-40" dirty="0">
                          <a:latin typeface="Arial" panose="020B0604020202020204" pitchFamily="34" charset="0"/>
                          <a:cs typeface="Arial" panose="020B0604020202020204" pitchFamily="34" charset="0"/>
                        </a:rPr>
                        <a:t>empty </a:t>
                      </a:r>
                      <a:r>
                        <a:rPr sz="1200" spc="-35" dirty="0">
                          <a:latin typeface="Arial" panose="020B0604020202020204" pitchFamily="34" charset="0"/>
                          <a:cs typeface="Arial" panose="020B0604020202020204" pitchFamily="34" charset="0"/>
                        </a:rPr>
                        <a:t>result. </a:t>
                      </a:r>
                      <a:r>
                        <a:rPr sz="1200" spc="-100" dirty="0">
                          <a:latin typeface="Arial" panose="020B0604020202020204" pitchFamily="34" charset="0"/>
                          <a:cs typeface="Arial" panose="020B0604020202020204" pitchFamily="34" charset="0"/>
                        </a:rPr>
                        <a:t>This </a:t>
                      </a:r>
                      <a:r>
                        <a:rPr sz="1200" spc="-75" dirty="0">
                          <a:latin typeface="Arial" panose="020B0604020202020204" pitchFamily="34" charset="0"/>
                          <a:cs typeface="Arial" panose="020B0604020202020204" pitchFamily="34" charset="0"/>
                        </a:rPr>
                        <a:t>storage </a:t>
                      </a:r>
                      <a:r>
                        <a:rPr sz="1200" spc="-65" dirty="0">
                          <a:latin typeface="Arial" panose="020B0604020202020204" pitchFamily="34" charset="0"/>
                          <a:cs typeface="Arial" panose="020B0604020202020204" pitchFamily="34" charset="0"/>
                        </a:rPr>
                        <a:t>engine </a:t>
                      </a:r>
                      <a:r>
                        <a:rPr sz="1200" spc="-100" dirty="0">
                          <a:latin typeface="Arial" panose="020B0604020202020204" pitchFamily="34" charset="0"/>
                          <a:cs typeface="Arial" panose="020B0604020202020204" pitchFamily="34" charset="0"/>
                        </a:rPr>
                        <a:t>can </a:t>
                      </a:r>
                      <a:r>
                        <a:rPr sz="1200" spc="-70" dirty="0">
                          <a:latin typeface="Arial" panose="020B0604020202020204" pitchFamily="34" charset="0"/>
                          <a:cs typeface="Arial" panose="020B0604020202020204" pitchFamily="34" charset="0"/>
                        </a:rPr>
                        <a:t>be </a:t>
                      </a:r>
                      <a:r>
                        <a:rPr sz="1200" spc="-90" dirty="0">
                          <a:latin typeface="Arial" panose="020B0604020202020204" pitchFamily="34" charset="0"/>
                          <a:cs typeface="Arial" panose="020B0604020202020204" pitchFamily="34" charset="0"/>
                        </a:rPr>
                        <a:t>used </a:t>
                      </a:r>
                      <a:r>
                        <a:rPr sz="1200" spc="-20" dirty="0">
                          <a:latin typeface="Arial" panose="020B0604020202020204" pitchFamily="34" charset="0"/>
                          <a:cs typeface="Arial" panose="020B0604020202020204" pitchFamily="34" charset="0"/>
                        </a:rPr>
                        <a:t>in  </a:t>
                      </a:r>
                      <a:r>
                        <a:rPr sz="1200" spc="-25" dirty="0">
                          <a:latin typeface="Arial" panose="020B0604020202020204" pitchFamily="34" charset="0"/>
                          <a:cs typeface="Arial" panose="020B0604020202020204" pitchFamily="34" charset="0"/>
                        </a:rPr>
                        <a:t>distributed</a:t>
                      </a:r>
                      <a:r>
                        <a:rPr sz="1200" spc="-100" dirty="0">
                          <a:latin typeface="Arial" panose="020B0604020202020204" pitchFamily="34" charset="0"/>
                          <a:cs typeface="Arial" panose="020B0604020202020204" pitchFamily="34" charset="0"/>
                        </a:rPr>
                        <a:t> </a:t>
                      </a:r>
                      <a:r>
                        <a:rPr sz="1200" spc="-85" dirty="0">
                          <a:latin typeface="Arial" panose="020B0604020202020204" pitchFamily="34" charset="0"/>
                          <a:cs typeface="Arial" panose="020B0604020202020204" pitchFamily="34" charset="0"/>
                        </a:rPr>
                        <a:t>database</a:t>
                      </a:r>
                      <a:r>
                        <a:rPr sz="1200" spc="-100" dirty="0">
                          <a:latin typeface="Arial" panose="020B0604020202020204" pitchFamily="34" charset="0"/>
                          <a:cs typeface="Arial" panose="020B0604020202020204" pitchFamily="34" charset="0"/>
                        </a:rPr>
                        <a:t> </a:t>
                      </a:r>
                      <a:r>
                        <a:rPr sz="1200" spc="-80" dirty="0">
                          <a:latin typeface="Arial" panose="020B0604020202020204" pitchFamily="34" charset="0"/>
                          <a:cs typeface="Arial" panose="020B0604020202020204" pitchFamily="34" charset="0"/>
                        </a:rPr>
                        <a:t>design </a:t>
                      </a:r>
                      <a:r>
                        <a:rPr sz="1200" spc="-50" dirty="0">
                          <a:latin typeface="Arial" panose="020B0604020202020204" pitchFamily="34" charset="0"/>
                          <a:cs typeface="Arial" panose="020B0604020202020204" pitchFamily="34" charset="0"/>
                        </a:rPr>
                        <a:t>where</a:t>
                      </a:r>
                      <a:r>
                        <a:rPr sz="1200" spc="-70" dirty="0">
                          <a:latin typeface="Arial" panose="020B0604020202020204" pitchFamily="34" charset="0"/>
                          <a:cs typeface="Arial" panose="020B0604020202020204" pitchFamily="34" charset="0"/>
                        </a:rPr>
                        <a:t> </a:t>
                      </a:r>
                      <a:r>
                        <a:rPr sz="1200" spc="-60" dirty="0">
                          <a:latin typeface="Arial" panose="020B0604020202020204" pitchFamily="34" charset="0"/>
                          <a:cs typeface="Arial" panose="020B0604020202020204" pitchFamily="34" charset="0"/>
                        </a:rPr>
                        <a:t>data</a:t>
                      </a:r>
                      <a:r>
                        <a:rPr sz="1200" spc="-85" dirty="0">
                          <a:latin typeface="Arial" panose="020B0604020202020204" pitchFamily="34" charset="0"/>
                          <a:cs typeface="Arial" panose="020B0604020202020204" pitchFamily="34" charset="0"/>
                        </a:rPr>
                        <a:t> </a:t>
                      </a:r>
                      <a:r>
                        <a:rPr sz="1200" spc="-80" dirty="0">
                          <a:latin typeface="Arial" panose="020B0604020202020204" pitchFamily="34" charset="0"/>
                          <a:cs typeface="Arial" panose="020B0604020202020204" pitchFamily="34" charset="0"/>
                        </a:rPr>
                        <a:t>is</a:t>
                      </a:r>
                      <a:r>
                        <a:rPr sz="1200" spc="-70" dirty="0">
                          <a:latin typeface="Arial" panose="020B0604020202020204" pitchFamily="34" charset="0"/>
                          <a:cs typeface="Arial" panose="020B0604020202020204" pitchFamily="34" charset="0"/>
                        </a:rPr>
                        <a:t> </a:t>
                      </a:r>
                      <a:r>
                        <a:rPr sz="1200" spc="-40" dirty="0">
                          <a:latin typeface="Arial" panose="020B0604020202020204" pitchFamily="34" charset="0"/>
                          <a:cs typeface="Arial" panose="020B0604020202020204" pitchFamily="34" charset="0"/>
                        </a:rPr>
                        <a:t>automatically</a:t>
                      </a:r>
                      <a:r>
                        <a:rPr sz="1200" spc="-120" dirty="0">
                          <a:latin typeface="Arial" panose="020B0604020202020204" pitchFamily="34" charset="0"/>
                          <a:cs typeface="Arial" panose="020B0604020202020204" pitchFamily="34" charset="0"/>
                        </a:rPr>
                        <a:t> </a:t>
                      </a:r>
                      <a:r>
                        <a:rPr sz="1200" spc="-45" dirty="0">
                          <a:latin typeface="Arial" panose="020B0604020202020204" pitchFamily="34" charset="0"/>
                          <a:cs typeface="Arial" panose="020B0604020202020204" pitchFamily="34" charset="0"/>
                        </a:rPr>
                        <a:t>replicated,</a:t>
                      </a:r>
                      <a:r>
                        <a:rPr sz="1200" spc="-75" dirty="0">
                          <a:latin typeface="Arial" panose="020B0604020202020204" pitchFamily="34" charset="0"/>
                          <a:cs typeface="Arial" panose="020B0604020202020204" pitchFamily="34" charset="0"/>
                        </a:rPr>
                        <a:t> </a:t>
                      </a:r>
                      <a:r>
                        <a:rPr sz="1200" spc="-5" dirty="0">
                          <a:latin typeface="Arial" panose="020B0604020202020204" pitchFamily="34" charset="0"/>
                          <a:cs typeface="Arial" panose="020B0604020202020204" pitchFamily="34" charset="0"/>
                        </a:rPr>
                        <a:t>but</a:t>
                      </a:r>
                      <a:r>
                        <a:rPr sz="1200" spc="-90" dirty="0">
                          <a:latin typeface="Arial" panose="020B0604020202020204" pitchFamily="34" charset="0"/>
                          <a:cs typeface="Arial" panose="020B0604020202020204" pitchFamily="34" charset="0"/>
                        </a:rPr>
                        <a:t> </a:t>
                      </a:r>
                      <a:r>
                        <a:rPr sz="1200" spc="-5" dirty="0">
                          <a:latin typeface="Arial" panose="020B0604020202020204" pitchFamily="34" charset="0"/>
                          <a:cs typeface="Arial" panose="020B0604020202020204" pitchFamily="34" charset="0"/>
                        </a:rPr>
                        <a:t>not</a:t>
                      </a:r>
                      <a:r>
                        <a:rPr sz="1200" spc="-90" dirty="0">
                          <a:latin typeface="Arial" panose="020B0604020202020204" pitchFamily="34" charset="0"/>
                          <a:cs typeface="Arial" panose="020B0604020202020204" pitchFamily="34" charset="0"/>
                        </a:rPr>
                        <a:t> </a:t>
                      </a:r>
                      <a:r>
                        <a:rPr sz="1200" spc="-50" dirty="0">
                          <a:latin typeface="Arial" panose="020B0604020202020204" pitchFamily="34" charset="0"/>
                          <a:cs typeface="Arial" panose="020B0604020202020204" pitchFamily="34" charset="0"/>
                        </a:rPr>
                        <a:t>stored  locally</a:t>
                      </a:r>
                      <a:endParaRPr sz="1200" dirty="0">
                        <a:latin typeface="Arial" panose="020B0604020202020204" pitchFamily="34" charset="0"/>
                        <a:cs typeface="Arial" panose="020B0604020202020204" pitchFamily="34" charset="0"/>
                      </a:endParaRPr>
                    </a:p>
                  </a:txBody>
                  <a:tcPr marL="0" marR="0" marT="34290" marB="0"/>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5952375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241E2-68E8-42DE-A9ED-0152C65A1A3F}"/>
              </a:ext>
            </a:extLst>
          </p:cNvPr>
          <p:cNvSpPr>
            <a:spLocks noGrp="1"/>
          </p:cNvSpPr>
          <p:nvPr>
            <p:ph type="title"/>
          </p:nvPr>
        </p:nvSpPr>
        <p:spPr>
          <a:xfrm>
            <a:off x="609600" y="274638"/>
            <a:ext cx="7924800" cy="563562"/>
          </a:xfrm>
        </p:spPr>
        <p:txBody>
          <a:bodyPr/>
          <a:lstStyle/>
          <a:p>
            <a:r>
              <a:rPr lang="en-IN" dirty="0"/>
              <a:t>Create table:</a:t>
            </a:r>
            <a:endParaRPr lang="en-PK" dirty="0"/>
          </a:p>
        </p:txBody>
      </p:sp>
      <p:sp>
        <p:nvSpPr>
          <p:cNvPr id="3" name="Content Placeholder 2">
            <a:extLst>
              <a:ext uri="{FF2B5EF4-FFF2-40B4-BE49-F238E27FC236}">
                <a16:creationId xmlns:a16="http://schemas.microsoft.com/office/drawing/2014/main" id="{AEDB0CBE-350B-4BBA-8F15-F0B81830E697}"/>
              </a:ext>
            </a:extLst>
          </p:cNvPr>
          <p:cNvSpPr>
            <a:spLocks noGrp="1"/>
          </p:cNvSpPr>
          <p:nvPr>
            <p:ph sz="quarter" idx="13"/>
          </p:nvPr>
        </p:nvSpPr>
        <p:spPr>
          <a:xfrm>
            <a:off x="609600" y="838200"/>
            <a:ext cx="7924800" cy="4876800"/>
          </a:xfrm>
        </p:spPr>
        <p:txBody>
          <a:bodyPr/>
          <a:lstStyle/>
          <a:p>
            <a:r>
              <a:rPr lang="en-US" dirty="0"/>
              <a:t>The syntax for CREATE command is:</a:t>
            </a:r>
          </a:p>
          <a:p>
            <a:pPr marL="0" indent="0">
              <a:buNone/>
            </a:pPr>
            <a:r>
              <a:rPr lang="en-US" dirty="0"/>
              <a:t>CREATE [TEMPORARY] TABLE [IF NOT EXISTS] </a:t>
            </a:r>
            <a:r>
              <a:rPr lang="en-US" dirty="0" err="1"/>
              <a:t>tbl_name</a:t>
            </a:r>
            <a:r>
              <a:rPr lang="en-US" dirty="0"/>
              <a:t>(</a:t>
            </a:r>
            <a:r>
              <a:rPr lang="en-US" dirty="0" err="1"/>
              <a:t>create_clause</a:t>
            </a:r>
            <a:r>
              <a:rPr lang="en-US" dirty="0"/>
              <a:t>,...) [</a:t>
            </a:r>
            <a:r>
              <a:rPr lang="en-US" dirty="0" err="1"/>
              <a:t>table_options</a:t>
            </a:r>
            <a:r>
              <a:rPr lang="en-US" dirty="0"/>
              <a:t>] [IGNORE | REPLACE] [AS] Select ...];</a:t>
            </a:r>
          </a:p>
          <a:p>
            <a:r>
              <a:rPr lang="en-US" dirty="0"/>
              <a:t>where,</a:t>
            </a:r>
          </a:p>
          <a:p>
            <a:pPr lvl="1"/>
            <a:r>
              <a:rPr lang="en-US" dirty="0"/>
              <a:t>CREATE TABLE – adds a new table to the database</a:t>
            </a:r>
          </a:p>
          <a:p>
            <a:pPr lvl="1"/>
            <a:r>
              <a:rPr lang="en-US" dirty="0" err="1"/>
              <a:t>tbl_name</a:t>
            </a:r>
            <a:r>
              <a:rPr lang="en-US" dirty="0"/>
              <a:t> – specifies a name for the table</a:t>
            </a:r>
          </a:p>
          <a:p>
            <a:endParaRPr lang="en-PK" dirty="0"/>
          </a:p>
        </p:txBody>
      </p:sp>
      <p:graphicFrame>
        <p:nvGraphicFramePr>
          <p:cNvPr id="4" name="object 4">
            <a:extLst>
              <a:ext uri="{FF2B5EF4-FFF2-40B4-BE49-F238E27FC236}">
                <a16:creationId xmlns:a16="http://schemas.microsoft.com/office/drawing/2014/main" id="{A4E3B21A-EFD4-40E0-9A3A-DC8D2F01B977}"/>
              </a:ext>
            </a:extLst>
          </p:cNvPr>
          <p:cNvGraphicFramePr>
            <a:graphicFrameLocks noGrp="1"/>
          </p:cNvGraphicFramePr>
          <p:nvPr>
            <p:extLst>
              <p:ext uri="{D42A27DB-BD31-4B8C-83A1-F6EECF244321}">
                <p14:modId xmlns:p14="http://schemas.microsoft.com/office/powerpoint/2010/main" val="3495955925"/>
              </p:ext>
            </p:extLst>
          </p:nvPr>
        </p:nvGraphicFramePr>
        <p:xfrm>
          <a:off x="228600" y="3020272"/>
          <a:ext cx="8686800" cy="2680617"/>
        </p:xfrm>
        <a:graphic>
          <a:graphicData uri="http://schemas.openxmlformats.org/drawingml/2006/table">
            <a:tbl>
              <a:tblPr firstRow="1" bandRow="1">
                <a:tableStyleId>{616DA210-FB5B-4158-B5E0-FEB733F419BA}</a:tableStyleId>
              </a:tblPr>
              <a:tblGrid>
                <a:gridCol w="1905000">
                  <a:extLst>
                    <a:ext uri="{9D8B030D-6E8A-4147-A177-3AD203B41FA5}">
                      <a16:colId xmlns:a16="http://schemas.microsoft.com/office/drawing/2014/main" val="20000"/>
                    </a:ext>
                  </a:extLst>
                </a:gridCol>
                <a:gridCol w="6781800">
                  <a:extLst>
                    <a:ext uri="{9D8B030D-6E8A-4147-A177-3AD203B41FA5}">
                      <a16:colId xmlns:a16="http://schemas.microsoft.com/office/drawing/2014/main" val="20001"/>
                    </a:ext>
                  </a:extLst>
                </a:gridCol>
              </a:tblGrid>
              <a:tr h="316737">
                <a:tc>
                  <a:txBody>
                    <a:bodyPr/>
                    <a:lstStyle/>
                    <a:p>
                      <a:pPr marL="27305" algn="ctr">
                        <a:lnSpc>
                          <a:spcPct val="100000"/>
                        </a:lnSpc>
                        <a:spcBef>
                          <a:spcPts val="265"/>
                        </a:spcBef>
                      </a:pPr>
                      <a:r>
                        <a:rPr sz="1500" spc="-90" dirty="0"/>
                        <a:t>Option</a:t>
                      </a:r>
                      <a:endParaRPr sz="1500">
                        <a:latin typeface="Arial"/>
                        <a:cs typeface="Arial"/>
                      </a:endParaRPr>
                    </a:p>
                  </a:txBody>
                  <a:tcPr marL="0" marR="0" marT="33655" marB="0"/>
                </a:tc>
                <a:tc>
                  <a:txBody>
                    <a:bodyPr/>
                    <a:lstStyle/>
                    <a:p>
                      <a:pPr marL="19685" algn="ctr">
                        <a:lnSpc>
                          <a:spcPct val="100000"/>
                        </a:lnSpc>
                        <a:spcBef>
                          <a:spcPts val="265"/>
                        </a:spcBef>
                      </a:pPr>
                      <a:r>
                        <a:rPr sz="1500" spc="-105" dirty="0"/>
                        <a:t>Description</a:t>
                      </a:r>
                      <a:endParaRPr sz="1500">
                        <a:latin typeface="Arial"/>
                        <a:cs typeface="Arial"/>
                      </a:endParaRPr>
                    </a:p>
                  </a:txBody>
                  <a:tcPr marL="0" marR="0" marT="33655" marB="0"/>
                </a:tc>
                <a:extLst>
                  <a:ext uri="{0D108BD9-81ED-4DB2-BD59-A6C34878D82A}">
                    <a16:rowId xmlns:a16="http://schemas.microsoft.com/office/drawing/2014/main" val="10000"/>
                  </a:ext>
                </a:extLst>
              </a:tr>
              <a:tr h="377818">
                <a:tc>
                  <a:txBody>
                    <a:bodyPr/>
                    <a:lstStyle/>
                    <a:p>
                      <a:pPr marL="105410">
                        <a:lnSpc>
                          <a:spcPct val="100000"/>
                        </a:lnSpc>
                        <a:spcBef>
                          <a:spcPts val="180"/>
                        </a:spcBef>
                      </a:pPr>
                      <a:r>
                        <a:rPr sz="1500" spc="-5" dirty="0"/>
                        <a:t>TEMPORARY</a:t>
                      </a:r>
                      <a:endParaRPr sz="1500">
                        <a:latin typeface="Courier New"/>
                        <a:cs typeface="Courier New"/>
                      </a:endParaRPr>
                    </a:p>
                  </a:txBody>
                  <a:tcPr marL="0" marR="0" marT="22860" marB="0"/>
                </a:tc>
                <a:tc>
                  <a:txBody>
                    <a:bodyPr/>
                    <a:lstStyle/>
                    <a:p>
                      <a:pPr marL="105410">
                        <a:lnSpc>
                          <a:spcPct val="100000"/>
                        </a:lnSpc>
                        <a:spcBef>
                          <a:spcPts val="270"/>
                        </a:spcBef>
                      </a:pPr>
                      <a:r>
                        <a:rPr sz="1500" spc="-110" dirty="0"/>
                        <a:t>Table </a:t>
                      </a:r>
                      <a:r>
                        <a:rPr sz="1500" spc="-80" dirty="0"/>
                        <a:t>exists </a:t>
                      </a:r>
                      <a:r>
                        <a:rPr sz="1500" spc="-140" dirty="0"/>
                        <a:t>as </a:t>
                      </a:r>
                      <a:r>
                        <a:rPr sz="1500" spc="-55" dirty="0"/>
                        <a:t>long </a:t>
                      </a:r>
                      <a:r>
                        <a:rPr sz="1500" spc="-140" dirty="0"/>
                        <a:t>as </a:t>
                      </a:r>
                      <a:r>
                        <a:rPr sz="1500" spc="-20" dirty="0"/>
                        <a:t>the </a:t>
                      </a:r>
                      <a:r>
                        <a:rPr sz="1500" spc="-30" dirty="0"/>
                        <a:t>current </a:t>
                      </a:r>
                      <a:r>
                        <a:rPr sz="1500" spc="-70" dirty="0"/>
                        <a:t>user </a:t>
                      </a:r>
                      <a:r>
                        <a:rPr sz="1500" spc="-80" dirty="0"/>
                        <a:t>is</a:t>
                      </a:r>
                      <a:r>
                        <a:rPr sz="1500" spc="-125" dirty="0"/>
                        <a:t> </a:t>
                      </a:r>
                      <a:r>
                        <a:rPr sz="1500" spc="-60" dirty="0"/>
                        <a:t>connected</a:t>
                      </a:r>
                      <a:endParaRPr sz="1500">
                        <a:latin typeface="Arial"/>
                        <a:cs typeface="Arial"/>
                      </a:endParaRPr>
                    </a:p>
                  </a:txBody>
                  <a:tcPr marL="0" marR="0" marT="34290" marB="0"/>
                </a:tc>
                <a:extLst>
                  <a:ext uri="{0D108BD9-81ED-4DB2-BD59-A6C34878D82A}">
                    <a16:rowId xmlns:a16="http://schemas.microsoft.com/office/drawing/2014/main" val="10001"/>
                  </a:ext>
                </a:extLst>
              </a:tr>
              <a:tr h="346333">
                <a:tc>
                  <a:txBody>
                    <a:bodyPr/>
                    <a:lstStyle/>
                    <a:p>
                      <a:pPr marL="105410">
                        <a:lnSpc>
                          <a:spcPct val="100000"/>
                        </a:lnSpc>
                        <a:spcBef>
                          <a:spcPts val="185"/>
                        </a:spcBef>
                      </a:pPr>
                      <a:r>
                        <a:rPr sz="1500" spc="-5" dirty="0"/>
                        <a:t>IF NOT</a:t>
                      </a:r>
                      <a:r>
                        <a:rPr sz="1500" spc="-45" dirty="0"/>
                        <a:t> </a:t>
                      </a:r>
                      <a:r>
                        <a:rPr sz="1500" spc="-5" dirty="0"/>
                        <a:t>EXISTS</a:t>
                      </a:r>
                      <a:endParaRPr sz="1500">
                        <a:latin typeface="Courier New"/>
                        <a:cs typeface="Courier New"/>
                      </a:endParaRPr>
                    </a:p>
                  </a:txBody>
                  <a:tcPr marL="0" marR="0" marT="23495" marB="0"/>
                </a:tc>
                <a:tc>
                  <a:txBody>
                    <a:bodyPr/>
                    <a:lstStyle/>
                    <a:p>
                      <a:pPr marL="105410">
                        <a:lnSpc>
                          <a:spcPct val="100000"/>
                        </a:lnSpc>
                        <a:spcBef>
                          <a:spcPts val="270"/>
                        </a:spcBef>
                      </a:pPr>
                      <a:r>
                        <a:rPr sz="1500" spc="-100" dirty="0"/>
                        <a:t>Creates</a:t>
                      </a:r>
                      <a:r>
                        <a:rPr sz="1500" spc="-95" dirty="0"/>
                        <a:t> </a:t>
                      </a:r>
                      <a:r>
                        <a:rPr sz="1500" spc="-40" dirty="0"/>
                        <a:t>table</a:t>
                      </a:r>
                      <a:r>
                        <a:rPr sz="1500" spc="-80" dirty="0"/>
                        <a:t> </a:t>
                      </a:r>
                      <a:r>
                        <a:rPr sz="1500" spc="-40" dirty="0"/>
                        <a:t>only</a:t>
                      </a:r>
                      <a:r>
                        <a:rPr sz="1500" spc="-90" dirty="0"/>
                        <a:t> </a:t>
                      </a:r>
                      <a:r>
                        <a:rPr sz="1500" spc="25" dirty="0"/>
                        <a:t>if</a:t>
                      </a:r>
                      <a:r>
                        <a:rPr sz="1500" spc="-70" dirty="0"/>
                        <a:t> </a:t>
                      </a:r>
                      <a:r>
                        <a:rPr sz="1500" spc="45" dirty="0"/>
                        <a:t>it</a:t>
                      </a:r>
                      <a:r>
                        <a:rPr sz="1500" spc="-75" dirty="0"/>
                        <a:t> </a:t>
                      </a:r>
                      <a:r>
                        <a:rPr sz="1500" spc="-90" dirty="0"/>
                        <a:t>does</a:t>
                      </a:r>
                      <a:r>
                        <a:rPr sz="1500" spc="-80" dirty="0"/>
                        <a:t> </a:t>
                      </a:r>
                      <a:r>
                        <a:rPr sz="1500" spc="-5" dirty="0"/>
                        <a:t>not</a:t>
                      </a:r>
                      <a:r>
                        <a:rPr sz="1500" spc="-90" dirty="0"/>
                        <a:t> </a:t>
                      </a:r>
                      <a:r>
                        <a:rPr sz="1500" spc="-80" dirty="0"/>
                        <a:t>exists </a:t>
                      </a:r>
                      <a:r>
                        <a:rPr sz="1500" spc="-20" dirty="0"/>
                        <a:t>in</a:t>
                      </a:r>
                      <a:r>
                        <a:rPr sz="1500" spc="-75" dirty="0"/>
                        <a:t> </a:t>
                      </a:r>
                      <a:r>
                        <a:rPr sz="1500" spc="-20" dirty="0"/>
                        <a:t>the</a:t>
                      </a:r>
                      <a:r>
                        <a:rPr sz="1500" spc="-80" dirty="0"/>
                        <a:t> </a:t>
                      </a:r>
                      <a:r>
                        <a:rPr sz="1500" spc="-85" dirty="0"/>
                        <a:t>database</a:t>
                      </a:r>
                      <a:endParaRPr sz="1500">
                        <a:latin typeface="Arial"/>
                        <a:cs typeface="Arial"/>
                      </a:endParaRPr>
                    </a:p>
                  </a:txBody>
                  <a:tcPr marL="0" marR="0" marT="34290" marB="0"/>
                </a:tc>
                <a:extLst>
                  <a:ext uri="{0D108BD9-81ED-4DB2-BD59-A6C34878D82A}">
                    <a16:rowId xmlns:a16="http://schemas.microsoft.com/office/drawing/2014/main" val="10002"/>
                  </a:ext>
                </a:extLst>
              </a:tr>
              <a:tr h="316737">
                <a:tc>
                  <a:txBody>
                    <a:bodyPr/>
                    <a:lstStyle/>
                    <a:p>
                      <a:pPr marL="105410">
                        <a:lnSpc>
                          <a:spcPct val="100000"/>
                        </a:lnSpc>
                        <a:spcBef>
                          <a:spcPts val="185"/>
                        </a:spcBef>
                      </a:pPr>
                      <a:r>
                        <a:rPr sz="1500" spc="-5" dirty="0"/>
                        <a:t>create_clause</a:t>
                      </a:r>
                      <a:endParaRPr sz="1500">
                        <a:latin typeface="Courier New"/>
                        <a:cs typeface="Courier New"/>
                      </a:endParaRPr>
                    </a:p>
                  </a:txBody>
                  <a:tcPr marL="0" marR="0" marT="23495" marB="0"/>
                </a:tc>
                <a:tc>
                  <a:txBody>
                    <a:bodyPr/>
                    <a:lstStyle/>
                    <a:p>
                      <a:pPr marL="105410">
                        <a:lnSpc>
                          <a:spcPct val="100000"/>
                        </a:lnSpc>
                        <a:spcBef>
                          <a:spcPts val="270"/>
                        </a:spcBef>
                      </a:pPr>
                      <a:r>
                        <a:rPr sz="1500" spc="-75" dirty="0"/>
                        <a:t>Defines</a:t>
                      </a:r>
                      <a:r>
                        <a:rPr sz="1500" spc="-80" dirty="0"/>
                        <a:t> </a:t>
                      </a:r>
                      <a:r>
                        <a:rPr sz="1500" spc="-55" dirty="0"/>
                        <a:t>column</a:t>
                      </a:r>
                      <a:endParaRPr sz="1500">
                        <a:latin typeface="Arial"/>
                        <a:cs typeface="Arial"/>
                      </a:endParaRPr>
                    </a:p>
                  </a:txBody>
                  <a:tcPr marL="0" marR="0" marT="34290" marB="0"/>
                </a:tc>
                <a:extLst>
                  <a:ext uri="{0D108BD9-81ED-4DB2-BD59-A6C34878D82A}">
                    <a16:rowId xmlns:a16="http://schemas.microsoft.com/office/drawing/2014/main" val="10003"/>
                  </a:ext>
                </a:extLst>
              </a:tr>
              <a:tr h="371521">
                <a:tc>
                  <a:txBody>
                    <a:bodyPr/>
                    <a:lstStyle/>
                    <a:p>
                      <a:pPr marL="105410">
                        <a:lnSpc>
                          <a:spcPct val="100000"/>
                        </a:lnSpc>
                        <a:spcBef>
                          <a:spcPts val="185"/>
                        </a:spcBef>
                      </a:pPr>
                      <a:r>
                        <a:rPr sz="1500" spc="-5" dirty="0"/>
                        <a:t>table_options</a:t>
                      </a:r>
                      <a:endParaRPr sz="1500">
                        <a:latin typeface="Courier New"/>
                        <a:cs typeface="Courier New"/>
                      </a:endParaRPr>
                    </a:p>
                  </a:txBody>
                  <a:tcPr marL="0" marR="0" marT="23495" marB="0"/>
                </a:tc>
                <a:tc>
                  <a:txBody>
                    <a:bodyPr/>
                    <a:lstStyle/>
                    <a:p>
                      <a:pPr marL="105410">
                        <a:lnSpc>
                          <a:spcPct val="100000"/>
                        </a:lnSpc>
                        <a:spcBef>
                          <a:spcPts val="265"/>
                        </a:spcBef>
                      </a:pPr>
                      <a:r>
                        <a:rPr sz="1500" spc="-100" dirty="0"/>
                        <a:t>Creates </a:t>
                      </a:r>
                      <a:r>
                        <a:rPr sz="1500" spc="-20" dirty="0"/>
                        <a:t>different </a:t>
                      </a:r>
                      <a:r>
                        <a:rPr sz="1500" spc="-60" dirty="0"/>
                        <a:t>types </a:t>
                      </a:r>
                      <a:r>
                        <a:rPr sz="1500" spc="-5" dirty="0"/>
                        <a:t>of </a:t>
                      </a:r>
                      <a:r>
                        <a:rPr sz="1500" spc="-60" dirty="0"/>
                        <a:t>tables </a:t>
                      </a:r>
                      <a:r>
                        <a:rPr sz="1500" spc="-95" dirty="0"/>
                        <a:t>such </a:t>
                      </a:r>
                      <a:r>
                        <a:rPr sz="1500" spc="-140" dirty="0"/>
                        <a:t>as </a:t>
                      </a:r>
                      <a:r>
                        <a:rPr sz="1500" spc="-105" dirty="0"/>
                        <a:t>ISAM, </a:t>
                      </a:r>
                      <a:r>
                        <a:rPr sz="1500" spc="-125" dirty="0"/>
                        <a:t>INNODB, </a:t>
                      </a:r>
                      <a:r>
                        <a:rPr sz="1500" spc="-70" dirty="0"/>
                        <a:t>and </a:t>
                      </a:r>
                      <a:r>
                        <a:rPr sz="1500" spc="-110" dirty="0"/>
                        <a:t>so</a:t>
                      </a:r>
                      <a:r>
                        <a:rPr sz="1500" spc="-180" dirty="0"/>
                        <a:t> </a:t>
                      </a:r>
                      <a:r>
                        <a:rPr sz="1500" spc="-50" dirty="0"/>
                        <a:t>on</a:t>
                      </a:r>
                      <a:endParaRPr sz="1500">
                        <a:latin typeface="Arial"/>
                        <a:cs typeface="Arial"/>
                      </a:endParaRPr>
                    </a:p>
                  </a:txBody>
                  <a:tcPr marL="0" marR="0" marT="33655" marB="0"/>
                </a:tc>
                <a:extLst>
                  <a:ext uri="{0D108BD9-81ED-4DB2-BD59-A6C34878D82A}">
                    <a16:rowId xmlns:a16="http://schemas.microsoft.com/office/drawing/2014/main" val="10004"/>
                  </a:ext>
                </a:extLst>
              </a:tr>
              <a:tr h="317367">
                <a:tc>
                  <a:txBody>
                    <a:bodyPr/>
                    <a:lstStyle/>
                    <a:p>
                      <a:pPr marL="105410">
                        <a:lnSpc>
                          <a:spcPct val="100000"/>
                        </a:lnSpc>
                        <a:spcBef>
                          <a:spcPts val="185"/>
                        </a:spcBef>
                      </a:pPr>
                      <a:r>
                        <a:rPr sz="1500" spc="-5" dirty="0"/>
                        <a:t>IGNORE</a:t>
                      </a:r>
                      <a:endParaRPr sz="1500">
                        <a:latin typeface="Courier New"/>
                        <a:cs typeface="Courier New"/>
                      </a:endParaRPr>
                    </a:p>
                  </a:txBody>
                  <a:tcPr marL="0" marR="0" marT="23495" marB="0"/>
                </a:tc>
                <a:tc>
                  <a:txBody>
                    <a:bodyPr/>
                    <a:lstStyle/>
                    <a:p>
                      <a:pPr marL="105410">
                        <a:lnSpc>
                          <a:spcPct val="100000"/>
                        </a:lnSpc>
                        <a:spcBef>
                          <a:spcPts val="265"/>
                        </a:spcBef>
                      </a:pPr>
                      <a:r>
                        <a:rPr sz="1500" dirty="0"/>
                        <a:t>If</a:t>
                      </a:r>
                      <a:r>
                        <a:rPr sz="1500" spc="-90" dirty="0"/>
                        <a:t> </a:t>
                      </a:r>
                      <a:r>
                        <a:rPr sz="1500" spc="-35" dirty="0"/>
                        <a:t>table</a:t>
                      </a:r>
                      <a:r>
                        <a:rPr sz="1500" spc="-85" dirty="0"/>
                        <a:t> </a:t>
                      </a:r>
                      <a:r>
                        <a:rPr sz="1500" spc="-60" dirty="0"/>
                        <a:t>already</a:t>
                      </a:r>
                      <a:r>
                        <a:rPr sz="1500" spc="-100" dirty="0"/>
                        <a:t> </a:t>
                      </a:r>
                      <a:r>
                        <a:rPr sz="1500" spc="-80" dirty="0"/>
                        <a:t>exists</a:t>
                      </a:r>
                      <a:r>
                        <a:rPr sz="1500" spc="-70" dirty="0"/>
                        <a:t> </a:t>
                      </a:r>
                      <a:r>
                        <a:rPr sz="1500" spc="-85" dirty="0"/>
                        <a:t>system</a:t>
                      </a:r>
                      <a:r>
                        <a:rPr sz="1500" spc="-110" dirty="0"/>
                        <a:t> </a:t>
                      </a:r>
                      <a:r>
                        <a:rPr sz="1500" spc="-65" dirty="0"/>
                        <a:t>ignores</a:t>
                      </a:r>
                      <a:r>
                        <a:rPr sz="1500" spc="-100" dirty="0"/>
                        <a:t> </a:t>
                      </a:r>
                      <a:r>
                        <a:rPr sz="1500" spc="-70" dirty="0"/>
                        <a:t>and</a:t>
                      </a:r>
                      <a:r>
                        <a:rPr sz="1500" spc="-90" dirty="0"/>
                        <a:t> does</a:t>
                      </a:r>
                      <a:r>
                        <a:rPr sz="1500" spc="-85" dirty="0"/>
                        <a:t> </a:t>
                      </a:r>
                      <a:r>
                        <a:rPr sz="1500" spc="-5" dirty="0"/>
                        <a:t>not</a:t>
                      </a:r>
                      <a:r>
                        <a:rPr sz="1500" spc="-95" dirty="0"/>
                        <a:t> </a:t>
                      </a:r>
                      <a:r>
                        <a:rPr sz="1500" spc="-65" dirty="0"/>
                        <a:t>replace</a:t>
                      </a:r>
                      <a:r>
                        <a:rPr sz="1500" spc="-85" dirty="0"/>
                        <a:t> </a:t>
                      </a:r>
                      <a:r>
                        <a:rPr sz="1500" spc="-15" dirty="0"/>
                        <a:t>the</a:t>
                      </a:r>
                      <a:r>
                        <a:rPr sz="1500" spc="-80" dirty="0"/>
                        <a:t> </a:t>
                      </a:r>
                      <a:r>
                        <a:rPr sz="1500" spc="-60" dirty="0"/>
                        <a:t>previous</a:t>
                      </a:r>
                      <a:r>
                        <a:rPr sz="1500" spc="-70" dirty="0"/>
                        <a:t> </a:t>
                      </a:r>
                      <a:r>
                        <a:rPr sz="1500" spc="-35" dirty="0"/>
                        <a:t>table</a:t>
                      </a:r>
                      <a:endParaRPr sz="1500">
                        <a:latin typeface="Arial"/>
                        <a:cs typeface="Arial"/>
                      </a:endParaRPr>
                    </a:p>
                  </a:txBody>
                  <a:tcPr marL="0" marR="0" marT="33655" marB="0"/>
                </a:tc>
                <a:extLst>
                  <a:ext uri="{0D108BD9-81ED-4DB2-BD59-A6C34878D82A}">
                    <a16:rowId xmlns:a16="http://schemas.microsoft.com/office/drawing/2014/main" val="10005"/>
                  </a:ext>
                </a:extLst>
              </a:tr>
              <a:tr h="317367">
                <a:tc>
                  <a:txBody>
                    <a:bodyPr/>
                    <a:lstStyle/>
                    <a:p>
                      <a:pPr marL="105410">
                        <a:lnSpc>
                          <a:spcPct val="100000"/>
                        </a:lnSpc>
                        <a:spcBef>
                          <a:spcPts val="185"/>
                        </a:spcBef>
                      </a:pPr>
                      <a:r>
                        <a:rPr sz="1500" spc="-5" dirty="0"/>
                        <a:t>REPLACE</a:t>
                      </a:r>
                      <a:endParaRPr sz="1500">
                        <a:latin typeface="Courier New"/>
                        <a:cs typeface="Courier New"/>
                      </a:endParaRPr>
                    </a:p>
                  </a:txBody>
                  <a:tcPr marL="0" marR="0" marT="23495" marB="0"/>
                </a:tc>
                <a:tc>
                  <a:txBody>
                    <a:bodyPr/>
                    <a:lstStyle/>
                    <a:p>
                      <a:pPr marL="105410">
                        <a:lnSpc>
                          <a:spcPct val="100000"/>
                        </a:lnSpc>
                        <a:spcBef>
                          <a:spcPts val="270"/>
                        </a:spcBef>
                      </a:pPr>
                      <a:r>
                        <a:rPr sz="1500" spc="-114" dirty="0"/>
                        <a:t>Replaces</a:t>
                      </a:r>
                      <a:r>
                        <a:rPr sz="1500" spc="-80" dirty="0"/>
                        <a:t> </a:t>
                      </a:r>
                      <a:r>
                        <a:rPr sz="1500" spc="-20" dirty="0"/>
                        <a:t>the</a:t>
                      </a:r>
                      <a:r>
                        <a:rPr sz="1500" spc="-80" dirty="0"/>
                        <a:t> </a:t>
                      </a:r>
                      <a:r>
                        <a:rPr sz="1500" spc="-40" dirty="0"/>
                        <a:t>table</a:t>
                      </a:r>
                      <a:r>
                        <a:rPr sz="1500" spc="-75" dirty="0"/>
                        <a:t> </a:t>
                      </a:r>
                      <a:r>
                        <a:rPr sz="1500" spc="25" dirty="0"/>
                        <a:t>if</a:t>
                      </a:r>
                      <a:r>
                        <a:rPr sz="1500" spc="-75" dirty="0"/>
                        <a:t> </a:t>
                      </a:r>
                      <a:r>
                        <a:rPr sz="1500" spc="-120" dirty="0"/>
                        <a:t>a</a:t>
                      </a:r>
                      <a:r>
                        <a:rPr sz="1500" spc="-95" dirty="0"/>
                        <a:t> </a:t>
                      </a:r>
                      <a:r>
                        <a:rPr sz="1500" spc="-40" dirty="0"/>
                        <a:t>table</a:t>
                      </a:r>
                      <a:r>
                        <a:rPr sz="1500" spc="-75" dirty="0"/>
                        <a:t> </a:t>
                      </a:r>
                      <a:r>
                        <a:rPr sz="1500" spc="5" dirty="0"/>
                        <a:t>with</a:t>
                      </a:r>
                      <a:r>
                        <a:rPr sz="1500" spc="-80" dirty="0"/>
                        <a:t> </a:t>
                      </a:r>
                      <a:r>
                        <a:rPr sz="1500" spc="-20" dirty="0"/>
                        <a:t>the</a:t>
                      </a:r>
                      <a:r>
                        <a:rPr sz="1500" spc="-80" dirty="0"/>
                        <a:t> </a:t>
                      </a:r>
                      <a:r>
                        <a:rPr sz="1500" spc="-110" dirty="0"/>
                        <a:t>same</a:t>
                      </a:r>
                      <a:r>
                        <a:rPr sz="1500" spc="-75" dirty="0"/>
                        <a:t> </a:t>
                      </a:r>
                      <a:r>
                        <a:rPr sz="1500" spc="-80" dirty="0"/>
                        <a:t>name exists</a:t>
                      </a:r>
                      <a:r>
                        <a:rPr sz="1500" spc="-75" dirty="0"/>
                        <a:t> </a:t>
                      </a:r>
                      <a:r>
                        <a:rPr sz="1500" spc="-20" dirty="0"/>
                        <a:t>in</a:t>
                      </a:r>
                      <a:r>
                        <a:rPr sz="1500" spc="-75" dirty="0"/>
                        <a:t> </a:t>
                      </a:r>
                      <a:r>
                        <a:rPr sz="1500" spc="-20" dirty="0"/>
                        <a:t>the</a:t>
                      </a:r>
                      <a:r>
                        <a:rPr sz="1500" spc="-80" dirty="0"/>
                        <a:t> </a:t>
                      </a:r>
                      <a:r>
                        <a:rPr sz="1500" spc="-85" dirty="0"/>
                        <a:t>database</a:t>
                      </a:r>
                      <a:endParaRPr sz="1500">
                        <a:latin typeface="Arial"/>
                        <a:cs typeface="Arial"/>
                      </a:endParaRPr>
                    </a:p>
                  </a:txBody>
                  <a:tcPr marL="0" marR="0" marT="34290" marB="0"/>
                </a:tc>
                <a:extLst>
                  <a:ext uri="{0D108BD9-81ED-4DB2-BD59-A6C34878D82A}">
                    <a16:rowId xmlns:a16="http://schemas.microsoft.com/office/drawing/2014/main" val="10006"/>
                  </a:ext>
                </a:extLst>
              </a:tr>
              <a:tr h="316737">
                <a:tc>
                  <a:txBody>
                    <a:bodyPr/>
                    <a:lstStyle/>
                    <a:p>
                      <a:pPr marL="105410">
                        <a:lnSpc>
                          <a:spcPct val="100000"/>
                        </a:lnSpc>
                        <a:spcBef>
                          <a:spcPts val="185"/>
                        </a:spcBef>
                      </a:pPr>
                      <a:r>
                        <a:rPr sz="1500" spc="-5" dirty="0"/>
                        <a:t>Select</a:t>
                      </a:r>
                      <a:endParaRPr sz="1500">
                        <a:latin typeface="Courier New"/>
                        <a:cs typeface="Courier New"/>
                      </a:endParaRPr>
                    </a:p>
                  </a:txBody>
                  <a:tcPr marL="0" marR="0" marT="23495" marB="0"/>
                </a:tc>
                <a:tc>
                  <a:txBody>
                    <a:bodyPr/>
                    <a:lstStyle/>
                    <a:p>
                      <a:pPr marL="105410">
                        <a:lnSpc>
                          <a:spcPct val="100000"/>
                        </a:lnSpc>
                        <a:spcBef>
                          <a:spcPts val="270"/>
                        </a:spcBef>
                      </a:pPr>
                      <a:r>
                        <a:rPr sz="1500" spc="-105" dirty="0"/>
                        <a:t>Enables </a:t>
                      </a:r>
                      <a:r>
                        <a:rPr sz="1500" spc="10" dirty="0"/>
                        <a:t>to </a:t>
                      </a:r>
                      <a:r>
                        <a:rPr sz="1500" spc="-80" dirty="0"/>
                        <a:t>copy </a:t>
                      </a:r>
                      <a:r>
                        <a:rPr sz="1500" spc="-70" dirty="0"/>
                        <a:t>records </a:t>
                      </a:r>
                      <a:r>
                        <a:rPr sz="1500" spc="-20" dirty="0"/>
                        <a:t>from </a:t>
                      </a:r>
                      <a:r>
                        <a:rPr sz="1500" spc="-85" dirty="0"/>
                        <a:t>an </a:t>
                      </a:r>
                      <a:r>
                        <a:rPr sz="1500" spc="-60" dirty="0"/>
                        <a:t>existing</a:t>
                      </a:r>
                      <a:r>
                        <a:rPr sz="1500" spc="-245" dirty="0"/>
                        <a:t> </a:t>
                      </a:r>
                      <a:r>
                        <a:rPr sz="1500" spc="-40" dirty="0"/>
                        <a:t>table</a:t>
                      </a:r>
                      <a:endParaRPr sz="1500" dirty="0">
                        <a:latin typeface="Arial"/>
                        <a:cs typeface="Arial"/>
                      </a:endParaRPr>
                    </a:p>
                  </a:txBody>
                  <a:tcPr marL="0" marR="0" marT="34290" marB="0"/>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9431491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43713-AC6A-4100-88A6-861FEAABA7FB}"/>
              </a:ext>
            </a:extLst>
          </p:cNvPr>
          <p:cNvSpPr>
            <a:spLocks noGrp="1"/>
          </p:cNvSpPr>
          <p:nvPr>
            <p:ph type="title"/>
          </p:nvPr>
        </p:nvSpPr>
        <p:spPr>
          <a:xfrm>
            <a:off x="609600" y="274638"/>
            <a:ext cx="7924800" cy="563562"/>
          </a:xfrm>
        </p:spPr>
        <p:txBody>
          <a:bodyPr/>
          <a:lstStyle/>
          <a:p>
            <a:r>
              <a:rPr lang="en-IN" dirty="0"/>
              <a:t>Create table:</a:t>
            </a:r>
            <a:endParaRPr lang="en-PK" dirty="0"/>
          </a:p>
        </p:txBody>
      </p:sp>
      <p:sp>
        <p:nvSpPr>
          <p:cNvPr id="3" name="Content Placeholder 2">
            <a:extLst>
              <a:ext uri="{FF2B5EF4-FFF2-40B4-BE49-F238E27FC236}">
                <a16:creationId xmlns:a16="http://schemas.microsoft.com/office/drawing/2014/main" id="{39B38C0C-8109-4AB9-80D1-154ED9BC7EA5}"/>
              </a:ext>
            </a:extLst>
          </p:cNvPr>
          <p:cNvSpPr>
            <a:spLocks noGrp="1"/>
          </p:cNvSpPr>
          <p:nvPr>
            <p:ph sz="quarter" idx="13"/>
          </p:nvPr>
        </p:nvSpPr>
        <p:spPr>
          <a:xfrm>
            <a:off x="609600" y="838200"/>
            <a:ext cx="7924800" cy="4876800"/>
          </a:xfrm>
        </p:spPr>
        <p:txBody>
          <a:bodyPr/>
          <a:lstStyle/>
          <a:p>
            <a:r>
              <a:rPr lang="en-US" dirty="0"/>
              <a:t>The syntax for </a:t>
            </a:r>
            <a:r>
              <a:rPr lang="en-US" dirty="0" err="1"/>
              <a:t>create_clause</a:t>
            </a:r>
            <a:r>
              <a:rPr lang="en-US" dirty="0"/>
              <a:t> in the CREATE TABLE command is:</a:t>
            </a:r>
          </a:p>
          <a:p>
            <a:pPr marL="0" indent="0">
              <a:buNone/>
            </a:pPr>
            <a:r>
              <a:rPr lang="en-US" dirty="0"/>
              <a:t>column type [NOT NULL | NULL][DEFAULT</a:t>
            </a:r>
          </a:p>
          <a:p>
            <a:pPr marL="0" indent="0">
              <a:buNone/>
            </a:pPr>
            <a:r>
              <a:rPr lang="en-US" dirty="0"/>
              <a:t>value][AUTO_INCREMENT][PRIMARY KEY][REFERENCE];</a:t>
            </a:r>
          </a:p>
          <a:p>
            <a:r>
              <a:rPr lang="en-US" dirty="0"/>
              <a:t>where,</a:t>
            </a:r>
          </a:p>
          <a:p>
            <a:pPr lvl="1"/>
            <a:r>
              <a:rPr lang="en-US" dirty="0"/>
              <a:t>column type – defines the data type for the column</a:t>
            </a:r>
          </a:p>
          <a:p>
            <a:pPr marL="457200" lvl="1" indent="0">
              <a:buNone/>
            </a:pPr>
            <a:endParaRPr lang="en-US" dirty="0"/>
          </a:p>
          <a:p>
            <a:endParaRPr lang="en-PK" dirty="0"/>
          </a:p>
        </p:txBody>
      </p:sp>
      <p:graphicFrame>
        <p:nvGraphicFramePr>
          <p:cNvPr id="4" name="object 4">
            <a:extLst>
              <a:ext uri="{FF2B5EF4-FFF2-40B4-BE49-F238E27FC236}">
                <a16:creationId xmlns:a16="http://schemas.microsoft.com/office/drawing/2014/main" id="{3370A7BF-4466-4D33-8136-95F2B625A115}"/>
              </a:ext>
            </a:extLst>
          </p:cNvPr>
          <p:cNvGraphicFramePr>
            <a:graphicFrameLocks noGrp="1"/>
          </p:cNvGraphicFramePr>
          <p:nvPr>
            <p:extLst>
              <p:ext uri="{D42A27DB-BD31-4B8C-83A1-F6EECF244321}">
                <p14:modId xmlns:p14="http://schemas.microsoft.com/office/powerpoint/2010/main" val="2388008705"/>
              </p:ext>
            </p:extLst>
          </p:nvPr>
        </p:nvGraphicFramePr>
        <p:xfrm>
          <a:off x="138112" y="2819400"/>
          <a:ext cx="8915400" cy="2980055"/>
        </p:xfrm>
        <a:graphic>
          <a:graphicData uri="http://schemas.openxmlformats.org/drawingml/2006/table">
            <a:tbl>
              <a:tblPr firstRow="1" bandRow="1">
                <a:tableStyleId>{616DA210-FB5B-4158-B5E0-FEB733F419BA}</a:tableStyleId>
              </a:tblPr>
              <a:tblGrid>
                <a:gridCol w="1614488">
                  <a:extLst>
                    <a:ext uri="{9D8B030D-6E8A-4147-A177-3AD203B41FA5}">
                      <a16:colId xmlns:a16="http://schemas.microsoft.com/office/drawing/2014/main" val="20000"/>
                    </a:ext>
                  </a:extLst>
                </a:gridCol>
                <a:gridCol w="7300912">
                  <a:extLst>
                    <a:ext uri="{9D8B030D-6E8A-4147-A177-3AD203B41FA5}">
                      <a16:colId xmlns:a16="http://schemas.microsoft.com/office/drawing/2014/main" val="20001"/>
                    </a:ext>
                  </a:extLst>
                </a:gridCol>
              </a:tblGrid>
              <a:tr h="320040">
                <a:tc>
                  <a:txBody>
                    <a:bodyPr/>
                    <a:lstStyle/>
                    <a:p>
                      <a:pPr marL="27305" algn="ctr">
                        <a:lnSpc>
                          <a:spcPct val="100000"/>
                        </a:lnSpc>
                        <a:spcBef>
                          <a:spcPts val="265"/>
                        </a:spcBef>
                      </a:pPr>
                      <a:r>
                        <a:rPr sz="1500" spc="-90" dirty="0">
                          <a:latin typeface="Calibri" panose="020F0502020204030204" pitchFamily="34" charset="0"/>
                          <a:cs typeface="Calibri" panose="020F0502020204030204" pitchFamily="34" charset="0"/>
                        </a:rPr>
                        <a:t>Option</a:t>
                      </a:r>
                      <a:endParaRPr sz="1500">
                        <a:latin typeface="Calibri" panose="020F0502020204030204" pitchFamily="34" charset="0"/>
                        <a:cs typeface="Calibri" panose="020F0502020204030204" pitchFamily="34" charset="0"/>
                      </a:endParaRPr>
                    </a:p>
                  </a:txBody>
                  <a:tcPr marL="0" marR="0" marT="33655" marB="0"/>
                </a:tc>
                <a:tc>
                  <a:txBody>
                    <a:bodyPr/>
                    <a:lstStyle/>
                    <a:p>
                      <a:pPr marR="886460" algn="ctr">
                        <a:lnSpc>
                          <a:spcPct val="100000"/>
                        </a:lnSpc>
                        <a:spcBef>
                          <a:spcPts val="265"/>
                        </a:spcBef>
                      </a:pPr>
                      <a:r>
                        <a:rPr sz="1500" spc="-105" dirty="0">
                          <a:latin typeface="Calibri" panose="020F0502020204030204" pitchFamily="34" charset="0"/>
                          <a:cs typeface="Calibri" panose="020F0502020204030204" pitchFamily="34" charset="0"/>
                        </a:rPr>
                        <a:t>Description</a:t>
                      </a:r>
                      <a:endParaRPr sz="1500">
                        <a:latin typeface="Calibri" panose="020F0502020204030204" pitchFamily="34" charset="0"/>
                        <a:cs typeface="Calibri" panose="020F0502020204030204" pitchFamily="34" charset="0"/>
                      </a:endParaRPr>
                    </a:p>
                  </a:txBody>
                  <a:tcPr marL="0" marR="0" marT="33655" marB="0"/>
                </a:tc>
                <a:extLst>
                  <a:ext uri="{0D108BD9-81ED-4DB2-BD59-A6C34878D82A}">
                    <a16:rowId xmlns:a16="http://schemas.microsoft.com/office/drawing/2014/main" val="10000"/>
                  </a:ext>
                </a:extLst>
              </a:tr>
              <a:tr h="548640">
                <a:tc>
                  <a:txBody>
                    <a:bodyPr/>
                    <a:lstStyle/>
                    <a:p>
                      <a:pPr marL="105410">
                        <a:lnSpc>
                          <a:spcPct val="100000"/>
                        </a:lnSpc>
                        <a:spcBef>
                          <a:spcPts val="265"/>
                        </a:spcBef>
                      </a:pPr>
                      <a:r>
                        <a:rPr sz="1500" spc="-165" dirty="0">
                          <a:latin typeface="Calibri" panose="020F0502020204030204" pitchFamily="34" charset="0"/>
                          <a:cs typeface="Calibri" panose="020F0502020204030204" pitchFamily="34" charset="0"/>
                        </a:rPr>
                        <a:t>AUTO_INCREMENT</a:t>
                      </a:r>
                      <a:endParaRPr sz="1500" dirty="0">
                        <a:latin typeface="Calibri" panose="020F0502020204030204" pitchFamily="34" charset="0"/>
                        <a:cs typeface="Calibri" panose="020F0502020204030204" pitchFamily="34" charset="0"/>
                      </a:endParaRPr>
                    </a:p>
                  </a:txBody>
                  <a:tcPr marL="0" marR="0" marT="33655" marB="0"/>
                </a:tc>
                <a:tc>
                  <a:txBody>
                    <a:bodyPr/>
                    <a:lstStyle/>
                    <a:p>
                      <a:pPr marL="105410">
                        <a:lnSpc>
                          <a:spcPct val="100000"/>
                        </a:lnSpc>
                        <a:spcBef>
                          <a:spcPts val="265"/>
                        </a:spcBef>
                      </a:pPr>
                      <a:r>
                        <a:rPr sz="1500" spc="-90" dirty="0">
                          <a:latin typeface="Calibri" panose="020F0502020204030204" pitchFamily="34" charset="0"/>
                          <a:cs typeface="Calibri" panose="020F0502020204030204" pitchFamily="34" charset="0"/>
                        </a:rPr>
                        <a:t>Specifies</a:t>
                      </a:r>
                      <a:r>
                        <a:rPr sz="1500" spc="-60" dirty="0">
                          <a:latin typeface="Calibri" panose="020F0502020204030204" pitchFamily="34" charset="0"/>
                          <a:cs typeface="Calibri" panose="020F0502020204030204" pitchFamily="34" charset="0"/>
                        </a:rPr>
                        <a:t> </a:t>
                      </a:r>
                      <a:r>
                        <a:rPr sz="1500" spc="-5" dirty="0">
                          <a:latin typeface="Calibri" panose="020F0502020204030204" pitchFamily="34" charset="0"/>
                          <a:cs typeface="Calibri" panose="020F0502020204030204" pitchFamily="34" charset="0"/>
                        </a:rPr>
                        <a:t>that</a:t>
                      </a:r>
                      <a:r>
                        <a:rPr sz="1500" spc="-100" dirty="0">
                          <a:latin typeface="Calibri" panose="020F0502020204030204" pitchFamily="34" charset="0"/>
                          <a:cs typeface="Calibri" panose="020F0502020204030204" pitchFamily="34" charset="0"/>
                        </a:rPr>
                        <a:t> </a:t>
                      </a:r>
                      <a:r>
                        <a:rPr sz="1500" spc="-20" dirty="0">
                          <a:latin typeface="Calibri" panose="020F0502020204030204" pitchFamily="34" charset="0"/>
                          <a:cs typeface="Calibri" panose="020F0502020204030204" pitchFamily="34" charset="0"/>
                        </a:rPr>
                        <a:t>the</a:t>
                      </a:r>
                      <a:r>
                        <a:rPr sz="1500" spc="-85" dirty="0">
                          <a:latin typeface="Calibri" panose="020F0502020204030204" pitchFamily="34" charset="0"/>
                          <a:cs typeface="Calibri" panose="020F0502020204030204" pitchFamily="34" charset="0"/>
                        </a:rPr>
                        <a:t> </a:t>
                      </a:r>
                      <a:r>
                        <a:rPr sz="1500" spc="-55" dirty="0">
                          <a:latin typeface="Calibri" panose="020F0502020204030204" pitchFamily="34" charset="0"/>
                          <a:cs typeface="Calibri" panose="020F0502020204030204" pitchFamily="34" charset="0"/>
                        </a:rPr>
                        <a:t>column</a:t>
                      </a:r>
                      <a:r>
                        <a:rPr sz="1500" spc="-85" dirty="0">
                          <a:latin typeface="Calibri" panose="020F0502020204030204" pitchFamily="34" charset="0"/>
                          <a:cs typeface="Calibri" panose="020F0502020204030204" pitchFamily="34" charset="0"/>
                        </a:rPr>
                        <a:t> </a:t>
                      </a:r>
                      <a:r>
                        <a:rPr sz="1500" spc="-70" dirty="0">
                          <a:latin typeface="Calibri" panose="020F0502020204030204" pitchFamily="34" charset="0"/>
                          <a:cs typeface="Calibri" panose="020F0502020204030204" pitchFamily="34" charset="0"/>
                        </a:rPr>
                        <a:t>value</a:t>
                      </a:r>
                      <a:r>
                        <a:rPr sz="1500" spc="-75" dirty="0">
                          <a:latin typeface="Calibri" panose="020F0502020204030204" pitchFamily="34" charset="0"/>
                          <a:cs typeface="Calibri" panose="020F0502020204030204" pitchFamily="34" charset="0"/>
                        </a:rPr>
                        <a:t> </a:t>
                      </a:r>
                      <a:r>
                        <a:rPr sz="1500" spc="-50" dirty="0">
                          <a:latin typeface="Calibri" panose="020F0502020204030204" pitchFamily="34" charset="0"/>
                          <a:cs typeface="Calibri" panose="020F0502020204030204" pitchFamily="34" charset="0"/>
                        </a:rPr>
                        <a:t>must</a:t>
                      </a:r>
                      <a:r>
                        <a:rPr sz="1500" spc="-90" dirty="0">
                          <a:latin typeface="Calibri" panose="020F0502020204030204" pitchFamily="34" charset="0"/>
                          <a:cs typeface="Calibri" panose="020F0502020204030204" pitchFamily="34" charset="0"/>
                        </a:rPr>
                        <a:t> </a:t>
                      </a:r>
                      <a:r>
                        <a:rPr sz="1500" spc="-70" dirty="0">
                          <a:latin typeface="Calibri" panose="020F0502020204030204" pitchFamily="34" charset="0"/>
                          <a:cs typeface="Calibri" panose="020F0502020204030204" pitchFamily="34" charset="0"/>
                        </a:rPr>
                        <a:t>be</a:t>
                      </a:r>
                      <a:r>
                        <a:rPr sz="1500" spc="-85" dirty="0">
                          <a:latin typeface="Calibri" panose="020F0502020204030204" pitchFamily="34" charset="0"/>
                          <a:cs typeface="Calibri" panose="020F0502020204030204" pitchFamily="34" charset="0"/>
                        </a:rPr>
                        <a:t> </a:t>
                      </a:r>
                      <a:r>
                        <a:rPr sz="1500" spc="-35" dirty="0">
                          <a:latin typeface="Calibri" panose="020F0502020204030204" pitchFamily="34" charset="0"/>
                          <a:cs typeface="Calibri" panose="020F0502020204030204" pitchFamily="34" charset="0"/>
                        </a:rPr>
                        <a:t>auto</a:t>
                      </a:r>
                      <a:r>
                        <a:rPr sz="1500" spc="-100" dirty="0">
                          <a:latin typeface="Calibri" panose="020F0502020204030204" pitchFamily="34" charset="0"/>
                          <a:cs typeface="Calibri" panose="020F0502020204030204" pitchFamily="34" charset="0"/>
                        </a:rPr>
                        <a:t> </a:t>
                      </a:r>
                      <a:r>
                        <a:rPr sz="1500" spc="-45" dirty="0">
                          <a:latin typeface="Calibri" panose="020F0502020204030204" pitchFamily="34" charset="0"/>
                          <a:cs typeface="Calibri" panose="020F0502020204030204" pitchFamily="34" charset="0"/>
                        </a:rPr>
                        <a:t>incremented.</a:t>
                      </a:r>
                      <a:r>
                        <a:rPr sz="1500" spc="-90" dirty="0">
                          <a:latin typeface="Calibri" panose="020F0502020204030204" pitchFamily="34" charset="0"/>
                          <a:cs typeface="Calibri" panose="020F0502020204030204" pitchFamily="34" charset="0"/>
                        </a:rPr>
                        <a:t> </a:t>
                      </a:r>
                      <a:r>
                        <a:rPr sz="1500" spc="-100" dirty="0">
                          <a:latin typeface="Calibri" panose="020F0502020204030204" pitchFamily="34" charset="0"/>
                          <a:cs typeface="Calibri" panose="020F0502020204030204" pitchFamily="34" charset="0"/>
                        </a:rPr>
                        <a:t>This</a:t>
                      </a:r>
                      <a:r>
                        <a:rPr sz="1500" spc="-70" dirty="0">
                          <a:latin typeface="Calibri" panose="020F0502020204030204" pitchFamily="34" charset="0"/>
                          <a:cs typeface="Calibri" panose="020F0502020204030204" pitchFamily="34" charset="0"/>
                        </a:rPr>
                        <a:t> </a:t>
                      </a:r>
                      <a:r>
                        <a:rPr sz="1500" spc="-20" dirty="0">
                          <a:latin typeface="Calibri" panose="020F0502020204030204" pitchFamily="34" charset="0"/>
                          <a:cs typeface="Calibri" panose="020F0502020204030204" pitchFamily="34" charset="0"/>
                        </a:rPr>
                        <a:t>option</a:t>
                      </a:r>
                      <a:r>
                        <a:rPr sz="1500" spc="-90" dirty="0">
                          <a:latin typeface="Calibri" panose="020F0502020204030204" pitchFamily="34" charset="0"/>
                          <a:cs typeface="Calibri" panose="020F0502020204030204" pitchFamily="34" charset="0"/>
                        </a:rPr>
                        <a:t> </a:t>
                      </a:r>
                      <a:r>
                        <a:rPr sz="1500" spc="-60" dirty="0">
                          <a:latin typeface="Calibri" panose="020F0502020204030204" pitchFamily="34" charset="0"/>
                          <a:cs typeface="Calibri" panose="020F0502020204030204" pitchFamily="34" charset="0"/>
                        </a:rPr>
                        <a:t>works</a:t>
                      </a:r>
                      <a:r>
                        <a:rPr sz="1500" spc="-75" dirty="0">
                          <a:latin typeface="Calibri" panose="020F0502020204030204" pitchFamily="34" charset="0"/>
                          <a:cs typeface="Calibri" panose="020F0502020204030204" pitchFamily="34" charset="0"/>
                        </a:rPr>
                        <a:t> </a:t>
                      </a:r>
                      <a:r>
                        <a:rPr sz="1500" spc="-40" dirty="0">
                          <a:latin typeface="Calibri" panose="020F0502020204030204" pitchFamily="34" charset="0"/>
                          <a:cs typeface="Calibri" panose="020F0502020204030204" pitchFamily="34" charset="0"/>
                        </a:rPr>
                        <a:t>only</a:t>
                      </a:r>
                      <a:r>
                        <a:rPr sz="1500" spc="-100" dirty="0">
                          <a:latin typeface="Calibri" panose="020F0502020204030204" pitchFamily="34" charset="0"/>
                          <a:cs typeface="Calibri" panose="020F0502020204030204" pitchFamily="34" charset="0"/>
                        </a:rPr>
                        <a:t> </a:t>
                      </a:r>
                      <a:r>
                        <a:rPr sz="1500" spc="25" dirty="0">
                          <a:latin typeface="Calibri" panose="020F0502020204030204" pitchFamily="34" charset="0"/>
                          <a:cs typeface="Calibri" panose="020F0502020204030204" pitchFamily="34" charset="0"/>
                        </a:rPr>
                        <a:t>if</a:t>
                      </a:r>
                      <a:r>
                        <a:rPr sz="1500" spc="-65" dirty="0">
                          <a:latin typeface="Calibri" panose="020F0502020204030204" pitchFamily="34" charset="0"/>
                          <a:cs typeface="Calibri" panose="020F0502020204030204" pitchFamily="34" charset="0"/>
                        </a:rPr>
                        <a:t> </a:t>
                      </a:r>
                      <a:r>
                        <a:rPr sz="1500" spc="-20" dirty="0">
                          <a:latin typeface="Calibri" panose="020F0502020204030204" pitchFamily="34" charset="0"/>
                          <a:cs typeface="Calibri" panose="020F0502020204030204" pitchFamily="34" charset="0"/>
                        </a:rPr>
                        <a:t>the</a:t>
                      </a:r>
                      <a:endParaRPr sz="1500">
                        <a:latin typeface="Calibri" panose="020F0502020204030204" pitchFamily="34" charset="0"/>
                        <a:cs typeface="Calibri" panose="020F0502020204030204" pitchFamily="34" charset="0"/>
                      </a:endParaRPr>
                    </a:p>
                    <a:p>
                      <a:pPr marL="105410">
                        <a:lnSpc>
                          <a:spcPct val="100000"/>
                        </a:lnSpc>
                      </a:pPr>
                      <a:r>
                        <a:rPr sz="1500" spc="-70" dirty="0">
                          <a:latin typeface="Calibri" panose="020F0502020204030204" pitchFamily="34" charset="0"/>
                          <a:cs typeface="Calibri" panose="020F0502020204030204" pitchFamily="34" charset="0"/>
                        </a:rPr>
                        <a:t>columns </a:t>
                      </a:r>
                      <a:r>
                        <a:rPr sz="1500" spc="-50" dirty="0">
                          <a:latin typeface="Calibri" panose="020F0502020204030204" pitchFamily="34" charset="0"/>
                          <a:cs typeface="Calibri" panose="020F0502020204030204" pitchFamily="34" charset="0"/>
                        </a:rPr>
                        <a:t>contain </a:t>
                      </a:r>
                      <a:r>
                        <a:rPr sz="1500" spc="-45" dirty="0">
                          <a:latin typeface="Calibri" panose="020F0502020204030204" pitchFamily="34" charset="0"/>
                          <a:cs typeface="Calibri" panose="020F0502020204030204" pitchFamily="34" charset="0"/>
                        </a:rPr>
                        <a:t>positive</a:t>
                      </a:r>
                      <a:r>
                        <a:rPr sz="1500" spc="-150" dirty="0">
                          <a:latin typeface="Calibri" panose="020F0502020204030204" pitchFamily="34" charset="0"/>
                          <a:cs typeface="Calibri" panose="020F0502020204030204" pitchFamily="34" charset="0"/>
                        </a:rPr>
                        <a:t> </a:t>
                      </a:r>
                      <a:r>
                        <a:rPr sz="1500" spc="-85" dirty="0">
                          <a:latin typeface="Calibri" panose="020F0502020204030204" pitchFamily="34" charset="0"/>
                          <a:cs typeface="Calibri" panose="020F0502020204030204" pitchFamily="34" charset="0"/>
                        </a:rPr>
                        <a:t>values</a:t>
                      </a:r>
                      <a:endParaRPr sz="1500">
                        <a:latin typeface="Calibri" panose="020F0502020204030204" pitchFamily="34" charset="0"/>
                        <a:cs typeface="Calibri" panose="020F0502020204030204" pitchFamily="34" charset="0"/>
                      </a:endParaRPr>
                    </a:p>
                  </a:txBody>
                  <a:tcPr marL="0" marR="0" marT="33655" marB="0"/>
                </a:tc>
                <a:extLst>
                  <a:ext uri="{0D108BD9-81ED-4DB2-BD59-A6C34878D82A}">
                    <a16:rowId xmlns:a16="http://schemas.microsoft.com/office/drawing/2014/main" val="10001"/>
                  </a:ext>
                </a:extLst>
              </a:tr>
              <a:tr h="548640">
                <a:tc>
                  <a:txBody>
                    <a:bodyPr/>
                    <a:lstStyle/>
                    <a:p>
                      <a:pPr marL="105410">
                        <a:lnSpc>
                          <a:spcPct val="100000"/>
                        </a:lnSpc>
                        <a:spcBef>
                          <a:spcPts val="270"/>
                        </a:spcBef>
                      </a:pPr>
                      <a:r>
                        <a:rPr sz="1500" spc="-220" dirty="0">
                          <a:latin typeface="Calibri" panose="020F0502020204030204" pitchFamily="34" charset="0"/>
                          <a:cs typeface="Calibri" panose="020F0502020204030204" pitchFamily="34" charset="0"/>
                        </a:rPr>
                        <a:t>DEFAULT</a:t>
                      </a:r>
                      <a:r>
                        <a:rPr sz="1500" spc="-105" dirty="0">
                          <a:latin typeface="Calibri" panose="020F0502020204030204" pitchFamily="34" charset="0"/>
                          <a:cs typeface="Calibri" panose="020F0502020204030204" pitchFamily="34" charset="0"/>
                        </a:rPr>
                        <a:t> </a:t>
                      </a:r>
                      <a:r>
                        <a:rPr sz="1500" spc="-70" dirty="0">
                          <a:latin typeface="Calibri" panose="020F0502020204030204" pitchFamily="34" charset="0"/>
                          <a:cs typeface="Calibri" panose="020F0502020204030204" pitchFamily="34" charset="0"/>
                        </a:rPr>
                        <a:t>value</a:t>
                      </a:r>
                      <a:endParaRPr sz="1500">
                        <a:latin typeface="Calibri" panose="020F0502020204030204" pitchFamily="34" charset="0"/>
                        <a:cs typeface="Calibri" panose="020F0502020204030204" pitchFamily="34" charset="0"/>
                      </a:endParaRPr>
                    </a:p>
                  </a:txBody>
                  <a:tcPr marL="0" marR="0" marT="34290" marB="0"/>
                </a:tc>
                <a:tc>
                  <a:txBody>
                    <a:bodyPr/>
                    <a:lstStyle/>
                    <a:p>
                      <a:pPr marL="105410" marR="74295">
                        <a:lnSpc>
                          <a:spcPct val="100000"/>
                        </a:lnSpc>
                        <a:spcBef>
                          <a:spcPts val="270"/>
                        </a:spcBef>
                      </a:pPr>
                      <a:r>
                        <a:rPr sz="1500" spc="-60" dirty="0">
                          <a:latin typeface="Calibri" panose="020F0502020204030204" pitchFamily="34" charset="0"/>
                          <a:cs typeface="Calibri" panose="020F0502020204030204" pitchFamily="34" charset="0"/>
                        </a:rPr>
                        <a:t>Inserts</a:t>
                      </a:r>
                      <a:r>
                        <a:rPr sz="1500" spc="-90" dirty="0">
                          <a:latin typeface="Calibri" panose="020F0502020204030204" pitchFamily="34" charset="0"/>
                          <a:cs typeface="Calibri" panose="020F0502020204030204" pitchFamily="34" charset="0"/>
                        </a:rPr>
                        <a:t> </a:t>
                      </a:r>
                      <a:r>
                        <a:rPr sz="1500" spc="-20" dirty="0">
                          <a:latin typeface="Calibri" panose="020F0502020204030204" pitchFamily="34" charset="0"/>
                          <a:cs typeface="Calibri" panose="020F0502020204030204" pitchFamily="34" charset="0"/>
                        </a:rPr>
                        <a:t>the</a:t>
                      </a:r>
                      <a:r>
                        <a:rPr sz="1500" spc="-80" dirty="0">
                          <a:latin typeface="Calibri" panose="020F0502020204030204" pitchFamily="34" charset="0"/>
                          <a:cs typeface="Calibri" panose="020F0502020204030204" pitchFamily="34" charset="0"/>
                        </a:rPr>
                        <a:t> </a:t>
                      </a:r>
                      <a:r>
                        <a:rPr sz="1500" spc="-55" dirty="0">
                          <a:latin typeface="Calibri" panose="020F0502020204030204" pitchFamily="34" charset="0"/>
                          <a:cs typeface="Calibri" panose="020F0502020204030204" pitchFamily="34" charset="0"/>
                        </a:rPr>
                        <a:t>specified</a:t>
                      </a:r>
                      <a:r>
                        <a:rPr sz="1500" spc="-65" dirty="0">
                          <a:latin typeface="Calibri" panose="020F0502020204030204" pitchFamily="34" charset="0"/>
                          <a:cs typeface="Calibri" panose="020F0502020204030204" pitchFamily="34" charset="0"/>
                        </a:rPr>
                        <a:t> </a:t>
                      </a:r>
                      <a:r>
                        <a:rPr sz="1500" spc="-70" dirty="0">
                          <a:latin typeface="Calibri" panose="020F0502020204030204" pitchFamily="34" charset="0"/>
                          <a:cs typeface="Calibri" panose="020F0502020204030204" pitchFamily="34" charset="0"/>
                        </a:rPr>
                        <a:t>value</a:t>
                      </a:r>
                      <a:r>
                        <a:rPr sz="1500" spc="-80" dirty="0">
                          <a:latin typeface="Calibri" panose="020F0502020204030204" pitchFamily="34" charset="0"/>
                          <a:cs typeface="Calibri" panose="020F0502020204030204" pitchFamily="34" charset="0"/>
                        </a:rPr>
                        <a:t> </a:t>
                      </a:r>
                      <a:r>
                        <a:rPr sz="1500" spc="-50" dirty="0">
                          <a:latin typeface="Calibri" panose="020F0502020204030204" pitchFamily="34" charset="0"/>
                          <a:cs typeface="Calibri" panose="020F0502020204030204" pitchFamily="34" charset="0"/>
                        </a:rPr>
                        <a:t>when</a:t>
                      </a:r>
                      <a:r>
                        <a:rPr sz="1500" spc="-65" dirty="0">
                          <a:latin typeface="Calibri" panose="020F0502020204030204" pitchFamily="34" charset="0"/>
                          <a:cs typeface="Calibri" panose="020F0502020204030204" pitchFamily="34" charset="0"/>
                        </a:rPr>
                        <a:t> </a:t>
                      </a:r>
                      <a:r>
                        <a:rPr sz="1500" spc="-45" dirty="0">
                          <a:latin typeface="Calibri" panose="020F0502020204030204" pitchFamily="34" charset="0"/>
                          <a:cs typeface="Calibri" panose="020F0502020204030204" pitchFamily="34" charset="0"/>
                        </a:rPr>
                        <a:t>no</a:t>
                      </a:r>
                      <a:r>
                        <a:rPr sz="1500" spc="-95" dirty="0">
                          <a:latin typeface="Calibri" panose="020F0502020204030204" pitchFamily="34" charset="0"/>
                          <a:cs typeface="Calibri" panose="020F0502020204030204" pitchFamily="34" charset="0"/>
                        </a:rPr>
                        <a:t> </a:t>
                      </a:r>
                      <a:r>
                        <a:rPr sz="1500" spc="-70" dirty="0">
                          <a:latin typeface="Calibri" panose="020F0502020204030204" pitchFamily="34" charset="0"/>
                          <a:cs typeface="Calibri" panose="020F0502020204030204" pitchFamily="34" charset="0"/>
                        </a:rPr>
                        <a:t>value</a:t>
                      </a:r>
                      <a:r>
                        <a:rPr sz="1500" spc="-80" dirty="0">
                          <a:latin typeface="Calibri" panose="020F0502020204030204" pitchFamily="34" charset="0"/>
                          <a:cs typeface="Calibri" panose="020F0502020204030204" pitchFamily="34" charset="0"/>
                        </a:rPr>
                        <a:t> </a:t>
                      </a:r>
                      <a:r>
                        <a:rPr sz="1500" spc="-10" dirty="0">
                          <a:latin typeface="Calibri" panose="020F0502020204030204" pitchFamily="34" charset="0"/>
                          <a:cs typeface="Calibri" panose="020F0502020204030204" pitchFamily="34" charset="0"/>
                        </a:rPr>
                        <a:t>for</a:t>
                      </a:r>
                      <a:r>
                        <a:rPr sz="1500" spc="-70" dirty="0">
                          <a:latin typeface="Calibri" panose="020F0502020204030204" pitchFamily="34" charset="0"/>
                          <a:cs typeface="Calibri" panose="020F0502020204030204" pitchFamily="34" charset="0"/>
                        </a:rPr>
                        <a:t> </a:t>
                      </a:r>
                      <a:r>
                        <a:rPr sz="1500" spc="-5" dirty="0">
                          <a:latin typeface="Calibri" panose="020F0502020204030204" pitchFamily="34" charset="0"/>
                          <a:cs typeface="Calibri" panose="020F0502020204030204" pitchFamily="34" charset="0"/>
                        </a:rPr>
                        <a:t>that</a:t>
                      </a:r>
                      <a:r>
                        <a:rPr sz="1500" spc="-100" dirty="0">
                          <a:latin typeface="Calibri" panose="020F0502020204030204" pitchFamily="34" charset="0"/>
                          <a:cs typeface="Calibri" panose="020F0502020204030204" pitchFamily="34" charset="0"/>
                        </a:rPr>
                        <a:t> </a:t>
                      </a:r>
                      <a:r>
                        <a:rPr sz="1500" spc="-55" dirty="0">
                          <a:latin typeface="Calibri" panose="020F0502020204030204" pitchFamily="34" charset="0"/>
                          <a:cs typeface="Calibri" panose="020F0502020204030204" pitchFamily="34" charset="0"/>
                        </a:rPr>
                        <a:t>column</a:t>
                      </a:r>
                      <a:r>
                        <a:rPr sz="1500" spc="-85" dirty="0">
                          <a:latin typeface="Calibri" panose="020F0502020204030204" pitchFamily="34" charset="0"/>
                          <a:cs typeface="Calibri" panose="020F0502020204030204" pitchFamily="34" charset="0"/>
                        </a:rPr>
                        <a:t> </a:t>
                      </a:r>
                      <a:r>
                        <a:rPr sz="1500" spc="-80" dirty="0">
                          <a:latin typeface="Calibri" panose="020F0502020204030204" pitchFamily="34" charset="0"/>
                          <a:cs typeface="Calibri" panose="020F0502020204030204" pitchFamily="34" charset="0"/>
                        </a:rPr>
                        <a:t>is</a:t>
                      </a:r>
                      <a:r>
                        <a:rPr sz="1500" spc="-70" dirty="0">
                          <a:latin typeface="Calibri" panose="020F0502020204030204" pitchFamily="34" charset="0"/>
                          <a:cs typeface="Calibri" panose="020F0502020204030204" pitchFamily="34" charset="0"/>
                        </a:rPr>
                        <a:t> </a:t>
                      </a:r>
                      <a:r>
                        <a:rPr sz="1500" spc="-45" dirty="0">
                          <a:latin typeface="Calibri" panose="020F0502020204030204" pitchFamily="34" charset="0"/>
                          <a:cs typeface="Calibri" panose="020F0502020204030204" pitchFamily="34" charset="0"/>
                        </a:rPr>
                        <a:t>entered.</a:t>
                      </a:r>
                      <a:r>
                        <a:rPr sz="1500" spc="-85" dirty="0">
                          <a:latin typeface="Calibri" panose="020F0502020204030204" pitchFamily="34" charset="0"/>
                          <a:cs typeface="Calibri" panose="020F0502020204030204" pitchFamily="34" charset="0"/>
                        </a:rPr>
                        <a:t> </a:t>
                      </a:r>
                      <a:r>
                        <a:rPr sz="1500" spc="-110" dirty="0">
                          <a:latin typeface="Calibri" panose="020F0502020204030204" pitchFamily="34" charset="0"/>
                          <a:cs typeface="Calibri" panose="020F0502020204030204" pitchFamily="34" charset="0"/>
                        </a:rPr>
                        <a:t>The</a:t>
                      </a:r>
                      <a:r>
                        <a:rPr sz="1500" spc="-85" dirty="0">
                          <a:latin typeface="Calibri" panose="020F0502020204030204" pitchFamily="34" charset="0"/>
                          <a:cs typeface="Calibri" panose="020F0502020204030204" pitchFamily="34" charset="0"/>
                        </a:rPr>
                        <a:t> </a:t>
                      </a:r>
                      <a:r>
                        <a:rPr sz="1500" spc="-30" dirty="0">
                          <a:latin typeface="Calibri" panose="020F0502020204030204" pitchFamily="34" charset="0"/>
                          <a:cs typeface="Calibri" panose="020F0502020204030204" pitchFamily="34" charset="0"/>
                        </a:rPr>
                        <a:t>default</a:t>
                      </a:r>
                      <a:r>
                        <a:rPr sz="1500" spc="-85" dirty="0">
                          <a:latin typeface="Calibri" panose="020F0502020204030204" pitchFamily="34" charset="0"/>
                          <a:cs typeface="Calibri" panose="020F0502020204030204" pitchFamily="34" charset="0"/>
                        </a:rPr>
                        <a:t> </a:t>
                      </a:r>
                      <a:r>
                        <a:rPr sz="1500" spc="-70" dirty="0">
                          <a:latin typeface="Calibri" panose="020F0502020204030204" pitchFamily="34" charset="0"/>
                          <a:cs typeface="Calibri" panose="020F0502020204030204" pitchFamily="34" charset="0"/>
                        </a:rPr>
                        <a:t>value</a:t>
                      </a:r>
                      <a:r>
                        <a:rPr sz="1500" spc="-80" dirty="0">
                          <a:latin typeface="Calibri" panose="020F0502020204030204" pitchFamily="34" charset="0"/>
                          <a:cs typeface="Calibri" panose="020F0502020204030204" pitchFamily="34" charset="0"/>
                        </a:rPr>
                        <a:t> </a:t>
                      </a:r>
                      <a:r>
                        <a:rPr sz="1500" spc="-114" dirty="0">
                          <a:latin typeface="Calibri" panose="020F0502020204030204" pitchFamily="34" charset="0"/>
                          <a:cs typeface="Calibri" panose="020F0502020204030204" pitchFamily="34" charset="0"/>
                        </a:rPr>
                        <a:t>has  </a:t>
                      </a:r>
                      <a:r>
                        <a:rPr sz="1500" spc="10" dirty="0">
                          <a:latin typeface="Calibri" panose="020F0502020204030204" pitchFamily="34" charset="0"/>
                          <a:cs typeface="Calibri" panose="020F0502020204030204" pitchFamily="34" charset="0"/>
                        </a:rPr>
                        <a:t>to </a:t>
                      </a:r>
                      <a:r>
                        <a:rPr sz="1500" spc="-70" dirty="0">
                          <a:latin typeface="Calibri" panose="020F0502020204030204" pitchFamily="34" charset="0"/>
                          <a:cs typeface="Calibri" panose="020F0502020204030204" pitchFamily="34" charset="0"/>
                        </a:rPr>
                        <a:t>be </a:t>
                      </a:r>
                      <a:r>
                        <a:rPr sz="1500" spc="-120" dirty="0">
                          <a:latin typeface="Calibri" panose="020F0502020204030204" pitchFamily="34" charset="0"/>
                          <a:cs typeface="Calibri" panose="020F0502020204030204" pitchFamily="34" charset="0"/>
                        </a:rPr>
                        <a:t>a </a:t>
                      </a:r>
                      <a:r>
                        <a:rPr sz="1500" spc="-55" dirty="0">
                          <a:latin typeface="Calibri" panose="020F0502020204030204" pitchFamily="34" charset="0"/>
                          <a:cs typeface="Calibri" panose="020F0502020204030204" pitchFamily="34" charset="0"/>
                        </a:rPr>
                        <a:t>constant. </a:t>
                      </a:r>
                      <a:r>
                        <a:rPr sz="1500" spc="-110" dirty="0">
                          <a:latin typeface="Calibri" panose="020F0502020204030204" pitchFamily="34" charset="0"/>
                          <a:cs typeface="Calibri" panose="020F0502020204030204" pitchFamily="34" charset="0"/>
                        </a:rPr>
                        <a:t>The </a:t>
                      </a:r>
                      <a:r>
                        <a:rPr sz="1500" spc="-85" dirty="0">
                          <a:latin typeface="Calibri" panose="020F0502020204030204" pitchFamily="34" charset="0"/>
                          <a:cs typeface="Calibri" panose="020F0502020204030204" pitchFamily="34" charset="0"/>
                        </a:rPr>
                        <a:t>values </a:t>
                      </a:r>
                      <a:r>
                        <a:rPr sz="1500" spc="-55" dirty="0">
                          <a:latin typeface="Calibri" panose="020F0502020204030204" pitchFamily="34" charset="0"/>
                          <a:cs typeface="Calibri" panose="020F0502020204030204" pitchFamily="34" charset="0"/>
                        </a:rPr>
                        <a:t>cannot </a:t>
                      </a:r>
                      <a:r>
                        <a:rPr sz="1500" spc="-70" dirty="0">
                          <a:latin typeface="Calibri" panose="020F0502020204030204" pitchFamily="34" charset="0"/>
                          <a:cs typeface="Calibri" panose="020F0502020204030204" pitchFamily="34" charset="0"/>
                        </a:rPr>
                        <a:t>be </a:t>
                      </a:r>
                      <a:r>
                        <a:rPr sz="1500" spc="-120" dirty="0">
                          <a:latin typeface="Calibri" panose="020F0502020204030204" pitchFamily="34" charset="0"/>
                          <a:cs typeface="Calibri" panose="020F0502020204030204" pitchFamily="34" charset="0"/>
                        </a:rPr>
                        <a:t>a </a:t>
                      </a:r>
                      <a:r>
                        <a:rPr sz="1500" spc="-25" dirty="0">
                          <a:latin typeface="Calibri" panose="020F0502020204030204" pitchFamily="34" charset="0"/>
                          <a:cs typeface="Calibri" panose="020F0502020204030204" pitchFamily="34" charset="0"/>
                        </a:rPr>
                        <a:t>function </a:t>
                      </a:r>
                      <a:r>
                        <a:rPr sz="1500" spc="-15" dirty="0">
                          <a:latin typeface="Calibri" panose="020F0502020204030204" pitchFamily="34" charset="0"/>
                          <a:cs typeface="Calibri" panose="020F0502020204030204" pitchFamily="34" charset="0"/>
                        </a:rPr>
                        <a:t>or</a:t>
                      </a:r>
                      <a:r>
                        <a:rPr sz="1500" spc="-285" dirty="0">
                          <a:latin typeface="Calibri" panose="020F0502020204030204" pitchFamily="34" charset="0"/>
                          <a:cs typeface="Calibri" panose="020F0502020204030204" pitchFamily="34" charset="0"/>
                        </a:rPr>
                        <a:t> </a:t>
                      </a:r>
                      <a:r>
                        <a:rPr sz="1500" spc="-80" dirty="0">
                          <a:latin typeface="Calibri" panose="020F0502020204030204" pitchFamily="34" charset="0"/>
                          <a:cs typeface="Calibri" panose="020F0502020204030204" pitchFamily="34" charset="0"/>
                        </a:rPr>
                        <a:t>expression</a:t>
                      </a:r>
                      <a:endParaRPr sz="1500">
                        <a:latin typeface="Calibri" panose="020F0502020204030204" pitchFamily="34" charset="0"/>
                        <a:cs typeface="Calibri" panose="020F0502020204030204" pitchFamily="34" charset="0"/>
                      </a:endParaRPr>
                    </a:p>
                  </a:txBody>
                  <a:tcPr marL="0" marR="0" marT="34290" marB="0"/>
                </a:tc>
                <a:extLst>
                  <a:ext uri="{0D108BD9-81ED-4DB2-BD59-A6C34878D82A}">
                    <a16:rowId xmlns:a16="http://schemas.microsoft.com/office/drawing/2014/main" val="10002"/>
                  </a:ext>
                </a:extLst>
              </a:tr>
              <a:tr h="548640">
                <a:tc>
                  <a:txBody>
                    <a:bodyPr/>
                    <a:lstStyle/>
                    <a:p>
                      <a:pPr marL="105410">
                        <a:lnSpc>
                          <a:spcPct val="100000"/>
                        </a:lnSpc>
                        <a:spcBef>
                          <a:spcPts val="270"/>
                        </a:spcBef>
                      </a:pPr>
                      <a:r>
                        <a:rPr sz="1500" spc="-170" dirty="0">
                          <a:latin typeface="Calibri" panose="020F0502020204030204" pitchFamily="34" charset="0"/>
                          <a:cs typeface="Calibri" panose="020F0502020204030204" pitchFamily="34" charset="0"/>
                        </a:rPr>
                        <a:t>NOT</a:t>
                      </a:r>
                      <a:r>
                        <a:rPr sz="1500" spc="-110" dirty="0">
                          <a:latin typeface="Calibri" panose="020F0502020204030204" pitchFamily="34" charset="0"/>
                          <a:cs typeface="Calibri" panose="020F0502020204030204" pitchFamily="34" charset="0"/>
                        </a:rPr>
                        <a:t> </a:t>
                      </a:r>
                      <a:r>
                        <a:rPr sz="1500" spc="-160" dirty="0">
                          <a:latin typeface="Calibri" panose="020F0502020204030204" pitchFamily="34" charset="0"/>
                          <a:cs typeface="Calibri" panose="020F0502020204030204" pitchFamily="34" charset="0"/>
                        </a:rPr>
                        <a:t>NULL</a:t>
                      </a:r>
                      <a:endParaRPr sz="1500">
                        <a:latin typeface="Calibri" panose="020F0502020204030204" pitchFamily="34" charset="0"/>
                        <a:cs typeface="Calibri" panose="020F0502020204030204" pitchFamily="34" charset="0"/>
                      </a:endParaRPr>
                    </a:p>
                  </a:txBody>
                  <a:tcPr marL="0" marR="0" marT="34290" marB="0"/>
                </a:tc>
                <a:tc>
                  <a:txBody>
                    <a:bodyPr/>
                    <a:lstStyle/>
                    <a:p>
                      <a:pPr marL="105410" marR="478790">
                        <a:lnSpc>
                          <a:spcPct val="100000"/>
                        </a:lnSpc>
                        <a:spcBef>
                          <a:spcPts val="270"/>
                        </a:spcBef>
                      </a:pPr>
                      <a:r>
                        <a:rPr sz="1500" spc="-90" dirty="0">
                          <a:latin typeface="Calibri" panose="020F0502020204030204" pitchFamily="34" charset="0"/>
                          <a:cs typeface="Calibri" panose="020F0502020204030204" pitchFamily="34" charset="0"/>
                        </a:rPr>
                        <a:t>Specifies </a:t>
                      </a:r>
                      <a:r>
                        <a:rPr sz="1500" spc="-5" dirty="0">
                          <a:latin typeface="Calibri" panose="020F0502020204030204" pitchFamily="34" charset="0"/>
                          <a:cs typeface="Calibri" panose="020F0502020204030204" pitchFamily="34" charset="0"/>
                        </a:rPr>
                        <a:t>that </a:t>
                      </a:r>
                      <a:r>
                        <a:rPr sz="1500" spc="-120" dirty="0">
                          <a:latin typeface="Calibri" panose="020F0502020204030204" pitchFamily="34" charset="0"/>
                          <a:cs typeface="Calibri" panose="020F0502020204030204" pitchFamily="34" charset="0"/>
                        </a:rPr>
                        <a:t>a </a:t>
                      </a:r>
                      <a:r>
                        <a:rPr sz="1500" spc="-55" dirty="0">
                          <a:latin typeface="Calibri" panose="020F0502020204030204" pitchFamily="34" charset="0"/>
                          <a:cs typeface="Calibri" panose="020F0502020204030204" pitchFamily="34" charset="0"/>
                        </a:rPr>
                        <a:t>column cannot </a:t>
                      </a:r>
                      <a:r>
                        <a:rPr sz="1500" spc="-50" dirty="0">
                          <a:latin typeface="Calibri" panose="020F0502020204030204" pitchFamily="34" charset="0"/>
                          <a:cs typeface="Calibri" panose="020F0502020204030204" pitchFamily="34" charset="0"/>
                        </a:rPr>
                        <a:t>contain </a:t>
                      </a:r>
                      <a:r>
                        <a:rPr sz="1500" spc="-120" dirty="0">
                          <a:latin typeface="Calibri" panose="020F0502020204030204" pitchFamily="34" charset="0"/>
                          <a:cs typeface="Calibri" panose="020F0502020204030204" pitchFamily="34" charset="0"/>
                        </a:rPr>
                        <a:t>a </a:t>
                      </a:r>
                      <a:r>
                        <a:rPr sz="1500" spc="-20" dirty="0">
                          <a:latin typeface="Calibri" panose="020F0502020204030204" pitchFamily="34" charset="0"/>
                          <a:cs typeface="Calibri" panose="020F0502020204030204" pitchFamily="34" charset="0"/>
                        </a:rPr>
                        <a:t>null </a:t>
                      </a:r>
                      <a:r>
                        <a:rPr sz="1500" spc="-65" dirty="0">
                          <a:latin typeface="Calibri" panose="020F0502020204030204" pitchFamily="34" charset="0"/>
                          <a:cs typeface="Calibri" panose="020F0502020204030204" pitchFamily="34" charset="0"/>
                        </a:rPr>
                        <a:t>value. </a:t>
                      </a:r>
                      <a:r>
                        <a:rPr sz="1500" spc="-70" dirty="0">
                          <a:latin typeface="Calibri" panose="020F0502020204030204" pitchFamily="34" charset="0"/>
                          <a:cs typeface="Calibri" panose="020F0502020204030204" pitchFamily="34" charset="0"/>
                        </a:rPr>
                        <a:t>When </a:t>
                      </a:r>
                      <a:r>
                        <a:rPr sz="1500" spc="-120" dirty="0">
                          <a:latin typeface="Calibri" panose="020F0502020204030204" pitchFamily="34" charset="0"/>
                          <a:cs typeface="Calibri" panose="020F0502020204030204" pitchFamily="34" charset="0"/>
                        </a:rPr>
                        <a:t>a </a:t>
                      </a:r>
                      <a:r>
                        <a:rPr sz="1500" spc="-20" dirty="0">
                          <a:latin typeface="Calibri" panose="020F0502020204030204" pitchFamily="34" charset="0"/>
                          <a:cs typeface="Calibri" panose="020F0502020204030204" pitchFamily="34" charset="0"/>
                        </a:rPr>
                        <a:t>null </a:t>
                      </a:r>
                      <a:r>
                        <a:rPr sz="1500" spc="-70" dirty="0">
                          <a:latin typeface="Calibri" panose="020F0502020204030204" pitchFamily="34" charset="0"/>
                          <a:cs typeface="Calibri" panose="020F0502020204030204" pitchFamily="34" charset="0"/>
                        </a:rPr>
                        <a:t>value </a:t>
                      </a:r>
                      <a:r>
                        <a:rPr sz="1500" spc="-80" dirty="0">
                          <a:latin typeface="Calibri" panose="020F0502020204030204" pitchFamily="34" charset="0"/>
                          <a:cs typeface="Calibri" panose="020F0502020204030204" pitchFamily="34" charset="0"/>
                        </a:rPr>
                        <a:t>is </a:t>
                      </a:r>
                      <a:r>
                        <a:rPr sz="1500" spc="-45" dirty="0">
                          <a:latin typeface="Calibri" panose="020F0502020204030204" pitchFamily="34" charset="0"/>
                          <a:cs typeface="Calibri" panose="020F0502020204030204" pitchFamily="34" charset="0"/>
                        </a:rPr>
                        <a:t>inserted, </a:t>
                      </a:r>
                      <a:r>
                        <a:rPr sz="1500" spc="-20" dirty="0">
                          <a:latin typeface="Calibri" panose="020F0502020204030204" pitchFamily="34" charset="0"/>
                          <a:cs typeface="Calibri" panose="020F0502020204030204" pitchFamily="34" charset="0"/>
                        </a:rPr>
                        <a:t>the  </a:t>
                      </a:r>
                      <a:r>
                        <a:rPr sz="1500" spc="-90" dirty="0">
                          <a:latin typeface="Calibri" panose="020F0502020204030204" pitchFamily="34" charset="0"/>
                          <a:cs typeface="Calibri" panose="020F0502020204030204" pitchFamily="34" charset="0"/>
                        </a:rPr>
                        <a:t>system </a:t>
                      </a:r>
                      <a:r>
                        <a:rPr sz="1500" spc="-45" dirty="0">
                          <a:latin typeface="Calibri" panose="020F0502020204030204" pitchFamily="34" charset="0"/>
                          <a:cs typeface="Calibri" panose="020F0502020204030204" pitchFamily="34" charset="0"/>
                        </a:rPr>
                        <a:t>prompts </a:t>
                      </a:r>
                      <a:r>
                        <a:rPr sz="1500" spc="5" dirty="0">
                          <a:latin typeface="Calibri" panose="020F0502020204030204" pitchFamily="34" charset="0"/>
                          <a:cs typeface="Calibri" panose="020F0502020204030204" pitchFamily="34" charset="0"/>
                        </a:rPr>
                        <a:t>with </a:t>
                      </a:r>
                      <a:r>
                        <a:rPr sz="1500" spc="-85" dirty="0">
                          <a:latin typeface="Calibri" panose="020F0502020204030204" pitchFamily="34" charset="0"/>
                          <a:cs typeface="Calibri" panose="020F0502020204030204" pitchFamily="34" charset="0"/>
                        </a:rPr>
                        <a:t>an </a:t>
                      </a:r>
                      <a:r>
                        <a:rPr sz="1500" spc="-20" dirty="0">
                          <a:latin typeface="Calibri" panose="020F0502020204030204" pitchFamily="34" charset="0"/>
                          <a:cs typeface="Calibri" panose="020F0502020204030204" pitchFamily="34" charset="0"/>
                        </a:rPr>
                        <a:t>error</a:t>
                      </a:r>
                      <a:r>
                        <a:rPr sz="1500" spc="-235" dirty="0">
                          <a:latin typeface="Calibri" panose="020F0502020204030204" pitchFamily="34" charset="0"/>
                          <a:cs typeface="Calibri" panose="020F0502020204030204" pitchFamily="34" charset="0"/>
                        </a:rPr>
                        <a:t> </a:t>
                      </a:r>
                      <a:r>
                        <a:rPr sz="1500" spc="-120" dirty="0">
                          <a:latin typeface="Calibri" panose="020F0502020204030204" pitchFamily="34" charset="0"/>
                          <a:cs typeface="Calibri" panose="020F0502020204030204" pitchFamily="34" charset="0"/>
                        </a:rPr>
                        <a:t>message</a:t>
                      </a:r>
                      <a:endParaRPr sz="1500">
                        <a:latin typeface="Calibri" panose="020F0502020204030204" pitchFamily="34" charset="0"/>
                        <a:cs typeface="Calibri" panose="020F0502020204030204" pitchFamily="34" charset="0"/>
                      </a:endParaRPr>
                    </a:p>
                  </a:txBody>
                  <a:tcPr marL="0" marR="0" marT="34290" marB="0"/>
                </a:tc>
                <a:extLst>
                  <a:ext uri="{0D108BD9-81ED-4DB2-BD59-A6C34878D82A}">
                    <a16:rowId xmlns:a16="http://schemas.microsoft.com/office/drawing/2014/main" val="10003"/>
                  </a:ext>
                </a:extLst>
              </a:tr>
              <a:tr h="374650">
                <a:tc>
                  <a:txBody>
                    <a:bodyPr/>
                    <a:lstStyle/>
                    <a:p>
                      <a:pPr marL="105410">
                        <a:lnSpc>
                          <a:spcPct val="100000"/>
                        </a:lnSpc>
                        <a:spcBef>
                          <a:spcPts val="270"/>
                        </a:spcBef>
                      </a:pPr>
                      <a:r>
                        <a:rPr sz="1500" spc="-160" dirty="0">
                          <a:latin typeface="Calibri" panose="020F0502020204030204" pitchFamily="34" charset="0"/>
                          <a:cs typeface="Calibri" panose="020F0502020204030204" pitchFamily="34" charset="0"/>
                        </a:rPr>
                        <a:t>NULL</a:t>
                      </a:r>
                      <a:endParaRPr sz="1500">
                        <a:latin typeface="Calibri" panose="020F0502020204030204" pitchFamily="34" charset="0"/>
                        <a:cs typeface="Calibri" panose="020F0502020204030204" pitchFamily="34" charset="0"/>
                      </a:endParaRPr>
                    </a:p>
                  </a:txBody>
                  <a:tcPr marL="0" marR="0" marT="34290" marB="0"/>
                </a:tc>
                <a:tc>
                  <a:txBody>
                    <a:bodyPr/>
                    <a:lstStyle/>
                    <a:p>
                      <a:pPr marL="105410">
                        <a:lnSpc>
                          <a:spcPct val="100000"/>
                        </a:lnSpc>
                        <a:spcBef>
                          <a:spcPts val="270"/>
                        </a:spcBef>
                      </a:pPr>
                      <a:r>
                        <a:rPr sz="1500" spc="-90" dirty="0">
                          <a:latin typeface="Calibri" panose="020F0502020204030204" pitchFamily="34" charset="0"/>
                          <a:cs typeface="Calibri" panose="020F0502020204030204" pitchFamily="34" charset="0"/>
                        </a:rPr>
                        <a:t>Specifies </a:t>
                      </a:r>
                      <a:r>
                        <a:rPr sz="1500" spc="-5" dirty="0">
                          <a:latin typeface="Calibri" panose="020F0502020204030204" pitchFamily="34" charset="0"/>
                          <a:cs typeface="Calibri" panose="020F0502020204030204" pitchFamily="34" charset="0"/>
                        </a:rPr>
                        <a:t>that </a:t>
                      </a:r>
                      <a:r>
                        <a:rPr sz="1500" spc="-20" dirty="0">
                          <a:latin typeface="Calibri" panose="020F0502020204030204" pitchFamily="34" charset="0"/>
                          <a:cs typeface="Calibri" panose="020F0502020204030204" pitchFamily="34" charset="0"/>
                        </a:rPr>
                        <a:t>the </a:t>
                      </a:r>
                      <a:r>
                        <a:rPr sz="1500" spc="-55" dirty="0">
                          <a:latin typeface="Calibri" panose="020F0502020204030204" pitchFamily="34" charset="0"/>
                          <a:cs typeface="Calibri" panose="020F0502020204030204" pitchFamily="34" charset="0"/>
                        </a:rPr>
                        <a:t>column </a:t>
                      </a:r>
                      <a:r>
                        <a:rPr sz="1500" spc="-100" dirty="0">
                          <a:latin typeface="Calibri" panose="020F0502020204030204" pitchFamily="34" charset="0"/>
                          <a:cs typeface="Calibri" panose="020F0502020204030204" pitchFamily="34" charset="0"/>
                        </a:rPr>
                        <a:t>can </a:t>
                      </a:r>
                      <a:r>
                        <a:rPr sz="1500" spc="-50" dirty="0">
                          <a:latin typeface="Calibri" panose="020F0502020204030204" pitchFamily="34" charset="0"/>
                          <a:cs typeface="Calibri" panose="020F0502020204030204" pitchFamily="34" charset="0"/>
                        </a:rPr>
                        <a:t>contain </a:t>
                      </a:r>
                      <a:r>
                        <a:rPr sz="1500" spc="-20" dirty="0">
                          <a:latin typeface="Calibri" panose="020F0502020204030204" pitchFamily="34" charset="0"/>
                          <a:cs typeface="Calibri" panose="020F0502020204030204" pitchFamily="34" charset="0"/>
                        </a:rPr>
                        <a:t>null</a:t>
                      </a:r>
                      <a:r>
                        <a:rPr sz="1500" spc="-275" dirty="0">
                          <a:latin typeface="Calibri" panose="020F0502020204030204" pitchFamily="34" charset="0"/>
                          <a:cs typeface="Calibri" panose="020F0502020204030204" pitchFamily="34" charset="0"/>
                        </a:rPr>
                        <a:t> </a:t>
                      </a:r>
                      <a:r>
                        <a:rPr sz="1500" spc="-85" dirty="0">
                          <a:latin typeface="Calibri" panose="020F0502020204030204" pitchFamily="34" charset="0"/>
                          <a:cs typeface="Calibri" panose="020F0502020204030204" pitchFamily="34" charset="0"/>
                        </a:rPr>
                        <a:t>values</a:t>
                      </a:r>
                      <a:endParaRPr sz="1500">
                        <a:latin typeface="Calibri" panose="020F0502020204030204" pitchFamily="34" charset="0"/>
                        <a:cs typeface="Calibri" panose="020F0502020204030204" pitchFamily="34" charset="0"/>
                      </a:endParaRPr>
                    </a:p>
                  </a:txBody>
                  <a:tcPr marL="0" marR="0" marT="34290" marB="0"/>
                </a:tc>
                <a:extLst>
                  <a:ext uri="{0D108BD9-81ED-4DB2-BD59-A6C34878D82A}">
                    <a16:rowId xmlns:a16="http://schemas.microsoft.com/office/drawing/2014/main" val="10004"/>
                  </a:ext>
                </a:extLst>
              </a:tr>
              <a:tr h="319405">
                <a:tc>
                  <a:txBody>
                    <a:bodyPr/>
                    <a:lstStyle/>
                    <a:p>
                      <a:pPr marL="105410">
                        <a:lnSpc>
                          <a:spcPct val="100000"/>
                        </a:lnSpc>
                        <a:spcBef>
                          <a:spcPts val="270"/>
                        </a:spcBef>
                      </a:pPr>
                      <a:r>
                        <a:rPr sz="1500" spc="-175" dirty="0">
                          <a:latin typeface="Calibri" panose="020F0502020204030204" pitchFamily="34" charset="0"/>
                          <a:cs typeface="Calibri" panose="020F0502020204030204" pitchFamily="34" charset="0"/>
                        </a:rPr>
                        <a:t>PRIMARY</a:t>
                      </a:r>
                      <a:r>
                        <a:rPr sz="1500" spc="-110" dirty="0">
                          <a:latin typeface="Calibri" panose="020F0502020204030204" pitchFamily="34" charset="0"/>
                          <a:cs typeface="Calibri" panose="020F0502020204030204" pitchFamily="34" charset="0"/>
                        </a:rPr>
                        <a:t> </a:t>
                      </a:r>
                      <a:r>
                        <a:rPr sz="1500" spc="-254" dirty="0">
                          <a:latin typeface="Calibri" panose="020F0502020204030204" pitchFamily="34" charset="0"/>
                          <a:cs typeface="Calibri" panose="020F0502020204030204" pitchFamily="34" charset="0"/>
                        </a:rPr>
                        <a:t>KEY</a:t>
                      </a:r>
                      <a:endParaRPr sz="1500">
                        <a:latin typeface="Calibri" panose="020F0502020204030204" pitchFamily="34" charset="0"/>
                        <a:cs typeface="Calibri" panose="020F0502020204030204" pitchFamily="34" charset="0"/>
                      </a:endParaRPr>
                    </a:p>
                  </a:txBody>
                  <a:tcPr marL="0" marR="0" marT="34290" marB="0"/>
                </a:tc>
                <a:tc>
                  <a:txBody>
                    <a:bodyPr/>
                    <a:lstStyle/>
                    <a:p>
                      <a:pPr marL="105410">
                        <a:lnSpc>
                          <a:spcPct val="100000"/>
                        </a:lnSpc>
                        <a:spcBef>
                          <a:spcPts val="270"/>
                        </a:spcBef>
                      </a:pPr>
                      <a:r>
                        <a:rPr sz="1500" spc="-75" dirty="0">
                          <a:latin typeface="Calibri" panose="020F0502020204030204" pitchFamily="34" charset="0"/>
                          <a:cs typeface="Calibri" panose="020F0502020204030204" pitchFamily="34" charset="0"/>
                        </a:rPr>
                        <a:t>Defines </a:t>
                      </a:r>
                      <a:r>
                        <a:rPr sz="1500" spc="-120" dirty="0">
                          <a:latin typeface="Calibri" panose="020F0502020204030204" pitchFamily="34" charset="0"/>
                          <a:cs typeface="Calibri" panose="020F0502020204030204" pitchFamily="34" charset="0"/>
                        </a:rPr>
                        <a:t>a </a:t>
                      </a:r>
                      <a:r>
                        <a:rPr sz="1500" spc="-55" dirty="0">
                          <a:latin typeface="Calibri" panose="020F0502020204030204" pitchFamily="34" charset="0"/>
                          <a:cs typeface="Calibri" panose="020F0502020204030204" pitchFamily="34" charset="0"/>
                        </a:rPr>
                        <a:t>column </a:t>
                      </a:r>
                      <a:r>
                        <a:rPr sz="1500" spc="-140" dirty="0">
                          <a:latin typeface="Calibri" panose="020F0502020204030204" pitchFamily="34" charset="0"/>
                          <a:cs typeface="Calibri" panose="020F0502020204030204" pitchFamily="34" charset="0"/>
                        </a:rPr>
                        <a:t>as </a:t>
                      </a:r>
                      <a:r>
                        <a:rPr sz="1500" spc="-20" dirty="0">
                          <a:latin typeface="Calibri" panose="020F0502020204030204" pitchFamily="34" charset="0"/>
                          <a:cs typeface="Calibri" panose="020F0502020204030204" pitchFamily="34" charset="0"/>
                        </a:rPr>
                        <a:t>the </a:t>
                      </a:r>
                      <a:r>
                        <a:rPr sz="1500" spc="-30" dirty="0">
                          <a:latin typeface="Calibri" panose="020F0502020204030204" pitchFamily="34" charset="0"/>
                          <a:cs typeface="Calibri" panose="020F0502020204030204" pitchFamily="34" charset="0"/>
                        </a:rPr>
                        <a:t>primary </a:t>
                      </a:r>
                      <a:r>
                        <a:rPr sz="1500" spc="-100" dirty="0">
                          <a:latin typeface="Calibri" panose="020F0502020204030204" pitchFamily="34" charset="0"/>
                          <a:cs typeface="Calibri" panose="020F0502020204030204" pitchFamily="34" charset="0"/>
                        </a:rPr>
                        <a:t>key </a:t>
                      </a:r>
                      <a:r>
                        <a:rPr sz="1500" spc="-25" dirty="0">
                          <a:latin typeface="Calibri" panose="020F0502020204030204" pitchFamily="34" charset="0"/>
                          <a:cs typeface="Calibri" panose="020F0502020204030204" pitchFamily="34" charset="0"/>
                        </a:rPr>
                        <a:t>while </a:t>
                      </a:r>
                      <a:r>
                        <a:rPr sz="1500" spc="-55" dirty="0">
                          <a:latin typeface="Calibri" panose="020F0502020204030204" pitchFamily="34" charset="0"/>
                          <a:cs typeface="Calibri" panose="020F0502020204030204" pitchFamily="34" charset="0"/>
                        </a:rPr>
                        <a:t>creating </a:t>
                      </a:r>
                      <a:r>
                        <a:rPr sz="1500" spc="-120" dirty="0">
                          <a:latin typeface="Calibri" panose="020F0502020204030204" pitchFamily="34" charset="0"/>
                          <a:cs typeface="Calibri" panose="020F0502020204030204" pitchFamily="34" charset="0"/>
                        </a:rPr>
                        <a:t>a</a:t>
                      </a:r>
                      <a:r>
                        <a:rPr sz="1500" spc="-235" dirty="0">
                          <a:latin typeface="Calibri" panose="020F0502020204030204" pitchFamily="34" charset="0"/>
                          <a:cs typeface="Calibri" panose="020F0502020204030204" pitchFamily="34" charset="0"/>
                        </a:rPr>
                        <a:t> </a:t>
                      </a:r>
                      <a:r>
                        <a:rPr sz="1500" spc="-40" dirty="0">
                          <a:latin typeface="Calibri" panose="020F0502020204030204" pitchFamily="34" charset="0"/>
                          <a:cs typeface="Calibri" panose="020F0502020204030204" pitchFamily="34" charset="0"/>
                        </a:rPr>
                        <a:t>table</a:t>
                      </a:r>
                      <a:endParaRPr sz="1500">
                        <a:latin typeface="Calibri" panose="020F0502020204030204" pitchFamily="34" charset="0"/>
                        <a:cs typeface="Calibri" panose="020F0502020204030204" pitchFamily="34" charset="0"/>
                      </a:endParaRPr>
                    </a:p>
                  </a:txBody>
                  <a:tcPr marL="0" marR="0" marT="34290" marB="0"/>
                </a:tc>
                <a:extLst>
                  <a:ext uri="{0D108BD9-81ED-4DB2-BD59-A6C34878D82A}">
                    <a16:rowId xmlns:a16="http://schemas.microsoft.com/office/drawing/2014/main" val="10005"/>
                  </a:ext>
                </a:extLst>
              </a:tr>
              <a:tr h="320040">
                <a:tc>
                  <a:txBody>
                    <a:bodyPr/>
                    <a:lstStyle/>
                    <a:p>
                      <a:pPr marL="105410">
                        <a:lnSpc>
                          <a:spcPct val="100000"/>
                        </a:lnSpc>
                        <a:spcBef>
                          <a:spcPts val="270"/>
                        </a:spcBef>
                      </a:pPr>
                      <a:r>
                        <a:rPr lang="en-IN" sz="1500" spc="-260" dirty="0">
                          <a:latin typeface="Calibri" panose="020F0502020204030204" pitchFamily="34" charset="0"/>
                          <a:cs typeface="Calibri" panose="020F0502020204030204" pitchFamily="34" charset="0"/>
                        </a:rPr>
                        <a:t>REFERENCES</a:t>
                      </a:r>
                      <a:endParaRPr sz="1500" dirty="0">
                        <a:latin typeface="Calibri" panose="020F0502020204030204" pitchFamily="34" charset="0"/>
                        <a:cs typeface="Calibri" panose="020F0502020204030204" pitchFamily="34" charset="0"/>
                      </a:endParaRPr>
                    </a:p>
                  </a:txBody>
                  <a:tcPr marL="0" marR="0" marT="34290" marB="0"/>
                </a:tc>
                <a:tc>
                  <a:txBody>
                    <a:bodyPr/>
                    <a:lstStyle/>
                    <a:p>
                      <a:pPr marL="105410">
                        <a:lnSpc>
                          <a:spcPct val="100000"/>
                        </a:lnSpc>
                        <a:spcBef>
                          <a:spcPts val="270"/>
                        </a:spcBef>
                      </a:pPr>
                      <a:r>
                        <a:rPr sz="1500" spc="-114" dirty="0">
                          <a:latin typeface="Calibri" panose="020F0502020204030204" pitchFamily="34" charset="0"/>
                          <a:cs typeface="Calibri" panose="020F0502020204030204" pitchFamily="34" charset="0"/>
                        </a:rPr>
                        <a:t>Assigns </a:t>
                      </a:r>
                      <a:r>
                        <a:rPr sz="1500" spc="-20" dirty="0">
                          <a:latin typeface="Calibri" panose="020F0502020204030204" pitchFamily="34" charset="0"/>
                          <a:cs typeface="Calibri" panose="020F0502020204030204" pitchFamily="34" charset="0"/>
                        </a:rPr>
                        <a:t>the </a:t>
                      </a:r>
                      <a:r>
                        <a:rPr sz="1500" spc="-90" dirty="0">
                          <a:latin typeface="Calibri" panose="020F0502020204030204" pitchFamily="34" charset="0"/>
                          <a:cs typeface="Calibri" panose="020F0502020204030204" pitchFamily="34" charset="0"/>
                        </a:rPr>
                        <a:t>InnoDB </a:t>
                      </a:r>
                      <a:r>
                        <a:rPr sz="1500" spc="-75" dirty="0">
                          <a:latin typeface="Calibri" panose="020F0502020204030204" pitchFamily="34" charset="0"/>
                          <a:cs typeface="Calibri" panose="020F0502020204030204" pitchFamily="34" charset="0"/>
                        </a:rPr>
                        <a:t>storage</a:t>
                      </a:r>
                      <a:r>
                        <a:rPr sz="1500" spc="-175" dirty="0">
                          <a:latin typeface="Calibri" panose="020F0502020204030204" pitchFamily="34" charset="0"/>
                          <a:cs typeface="Calibri" panose="020F0502020204030204" pitchFamily="34" charset="0"/>
                        </a:rPr>
                        <a:t> </a:t>
                      </a:r>
                      <a:r>
                        <a:rPr sz="1500" spc="-65" dirty="0">
                          <a:latin typeface="Calibri" panose="020F0502020204030204" pitchFamily="34" charset="0"/>
                          <a:cs typeface="Calibri" panose="020F0502020204030204" pitchFamily="34" charset="0"/>
                        </a:rPr>
                        <a:t>engine</a:t>
                      </a:r>
                      <a:endParaRPr sz="1500" dirty="0">
                        <a:latin typeface="Calibri" panose="020F0502020204030204" pitchFamily="34" charset="0"/>
                        <a:cs typeface="Calibri" panose="020F0502020204030204" pitchFamily="34" charset="0"/>
                      </a:endParaRPr>
                    </a:p>
                  </a:txBody>
                  <a:tcPr marL="0" marR="0" marT="34290" marB="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9513295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847FB-9011-4EDA-BD5F-4FE11C0A0198}"/>
              </a:ext>
            </a:extLst>
          </p:cNvPr>
          <p:cNvSpPr>
            <a:spLocks noGrp="1"/>
          </p:cNvSpPr>
          <p:nvPr>
            <p:ph type="title"/>
          </p:nvPr>
        </p:nvSpPr>
        <p:spPr>
          <a:xfrm>
            <a:off x="609600" y="274638"/>
            <a:ext cx="7924800" cy="639762"/>
          </a:xfrm>
        </p:spPr>
        <p:txBody>
          <a:bodyPr/>
          <a:lstStyle/>
          <a:p>
            <a:r>
              <a:rPr lang="en-IN" dirty="0"/>
              <a:t>Create table:</a:t>
            </a:r>
            <a:endParaRPr lang="en-PK" dirty="0"/>
          </a:p>
        </p:txBody>
      </p:sp>
      <p:sp>
        <p:nvSpPr>
          <p:cNvPr id="3" name="Content Placeholder 2">
            <a:extLst>
              <a:ext uri="{FF2B5EF4-FFF2-40B4-BE49-F238E27FC236}">
                <a16:creationId xmlns:a16="http://schemas.microsoft.com/office/drawing/2014/main" id="{BC5FF818-58D4-452A-AEE9-EDF4B7AE2B4E}"/>
              </a:ext>
            </a:extLst>
          </p:cNvPr>
          <p:cNvSpPr>
            <a:spLocks noGrp="1"/>
          </p:cNvSpPr>
          <p:nvPr>
            <p:ph sz="quarter" idx="13"/>
          </p:nvPr>
        </p:nvSpPr>
        <p:spPr>
          <a:xfrm>
            <a:off x="609600" y="1143000"/>
            <a:ext cx="7924800" cy="4572000"/>
          </a:xfrm>
        </p:spPr>
        <p:txBody>
          <a:bodyPr>
            <a:normAutofit/>
          </a:bodyPr>
          <a:lstStyle/>
          <a:p>
            <a:r>
              <a:rPr lang="en-US" dirty="0"/>
              <a:t>The syntax for REFERENCE options is:</a:t>
            </a:r>
          </a:p>
          <a:p>
            <a:pPr marL="0" indent="0">
              <a:buNone/>
            </a:pPr>
            <a:r>
              <a:rPr lang="en-US" dirty="0"/>
              <a:t>CREATE [TEMPORARY] TABLE [IF NOT EXISTS] </a:t>
            </a:r>
            <a:r>
              <a:rPr lang="en-US" dirty="0" err="1"/>
              <a:t>tbl_name</a:t>
            </a:r>
            <a:r>
              <a:rPr lang="en-US" dirty="0"/>
              <a:t> REFERENCE </a:t>
            </a:r>
            <a:r>
              <a:rPr lang="en-US" dirty="0" err="1"/>
              <a:t>tbl_name</a:t>
            </a:r>
            <a:r>
              <a:rPr lang="en-US" dirty="0"/>
              <a:t>[(</a:t>
            </a:r>
            <a:r>
              <a:rPr lang="en-US" dirty="0" err="1"/>
              <a:t>index_col_name</a:t>
            </a:r>
            <a:r>
              <a:rPr lang="en-US" dirty="0"/>
              <a:t>,….)][MATCH FULL |MATCH PARTIAL| MATCH SIMPLE][ON DELETE</a:t>
            </a:r>
          </a:p>
          <a:p>
            <a:pPr marL="0" indent="0">
              <a:buNone/>
            </a:pPr>
            <a:r>
              <a:rPr lang="en-US" dirty="0" err="1"/>
              <a:t>reference_option</a:t>
            </a:r>
            <a:r>
              <a:rPr lang="en-US" dirty="0"/>
              <a:t>][ON UPDATE </a:t>
            </a:r>
            <a:r>
              <a:rPr lang="en-US" dirty="0" err="1"/>
              <a:t>reference_option</a:t>
            </a:r>
            <a:r>
              <a:rPr lang="en-US" dirty="0"/>
              <a:t>];</a:t>
            </a:r>
          </a:p>
          <a:p>
            <a:r>
              <a:rPr lang="en-US" dirty="0"/>
              <a:t>where,</a:t>
            </a:r>
          </a:p>
          <a:p>
            <a:pPr lvl="1"/>
            <a:r>
              <a:rPr lang="en-US" dirty="0"/>
              <a:t>CREATE TABLE – adds a new table to the database</a:t>
            </a:r>
          </a:p>
          <a:p>
            <a:pPr lvl="1"/>
            <a:r>
              <a:rPr lang="en-US" dirty="0" err="1"/>
              <a:t>tbl_name</a:t>
            </a:r>
            <a:r>
              <a:rPr lang="en-US" dirty="0"/>
              <a:t> – specifies a name for the table</a:t>
            </a:r>
          </a:p>
          <a:p>
            <a:pPr lvl="1"/>
            <a:r>
              <a:rPr lang="en-US" dirty="0"/>
              <a:t>REFERENCE – defines a relationship between the index and another table</a:t>
            </a:r>
          </a:p>
          <a:p>
            <a:pPr lvl="1"/>
            <a:r>
              <a:rPr lang="en-US" dirty="0" err="1"/>
              <a:t>tbl_name</a:t>
            </a:r>
            <a:r>
              <a:rPr lang="en-US" dirty="0"/>
              <a:t> – specifies the name for the referenced table</a:t>
            </a:r>
          </a:p>
          <a:p>
            <a:pPr lvl="1"/>
            <a:r>
              <a:rPr lang="en-US" dirty="0" err="1"/>
              <a:t>Index_col_name</a:t>
            </a:r>
            <a:r>
              <a:rPr lang="en-US" dirty="0"/>
              <a:t> – specifies the column to be indexed</a:t>
            </a:r>
            <a:endParaRPr lang="en-PK" dirty="0"/>
          </a:p>
        </p:txBody>
      </p:sp>
    </p:spTree>
    <p:extLst>
      <p:ext uri="{BB962C8B-B14F-4D97-AF65-F5344CB8AC3E}">
        <p14:creationId xmlns:p14="http://schemas.microsoft.com/office/powerpoint/2010/main" val="5426055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A5A5B-9BBA-4D5E-B87B-4C5DAD4F301B}"/>
              </a:ext>
            </a:extLst>
          </p:cNvPr>
          <p:cNvSpPr>
            <a:spLocks noGrp="1"/>
          </p:cNvSpPr>
          <p:nvPr>
            <p:ph type="title"/>
          </p:nvPr>
        </p:nvSpPr>
        <p:spPr>
          <a:xfrm>
            <a:off x="609600" y="274638"/>
            <a:ext cx="7924800" cy="563562"/>
          </a:xfrm>
        </p:spPr>
        <p:txBody>
          <a:bodyPr/>
          <a:lstStyle/>
          <a:p>
            <a:r>
              <a:rPr lang="en-IN" dirty="0"/>
              <a:t>Use Command:</a:t>
            </a:r>
            <a:endParaRPr lang="en-PK" dirty="0"/>
          </a:p>
        </p:txBody>
      </p:sp>
      <p:sp>
        <p:nvSpPr>
          <p:cNvPr id="3" name="Content Placeholder 2">
            <a:extLst>
              <a:ext uri="{FF2B5EF4-FFF2-40B4-BE49-F238E27FC236}">
                <a16:creationId xmlns:a16="http://schemas.microsoft.com/office/drawing/2014/main" id="{9F44627C-F012-46DA-B987-C368A994639E}"/>
              </a:ext>
            </a:extLst>
          </p:cNvPr>
          <p:cNvSpPr>
            <a:spLocks noGrp="1"/>
          </p:cNvSpPr>
          <p:nvPr>
            <p:ph sz="quarter" idx="13"/>
          </p:nvPr>
        </p:nvSpPr>
        <p:spPr>
          <a:xfrm>
            <a:off x="685800" y="846667"/>
            <a:ext cx="7924800" cy="1896533"/>
          </a:xfrm>
        </p:spPr>
        <p:txBody>
          <a:bodyPr>
            <a:normAutofit lnSpcReduction="10000"/>
          </a:bodyPr>
          <a:lstStyle/>
          <a:p>
            <a:r>
              <a:rPr lang="en-US" dirty="0"/>
              <a:t>The syntax for USE command is:</a:t>
            </a:r>
          </a:p>
          <a:p>
            <a:pPr marL="0" indent="0" algn="ctr">
              <a:buNone/>
            </a:pPr>
            <a:r>
              <a:rPr lang="en-US" dirty="0"/>
              <a:t>USE DATABASE;</a:t>
            </a:r>
          </a:p>
          <a:p>
            <a:r>
              <a:rPr lang="en-US" dirty="0"/>
              <a:t>where,</a:t>
            </a:r>
          </a:p>
          <a:p>
            <a:pPr lvl="1"/>
            <a:r>
              <a:rPr lang="en-US" dirty="0"/>
              <a:t>USE – switches to the specified database</a:t>
            </a:r>
          </a:p>
          <a:p>
            <a:pPr lvl="1"/>
            <a:r>
              <a:rPr lang="en-US" dirty="0"/>
              <a:t>DATABASE - specifies the name of the database</a:t>
            </a:r>
          </a:p>
          <a:p>
            <a:endParaRPr lang="en-PK" dirty="0"/>
          </a:p>
        </p:txBody>
      </p:sp>
      <p:sp>
        <p:nvSpPr>
          <p:cNvPr id="5" name="Rectangle 4">
            <a:extLst>
              <a:ext uri="{FF2B5EF4-FFF2-40B4-BE49-F238E27FC236}">
                <a16:creationId xmlns:a16="http://schemas.microsoft.com/office/drawing/2014/main" id="{9D409496-58D1-42E0-BF53-187578D092C3}"/>
              </a:ext>
            </a:extLst>
          </p:cNvPr>
          <p:cNvSpPr/>
          <p:nvPr/>
        </p:nvSpPr>
        <p:spPr>
          <a:xfrm>
            <a:off x="685800" y="3276600"/>
            <a:ext cx="7696200" cy="2585323"/>
          </a:xfrm>
          <a:prstGeom prst="rect">
            <a:avLst/>
          </a:prstGeom>
        </p:spPr>
        <p:txBody>
          <a:bodyPr wrap="square">
            <a:spAutoFit/>
          </a:bodyPr>
          <a:lstStyle/>
          <a:p>
            <a:pPr marL="285750" indent="-285750">
              <a:buFont typeface="Arial" panose="020B0604020202020204" pitchFamily="34" charset="0"/>
              <a:buChar char="•"/>
            </a:pPr>
            <a:r>
              <a:rPr lang="en-US" dirty="0"/>
              <a:t>MySQL provides the DESCRIBE command to view the  structure of a table</a:t>
            </a:r>
          </a:p>
          <a:p>
            <a:pPr marL="285750" indent="-285750">
              <a:buFont typeface="Arial" panose="020B0604020202020204" pitchFamily="34" charset="0"/>
              <a:buChar char="•"/>
            </a:pPr>
            <a:r>
              <a:rPr lang="en-US" dirty="0"/>
              <a:t>The syntax for the DESCRIBE command is:</a:t>
            </a:r>
          </a:p>
          <a:p>
            <a:pPr algn="ctr"/>
            <a:r>
              <a:rPr lang="en-US" dirty="0"/>
              <a:t>DESCRIBE table [column];</a:t>
            </a:r>
          </a:p>
          <a:p>
            <a:pPr algn="ctr"/>
            <a:r>
              <a:rPr lang="en-US" dirty="0"/>
              <a:t>Or</a:t>
            </a:r>
          </a:p>
          <a:p>
            <a:pPr algn="ctr"/>
            <a:r>
              <a:rPr lang="en-US" dirty="0"/>
              <a:t>DESC table [column];</a:t>
            </a:r>
          </a:p>
          <a:p>
            <a:pPr marL="285750" indent="-285750">
              <a:buFont typeface="Arial" panose="020B0604020202020204" pitchFamily="34" charset="0"/>
              <a:buChar char="•"/>
            </a:pPr>
            <a:r>
              <a:rPr lang="en-US" dirty="0"/>
              <a:t>where,</a:t>
            </a:r>
          </a:p>
          <a:p>
            <a:pPr marL="742950" lvl="1" indent="-285750">
              <a:buFont typeface="Arial" panose="020B0604020202020204" pitchFamily="34" charset="0"/>
              <a:buChar char="•"/>
            </a:pPr>
            <a:r>
              <a:rPr lang="en-US" dirty="0"/>
              <a:t>DESCRIBE – displays the field structure of the table</a:t>
            </a:r>
          </a:p>
          <a:p>
            <a:pPr marL="742950" lvl="1" indent="-285750">
              <a:buFont typeface="Arial" panose="020B0604020202020204" pitchFamily="34" charset="0"/>
              <a:buChar char="•"/>
            </a:pPr>
            <a:r>
              <a:rPr lang="en-US" dirty="0"/>
              <a:t>table – specifies the name of the table to display the structure</a:t>
            </a:r>
          </a:p>
          <a:p>
            <a:pPr marL="742950" lvl="1" indent="-285750">
              <a:buFont typeface="Arial" panose="020B0604020202020204" pitchFamily="34" charset="0"/>
              <a:buChar char="•"/>
            </a:pPr>
            <a:r>
              <a:rPr lang="en-US" dirty="0"/>
              <a:t>column – displays information for a specific column of the table</a:t>
            </a:r>
          </a:p>
        </p:txBody>
      </p:sp>
      <p:sp>
        <p:nvSpPr>
          <p:cNvPr id="8" name="Title 1">
            <a:extLst>
              <a:ext uri="{FF2B5EF4-FFF2-40B4-BE49-F238E27FC236}">
                <a16:creationId xmlns:a16="http://schemas.microsoft.com/office/drawing/2014/main" id="{908FF793-D654-4721-A5A4-759F02C195E3}"/>
              </a:ext>
            </a:extLst>
          </p:cNvPr>
          <p:cNvSpPr txBox="1">
            <a:spLocks/>
          </p:cNvSpPr>
          <p:nvPr/>
        </p:nvSpPr>
        <p:spPr>
          <a:xfrm>
            <a:off x="762000" y="2590800"/>
            <a:ext cx="7924800" cy="563562"/>
          </a:xfrm>
          <a:prstGeom prst="rect">
            <a:avLst/>
          </a:prstGeom>
        </p:spPr>
        <p:txBody>
          <a:bodyPr vert="horz" lIns="91440" tIns="45720" rIns="91440" bIns="45720" rtlCol="0" anchor="b" anchorCtr="0">
            <a:noAutofit/>
          </a:bodyPr>
          <a:lstStyle>
            <a:lvl1pPr algn="l" defTabSz="914400" rtl="0" eaLnBrk="1" latinLnBrk="0" hangingPunct="1">
              <a:spcBef>
                <a:spcPct val="0"/>
              </a:spcBef>
              <a:buNone/>
              <a:defRPr sz="3000" kern="1200" cap="all" spc="5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dirty="0"/>
              <a:t>DESCRIBE Command:</a:t>
            </a:r>
            <a:endParaRPr lang="en-PK" dirty="0"/>
          </a:p>
        </p:txBody>
      </p:sp>
    </p:spTree>
    <p:extLst>
      <p:ext uri="{BB962C8B-B14F-4D97-AF65-F5344CB8AC3E}">
        <p14:creationId xmlns:p14="http://schemas.microsoft.com/office/powerpoint/2010/main" val="7299167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115CD-0CC4-4F72-A617-55B9B0043476}"/>
              </a:ext>
            </a:extLst>
          </p:cNvPr>
          <p:cNvSpPr>
            <a:spLocks noGrp="1"/>
          </p:cNvSpPr>
          <p:nvPr>
            <p:ph type="title"/>
          </p:nvPr>
        </p:nvSpPr>
        <p:spPr>
          <a:xfrm>
            <a:off x="609600" y="274638"/>
            <a:ext cx="7924800" cy="868362"/>
          </a:xfrm>
        </p:spPr>
        <p:txBody>
          <a:bodyPr/>
          <a:lstStyle/>
          <a:p>
            <a:r>
              <a:rPr lang="en-IN" dirty="0"/>
              <a:t>Revised From </a:t>
            </a:r>
            <a:r>
              <a:rPr lang="en-IN" dirty="0" err="1"/>
              <a:t>CPISm</a:t>
            </a:r>
            <a:r>
              <a:rPr lang="en-IN" dirty="0"/>
              <a:t>:</a:t>
            </a:r>
            <a:endParaRPr lang="en-PK" dirty="0"/>
          </a:p>
        </p:txBody>
      </p:sp>
      <p:sp>
        <p:nvSpPr>
          <p:cNvPr id="3" name="Content Placeholder 2">
            <a:extLst>
              <a:ext uri="{FF2B5EF4-FFF2-40B4-BE49-F238E27FC236}">
                <a16:creationId xmlns:a16="http://schemas.microsoft.com/office/drawing/2014/main" id="{3509C99E-2C01-4FB1-A61A-4DEBEBC9E67F}"/>
              </a:ext>
            </a:extLst>
          </p:cNvPr>
          <p:cNvSpPr>
            <a:spLocks noGrp="1"/>
          </p:cNvSpPr>
          <p:nvPr>
            <p:ph sz="quarter" idx="13"/>
          </p:nvPr>
        </p:nvSpPr>
        <p:spPr>
          <a:xfrm>
            <a:off x="609600" y="1143000"/>
            <a:ext cx="7924800" cy="4572000"/>
          </a:xfrm>
        </p:spPr>
        <p:txBody>
          <a:bodyPr/>
          <a:lstStyle/>
          <a:p>
            <a:r>
              <a:rPr lang="en-IN" dirty="0"/>
              <a:t>Normalization</a:t>
            </a:r>
          </a:p>
          <a:p>
            <a:pPr lvl="1"/>
            <a:r>
              <a:rPr lang="en-IN" dirty="0"/>
              <a:t>1NF</a:t>
            </a:r>
          </a:p>
          <a:p>
            <a:pPr lvl="1"/>
            <a:r>
              <a:rPr lang="en-IN" dirty="0"/>
              <a:t>2NF</a:t>
            </a:r>
          </a:p>
          <a:p>
            <a:pPr lvl="1"/>
            <a:r>
              <a:rPr lang="en-IN" dirty="0"/>
              <a:t>3NF</a:t>
            </a:r>
          </a:p>
          <a:p>
            <a:pPr lvl="1"/>
            <a:r>
              <a:rPr lang="en-IN" dirty="0"/>
              <a:t>BCNF</a:t>
            </a:r>
          </a:p>
          <a:p>
            <a:r>
              <a:rPr lang="en-IN" dirty="0"/>
              <a:t>Keys</a:t>
            </a:r>
          </a:p>
          <a:p>
            <a:pPr lvl="1"/>
            <a:r>
              <a:rPr lang="en-IN" dirty="0"/>
              <a:t>Primary key </a:t>
            </a:r>
          </a:p>
          <a:p>
            <a:pPr lvl="1"/>
            <a:r>
              <a:rPr lang="en-IN" dirty="0"/>
              <a:t>Composite key</a:t>
            </a:r>
          </a:p>
          <a:p>
            <a:pPr lvl="1"/>
            <a:r>
              <a:rPr lang="en-IN" dirty="0"/>
              <a:t>Foreign Key</a:t>
            </a:r>
            <a:endParaRPr lang="en-PK" dirty="0"/>
          </a:p>
        </p:txBody>
      </p:sp>
    </p:spTree>
    <p:extLst>
      <p:ext uri="{BB962C8B-B14F-4D97-AF65-F5344CB8AC3E}">
        <p14:creationId xmlns:p14="http://schemas.microsoft.com/office/powerpoint/2010/main" val="21230593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3999D-27E2-4367-883D-6CF8A0B8D179}"/>
              </a:ext>
            </a:extLst>
          </p:cNvPr>
          <p:cNvSpPr>
            <a:spLocks noGrp="1"/>
          </p:cNvSpPr>
          <p:nvPr>
            <p:ph type="title"/>
          </p:nvPr>
        </p:nvSpPr>
        <p:spPr>
          <a:xfrm>
            <a:off x="609600" y="274638"/>
            <a:ext cx="7924800" cy="639762"/>
          </a:xfrm>
        </p:spPr>
        <p:txBody>
          <a:bodyPr/>
          <a:lstStyle/>
          <a:p>
            <a:r>
              <a:rPr lang="en-IN" dirty="0"/>
              <a:t>Database concept:</a:t>
            </a:r>
            <a:endParaRPr lang="en-PK" dirty="0"/>
          </a:p>
        </p:txBody>
      </p:sp>
      <p:sp>
        <p:nvSpPr>
          <p:cNvPr id="3" name="Content Placeholder 2">
            <a:extLst>
              <a:ext uri="{FF2B5EF4-FFF2-40B4-BE49-F238E27FC236}">
                <a16:creationId xmlns:a16="http://schemas.microsoft.com/office/drawing/2014/main" id="{B00E5520-842A-4493-9FBD-D9484DCDB990}"/>
              </a:ext>
            </a:extLst>
          </p:cNvPr>
          <p:cNvSpPr>
            <a:spLocks noGrp="1"/>
          </p:cNvSpPr>
          <p:nvPr>
            <p:ph sz="quarter" idx="13"/>
          </p:nvPr>
        </p:nvSpPr>
        <p:spPr>
          <a:xfrm>
            <a:off x="609600" y="914400"/>
            <a:ext cx="7924800" cy="2286000"/>
          </a:xfrm>
        </p:spPr>
        <p:txBody>
          <a:bodyPr/>
          <a:lstStyle/>
          <a:p>
            <a:r>
              <a:rPr lang="en-US" dirty="0"/>
              <a:t>Referential integrity is a feature that prevents you from  storing inconsistent data</a:t>
            </a:r>
          </a:p>
          <a:p>
            <a:r>
              <a:rPr lang="en-US" dirty="0"/>
              <a:t>You implement referential integrity when you define a  relationship between two tables in a database</a:t>
            </a:r>
          </a:p>
          <a:p>
            <a:r>
              <a:rPr lang="en-US" dirty="0"/>
              <a:t>You can use indexing on databases to make search  operations faster</a:t>
            </a:r>
          </a:p>
          <a:p>
            <a:r>
              <a:rPr lang="en-US" dirty="0"/>
              <a:t>You index the fields in a table, on which the search is to  be performed</a:t>
            </a:r>
          </a:p>
          <a:p>
            <a:r>
              <a:rPr lang="en-US" dirty="0"/>
              <a:t>You can index several fields in a table at a time</a:t>
            </a:r>
          </a:p>
        </p:txBody>
      </p:sp>
    </p:spTree>
    <p:extLst>
      <p:ext uri="{BB962C8B-B14F-4D97-AF65-F5344CB8AC3E}">
        <p14:creationId xmlns:p14="http://schemas.microsoft.com/office/powerpoint/2010/main" val="36489781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C7576-855B-463A-B681-22AA2AD6DAE2}"/>
              </a:ext>
            </a:extLst>
          </p:cNvPr>
          <p:cNvSpPr>
            <a:spLocks noGrp="1"/>
          </p:cNvSpPr>
          <p:nvPr>
            <p:ph type="title"/>
          </p:nvPr>
        </p:nvSpPr>
        <p:spPr>
          <a:xfrm>
            <a:off x="609600" y="274638"/>
            <a:ext cx="7924800" cy="563562"/>
          </a:xfrm>
        </p:spPr>
        <p:txBody>
          <a:bodyPr/>
          <a:lstStyle/>
          <a:p>
            <a:r>
              <a:rPr lang="en-IN" dirty="0"/>
              <a:t>Indexes:</a:t>
            </a:r>
            <a:endParaRPr lang="en-PK" dirty="0"/>
          </a:p>
        </p:txBody>
      </p:sp>
      <p:sp>
        <p:nvSpPr>
          <p:cNvPr id="3" name="Content Placeholder 2">
            <a:extLst>
              <a:ext uri="{FF2B5EF4-FFF2-40B4-BE49-F238E27FC236}">
                <a16:creationId xmlns:a16="http://schemas.microsoft.com/office/drawing/2014/main" id="{29BDA600-7AD9-41F4-B3C4-C8C2480BE47C}"/>
              </a:ext>
            </a:extLst>
          </p:cNvPr>
          <p:cNvSpPr>
            <a:spLocks noGrp="1"/>
          </p:cNvSpPr>
          <p:nvPr>
            <p:ph sz="quarter" idx="13"/>
          </p:nvPr>
        </p:nvSpPr>
        <p:spPr>
          <a:xfrm>
            <a:off x="609600" y="990600"/>
            <a:ext cx="7924800" cy="4724400"/>
          </a:xfrm>
        </p:spPr>
        <p:txBody>
          <a:bodyPr/>
          <a:lstStyle/>
          <a:p>
            <a:pPr marL="285750" indent="-285750"/>
            <a:r>
              <a:rPr lang="en-US" dirty="0"/>
              <a:t>Indexes are lists that specify the location of data in a  table within a database</a:t>
            </a:r>
          </a:p>
          <a:p>
            <a:pPr marL="285750" indent="-285750"/>
            <a:r>
              <a:rPr lang="en-US" dirty="0"/>
              <a:t>Indexes support faster data storage and retrieval  capabilities</a:t>
            </a:r>
          </a:p>
          <a:p>
            <a:pPr marL="285750" indent="-285750"/>
            <a:r>
              <a:rPr lang="en-US" dirty="0"/>
              <a:t>Indexes in a database are similar to the indexes in books</a:t>
            </a:r>
          </a:p>
          <a:p>
            <a:pPr marL="285750" indent="-285750"/>
            <a:r>
              <a:rPr lang="en-US" dirty="0"/>
              <a:t>Indexes in a database use the same concept</a:t>
            </a:r>
          </a:p>
          <a:p>
            <a:pPr marL="285750" indent="-285750"/>
            <a:r>
              <a:rPr lang="en-US" dirty="0"/>
              <a:t>You can define indexes on a field in a table within a  database</a:t>
            </a:r>
          </a:p>
          <a:p>
            <a:pPr marL="285750" indent="-285750"/>
            <a:r>
              <a:rPr lang="en-US" dirty="0"/>
              <a:t>The disadvantages of indexes are:</a:t>
            </a:r>
          </a:p>
          <a:p>
            <a:pPr marL="685800" lvl="1"/>
            <a:r>
              <a:rPr lang="en-US" dirty="0"/>
              <a:t>It uses more storage space</a:t>
            </a:r>
          </a:p>
          <a:p>
            <a:pPr marL="685800" lvl="1"/>
            <a:r>
              <a:rPr lang="en-US" dirty="0"/>
              <a:t>Data manipulation commands like insert, update, and delete  require longer duration to execute</a:t>
            </a:r>
          </a:p>
          <a:p>
            <a:pPr marL="285750" indent="-285750"/>
            <a:r>
              <a:rPr lang="en-US" dirty="0"/>
              <a:t>You can create an index in a table by indexing the fields</a:t>
            </a:r>
          </a:p>
          <a:p>
            <a:pPr marL="285750" indent="-285750"/>
            <a:r>
              <a:rPr lang="en-US" dirty="0"/>
              <a:t>The primary key serves as the index key when the index  key is not specified explicitly</a:t>
            </a:r>
          </a:p>
          <a:p>
            <a:pPr marL="285750" indent="-285750"/>
            <a:endParaRPr lang="en-PK" dirty="0"/>
          </a:p>
        </p:txBody>
      </p:sp>
    </p:spTree>
    <p:extLst>
      <p:ext uri="{BB962C8B-B14F-4D97-AF65-F5344CB8AC3E}">
        <p14:creationId xmlns:p14="http://schemas.microsoft.com/office/powerpoint/2010/main" val="30949122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03954-33ED-4616-9B11-3ADF1A72E7FA}"/>
              </a:ext>
            </a:extLst>
          </p:cNvPr>
          <p:cNvSpPr>
            <a:spLocks noGrp="1"/>
          </p:cNvSpPr>
          <p:nvPr>
            <p:ph type="title"/>
          </p:nvPr>
        </p:nvSpPr>
        <p:spPr>
          <a:xfrm>
            <a:off x="609600" y="274638"/>
            <a:ext cx="7924800" cy="487362"/>
          </a:xfrm>
        </p:spPr>
        <p:txBody>
          <a:bodyPr/>
          <a:lstStyle/>
          <a:p>
            <a:r>
              <a:rPr lang="en-IN" dirty="0"/>
              <a:t>Indexes:</a:t>
            </a:r>
            <a:endParaRPr lang="en-PK" dirty="0"/>
          </a:p>
        </p:txBody>
      </p:sp>
      <p:sp>
        <p:nvSpPr>
          <p:cNvPr id="3" name="Content Placeholder 2">
            <a:extLst>
              <a:ext uri="{FF2B5EF4-FFF2-40B4-BE49-F238E27FC236}">
                <a16:creationId xmlns:a16="http://schemas.microsoft.com/office/drawing/2014/main" id="{FB468BBF-FF50-417B-B20D-45BC19EC082F}"/>
              </a:ext>
            </a:extLst>
          </p:cNvPr>
          <p:cNvSpPr>
            <a:spLocks noGrp="1"/>
          </p:cNvSpPr>
          <p:nvPr>
            <p:ph sz="quarter" idx="13"/>
          </p:nvPr>
        </p:nvSpPr>
        <p:spPr>
          <a:xfrm>
            <a:off x="578556" y="781756"/>
            <a:ext cx="7924800" cy="4114800"/>
          </a:xfrm>
        </p:spPr>
        <p:txBody>
          <a:bodyPr/>
          <a:lstStyle/>
          <a:p>
            <a:r>
              <a:rPr lang="en-US" dirty="0"/>
              <a:t>You must remember the following points while indexing  fields in a table:</a:t>
            </a:r>
          </a:p>
          <a:p>
            <a:pPr lvl="1"/>
            <a:r>
              <a:rPr lang="en-US" dirty="0"/>
              <a:t>Fields should have unique values</a:t>
            </a:r>
          </a:p>
          <a:p>
            <a:pPr lvl="1"/>
            <a:r>
              <a:rPr lang="en-US" dirty="0"/>
              <a:t>Fields on which the table is to be sorted</a:t>
            </a:r>
          </a:p>
          <a:p>
            <a:pPr lvl="1"/>
            <a:r>
              <a:rPr lang="en-US" dirty="0"/>
              <a:t>Fields should have data types such as text, number, date, or time</a:t>
            </a:r>
          </a:p>
          <a:p>
            <a:endParaRPr lang="en-PK" dirty="0"/>
          </a:p>
        </p:txBody>
      </p:sp>
      <p:sp>
        <p:nvSpPr>
          <p:cNvPr id="4" name="Content Placeholder 2">
            <a:extLst>
              <a:ext uri="{FF2B5EF4-FFF2-40B4-BE49-F238E27FC236}">
                <a16:creationId xmlns:a16="http://schemas.microsoft.com/office/drawing/2014/main" id="{B0CC88FA-67EA-4ECA-BCF0-6DDA53DE424D}"/>
              </a:ext>
            </a:extLst>
          </p:cNvPr>
          <p:cNvSpPr txBox="1">
            <a:spLocks/>
          </p:cNvSpPr>
          <p:nvPr/>
        </p:nvSpPr>
        <p:spPr>
          <a:xfrm>
            <a:off x="572912" y="2514600"/>
            <a:ext cx="7924800" cy="3200400"/>
          </a:xfrm>
          <a:prstGeom prst="rect">
            <a:avLst/>
          </a:prstGeom>
        </p:spPr>
        <p:txBody>
          <a:bodyPr vert="horz" lIns="91440" tIns="45720" rIns="91440" bIns="45720" rtlCol="0">
            <a:normAutofit/>
          </a:bodyPr>
          <a:lstStyle>
            <a:lvl1pPr marL="342900" indent="-3429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1pPr>
            <a:lvl2pPr marL="742950" indent="-28575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2pPr>
            <a:lvl3pPr marL="11430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3pPr>
            <a:lvl4pPr marL="16002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4pPr>
            <a:lvl5pPr marL="20574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5pPr>
            <a:lvl6pPr marL="25146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6pPr>
            <a:lvl7pPr marL="29718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7pPr>
            <a:lvl8pPr marL="34290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8pPr>
            <a:lvl9pPr marL="38862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9pPr>
          </a:lstStyle>
          <a:p>
            <a:r>
              <a:rPr lang="en-US"/>
              <a:t>You can use indexes to improve the search characteristics of  the database</a:t>
            </a:r>
          </a:p>
          <a:p>
            <a:r>
              <a:rPr lang="en-US"/>
              <a:t>Indexing enables the search operation on a database to be  faster</a:t>
            </a:r>
          </a:p>
          <a:p>
            <a:r>
              <a:rPr lang="en-US"/>
              <a:t>MySQL creates separate files to store and track indexes when you define an index for a table</a:t>
            </a:r>
          </a:p>
          <a:p>
            <a:r>
              <a:rPr lang="en-US"/>
              <a:t>MySQL allows upto 64 indexes for each table</a:t>
            </a:r>
          </a:p>
          <a:p>
            <a:r>
              <a:rPr lang="en-US"/>
              <a:t>Each index allows upto 16 columns to be included</a:t>
            </a:r>
          </a:p>
          <a:p>
            <a:endParaRPr lang="en-PK" dirty="0"/>
          </a:p>
        </p:txBody>
      </p:sp>
    </p:spTree>
    <p:extLst>
      <p:ext uri="{BB962C8B-B14F-4D97-AF65-F5344CB8AC3E}">
        <p14:creationId xmlns:p14="http://schemas.microsoft.com/office/powerpoint/2010/main" val="10688521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1700D-071E-421E-A705-004A58051785}"/>
              </a:ext>
            </a:extLst>
          </p:cNvPr>
          <p:cNvSpPr>
            <a:spLocks noGrp="1"/>
          </p:cNvSpPr>
          <p:nvPr>
            <p:ph type="title"/>
          </p:nvPr>
        </p:nvSpPr>
        <p:spPr>
          <a:xfrm>
            <a:off x="609600" y="274638"/>
            <a:ext cx="7924800" cy="639762"/>
          </a:xfrm>
        </p:spPr>
        <p:txBody>
          <a:bodyPr/>
          <a:lstStyle/>
          <a:p>
            <a:r>
              <a:rPr lang="en-US" dirty="0"/>
              <a:t>Indexes:</a:t>
            </a:r>
            <a:endParaRPr lang="en-PK" dirty="0"/>
          </a:p>
        </p:txBody>
      </p:sp>
      <p:sp>
        <p:nvSpPr>
          <p:cNvPr id="3" name="Content Placeholder 2">
            <a:extLst>
              <a:ext uri="{FF2B5EF4-FFF2-40B4-BE49-F238E27FC236}">
                <a16:creationId xmlns:a16="http://schemas.microsoft.com/office/drawing/2014/main" id="{06B0246D-E3A5-4CE5-BF65-203817895245}"/>
              </a:ext>
            </a:extLst>
          </p:cNvPr>
          <p:cNvSpPr>
            <a:spLocks noGrp="1"/>
          </p:cNvSpPr>
          <p:nvPr>
            <p:ph sz="quarter" idx="13"/>
          </p:nvPr>
        </p:nvSpPr>
        <p:spPr>
          <a:xfrm>
            <a:off x="609600" y="990600"/>
            <a:ext cx="7924800" cy="4267200"/>
          </a:xfrm>
        </p:spPr>
        <p:txBody>
          <a:bodyPr>
            <a:normAutofit lnSpcReduction="10000"/>
          </a:bodyPr>
          <a:lstStyle/>
          <a:p>
            <a:r>
              <a:rPr lang="en-US" dirty="0"/>
              <a:t>You can index the field that:</a:t>
            </a:r>
          </a:p>
          <a:p>
            <a:pPr lvl="1"/>
            <a:r>
              <a:rPr lang="en-US" dirty="0"/>
              <a:t>Is used in the WHERE clause of query</a:t>
            </a:r>
          </a:p>
          <a:p>
            <a:pPr lvl="1"/>
            <a:r>
              <a:rPr lang="en-US" dirty="0"/>
              <a:t>Is used in ORDER BY clause of the query</a:t>
            </a:r>
          </a:p>
          <a:p>
            <a:pPr lvl="1"/>
            <a:r>
              <a:rPr lang="en-US" dirty="0"/>
              <a:t>Is having a unique value</a:t>
            </a:r>
          </a:p>
          <a:p>
            <a:r>
              <a:rPr lang="en-US" dirty="0"/>
              <a:t>If you do not specify an index key, MySQL automatically indexes the primary key</a:t>
            </a:r>
          </a:p>
          <a:p>
            <a:endParaRPr lang="en-US" dirty="0"/>
          </a:p>
          <a:p>
            <a:endParaRPr lang="en-US" dirty="0"/>
          </a:p>
          <a:p>
            <a:r>
              <a:rPr lang="en-US" dirty="0"/>
              <a:t>The disadvantages of indexing are:</a:t>
            </a:r>
          </a:p>
          <a:p>
            <a:pPr lvl="1"/>
            <a:r>
              <a:rPr lang="en-US" dirty="0"/>
              <a:t>The process of altering data in a database becomes slow</a:t>
            </a:r>
          </a:p>
          <a:p>
            <a:pPr lvl="1"/>
            <a:r>
              <a:rPr lang="en-US" dirty="0"/>
              <a:t>The process such as update, insert, and delete require more  time to execute</a:t>
            </a:r>
          </a:p>
          <a:p>
            <a:pPr lvl="1"/>
            <a:r>
              <a:rPr lang="en-US" dirty="0"/>
              <a:t>MySQL requires this additional time to record the changes in the index file as well</a:t>
            </a:r>
          </a:p>
          <a:p>
            <a:endParaRPr lang="en-PK" dirty="0"/>
          </a:p>
        </p:txBody>
      </p:sp>
      <p:sp>
        <p:nvSpPr>
          <p:cNvPr id="4" name="Title 1">
            <a:extLst>
              <a:ext uri="{FF2B5EF4-FFF2-40B4-BE49-F238E27FC236}">
                <a16:creationId xmlns:a16="http://schemas.microsoft.com/office/drawing/2014/main" id="{7360A62B-9E99-44CC-BDCB-BF76ED1F025D}"/>
              </a:ext>
            </a:extLst>
          </p:cNvPr>
          <p:cNvSpPr txBox="1">
            <a:spLocks/>
          </p:cNvSpPr>
          <p:nvPr/>
        </p:nvSpPr>
        <p:spPr>
          <a:xfrm>
            <a:off x="629356" y="2809876"/>
            <a:ext cx="7924800" cy="639762"/>
          </a:xfrm>
          <a:prstGeom prst="rect">
            <a:avLst/>
          </a:prstGeom>
        </p:spPr>
        <p:txBody>
          <a:bodyPr vert="horz" lIns="91440" tIns="45720" rIns="91440" bIns="45720" rtlCol="0" anchor="b" anchorCtr="0">
            <a:noAutofit/>
          </a:bodyPr>
          <a:lstStyle>
            <a:lvl1pPr algn="l" defTabSz="914400" rtl="0" eaLnBrk="1" latinLnBrk="0" hangingPunct="1">
              <a:spcBef>
                <a:spcPct val="0"/>
              </a:spcBef>
              <a:buNone/>
              <a:defRPr sz="3000" kern="1200" cap="all" spc="5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Disadvantages of Indexes:</a:t>
            </a:r>
            <a:endParaRPr lang="en-PK" dirty="0"/>
          </a:p>
        </p:txBody>
      </p:sp>
    </p:spTree>
    <p:extLst>
      <p:ext uri="{BB962C8B-B14F-4D97-AF65-F5344CB8AC3E}">
        <p14:creationId xmlns:p14="http://schemas.microsoft.com/office/powerpoint/2010/main" val="36949357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3ECC5-8121-4735-8E72-B7EF566D88CA}"/>
              </a:ext>
            </a:extLst>
          </p:cNvPr>
          <p:cNvSpPr>
            <a:spLocks noGrp="1"/>
          </p:cNvSpPr>
          <p:nvPr>
            <p:ph type="title"/>
          </p:nvPr>
        </p:nvSpPr>
        <p:spPr>
          <a:xfrm>
            <a:off x="609600" y="274638"/>
            <a:ext cx="7924800" cy="715962"/>
          </a:xfrm>
        </p:spPr>
        <p:txBody>
          <a:bodyPr/>
          <a:lstStyle/>
          <a:p>
            <a:r>
              <a:rPr lang="en-US" dirty="0"/>
              <a:t>Indexes:</a:t>
            </a:r>
            <a:endParaRPr lang="en-PK" dirty="0"/>
          </a:p>
        </p:txBody>
      </p:sp>
      <p:sp>
        <p:nvSpPr>
          <p:cNvPr id="3" name="Content Placeholder 2">
            <a:extLst>
              <a:ext uri="{FF2B5EF4-FFF2-40B4-BE49-F238E27FC236}">
                <a16:creationId xmlns:a16="http://schemas.microsoft.com/office/drawing/2014/main" id="{F585EE24-D139-4507-9212-3EDB570451A3}"/>
              </a:ext>
            </a:extLst>
          </p:cNvPr>
          <p:cNvSpPr>
            <a:spLocks noGrp="1"/>
          </p:cNvSpPr>
          <p:nvPr>
            <p:ph sz="quarter" idx="13"/>
          </p:nvPr>
        </p:nvSpPr>
        <p:spPr>
          <a:xfrm>
            <a:off x="572911" y="1219200"/>
            <a:ext cx="7924800" cy="4114800"/>
          </a:xfrm>
        </p:spPr>
        <p:txBody>
          <a:bodyPr/>
          <a:lstStyle/>
          <a:p>
            <a:r>
              <a:rPr lang="en-US" dirty="0"/>
              <a:t>The syntax to create an index for a table is:</a:t>
            </a:r>
          </a:p>
          <a:p>
            <a:pPr marL="0" indent="0" algn="ctr">
              <a:buNone/>
            </a:pPr>
            <a:r>
              <a:rPr lang="en-US" dirty="0"/>
              <a:t>CREATE INDEX </a:t>
            </a:r>
            <a:r>
              <a:rPr lang="en-US" dirty="0" err="1"/>
              <a:t>index_name</a:t>
            </a:r>
            <a:r>
              <a:rPr lang="en-US" dirty="0"/>
              <a:t> ON </a:t>
            </a:r>
            <a:r>
              <a:rPr lang="en-US" dirty="0" err="1"/>
              <a:t>tablename</a:t>
            </a:r>
            <a:r>
              <a:rPr lang="en-US" dirty="0"/>
              <a:t>(column1,column2,..., </a:t>
            </a:r>
            <a:r>
              <a:rPr lang="en-US" dirty="0" err="1"/>
              <a:t>columnN</a:t>
            </a:r>
            <a:r>
              <a:rPr lang="en-US" dirty="0"/>
              <a:t>);</a:t>
            </a:r>
          </a:p>
          <a:p>
            <a:r>
              <a:rPr lang="en-US" dirty="0"/>
              <a:t>where,</a:t>
            </a:r>
          </a:p>
          <a:p>
            <a:pPr lvl="1"/>
            <a:r>
              <a:rPr lang="en-US" dirty="0"/>
              <a:t>CREATE INDEX – appends an index to the</a:t>
            </a:r>
          </a:p>
          <a:p>
            <a:pPr lvl="1"/>
            <a:r>
              <a:rPr lang="en-US" dirty="0" err="1"/>
              <a:t>tableindex_name</a:t>
            </a:r>
            <a:r>
              <a:rPr lang="en-US" dirty="0"/>
              <a:t> – specifies the name for the index</a:t>
            </a:r>
          </a:p>
          <a:p>
            <a:pPr lvl="1"/>
            <a:r>
              <a:rPr lang="en-US" dirty="0" err="1"/>
              <a:t>tablename</a:t>
            </a:r>
            <a:r>
              <a:rPr lang="en-US" dirty="0"/>
              <a:t> – specifies the name of the table to create the  index</a:t>
            </a:r>
          </a:p>
          <a:p>
            <a:pPr lvl="1"/>
            <a:r>
              <a:rPr lang="en-US" dirty="0"/>
              <a:t>column1 – specifies the names of the columns to be indexed  in the table</a:t>
            </a:r>
          </a:p>
          <a:p>
            <a:endParaRPr lang="en-PK" dirty="0"/>
          </a:p>
        </p:txBody>
      </p:sp>
    </p:spTree>
    <p:extLst>
      <p:ext uri="{BB962C8B-B14F-4D97-AF65-F5344CB8AC3E}">
        <p14:creationId xmlns:p14="http://schemas.microsoft.com/office/powerpoint/2010/main" val="11690133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3BF7FA7-6BF4-416C-B6B3-FF2E45B0ED21}"/>
              </a:ext>
            </a:extLst>
          </p:cNvPr>
          <p:cNvSpPr/>
          <p:nvPr/>
        </p:nvSpPr>
        <p:spPr>
          <a:xfrm>
            <a:off x="564444" y="1143000"/>
            <a:ext cx="7924800" cy="2585323"/>
          </a:xfrm>
          <a:prstGeom prst="rect">
            <a:avLst/>
          </a:prstGeom>
        </p:spPr>
        <p:txBody>
          <a:bodyPr wrap="square">
            <a:spAutoFit/>
          </a:bodyPr>
          <a:lstStyle/>
          <a:p>
            <a:pPr marL="285750" indent="-285750">
              <a:buClr>
                <a:schemeClr val="tx2"/>
              </a:buClr>
              <a:buFont typeface="Arial" panose="020B0604020202020204" pitchFamily="34" charset="0"/>
              <a:buChar char="•"/>
            </a:pPr>
            <a:r>
              <a:rPr lang="en-US" dirty="0"/>
              <a:t>You can use referential integrity to maintain consistency  of records in different tables</a:t>
            </a:r>
          </a:p>
          <a:p>
            <a:pPr marL="285750" indent="-285750">
              <a:buClr>
                <a:schemeClr val="tx2"/>
              </a:buClr>
              <a:buFont typeface="Arial" panose="020B0604020202020204" pitchFamily="34" charset="0"/>
              <a:buChar char="•"/>
            </a:pPr>
            <a:r>
              <a:rPr lang="en-US" dirty="0"/>
              <a:t>Referential integrity can be defined by linking a foreign  key of a table to the primary key of another</a:t>
            </a:r>
          </a:p>
          <a:p>
            <a:pPr marL="285750" indent="-285750">
              <a:buClr>
                <a:schemeClr val="tx2"/>
              </a:buClr>
              <a:buFont typeface="Arial" panose="020B0604020202020204" pitchFamily="34" charset="0"/>
              <a:buChar char="•"/>
            </a:pPr>
            <a:r>
              <a:rPr lang="en-US" dirty="0"/>
              <a:t>Referential integrity monitors addition and deletion of records  from these tables</a:t>
            </a:r>
          </a:p>
          <a:p>
            <a:pPr marL="285750" indent="-285750">
              <a:buClr>
                <a:schemeClr val="tx2"/>
              </a:buClr>
              <a:buFont typeface="Arial" panose="020B0604020202020204" pitchFamily="34" charset="0"/>
              <a:buChar char="•"/>
            </a:pPr>
            <a:r>
              <a:rPr lang="en-US" dirty="0"/>
              <a:t>MySQL will generate an error message when you attempt to  add a new record in the child table that does not have a  corresponding record in the parent table</a:t>
            </a:r>
          </a:p>
          <a:p>
            <a:pPr marL="285750" indent="-285750">
              <a:buClr>
                <a:schemeClr val="tx2"/>
              </a:buClr>
              <a:buFont typeface="Arial" panose="020B0604020202020204" pitchFamily="34" charset="0"/>
              <a:buChar char="•"/>
            </a:pPr>
            <a:r>
              <a:rPr lang="en-US" dirty="0"/>
              <a:t>MySQL will generate an error message when you delete a  record from the child table that has a corresponding entry in  the master table.</a:t>
            </a:r>
          </a:p>
          <a:p>
            <a:pPr marL="285750" indent="-285750">
              <a:buClr>
                <a:schemeClr val="tx2"/>
              </a:buClr>
              <a:buFont typeface="Arial" panose="020B0604020202020204" pitchFamily="34" charset="0"/>
              <a:buChar char="•"/>
            </a:pPr>
            <a:endParaRPr lang="en-US" dirty="0"/>
          </a:p>
        </p:txBody>
      </p:sp>
      <p:sp>
        <p:nvSpPr>
          <p:cNvPr id="5" name="Title 1">
            <a:extLst>
              <a:ext uri="{FF2B5EF4-FFF2-40B4-BE49-F238E27FC236}">
                <a16:creationId xmlns:a16="http://schemas.microsoft.com/office/drawing/2014/main" id="{FE4E297A-9D34-4F73-8437-D656E8FBE291}"/>
              </a:ext>
            </a:extLst>
          </p:cNvPr>
          <p:cNvSpPr txBox="1">
            <a:spLocks/>
          </p:cNvSpPr>
          <p:nvPr/>
        </p:nvSpPr>
        <p:spPr>
          <a:xfrm>
            <a:off x="609600" y="427038"/>
            <a:ext cx="7924800" cy="639762"/>
          </a:xfrm>
          <a:prstGeom prst="rect">
            <a:avLst/>
          </a:prstGeom>
        </p:spPr>
        <p:txBody>
          <a:bodyPr vert="horz" lIns="91440" tIns="45720" rIns="91440" bIns="45720" rtlCol="0" anchor="b" anchorCtr="0">
            <a:noAutofit/>
          </a:bodyPr>
          <a:lstStyle>
            <a:lvl1pPr algn="l" defTabSz="914400" rtl="0" eaLnBrk="1" latinLnBrk="0" hangingPunct="1">
              <a:spcBef>
                <a:spcPct val="0"/>
              </a:spcBef>
              <a:buNone/>
              <a:defRPr sz="3000" kern="1200" cap="all" spc="5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dirty="0"/>
              <a:t>Referential integrity:</a:t>
            </a:r>
            <a:endParaRPr lang="en-PK" dirty="0"/>
          </a:p>
        </p:txBody>
      </p:sp>
    </p:spTree>
    <p:extLst>
      <p:ext uri="{BB962C8B-B14F-4D97-AF65-F5344CB8AC3E}">
        <p14:creationId xmlns:p14="http://schemas.microsoft.com/office/powerpoint/2010/main" val="5943702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3F07E-8D61-44DC-BBDF-287F56CF6EB3}"/>
              </a:ext>
            </a:extLst>
          </p:cNvPr>
          <p:cNvSpPr>
            <a:spLocks noGrp="1"/>
          </p:cNvSpPr>
          <p:nvPr>
            <p:ph type="title"/>
          </p:nvPr>
        </p:nvSpPr>
        <p:spPr>
          <a:xfrm>
            <a:off x="609600" y="274638"/>
            <a:ext cx="7924800" cy="639762"/>
          </a:xfrm>
        </p:spPr>
        <p:txBody>
          <a:bodyPr/>
          <a:lstStyle/>
          <a:p>
            <a:r>
              <a:rPr lang="en-IN" dirty="0"/>
              <a:t>Show command:</a:t>
            </a:r>
            <a:endParaRPr lang="en-PK" dirty="0"/>
          </a:p>
        </p:txBody>
      </p:sp>
      <p:sp>
        <p:nvSpPr>
          <p:cNvPr id="3" name="Content Placeholder 2">
            <a:extLst>
              <a:ext uri="{FF2B5EF4-FFF2-40B4-BE49-F238E27FC236}">
                <a16:creationId xmlns:a16="http://schemas.microsoft.com/office/drawing/2014/main" id="{A0125D20-EB7C-4FC0-B681-9810D6001E37}"/>
              </a:ext>
            </a:extLst>
          </p:cNvPr>
          <p:cNvSpPr>
            <a:spLocks noGrp="1"/>
          </p:cNvSpPr>
          <p:nvPr>
            <p:ph sz="quarter" idx="13"/>
          </p:nvPr>
        </p:nvSpPr>
        <p:spPr>
          <a:xfrm>
            <a:off x="609600" y="960438"/>
            <a:ext cx="7924800" cy="4114800"/>
          </a:xfrm>
        </p:spPr>
        <p:txBody>
          <a:bodyPr/>
          <a:lstStyle/>
          <a:p>
            <a:r>
              <a:rPr lang="en-US" dirty="0"/>
              <a:t>You will use the SHOW command to display the list of  databases and index keys along with the privileges</a:t>
            </a:r>
          </a:p>
          <a:p>
            <a:r>
              <a:rPr lang="en-US" dirty="0"/>
              <a:t>The SHOW command provides information about databases,  tables, columns, and server status</a:t>
            </a:r>
          </a:p>
          <a:p>
            <a:r>
              <a:rPr lang="en-US" dirty="0"/>
              <a:t>To view a list of databases present on the server, use the  following syntax:</a:t>
            </a:r>
          </a:p>
          <a:p>
            <a:pPr marL="400050" lvl="1" indent="0">
              <a:buNone/>
            </a:pPr>
            <a:r>
              <a:rPr lang="en-US" dirty="0"/>
              <a:t>SHOW DATABASES;</a:t>
            </a:r>
          </a:p>
          <a:p>
            <a:r>
              <a:rPr lang="en-US" dirty="0"/>
              <a:t>where,</a:t>
            </a:r>
          </a:p>
          <a:p>
            <a:pPr lvl="1"/>
            <a:r>
              <a:rPr lang="en-US" dirty="0"/>
              <a:t>SHOW – displays the object specified in the clause</a:t>
            </a:r>
          </a:p>
          <a:p>
            <a:pPr lvl="1"/>
            <a:r>
              <a:rPr lang="en-US" dirty="0"/>
              <a:t>DATABASES – displays the databases present in the instance of MySQL</a:t>
            </a:r>
          </a:p>
          <a:p>
            <a:pPr lvl="1"/>
            <a:endParaRPr lang="en-US" dirty="0"/>
          </a:p>
          <a:p>
            <a:r>
              <a:rPr lang="en-US" dirty="0"/>
              <a:t>In addition, it also displays the time taken to execute the  command in seconds</a:t>
            </a:r>
          </a:p>
          <a:p>
            <a:endParaRPr lang="en-PK" dirty="0"/>
          </a:p>
        </p:txBody>
      </p:sp>
    </p:spTree>
    <p:extLst>
      <p:ext uri="{BB962C8B-B14F-4D97-AF65-F5344CB8AC3E}">
        <p14:creationId xmlns:p14="http://schemas.microsoft.com/office/powerpoint/2010/main" val="19383793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1BA1F-4F3C-4A0E-AEB6-04E96588198F}"/>
              </a:ext>
            </a:extLst>
          </p:cNvPr>
          <p:cNvSpPr>
            <a:spLocks noGrp="1"/>
          </p:cNvSpPr>
          <p:nvPr>
            <p:ph type="title"/>
          </p:nvPr>
        </p:nvSpPr>
        <p:spPr>
          <a:xfrm>
            <a:off x="609600" y="274638"/>
            <a:ext cx="7924800" cy="715962"/>
          </a:xfrm>
        </p:spPr>
        <p:txBody>
          <a:bodyPr/>
          <a:lstStyle/>
          <a:p>
            <a:r>
              <a:rPr lang="en-IN" dirty="0"/>
              <a:t>Show command:</a:t>
            </a:r>
            <a:endParaRPr lang="en-PK" dirty="0"/>
          </a:p>
        </p:txBody>
      </p:sp>
      <p:sp>
        <p:nvSpPr>
          <p:cNvPr id="3" name="Content Placeholder 2">
            <a:extLst>
              <a:ext uri="{FF2B5EF4-FFF2-40B4-BE49-F238E27FC236}">
                <a16:creationId xmlns:a16="http://schemas.microsoft.com/office/drawing/2014/main" id="{652571D9-EB9E-4B4D-BF69-DE8C21774ADE}"/>
              </a:ext>
            </a:extLst>
          </p:cNvPr>
          <p:cNvSpPr>
            <a:spLocks noGrp="1"/>
          </p:cNvSpPr>
          <p:nvPr>
            <p:ph sz="quarter" idx="13"/>
          </p:nvPr>
        </p:nvSpPr>
        <p:spPr>
          <a:xfrm>
            <a:off x="587022" y="1143000"/>
            <a:ext cx="7924800" cy="4114800"/>
          </a:xfrm>
        </p:spPr>
        <p:txBody>
          <a:bodyPr>
            <a:normAutofit lnSpcReduction="10000"/>
          </a:bodyPr>
          <a:lstStyle/>
          <a:p>
            <a:r>
              <a:rPr lang="en-US" dirty="0"/>
              <a:t>To view a list of databases that begin or contain specified  characters in the database name, use the following syntax:</a:t>
            </a:r>
          </a:p>
          <a:p>
            <a:pPr marL="0" indent="0" algn="ctr">
              <a:buNone/>
            </a:pPr>
            <a:r>
              <a:rPr lang="en-US" dirty="0"/>
              <a:t>SHOW DATABASES [LIKE &lt;condition&gt;];</a:t>
            </a:r>
          </a:p>
          <a:p>
            <a:r>
              <a:rPr lang="en-US" dirty="0"/>
              <a:t>where,</a:t>
            </a:r>
          </a:p>
          <a:p>
            <a:pPr lvl="1"/>
            <a:r>
              <a:rPr lang="en-US" dirty="0"/>
              <a:t>SHOW DATABASES – displays the list of databases present in the instance of MySQL</a:t>
            </a:r>
          </a:p>
          <a:p>
            <a:pPr lvl="1"/>
            <a:r>
              <a:rPr lang="en-US" dirty="0"/>
              <a:t>LIKE &lt;condition&gt; – contains conditions that must be satisfied before displaying the list of databases</a:t>
            </a:r>
          </a:p>
          <a:p>
            <a:r>
              <a:rPr lang="en-US" dirty="0"/>
              <a:t>The LIKE clause can use conditions with wildcard characters  such as ‘%’ and ‘_’</a:t>
            </a:r>
          </a:p>
          <a:p>
            <a:r>
              <a:rPr lang="en-US" dirty="0"/>
              <a:t>This clause is optional</a:t>
            </a:r>
          </a:p>
          <a:p>
            <a:r>
              <a:rPr lang="en-US" dirty="0"/>
              <a:t>The ‘%’ represents any string of zero or more characters</a:t>
            </a:r>
          </a:p>
          <a:p>
            <a:r>
              <a:rPr lang="en-US" dirty="0"/>
              <a:t>The ‘_’ represents any single character</a:t>
            </a:r>
          </a:p>
          <a:p>
            <a:endParaRPr lang="en-PK" dirty="0"/>
          </a:p>
        </p:txBody>
      </p:sp>
    </p:spTree>
    <p:extLst>
      <p:ext uri="{BB962C8B-B14F-4D97-AF65-F5344CB8AC3E}">
        <p14:creationId xmlns:p14="http://schemas.microsoft.com/office/powerpoint/2010/main" val="5543747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B37D6-CB4B-4D7D-A63A-074E5A48B1A6}"/>
              </a:ext>
            </a:extLst>
          </p:cNvPr>
          <p:cNvSpPr>
            <a:spLocks noGrp="1"/>
          </p:cNvSpPr>
          <p:nvPr>
            <p:ph type="title"/>
          </p:nvPr>
        </p:nvSpPr>
        <p:spPr>
          <a:xfrm>
            <a:off x="609600" y="274638"/>
            <a:ext cx="7924800" cy="715962"/>
          </a:xfrm>
        </p:spPr>
        <p:txBody>
          <a:bodyPr/>
          <a:lstStyle/>
          <a:p>
            <a:r>
              <a:rPr lang="en-US" dirty="0"/>
              <a:t>LIKE:</a:t>
            </a:r>
            <a:endParaRPr lang="en-PK" dirty="0"/>
          </a:p>
        </p:txBody>
      </p:sp>
      <p:sp>
        <p:nvSpPr>
          <p:cNvPr id="3" name="Content Placeholder 2">
            <a:extLst>
              <a:ext uri="{FF2B5EF4-FFF2-40B4-BE49-F238E27FC236}">
                <a16:creationId xmlns:a16="http://schemas.microsoft.com/office/drawing/2014/main" id="{F6A257FB-B935-4047-8A67-09536F0C6ABE}"/>
              </a:ext>
            </a:extLst>
          </p:cNvPr>
          <p:cNvSpPr>
            <a:spLocks noGrp="1"/>
          </p:cNvSpPr>
          <p:nvPr>
            <p:ph sz="quarter" idx="13"/>
          </p:nvPr>
        </p:nvSpPr>
        <p:spPr>
          <a:xfrm>
            <a:off x="584200" y="976489"/>
            <a:ext cx="7924800" cy="3900311"/>
          </a:xfrm>
        </p:spPr>
        <p:txBody>
          <a:bodyPr>
            <a:normAutofit fontScale="92500"/>
          </a:bodyPr>
          <a:lstStyle/>
          <a:p>
            <a:r>
              <a:rPr lang="en-US" dirty="0"/>
              <a:t>To view a list of tables in a database, use the following syntax:</a:t>
            </a:r>
          </a:p>
          <a:p>
            <a:pPr marL="0" indent="0" algn="ctr">
              <a:buNone/>
            </a:pPr>
            <a:r>
              <a:rPr lang="en-US" dirty="0"/>
              <a:t>SHOW TABLES [FROM </a:t>
            </a:r>
            <a:r>
              <a:rPr lang="en-US" dirty="0" err="1"/>
              <a:t>database_name</a:t>
            </a:r>
            <a:r>
              <a:rPr lang="en-US" dirty="0"/>
              <a:t>] [LIKE &lt;condition&gt;];</a:t>
            </a:r>
          </a:p>
          <a:p>
            <a:r>
              <a:rPr lang="en-US" dirty="0"/>
              <a:t>where,</a:t>
            </a:r>
          </a:p>
          <a:p>
            <a:pPr lvl="1"/>
            <a:r>
              <a:rPr lang="en-US" dirty="0"/>
              <a:t>SHOW TABLES – displays the tables from the selected database</a:t>
            </a:r>
          </a:p>
          <a:p>
            <a:pPr lvl="1"/>
            <a:r>
              <a:rPr lang="en-US" dirty="0"/>
              <a:t>FROM </a:t>
            </a:r>
            <a:r>
              <a:rPr lang="en-US" dirty="0" err="1"/>
              <a:t>database_name</a:t>
            </a:r>
            <a:r>
              <a:rPr lang="en-US" dirty="0"/>
              <a:t> – displays the tables from the database specified in the clause</a:t>
            </a:r>
          </a:p>
          <a:p>
            <a:r>
              <a:rPr lang="en-US" dirty="0"/>
              <a:t>The FROM clause enables you to specify the database name for which</a:t>
            </a:r>
          </a:p>
          <a:p>
            <a:r>
              <a:rPr lang="en-US" dirty="0"/>
              <a:t>tables are to be listed</a:t>
            </a:r>
          </a:p>
          <a:p>
            <a:r>
              <a:rPr lang="en-US" dirty="0"/>
              <a:t>You can use this keyword when you have not activated a database from  the server with the USE command</a:t>
            </a:r>
          </a:p>
          <a:p>
            <a:r>
              <a:rPr lang="en-US" dirty="0"/>
              <a:t>LIKE &lt;condition&gt; – displays the tables from the database based  on the condition specified in the clause</a:t>
            </a:r>
          </a:p>
          <a:p>
            <a:endParaRPr lang="en-PK" dirty="0"/>
          </a:p>
        </p:txBody>
      </p:sp>
      <p:sp>
        <p:nvSpPr>
          <p:cNvPr id="4" name="Rectangle 3">
            <a:extLst>
              <a:ext uri="{FF2B5EF4-FFF2-40B4-BE49-F238E27FC236}">
                <a16:creationId xmlns:a16="http://schemas.microsoft.com/office/drawing/2014/main" id="{94C7B706-0181-4AAA-9EDE-D8DC5B19CB28}"/>
              </a:ext>
            </a:extLst>
          </p:cNvPr>
          <p:cNvSpPr/>
          <p:nvPr/>
        </p:nvSpPr>
        <p:spPr>
          <a:xfrm>
            <a:off x="1295400" y="4876800"/>
            <a:ext cx="5791200" cy="923330"/>
          </a:xfrm>
          <a:prstGeom prst="rect">
            <a:avLst/>
          </a:prstGeom>
        </p:spPr>
        <p:txBody>
          <a:bodyPr wrap="square">
            <a:spAutoFit/>
          </a:bodyPr>
          <a:lstStyle/>
          <a:p>
            <a:r>
              <a:rPr lang="en-US" dirty="0"/>
              <a:t>Similarly used with column .</a:t>
            </a:r>
          </a:p>
          <a:p>
            <a:r>
              <a:rPr lang="en-US" dirty="0"/>
              <a:t>Show column from </a:t>
            </a:r>
            <a:r>
              <a:rPr lang="en-US" dirty="0" err="1"/>
              <a:t>tables_name</a:t>
            </a:r>
            <a:r>
              <a:rPr lang="en-US" dirty="0"/>
              <a:t> (from </a:t>
            </a:r>
            <a:r>
              <a:rPr lang="en-US" dirty="0" err="1"/>
              <a:t>database_name</a:t>
            </a:r>
            <a:r>
              <a:rPr lang="en-US" dirty="0"/>
              <a:t>) like&lt;condition&gt;</a:t>
            </a:r>
          </a:p>
        </p:txBody>
      </p:sp>
    </p:spTree>
    <p:extLst>
      <p:ext uri="{BB962C8B-B14F-4D97-AF65-F5344CB8AC3E}">
        <p14:creationId xmlns:p14="http://schemas.microsoft.com/office/powerpoint/2010/main" val="18527257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0FA25-6139-45CF-B768-5562070807D4}"/>
              </a:ext>
            </a:extLst>
          </p:cNvPr>
          <p:cNvSpPr>
            <a:spLocks noGrp="1"/>
          </p:cNvSpPr>
          <p:nvPr>
            <p:ph type="title"/>
          </p:nvPr>
        </p:nvSpPr>
        <p:spPr>
          <a:xfrm>
            <a:off x="609600" y="274638"/>
            <a:ext cx="7924800" cy="681037"/>
          </a:xfrm>
        </p:spPr>
        <p:txBody>
          <a:bodyPr/>
          <a:lstStyle/>
          <a:p>
            <a:r>
              <a:rPr lang="en-US" dirty="0"/>
              <a:t>Show Indexes:</a:t>
            </a:r>
            <a:endParaRPr lang="en-PK" dirty="0"/>
          </a:p>
        </p:txBody>
      </p:sp>
      <p:sp>
        <p:nvSpPr>
          <p:cNvPr id="3" name="Content Placeholder 2">
            <a:extLst>
              <a:ext uri="{FF2B5EF4-FFF2-40B4-BE49-F238E27FC236}">
                <a16:creationId xmlns:a16="http://schemas.microsoft.com/office/drawing/2014/main" id="{262B9AF8-2200-416D-ACE4-BB1B8191A03F}"/>
              </a:ext>
            </a:extLst>
          </p:cNvPr>
          <p:cNvSpPr>
            <a:spLocks noGrp="1"/>
          </p:cNvSpPr>
          <p:nvPr>
            <p:ph sz="quarter" idx="13"/>
          </p:nvPr>
        </p:nvSpPr>
        <p:spPr>
          <a:xfrm>
            <a:off x="598170" y="964142"/>
            <a:ext cx="7924800" cy="2464858"/>
          </a:xfrm>
        </p:spPr>
        <p:txBody>
          <a:bodyPr>
            <a:normAutofit lnSpcReduction="10000"/>
          </a:bodyPr>
          <a:lstStyle/>
          <a:p>
            <a:r>
              <a:rPr lang="en-US" dirty="0"/>
              <a:t>To view the index in a table from a database, use the  following syntax:</a:t>
            </a:r>
          </a:p>
          <a:p>
            <a:pPr marL="0" indent="0" algn="ctr">
              <a:buNone/>
            </a:pPr>
            <a:r>
              <a:rPr lang="en-US" dirty="0"/>
              <a:t>SHOW INDEX FROM </a:t>
            </a:r>
            <a:r>
              <a:rPr lang="en-US" dirty="0" err="1"/>
              <a:t>table_name</a:t>
            </a:r>
            <a:r>
              <a:rPr lang="en-US" dirty="0"/>
              <a:t> [FROM </a:t>
            </a:r>
            <a:r>
              <a:rPr lang="en-US" dirty="0" err="1"/>
              <a:t>database_name</a:t>
            </a:r>
            <a:r>
              <a:rPr lang="en-US" dirty="0"/>
              <a:t>];</a:t>
            </a:r>
          </a:p>
          <a:p>
            <a:r>
              <a:rPr lang="en-US" dirty="0"/>
              <a:t>where,</a:t>
            </a:r>
          </a:p>
          <a:p>
            <a:pPr lvl="1"/>
            <a:r>
              <a:rPr lang="en-US" dirty="0"/>
              <a:t>SHOW INDEX - displays the index information of the table specified in the </a:t>
            </a:r>
            <a:r>
              <a:rPr lang="en-US" dirty="0" err="1"/>
              <a:t>table_name</a:t>
            </a:r>
            <a:r>
              <a:rPr lang="en-US" dirty="0"/>
              <a:t> clause of the command</a:t>
            </a:r>
          </a:p>
          <a:p>
            <a:pPr lvl="1"/>
            <a:r>
              <a:rPr lang="en-US" dirty="0"/>
              <a:t>FROM </a:t>
            </a:r>
            <a:r>
              <a:rPr lang="en-US" dirty="0" err="1"/>
              <a:t>table_name</a:t>
            </a:r>
            <a:r>
              <a:rPr lang="en-US" dirty="0"/>
              <a:t> – specifies the name of the table to retrieve the index</a:t>
            </a:r>
          </a:p>
          <a:p>
            <a:pPr lvl="1"/>
            <a:r>
              <a:rPr lang="en-US" dirty="0"/>
              <a:t>FROM </a:t>
            </a:r>
            <a:r>
              <a:rPr lang="en-US" dirty="0" err="1"/>
              <a:t>database_name</a:t>
            </a:r>
            <a:r>
              <a:rPr lang="en-US" dirty="0"/>
              <a:t> - specifies the name of the database where the table exists</a:t>
            </a:r>
          </a:p>
          <a:p>
            <a:endParaRPr lang="en-PK" dirty="0"/>
          </a:p>
        </p:txBody>
      </p:sp>
      <p:graphicFrame>
        <p:nvGraphicFramePr>
          <p:cNvPr id="4" name="object 4">
            <a:extLst>
              <a:ext uri="{FF2B5EF4-FFF2-40B4-BE49-F238E27FC236}">
                <a16:creationId xmlns:a16="http://schemas.microsoft.com/office/drawing/2014/main" id="{0A57D560-0348-44D6-851F-5EDC7CFEAEC7}"/>
              </a:ext>
            </a:extLst>
          </p:cNvPr>
          <p:cNvGraphicFramePr>
            <a:graphicFrameLocks noGrp="1"/>
          </p:cNvGraphicFramePr>
          <p:nvPr>
            <p:extLst>
              <p:ext uri="{D42A27DB-BD31-4B8C-83A1-F6EECF244321}">
                <p14:modId xmlns:p14="http://schemas.microsoft.com/office/powerpoint/2010/main" val="3210464971"/>
              </p:ext>
            </p:extLst>
          </p:nvPr>
        </p:nvGraphicFramePr>
        <p:xfrm>
          <a:off x="621030" y="3276600"/>
          <a:ext cx="7913370" cy="2930525"/>
        </p:xfrm>
        <a:graphic>
          <a:graphicData uri="http://schemas.openxmlformats.org/drawingml/2006/table">
            <a:tbl>
              <a:tblPr firstRow="1" bandRow="1">
                <a:tableStyleId>{616DA210-FB5B-4158-B5E0-FEB733F419BA}</a:tableStyleId>
              </a:tblPr>
              <a:tblGrid>
                <a:gridCol w="2012950">
                  <a:extLst>
                    <a:ext uri="{9D8B030D-6E8A-4147-A177-3AD203B41FA5}">
                      <a16:colId xmlns:a16="http://schemas.microsoft.com/office/drawing/2014/main" val="20000"/>
                    </a:ext>
                  </a:extLst>
                </a:gridCol>
                <a:gridCol w="5900420">
                  <a:extLst>
                    <a:ext uri="{9D8B030D-6E8A-4147-A177-3AD203B41FA5}">
                      <a16:colId xmlns:a16="http://schemas.microsoft.com/office/drawing/2014/main" val="20001"/>
                    </a:ext>
                  </a:extLst>
                </a:gridCol>
              </a:tblGrid>
              <a:tr h="319405">
                <a:tc>
                  <a:txBody>
                    <a:bodyPr/>
                    <a:lstStyle/>
                    <a:p>
                      <a:pPr marL="27940" algn="ctr">
                        <a:lnSpc>
                          <a:spcPct val="100000"/>
                        </a:lnSpc>
                        <a:spcBef>
                          <a:spcPts val="265"/>
                        </a:spcBef>
                      </a:pPr>
                      <a:r>
                        <a:rPr sz="1500" spc="-85" dirty="0"/>
                        <a:t>Column</a:t>
                      </a:r>
                      <a:endParaRPr sz="1500">
                        <a:latin typeface="Trebuchet MS"/>
                        <a:cs typeface="Trebuchet MS"/>
                      </a:endParaRPr>
                    </a:p>
                  </a:txBody>
                  <a:tcPr marL="0" marR="0" marT="33655" marB="0"/>
                </a:tc>
                <a:tc>
                  <a:txBody>
                    <a:bodyPr/>
                    <a:lstStyle/>
                    <a:p>
                      <a:pPr marL="29209" algn="ctr">
                        <a:lnSpc>
                          <a:spcPct val="100000"/>
                        </a:lnSpc>
                        <a:spcBef>
                          <a:spcPts val="265"/>
                        </a:spcBef>
                      </a:pPr>
                      <a:r>
                        <a:rPr sz="1500" spc="-80" dirty="0"/>
                        <a:t>Description</a:t>
                      </a:r>
                      <a:endParaRPr sz="1500" dirty="0">
                        <a:latin typeface="Trebuchet MS"/>
                        <a:cs typeface="Trebuchet MS"/>
                      </a:endParaRPr>
                    </a:p>
                  </a:txBody>
                  <a:tcPr marL="0" marR="0" marT="33655" marB="0"/>
                </a:tc>
                <a:extLst>
                  <a:ext uri="{0D108BD9-81ED-4DB2-BD59-A6C34878D82A}">
                    <a16:rowId xmlns:a16="http://schemas.microsoft.com/office/drawing/2014/main" val="10000"/>
                  </a:ext>
                </a:extLst>
              </a:tr>
              <a:tr h="319405">
                <a:tc>
                  <a:txBody>
                    <a:bodyPr/>
                    <a:lstStyle/>
                    <a:p>
                      <a:pPr marL="105410">
                        <a:lnSpc>
                          <a:spcPct val="100000"/>
                        </a:lnSpc>
                        <a:spcBef>
                          <a:spcPts val="265"/>
                        </a:spcBef>
                      </a:pPr>
                      <a:r>
                        <a:rPr sz="1500" spc="-110" dirty="0"/>
                        <a:t>Table</a:t>
                      </a:r>
                      <a:endParaRPr sz="1500">
                        <a:latin typeface="Arial"/>
                        <a:cs typeface="Arial"/>
                      </a:endParaRPr>
                    </a:p>
                  </a:txBody>
                  <a:tcPr marL="0" marR="0" marT="33655" marB="0"/>
                </a:tc>
                <a:tc>
                  <a:txBody>
                    <a:bodyPr/>
                    <a:lstStyle/>
                    <a:p>
                      <a:pPr marL="106045">
                        <a:lnSpc>
                          <a:spcPct val="100000"/>
                        </a:lnSpc>
                        <a:spcBef>
                          <a:spcPts val="265"/>
                        </a:spcBef>
                      </a:pPr>
                      <a:r>
                        <a:rPr sz="1500" spc="-95" dirty="0"/>
                        <a:t>Displays </a:t>
                      </a:r>
                      <a:r>
                        <a:rPr sz="1500" spc="-80" dirty="0"/>
                        <a:t>name </a:t>
                      </a:r>
                      <a:r>
                        <a:rPr sz="1500" spc="-5" dirty="0"/>
                        <a:t>of </a:t>
                      </a:r>
                      <a:r>
                        <a:rPr sz="1500" spc="-20" dirty="0"/>
                        <a:t>the</a:t>
                      </a:r>
                      <a:r>
                        <a:rPr sz="1500" spc="-180" dirty="0"/>
                        <a:t> </a:t>
                      </a:r>
                      <a:r>
                        <a:rPr sz="1500" spc="-40" dirty="0"/>
                        <a:t>table</a:t>
                      </a:r>
                      <a:endParaRPr sz="1500">
                        <a:latin typeface="Arial"/>
                        <a:cs typeface="Arial"/>
                      </a:endParaRPr>
                    </a:p>
                  </a:txBody>
                  <a:tcPr marL="0" marR="0" marT="33655" marB="0"/>
                </a:tc>
                <a:extLst>
                  <a:ext uri="{0D108BD9-81ED-4DB2-BD59-A6C34878D82A}">
                    <a16:rowId xmlns:a16="http://schemas.microsoft.com/office/drawing/2014/main" val="10001"/>
                  </a:ext>
                </a:extLst>
              </a:tr>
              <a:tr h="320040">
                <a:tc>
                  <a:txBody>
                    <a:bodyPr/>
                    <a:lstStyle/>
                    <a:p>
                      <a:pPr marL="105410">
                        <a:lnSpc>
                          <a:spcPct val="100000"/>
                        </a:lnSpc>
                        <a:spcBef>
                          <a:spcPts val="265"/>
                        </a:spcBef>
                      </a:pPr>
                      <a:r>
                        <a:rPr sz="1500" spc="-60" dirty="0"/>
                        <a:t>Non_unique</a:t>
                      </a:r>
                      <a:endParaRPr sz="1500">
                        <a:latin typeface="Arial"/>
                        <a:cs typeface="Arial"/>
                      </a:endParaRPr>
                    </a:p>
                  </a:txBody>
                  <a:tcPr marL="0" marR="0" marT="33655" marB="0"/>
                </a:tc>
                <a:tc>
                  <a:txBody>
                    <a:bodyPr/>
                    <a:lstStyle/>
                    <a:p>
                      <a:pPr marL="106045">
                        <a:lnSpc>
                          <a:spcPct val="100000"/>
                        </a:lnSpc>
                        <a:spcBef>
                          <a:spcPts val="265"/>
                        </a:spcBef>
                      </a:pPr>
                      <a:r>
                        <a:rPr sz="1500" spc="-95" dirty="0"/>
                        <a:t>Displays</a:t>
                      </a:r>
                      <a:r>
                        <a:rPr sz="1500" spc="-105" dirty="0"/>
                        <a:t> </a:t>
                      </a:r>
                      <a:r>
                        <a:rPr sz="1500" spc="-75" dirty="0"/>
                        <a:t>0 </a:t>
                      </a:r>
                      <a:r>
                        <a:rPr sz="1500" spc="25" dirty="0"/>
                        <a:t>if</a:t>
                      </a:r>
                      <a:r>
                        <a:rPr sz="1500" spc="-70" dirty="0"/>
                        <a:t> </a:t>
                      </a:r>
                      <a:r>
                        <a:rPr sz="1500" spc="-20" dirty="0"/>
                        <a:t>the</a:t>
                      </a:r>
                      <a:r>
                        <a:rPr sz="1500" spc="-85" dirty="0"/>
                        <a:t> </a:t>
                      </a:r>
                      <a:r>
                        <a:rPr sz="1500" spc="-60" dirty="0"/>
                        <a:t>index</a:t>
                      </a:r>
                      <a:r>
                        <a:rPr sz="1500" spc="-80" dirty="0"/>
                        <a:t> </a:t>
                      </a:r>
                      <a:r>
                        <a:rPr sz="1500" spc="-55" dirty="0"/>
                        <a:t>cannot</a:t>
                      </a:r>
                      <a:r>
                        <a:rPr sz="1500" spc="-105" dirty="0"/>
                        <a:t> </a:t>
                      </a:r>
                      <a:r>
                        <a:rPr sz="1500" spc="-50" dirty="0"/>
                        <a:t>contain</a:t>
                      </a:r>
                      <a:r>
                        <a:rPr sz="1500" spc="-95" dirty="0"/>
                        <a:t> </a:t>
                      </a:r>
                      <a:r>
                        <a:rPr sz="1500" spc="-45" dirty="0"/>
                        <a:t>duplicate</a:t>
                      </a:r>
                      <a:r>
                        <a:rPr sz="1500" spc="-110" dirty="0"/>
                        <a:t> </a:t>
                      </a:r>
                      <a:r>
                        <a:rPr sz="1500" spc="-70" dirty="0"/>
                        <a:t>value</a:t>
                      </a:r>
                      <a:endParaRPr sz="1500">
                        <a:latin typeface="Arial"/>
                        <a:cs typeface="Arial"/>
                      </a:endParaRPr>
                    </a:p>
                  </a:txBody>
                  <a:tcPr marL="0" marR="0" marT="33655" marB="0"/>
                </a:tc>
                <a:extLst>
                  <a:ext uri="{0D108BD9-81ED-4DB2-BD59-A6C34878D82A}">
                    <a16:rowId xmlns:a16="http://schemas.microsoft.com/office/drawing/2014/main" val="10002"/>
                  </a:ext>
                </a:extLst>
              </a:tr>
              <a:tr h="319405">
                <a:tc>
                  <a:txBody>
                    <a:bodyPr/>
                    <a:lstStyle/>
                    <a:p>
                      <a:pPr marL="105410">
                        <a:lnSpc>
                          <a:spcPct val="100000"/>
                        </a:lnSpc>
                        <a:spcBef>
                          <a:spcPts val="265"/>
                        </a:spcBef>
                      </a:pPr>
                      <a:r>
                        <a:rPr sz="1500" spc="-105" dirty="0"/>
                        <a:t>Key_name</a:t>
                      </a:r>
                      <a:endParaRPr sz="1500">
                        <a:latin typeface="Arial"/>
                        <a:cs typeface="Arial"/>
                      </a:endParaRPr>
                    </a:p>
                  </a:txBody>
                  <a:tcPr marL="0" marR="0" marT="33655" marB="0"/>
                </a:tc>
                <a:tc>
                  <a:txBody>
                    <a:bodyPr/>
                    <a:lstStyle/>
                    <a:p>
                      <a:pPr marL="106045">
                        <a:lnSpc>
                          <a:spcPct val="100000"/>
                        </a:lnSpc>
                        <a:spcBef>
                          <a:spcPts val="265"/>
                        </a:spcBef>
                      </a:pPr>
                      <a:r>
                        <a:rPr sz="1500" spc="-95" dirty="0"/>
                        <a:t>Displays </a:t>
                      </a:r>
                      <a:r>
                        <a:rPr sz="1500" spc="-60" dirty="0"/>
                        <a:t>index</a:t>
                      </a:r>
                      <a:r>
                        <a:rPr sz="1500" spc="-90" dirty="0"/>
                        <a:t> </a:t>
                      </a:r>
                      <a:r>
                        <a:rPr sz="1500" spc="-80" dirty="0"/>
                        <a:t>name</a:t>
                      </a:r>
                      <a:endParaRPr sz="1500">
                        <a:latin typeface="Arial"/>
                        <a:cs typeface="Arial"/>
                      </a:endParaRPr>
                    </a:p>
                  </a:txBody>
                  <a:tcPr marL="0" marR="0" marT="33655" marB="0"/>
                </a:tc>
                <a:extLst>
                  <a:ext uri="{0D108BD9-81ED-4DB2-BD59-A6C34878D82A}">
                    <a16:rowId xmlns:a16="http://schemas.microsoft.com/office/drawing/2014/main" val="10003"/>
                  </a:ext>
                </a:extLst>
              </a:tr>
              <a:tr h="332740">
                <a:tc>
                  <a:txBody>
                    <a:bodyPr/>
                    <a:lstStyle/>
                    <a:p>
                      <a:pPr marL="105410">
                        <a:lnSpc>
                          <a:spcPct val="100000"/>
                        </a:lnSpc>
                        <a:spcBef>
                          <a:spcPts val="265"/>
                        </a:spcBef>
                      </a:pPr>
                      <a:r>
                        <a:rPr sz="1500" spc="-85" dirty="0"/>
                        <a:t>Seq_in_index</a:t>
                      </a:r>
                      <a:endParaRPr sz="1500">
                        <a:latin typeface="Arial"/>
                        <a:cs typeface="Arial"/>
                      </a:endParaRPr>
                    </a:p>
                  </a:txBody>
                  <a:tcPr marL="0" marR="0" marT="33655" marB="0"/>
                </a:tc>
                <a:tc>
                  <a:txBody>
                    <a:bodyPr/>
                    <a:lstStyle/>
                    <a:p>
                      <a:pPr marL="106045">
                        <a:lnSpc>
                          <a:spcPct val="100000"/>
                        </a:lnSpc>
                        <a:spcBef>
                          <a:spcPts val="265"/>
                        </a:spcBef>
                      </a:pPr>
                      <a:r>
                        <a:rPr sz="1500" spc="-95" dirty="0"/>
                        <a:t>Displays</a:t>
                      </a:r>
                      <a:r>
                        <a:rPr sz="1500" spc="-105" dirty="0"/>
                        <a:t> </a:t>
                      </a:r>
                      <a:r>
                        <a:rPr sz="1500" spc="-90" dirty="0"/>
                        <a:t>sequence</a:t>
                      </a:r>
                      <a:r>
                        <a:rPr sz="1500" spc="-75" dirty="0"/>
                        <a:t> </a:t>
                      </a:r>
                      <a:r>
                        <a:rPr sz="1500" spc="-45" dirty="0"/>
                        <a:t>number</a:t>
                      </a:r>
                      <a:r>
                        <a:rPr sz="1500" spc="-95" dirty="0"/>
                        <a:t> </a:t>
                      </a:r>
                      <a:r>
                        <a:rPr sz="1500" spc="-5" dirty="0"/>
                        <a:t>of</a:t>
                      </a:r>
                      <a:r>
                        <a:rPr sz="1500" spc="-85" dirty="0"/>
                        <a:t> </a:t>
                      </a:r>
                      <a:r>
                        <a:rPr sz="1500" spc="-70" dirty="0"/>
                        <a:t>columns</a:t>
                      </a:r>
                      <a:r>
                        <a:rPr sz="1500" spc="-80" dirty="0"/>
                        <a:t> </a:t>
                      </a:r>
                      <a:r>
                        <a:rPr sz="1500" spc="-20" dirty="0"/>
                        <a:t>in</a:t>
                      </a:r>
                      <a:r>
                        <a:rPr sz="1500" spc="-90" dirty="0"/>
                        <a:t> </a:t>
                      </a:r>
                      <a:r>
                        <a:rPr sz="1500" spc="-60" dirty="0"/>
                        <a:t>index,</a:t>
                      </a:r>
                      <a:r>
                        <a:rPr sz="1500" spc="-80" dirty="0"/>
                        <a:t> </a:t>
                      </a:r>
                      <a:r>
                        <a:rPr sz="1500" spc="-35" dirty="0"/>
                        <a:t>starting</a:t>
                      </a:r>
                      <a:r>
                        <a:rPr sz="1500" spc="-100" dirty="0"/>
                        <a:t> </a:t>
                      </a:r>
                      <a:r>
                        <a:rPr sz="1500" spc="5" dirty="0"/>
                        <a:t>with</a:t>
                      </a:r>
                      <a:r>
                        <a:rPr sz="1500" spc="-75" dirty="0"/>
                        <a:t> 1</a:t>
                      </a:r>
                      <a:endParaRPr sz="1500">
                        <a:latin typeface="Arial"/>
                        <a:cs typeface="Arial"/>
                      </a:endParaRPr>
                    </a:p>
                  </a:txBody>
                  <a:tcPr marL="0" marR="0" marT="33655" marB="0"/>
                </a:tc>
                <a:extLst>
                  <a:ext uri="{0D108BD9-81ED-4DB2-BD59-A6C34878D82A}">
                    <a16:rowId xmlns:a16="http://schemas.microsoft.com/office/drawing/2014/main" val="10004"/>
                  </a:ext>
                </a:extLst>
              </a:tr>
              <a:tr h="319405">
                <a:tc>
                  <a:txBody>
                    <a:bodyPr/>
                    <a:lstStyle/>
                    <a:p>
                      <a:pPr marL="105410">
                        <a:lnSpc>
                          <a:spcPct val="100000"/>
                        </a:lnSpc>
                        <a:spcBef>
                          <a:spcPts val="270"/>
                        </a:spcBef>
                      </a:pPr>
                      <a:r>
                        <a:rPr sz="1500" spc="-80" dirty="0"/>
                        <a:t>Column_name</a:t>
                      </a:r>
                      <a:endParaRPr sz="1500">
                        <a:latin typeface="Arial"/>
                        <a:cs typeface="Arial"/>
                      </a:endParaRPr>
                    </a:p>
                  </a:txBody>
                  <a:tcPr marL="0" marR="0" marT="34290" marB="0"/>
                </a:tc>
                <a:tc>
                  <a:txBody>
                    <a:bodyPr/>
                    <a:lstStyle/>
                    <a:p>
                      <a:pPr marL="106045">
                        <a:lnSpc>
                          <a:spcPct val="100000"/>
                        </a:lnSpc>
                        <a:spcBef>
                          <a:spcPts val="270"/>
                        </a:spcBef>
                      </a:pPr>
                      <a:r>
                        <a:rPr sz="1500" spc="-95" dirty="0"/>
                        <a:t>Displays </a:t>
                      </a:r>
                      <a:r>
                        <a:rPr sz="1500" spc="-55" dirty="0"/>
                        <a:t>column</a:t>
                      </a:r>
                      <a:r>
                        <a:rPr sz="1500" spc="-105" dirty="0"/>
                        <a:t> </a:t>
                      </a:r>
                      <a:r>
                        <a:rPr sz="1500" spc="-80" dirty="0"/>
                        <a:t>name</a:t>
                      </a:r>
                      <a:endParaRPr sz="1500">
                        <a:latin typeface="Arial"/>
                        <a:cs typeface="Arial"/>
                      </a:endParaRPr>
                    </a:p>
                  </a:txBody>
                  <a:tcPr marL="0" marR="0" marT="34290" marB="0"/>
                </a:tc>
                <a:extLst>
                  <a:ext uri="{0D108BD9-81ED-4DB2-BD59-A6C34878D82A}">
                    <a16:rowId xmlns:a16="http://schemas.microsoft.com/office/drawing/2014/main" val="10005"/>
                  </a:ext>
                </a:extLst>
              </a:tr>
              <a:tr h="319405">
                <a:tc>
                  <a:txBody>
                    <a:bodyPr/>
                    <a:lstStyle/>
                    <a:p>
                      <a:pPr marL="105410">
                        <a:lnSpc>
                          <a:spcPct val="100000"/>
                        </a:lnSpc>
                        <a:spcBef>
                          <a:spcPts val="270"/>
                        </a:spcBef>
                      </a:pPr>
                      <a:r>
                        <a:rPr sz="1500" spc="-50" dirty="0"/>
                        <a:t>Collation</a:t>
                      </a:r>
                      <a:endParaRPr sz="1500">
                        <a:latin typeface="Arial"/>
                        <a:cs typeface="Arial"/>
                      </a:endParaRPr>
                    </a:p>
                  </a:txBody>
                  <a:tcPr marL="0" marR="0" marT="34290" marB="0"/>
                </a:tc>
                <a:tc>
                  <a:txBody>
                    <a:bodyPr/>
                    <a:lstStyle/>
                    <a:p>
                      <a:pPr marL="106045">
                        <a:lnSpc>
                          <a:spcPct val="100000"/>
                        </a:lnSpc>
                        <a:spcBef>
                          <a:spcPts val="270"/>
                        </a:spcBef>
                      </a:pPr>
                      <a:r>
                        <a:rPr sz="1500" spc="-95" dirty="0"/>
                        <a:t>Displays</a:t>
                      </a:r>
                      <a:r>
                        <a:rPr sz="1500" spc="-105" dirty="0"/>
                        <a:t> </a:t>
                      </a:r>
                      <a:r>
                        <a:rPr sz="1500" spc="-20" dirty="0"/>
                        <a:t>the</a:t>
                      </a:r>
                      <a:r>
                        <a:rPr sz="1500" spc="-85" dirty="0"/>
                        <a:t> </a:t>
                      </a:r>
                      <a:r>
                        <a:rPr sz="1500" spc="-40" dirty="0"/>
                        <a:t>sorting</a:t>
                      </a:r>
                      <a:r>
                        <a:rPr sz="1500" spc="-105" dirty="0"/>
                        <a:t> </a:t>
                      </a:r>
                      <a:r>
                        <a:rPr sz="1500" spc="-35" dirty="0"/>
                        <a:t>order</a:t>
                      </a:r>
                      <a:r>
                        <a:rPr sz="1500" spc="-80" dirty="0"/>
                        <a:t> </a:t>
                      </a:r>
                      <a:r>
                        <a:rPr sz="1500" spc="-5" dirty="0"/>
                        <a:t>of</a:t>
                      </a:r>
                      <a:r>
                        <a:rPr sz="1500" spc="-85" dirty="0"/>
                        <a:t> </a:t>
                      </a:r>
                      <a:r>
                        <a:rPr sz="1500" spc="-70" dirty="0"/>
                        <a:t>columns</a:t>
                      </a:r>
                      <a:r>
                        <a:rPr sz="1500" spc="-80" dirty="0"/>
                        <a:t> </a:t>
                      </a:r>
                      <a:r>
                        <a:rPr sz="1500" spc="-20" dirty="0"/>
                        <a:t>in</a:t>
                      </a:r>
                      <a:r>
                        <a:rPr sz="1500" spc="-90" dirty="0"/>
                        <a:t> </a:t>
                      </a:r>
                      <a:r>
                        <a:rPr sz="1500" spc="-20" dirty="0"/>
                        <a:t>the</a:t>
                      </a:r>
                      <a:r>
                        <a:rPr sz="1500" spc="-85" dirty="0"/>
                        <a:t> </a:t>
                      </a:r>
                      <a:r>
                        <a:rPr sz="1500" spc="-60" dirty="0"/>
                        <a:t>index</a:t>
                      </a:r>
                      <a:endParaRPr sz="1500">
                        <a:latin typeface="Arial"/>
                        <a:cs typeface="Arial"/>
                      </a:endParaRPr>
                    </a:p>
                  </a:txBody>
                  <a:tcPr marL="0" marR="0" marT="34290" marB="0"/>
                </a:tc>
                <a:extLst>
                  <a:ext uri="{0D108BD9-81ED-4DB2-BD59-A6C34878D82A}">
                    <a16:rowId xmlns:a16="http://schemas.microsoft.com/office/drawing/2014/main" val="10006"/>
                  </a:ext>
                </a:extLst>
              </a:tr>
              <a:tr h="361315">
                <a:tc>
                  <a:txBody>
                    <a:bodyPr/>
                    <a:lstStyle/>
                    <a:p>
                      <a:pPr marL="105410">
                        <a:lnSpc>
                          <a:spcPct val="100000"/>
                        </a:lnSpc>
                        <a:spcBef>
                          <a:spcPts val="270"/>
                        </a:spcBef>
                      </a:pPr>
                      <a:r>
                        <a:rPr sz="1500" spc="-55" dirty="0"/>
                        <a:t>Cardinality</a:t>
                      </a:r>
                      <a:endParaRPr sz="1500">
                        <a:latin typeface="Arial"/>
                        <a:cs typeface="Arial"/>
                      </a:endParaRPr>
                    </a:p>
                  </a:txBody>
                  <a:tcPr marL="0" marR="0" marT="34290" marB="0"/>
                </a:tc>
                <a:tc>
                  <a:txBody>
                    <a:bodyPr/>
                    <a:lstStyle/>
                    <a:p>
                      <a:pPr marL="106045">
                        <a:lnSpc>
                          <a:spcPct val="100000"/>
                        </a:lnSpc>
                        <a:spcBef>
                          <a:spcPts val="270"/>
                        </a:spcBef>
                      </a:pPr>
                      <a:r>
                        <a:rPr sz="1500" spc="-95" dirty="0"/>
                        <a:t>Displays </a:t>
                      </a:r>
                      <a:r>
                        <a:rPr sz="1500" spc="-45" dirty="0"/>
                        <a:t>number </a:t>
                      </a:r>
                      <a:r>
                        <a:rPr sz="1500" spc="-5" dirty="0"/>
                        <a:t>of </a:t>
                      </a:r>
                      <a:r>
                        <a:rPr sz="1500" spc="-45" dirty="0"/>
                        <a:t>unique </a:t>
                      </a:r>
                      <a:r>
                        <a:rPr sz="1500" spc="-85" dirty="0"/>
                        <a:t>values </a:t>
                      </a:r>
                      <a:r>
                        <a:rPr sz="1500" spc="-20" dirty="0"/>
                        <a:t>in the</a:t>
                      </a:r>
                      <a:r>
                        <a:rPr sz="1500" spc="-315" dirty="0"/>
                        <a:t> </a:t>
                      </a:r>
                      <a:r>
                        <a:rPr sz="1500" spc="-60" dirty="0"/>
                        <a:t>index</a:t>
                      </a:r>
                      <a:endParaRPr sz="1500">
                        <a:latin typeface="Arial"/>
                        <a:cs typeface="Arial"/>
                      </a:endParaRPr>
                    </a:p>
                  </a:txBody>
                  <a:tcPr marL="0" marR="0" marT="34290" marB="0"/>
                </a:tc>
                <a:extLst>
                  <a:ext uri="{0D108BD9-81ED-4DB2-BD59-A6C34878D82A}">
                    <a16:rowId xmlns:a16="http://schemas.microsoft.com/office/drawing/2014/main" val="10007"/>
                  </a:ext>
                </a:extLst>
              </a:tr>
              <a:tr h="319405">
                <a:tc>
                  <a:txBody>
                    <a:bodyPr/>
                    <a:lstStyle/>
                    <a:p>
                      <a:pPr marL="105410">
                        <a:lnSpc>
                          <a:spcPct val="100000"/>
                        </a:lnSpc>
                        <a:spcBef>
                          <a:spcPts val="270"/>
                        </a:spcBef>
                      </a:pPr>
                      <a:r>
                        <a:rPr sz="1500" spc="-75" dirty="0"/>
                        <a:t>Sub_part</a:t>
                      </a:r>
                      <a:endParaRPr sz="1500">
                        <a:latin typeface="Arial"/>
                        <a:cs typeface="Arial"/>
                      </a:endParaRPr>
                    </a:p>
                  </a:txBody>
                  <a:tcPr marL="0" marR="0" marT="34290" marB="0"/>
                </a:tc>
                <a:tc>
                  <a:txBody>
                    <a:bodyPr/>
                    <a:lstStyle/>
                    <a:p>
                      <a:pPr marL="106045">
                        <a:lnSpc>
                          <a:spcPct val="100000"/>
                        </a:lnSpc>
                        <a:spcBef>
                          <a:spcPts val="270"/>
                        </a:spcBef>
                      </a:pPr>
                      <a:r>
                        <a:rPr sz="1500" spc="-95" dirty="0"/>
                        <a:t>Displays</a:t>
                      </a:r>
                      <a:r>
                        <a:rPr sz="1500" spc="-105" dirty="0"/>
                        <a:t> </a:t>
                      </a:r>
                      <a:r>
                        <a:rPr sz="1500" spc="-45" dirty="0"/>
                        <a:t>number</a:t>
                      </a:r>
                      <a:r>
                        <a:rPr sz="1500" spc="-90" dirty="0"/>
                        <a:t> </a:t>
                      </a:r>
                      <a:r>
                        <a:rPr sz="1500" spc="-5" dirty="0"/>
                        <a:t>of</a:t>
                      </a:r>
                      <a:r>
                        <a:rPr sz="1500" spc="-70" dirty="0"/>
                        <a:t> indexed</a:t>
                      </a:r>
                      <a:r>
                        <a:rPr sz="1500" spc="-80" dirty="0"/>
                        <a:t> </a:t>
                      </a:r>
                      <a:r>
                        <a:rPr sz="1500" spc="-70" dirty="0"/>
                        <a:t>characters</a:t>
                      </a:r>
                      <a:r>
                        <a:rPr sz="1500" spc="-100" dirty="0"/>
                        <a:t> </a:t>
                      </a:r>
                      <a:r>
                        <a:rPr sz="1500" spc="-50" dirty="0"/>
                        <a:t>when</a:t>
                      </a:r>
                      <a:r>
                        <a:rPr sz="1500" spc="-70" dirty="0"/>
                        <a:t> </a:t>
                      </a:r>
                      <a:r>
                        <a:rPr sz="1500" spc="-20" dirty="0"/>
                        <a:t>the</a:t>
                      </a:r>
                      <a:r>
                        <a:rPr sz="1500" spc="-80" dirty="0"/>
                        <a:t> </a:t>
                      </a:r>
                      <a:r>
                        <a:rPr sz="1500" spc="-55" dirty="0"/>
                        <a:t>column</a:t>
                      </a:r>
                      <a:r>
                        <a:rPr sz="1500" spc="-90" dirty="0"/>
                        <a:t> </a:t>
                      </a:r>
                      <a:r>
                        <a:rPr sz="1500" spc="-80" dirty="0"/>
                        <a:t>is</a:t>
                      </a:r>
                      <a:r>
                        <a:rPr sz="1500" spc="-70" dirty="0"/>
                        <a:t> </a:t>
                      </a:r>
                      <a:r>
                        <a:rPr sz="1500" spc="-20" dirty="0"/>
                        <a:t>partly</a:t>
                      </a:r>
                      <a:r>
                        <a:rPr sz="1500" spc="-100" dirty="0"/>
                        <a:t> </a:t>
                      </a:r>
                      <a:r>
                        <a:rPr sz="1500" spc="-70" dirty="0"/>
                        <a:t>indexed</a:t>
                      </a:r>
                      <a:endParaRPr sz="1500" dirty="0">
                        <a:latin typeface="Arial"/>
                        <a:cs typeface="Arial"/>
                      </a:endParaRPr>
                    </a:p>
                  </a:txBody>
                  <a:tcPr marL="0" marR="0" marT="34290" marB="0"/>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9146562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044B0-95DC-4D2C-B2FF-A40FA8374170}"/>
              </a:ext>
            </a:extLst>
          </p:cNvPr>
          <p:cNvSpPr>
            <a:spLocks noGrp="1"/>
          </p:cNvSpPr>
          <p:nvPr>
            <p:ph type="title"/>
          </p:nvPr>
        </p:nvSpPr>
        <p:spPr>
          <a:xfrm>
            <a:off x="609600" y="274638"/>
            <a:ext cx="7924800" cy="639762"/>
          </a:xfrm>
        </p:spPr>
        <p:txBody>
          <a:bodyPr/>
          <a:lstStyle/>
          <a:p>
            <a:r>
              <a:rPr lang="en-US" dirty="0"/>
              <a:t>Show indexes:</a:t>
            </a:r>
            <a:endParaRPr lang="en-PK" dirty="0"/>
          </a:p>
        </p:txBody>
      </p:sp>
      <p:sp>
        <p:nvSpPr>
          <p:cNvPr id="3" name="Content Placeholder 2">
            <a:extLst>
              <a:ext uri="{FF2B5EF4-FFF2-40B4-BE49-F238E27FC236}">
                <a16:creationId xmlns:a16="http://schemas.microsoft.com/office/drawing/2014/main" id="{432BE888-AB2A-415D-926B-7DE4C368A77B}"/>
              </a:ext>
            </a:extLst>
          </p:cNvPr>
          <p:cNvSpPr>
            <a:spLocks noGrp="1"/>
          </p:cNvSpPr>
          <p:nvPr>
            <p:ph sz="quarter" idx="13"/>
          </p:nvPr>
        </p:nvSpPr>
        <p:spPr>
          <a:xfrm>
            <a:off x="609600" y="1066800"/>
            <a:ext cx="7924800" cy="4114800"/>
          </a:xfrm>
        </p:spPr>
        <p:txBody>
          <a:bodyPr>
            <a:normAutofit fontScale="92500" lnSpcReduction="10000"/>
          </a:bodyPr>
          <a:lstStyle/>
          <a:p>
            <a:r>
              <a:rPr lang="en-US" dirty="0"/>
              <a:t>Alternatively, you can use the following syntax</a:t>
            </a:r>
          </a:p>
          <a:p>
            <a:pPr marL="0" indent="0" algn="ctr">
              <a:buNone/>
            </a:pPr>
            <a:r>
              <a:rPr lang="en-US" dirty="0"/>
              <a:t>SHOW INDEX FROM </a:t>
            </a:r>
            <a:r>
              <a:rPr lang="en-US" dirty="0" err="1"/>
              <a:t>database_name.table_name</a:t>
            </a:r>
            <a:r>
              <a:rPr lang="en-US" dirty="0"/>
              <a:t>;</a:t>
            </a:r>
          </a:p>
          <a:p>
            <a:r>
              <a:rPr lang="en-US" dirty="0"/>
              <a:t>where,</a:t>
            </a:r>
          </a:p>
          <a:p>
            <a:pPr lvl="1"/>
            <a:r>
              <a:rPr lang="en-US" dirty="0"/>
              <a:t>SHOW INDEX – displays the table index</a:t>
            </a:r>
          </a:p>
          <a:p>
            <a:pPr lvl="1"/>
            <a:r>
              <a:rPr lang="en-US" dirty="0" err="1"/>
              <a:t>database_name</a:t>
            </a:r>
            <a:r>
              <a:rPr lang="en-US" dirty="0"/>
              <a:t> – specifies the name of the database that contains the table</a:t>
            </a:r>
          </a:p>
          <a:p>
            <a:pPr lvl="1"/>
            <a:r>
              <a:rPr lang="en-US" dirty="0" err="1"/>
              <a:t>table_name</a:t>
            </a:r>
            <a:r>
              <a:rPr lang="en-US" dirty="0"/>
              <a:t> – specifies the name of the table for which you want to display the index</a:t>
            </a:r>
          </a:p>
          <a:p>
            <a:r>
              <a:rPr lang="en-US" dirty="0"/>
              <a:t>This command is more compact and concise</a:t>
            </a:r>
          </a:p>
          <a:p>
            <a:r>
              <a:rPr lang="en-US" dirty="0"/>
              <a:t>To view the server status, use the following syntax:</a:t>
            </a:r>
          </a:p>
          <a:p>
            <a:pPr marL="0" indent="0" algn="ctr">
              <a:buNone/>
            </a:pPr>
            <a:r>
              <a:rPr lang="en-US" dirty="0"/>
              <a:t>SHOW STATUS;</a:t>
            </a:r>
          </a:p>
          <a:p>
            <a:r>
              <a:rPr lang="en-US" dirty="0"/>
              <a:t>where,</a:t>
            </a:r>
          </a:p>
          <a:p>
            <a:pPr lvl="1"/>
            <a:r>
              <a:rPr lang="en-US" dirty="0"/>
              <a:t>SHOW – displays the object specified in the clause</a:t>
            </a:r>
          </a:p>
          <a:p>
            <a:pPr lvl="1"/>
            <a:r>
              <a:rPr lang="en-US" dirty="0"/>
              <a:t>STATUS – displays information about the server</a:t>
            </a:r>
          </a:p>
        </p:txBody>
      </p:sp>
    </p:spTree>
    <p:extLst>
      <p:ext uri="{BB962C8B-B14F-4D97-AF65-F5344CB8AC3E}">
        <p14:creationId xmlns:p14="http://schemas.microsoft.com/office/powerpoint/2010/main" val="30849987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69A20-1367-4FAC-9F3E-E2F5BB5E1541}"/>
              </a:ext>
            </a:extLst>
          </p:cNvPr>
          <p:cNvSpPr>
            <a:spLocks noGrp="1"/>
          </p:cNvSpPr>
          <p:nvPr>
            <p:ph type="title"/>
          </p:nvPr>
        </p:nvSpPr>
        <p:spPr>
          <a:xfrm>
            <a:off x="609600" y="274638"/>
            <a:ext cx="7924800" cy="639762"/>
          </a:xfrm>
        </p:spPr>
        <p:txBody>
          <a:bodyPr/>
          <a:lstStyle/>
          <a:p>
            <a:r>
              <a:rPr lang="en-US" dirty="0"/>
              <a:t>SHOW TABLE STATUS:</a:t>
            </a:r>
            <a:endParaRPr lang="en-PK" dirty="0"/>
          </a:p>
        </p:txBody>
      </p:sp>
      <p:sp>
        <p:nvSpPr>
          <p:cNvPr id="3" name="Content Placeholder 2">
            <a:extLst>
              <a:ext uri="{FF2B5EF4-FFF2-40B4-BE49-F238E27FC236}">
                <a16:creationId xmlns:a16="http://schemas.microsoft.com/office/drawing/2014/main" id="{32CFE618-C9F6-48C2-9DFE-7C4A409FE5C8}"/>
              </a:ext>
            </a:extLst>
          </p:cNvPr>
          <p:cNvSpPr>
            <a:spLocks noGrp="1"/>
          </p:cNvSpPr>
          <p:nvPr>
            <p:ph sz="quarter" idx="13"/>
          </p:nvPr>
        </p:nvSpPr>
        <p:spPr>
          <a:xfrm>
            <a:off x="609600" y="1066800"/>
            <a:ext cx="7924800" cy="4114800"/>
          </a:xfrm>
        </p:spPr>
        <p:txBody>
          <a:bodyPr/>
          <a:lstStyle/>
          <a:p>
            <a:r>
              <a:rPr lang="en-US" dirty="0"/>
              <a:t>The SHOW TABLE STATUS command is similar to the SHOW  TABLE command except that it displays more information about each  table. The syntax for SHOW TABLE STATUS command is as follows:</a:t>
            </a:r>
          </a:p>
          <a:p>
            <a:pPr marL="0" indent="0">
              <a:buNone/>
            </a:pPr>
            <a:r>
              <a:rPr lang="en-US" dirty="0"/>
              <a:t>	SHOW TABLE STATUS [FROM </a:t>
            </a:r>
            <a:r>
              <a:rPr lang="en-US" dirty="0" err="1"/>
              <a:t>database_name</a:t>
            </a:r>
            <a:r>
              <a:rPr lang="en-US" dirty="0"/>
              <a:t>] [LIKE &lt;condition&gt;];</a:t>
            </a:r>
          </a:p>
          <a:p>
            <a:r>
              <a:rPr lang="en-US" dirty="0"/>
              <a:t>where,</a:t>
            </a:r>
          </a:p>
          <a:p>
            <a:pPr lvl="1"/>
            <a:r>
              <a:rPr lang="en-US" dirty="0"/>
              <a:t>SHOW TABLE STATUS – displays information about tables in the database  FROM </a:t>
            </a:r>
            <a:r>
              <a:rPr lang="en-US" dirty="0" err="1"/>
              <a:t>database_name</a:t>
            </a:r>
            <a:r>
              <a:rPr lang="en-US" dirty="0"/>
              <a:t> – enables you to specify the database to select tables  LIKE &lt;condition&gt; – specifies one or more conditions to be satisfied before  displaying the table information</a:t>
            </a:r>
          </a:p>
          <a:p>
            <a:endParaRPr lang="en-PK" dirty="0"/>
          </a:p>
        </p:txBody>
      </p:sp>
    </p:spTree>
    <p:extLst>
      <p:ext uri="{BB962C8B-B14F-4D97-AF65-F5344CB8AC3E}">
        <p14:creationId xmlns:p14="http://schemas.microsoft.com/office/powerpoint/2010/main" val="18882004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44091B-796B-4E5A-A061-CD5CFED943F9}"/>
              </a:ext>
            </a:extLst>
          </p:cNvPr>
          <p:cNvSpPr>
            <a:spLocks noGrp="1"/>
          </p:cNvSpPr>
          <p:nvPr>
            <p:ph sz="quarter" idx="13"/>
          </p:nvPr>
        </p:nvSpPr>
        <p:spPr>
          <a:xfrm>
            <a:off x="609600" y="457200"/>
            <a:ext cx="7924800" cy="381000"/>
          </a:xfrm>
        </p:spPr>
        <p:txBody>
          <a:bodyPr/>
          <a:lstStyle/>
          <a:p>
            <a:r>
              <a:rPr lang="en-US" dirty="0"/>
              <a:t>Table lists the information returned by the SHOW TABLE STATUS command</a:t>
            </a:r>
          </a:p>
        </p:txBody>
      </p:sp>
      <p:graphicFrame>
        <p:nvGraphicFramePr>
          <p:cNvPr id="4" name="object 4">
            <a:extLst>
              <a:ext uri="{FF2B5EF4-FFF2-40B4-BE49-F238E27FC236}">
                <a16:creationId xmlns:a16="http://schemas.microsoft.com/office/drawing/2014/main" id="{D1537B7E-F58E-4FEA-87E4-31EA009DC8BA}"/>
              </a:ext>
            </a:extLst>
          </p:cNvPr>
          <p:cNvGraphicFramePr>
            <a:graphicFrameLocks noGrp="1"/>
          </p:cNvGraphicFramePr>
          <p:nvPr>
            <p:extLst>
              <p:ext uri="{D42A27DB-BD31-4B8C-83A1-F6EECF244321}">
                <p14:modId xmlns:p14="http://schemas.microsoft.com/office/powerpoint/2010/main" val="3034253633"/>
              </p:ext>
            </p:extLst>
          </p:nvPr>
        </p:nvGraphicFramePr>
        <p:xfrm>
          <a:off x="347133" y="762000"/>
          <a:ext cx="8415867" cy="5022850"/>
        </p:xfrm>
        <a:graphic>
          <a:graphicData uri="http://schemas.openxmlformats.org/drawingml/2006/table">
            <a:tbl>
              <a:tblPr firstRow="1" bandRow="1">
                <a:tableStyleId>{616DA210-FB5B-4158-B5E0-FEB733F419BA}</a:tableStyleId>
              </a:tblPr>
              <a:tblGrid>
                <a:gridCol w="1902718">
                  <a:extLst>
                    <a:ext uri="{9D8B030D-6E8A-4147-A177-3AD203B41FA5}">
                      <a16:colId xmlns:a16="http://schemas.microsoft.com/office/drawing/2014/main" val="20000"/>
                    </a:ext>
                  </a:extLst>
                </a:gridCol>
                <a:gridCol w="6513149">
                  <a:extLst>
                    <a:ext uri="{9D8B030D-6E8A-4147-A177-3AD203B41FA5}">
                      <a16:colId xmlns:a16="http://schemas.microsoft.com/office/drawing/2014/main" val="20001"/>
                    </a:ext>
                  </a:extLst>
                </a:gridCol>
              </a:tblGrid>
              <a:tr h="493395">
                <a:tc>
                  <a:txBody>
                    <a:bodyPr/>
                    <a:lstStyle/>
                    <a:p>
                      <a:pPr marL="26670" algn="ctr">
                        <a:lnSpc>
                          <a:spcPct val="100000"/>
                        </a:lnSpc>
                        <a:spcBef>
                          <a:spcPts val="265"/>
                        </a:spcBef>
                      </a:pPr>
                      <a:r>
                        <a:rPr sz="1500" spc="-85" dirty="0"/>
                        <a:t>Column</a:t>
                      </a:r>
                      <a:endParaRPr sz="1500">
                        <a:latin typeface="Trebuchet MS"/>
                        <a:cs typeface="Trebuchet MS"/>
                      </a:endParaRPr>
                    </a:p>
                  </a:txBody>
                  <a:tcPr marL="0" marR="0" marT="33655" marB="0"/>
                </a:tc>
                <a:tc>
                  <a:txBody>
                    <a:bodyPr/>
                    <a:lstStyle/>
                    <a:p>
                      <a:pPr marL="28575" algn="ctr">
                        <a:lnSpc>
                          <a:spcPct val="100000"/>
                        </a:lnSpc>
                        <a:spcBef>
                          <a:spcPts val="265"/>
                        </a:spcBef>
                      </a:pPr>
                      <a:r>
                        <a:rPr sz="1500" spc="-80" dirty="0"/>
                        <a:t>Description</a:t>
                      </a:r>
                      <a:endParaRPr sz="1500">
                        <a:latin typeface="Trebuchet MS"/>
                        <a:cs typeface="Trebuchet MS"/>
                      </a:endParaRPr>
                    </a:p>
                  </a:txBody>
                  <a:tcPr marL="0" marR="0" marT="33655" marB="0"/>
                </a:tc>
                <a:extLst>
                  <a:ext uri="{0D108BD9-81ED-4DB2-BD59-A6C34878D82A}">
                    <a16:rowId xmlns:a16="http://schemas.microsoft.com/office/drawing/2014/main" val="10000"/>
                  </a:ext>
                </a:extLst>
              </a:tr>
              <a:tr h="319405">
                <a:tc>
                  <a:txBody>
                    <a:bodyPr/>
                    <a:lstStyle/>
                    <a:p>
                      <a:pPr marL="105410">
                        <a:lnSpc>
                          <a:spcPct val="100000"/>
                        </a:lnSpc>
                        <a:spcBef>
                          <a:spcPts val="265"/>
                        </a:spcBef>
                      </a:pPr>
                      <a:r>
                        <a:rPr sz="1500" spc="-95" dirty="0"/>
                        <a:t>Name</a:t>
                      </a:r>
                      <a:endParaRPr sz="1500">
                        <a:latin typeface="Arial"/>
                        <a:cs typeface="Arial"/>
                      </a:endParaRPr>
                    </a:p>
                  </a:txBody>
                  <a:tcPr marL="0" marR="0" marT="33655" marB="0"/>
                </a:tc>
                <a:tc>
                  <a:txBody>
                    <a:bodyPr/>
                    <a:lstStyle/>
                    <a:p>
                      <a:pPr marL="105410">
                        <a:lnSpc>
                          <a:spcPct val="100000"/>
                        </a:lnSpc>
                        <a:spcBef>
                          <a:spcPts val="265"/>
                        </a:spcBef>
                      </a:pPr>
                      <a:r>
                        <a:rPr sz="1500" spc="-95" dirty="0"/>
                        <a:t>Displays </a:t>
                      </a:r>
                      <a:r>
                        <a:rPr sz="1500" spc="-20" dirty="0"/>
                        <a:t>the </a:t>
                      </a:r>
                      <a:r>
                        <a:rPr sz="1500" spc="-80" dirty="0"/>
                        <a:t>name </a:t>
                      </a:r>
                      <a:r>
                        <a:rPr sz="1500" spc="-5" dirty="0"/>
                        <a:t>of </a:t>
                      </a:r>
                      <a:r>
                        <a:rPr sz="1500" spc="-20" dirty="0"/>
                        <a:t>the</a:t>
                      </a:r>
                      <a:r>
                        <a:rPr sz="1500" spc="-245" dirty="0"/>
                        <a:t> </a:t>
                      </a:r>
                      <a:r>
                        <a:rPr sz="1500" spc="-40" dirty="0"/>
                        <a:t>table</a:t>
                      </a:r>
                      <a:endParaRPr sz="1500">
                        <a:latin typeface="Arial"/>
                        <a:cs typeface="Arial"/>
                      </a:endParaRPr>
                    </a:p>
                  </a:txBody>
                  <a:tcPr marL="0" marR="0" marT="33655" marB="0"/>
                </a:tc>
                <a:extLst>
                  <a:ext uri="{0D108BD9-81ED-4DB2-BD59-A6C34878D82A}">
                    <a16:rowId xmlns:a16="http://schemas.microsoft.com/office/drawing/2014/main" val="10001"/>
                  </a:ext>
                </a:extLst>
              </a:tr>
              <a:tr h="319405">
                <a:tc>
                  <a:txBody>
                    <a:bodyPr/>
                    <a:lstStyle/>
                    <a:p>
                      <a:pPr marL="105410">
                        <a:lnSpc>
                          <a:spcPct val="100000"/>
                        </a:lnSpc>
                        <a:spcBef>
                          <a:spcPts val="270"/>
                        </a:spcBef>
                      </a:pPr>
                      <a:r>
                        <a:rPr sz="1500" spc="-120" dirty="0"/>
                        <a:t>Type</a:t>
                      </a:r>
                      <a:endParaRPr sz="1500">
                        <a:latin typeface="Arial"/>
                        <a:cs typeface="Arial"/>
                      </a:endParaRPr>
                    </a:p>
                  </a:txBody>
                  <a:tcPr marL="0" marR="0" marT="34290" marB="0"/>
                </a:tc>
                <a:tc>
                  <a:txBody>
                    <a:bodyPr/>
                    <a:lstStyle/>
                    <a:p>
                      <a:pPr marL="105410">
                        <a:lnSpc>
                          <a:spcPct val="100000"/>
                        </a:lnSpc>
                        <a:spcBef>
                          <a:spcPts val="270"/>
                        </a:spcBef>
                      </a:pPr>
                      <a:r>
                        <a:rPr sz="1500" spc="-95" dirty="0"/>
                        <a:t>Displays </a:t>
                      </a:r>
                      <a:r>
                        <a:rPr sz="1500" spc="-30" dirty="0"/>
                        <a:t>type </a:t>
                      </a:r>
                      <a:r>
                        <a:rPr sz="1500" spc="-5" dirty="0"/>
                        <a:t>of</a:t>
                      </a:r>
                      <a:r>
                        <a:rPr sz="1500" spc="-155" dirty="0"/>
                        <a:t> </a:t>
                      </a:r>
                      <a:r>
                        <a:rPr sz="1500" spc="-40" dirty="0"/>
                        <a:t>table</a:t>
                      </a:r>
                      <a:endParaRPr sz="1500">
                        <a:latin typeface="Arial"/>
                        <a:cs typeface="Arial"/>
                      </a:endParaRPr>
                    </a:p>
                  </a:txBody>
                  <a:tcPr marL="0" marR="0" marT="34290" marB="0"/>
                </a:tc>
                <a:extLst>
                  <a:ext uri="{0D108BD9-81ED-4DB2-BD59-A6C34878D82A}">
                    <a16:rowId xmlns:a16="http://schemas.microsoft.com/office/drawing/2014/main" val="10002"/>
                  </a:ext>
                </a:extLst>
              </a:tr>
              <a:tr h="319405">
                <a:tc>
                  <a:txBody>
                    <a:bodyPr/>
                    <a:lstStyle/>
                    <a:p>
                      <a:pPr marL="105410">
                        <a:lnSpc>
                          <a:spcPct val="100000"/>
                        </a:lnSpc>
                        <a:spcBef>
                          <a:spcPts val="265"/>
                        </a:spcBef>
                      </a:pPr>
                      <a:r>
                        <a:rPr sz="1500" spc="-60" dirty="0"/>
                        <a:t>Row_format</a:t>
                      </a:r>
                      <a:endParaRPr sz="1500">
                        <a:latin typeface="Arial"/>
                        <a:cs typeface="Arial"/>
                      </a:endParaRPr>
                    </a:p>
                  </a:txBody>
                  <a:tcPr marL="0" marR="0" marT="33655" marB="0"/>
                </a:tc>
                <a:tc>
                  <a:txBody>
                    <a:bodyPr/>
                    <a:lstStyle/>
                    <a:p>
                      <a:pPr marL="105410">
                        <a:lnSpc>
                          <a:spcPct val="100000"/>
                        </a:lnSpc>
                        <a:spcBef>
                          <a:spcPts val="265"/>
                        </a:spcBef>
                      </a:pPr>
                      <a:r>
                        <a:rPr sz="1500" spc="-95" dirty="0"/>
                        <a:t>Displays</a:t>
                      </a:r>
                      <a:r>
                        <a:rPr sz="1500" spc="-105" dirty="0"/>
                        <a:t> </a:t>
                      </a:r>
                      <a:r>
                        <a:rPr sz="1500" spc="-75" dirty="0"/>
                        <a:t>storage</a:t>
                      </a:r>
                      <a:r>
                        <a:rPr sz="1500" spc="-110" dirty="0"/>
                        <a:t> </a:t>
                      </a:r>
                      <a:r>
                        <a:rPr sz="1500" spc="-20" dirty="0"/>
                        <a:t>format</a:t>
                      </a:r>
                      <a:r>
                        <a:rPr sz="1500" spc="-80" dirty="0"/>
                        <a:t> </a:t>
                      </a:r>
                      <a:r>
                        <a:rPr sz="1500" spc="-5" dirty="0"/>
                        <a:t>of</a:t>
                      </a:r>
                      <a:r>
                        <a:rPr sz="1500" spc="-85" dirty="0"/>
                        <a:t> </a:t>
                      </a:r>
                      <a:r>
                        <a:rPr sz="1500" spc="-20" dirty="0"/>
                        <a:t>the</a:t>
                      </a:r>
                      <a:r>
                        <a:rPr sz="1500" spc="-85" dirty="0"/>
                        <a:t> </a:t>
                      </a:r>
                      <a:r>
                        <a:rPr sz="1500" spc="-20" dirty="0"/>
                        <a:t>row</a:t>
                      </a:r>
                      <a:r>
                        <a:rPr sz="1500" spc="-100" dirty="0"/>
                        <a:t> </a:t>
                      </a:r>
                      <a:r>
                        <a:rPr sz="1500" spc="-85" dirty="0"/>
                        <a:t>(such</a:t>
                      </a:r>
                      <a:r>
                        <a:rPr sz="1500" spc="-90" dirty="0"/>
                        <a:t> </a:t>
                      </a:r>
                      <a:r>
                        <a:rPr sz="1500" spc="-140" dirty="0"/>
                        <a:t>as</a:t>
                      </a:r>
                      <a:r>
                        <a:rPr sz="1500" spc="-80" dirty="0"/>
                        <a:t> </a:t>
                      </a:r>
                      <a:r>
                        <a:rPr sz="1500" spc="-50" dirty="0"/>
                        <a:t>fixed,</a:t>
                      </a:r>
                      <a:r>
                        <a:rPr sz="1500" spc="-75" dirty="0"/>
                        <a:t> </a:t>
                      </a:r>
                      <a:r>
                        <a:rPr sz="1500" spc="-60" dirty="0"/>
                        <a:t>dynamic,</a:t>
                      </a:r>
                      <a:r>
                        <a:rPr sz="1500" spc="-105" dirty="0"/>
                        <a:t> </a:t>
                      </a:r>
                      <a:r>
                        <a:rPr sz="1500" spc="-15" dirty="0"/>
                        <a:t>or</a:t>
                      </a:r>
                      <a:r>
                        <a:rPr sz="1500" spc="-75" dirty="0"/>
                        <a:t> </a:t>
                      </a:r>
                      <a:r>
                        <a:rPr sz="1500" spc="-80" dirty="0"/>
                        <a:t>compressed)</a:t>
                      </a:r>
                      <a:endParaRPr sz="1500">
                        <a:latin typeface="Arial"/>
                        <a:cs typeface="Arial"/>
                      </a:endParaRPr>
                    </a:p>
                  </a:txBody>
                  <a:tcPr marL="0" marR="0" marT="33655" marB="0"/>
                </a:tc>
                <a:extLst>
                  <a:ext uri="{0D108BD9-81ED-4DB2-BD59-A6C34878D82A}">
                    <a16:rowId xmlns:a16="http://schemas.microsoft.com/office/drawing/2014/main" val="10003"/>
                  </a:ext>
                </a:extLst>
              </a:tr>
              <a:tr h="333375">
                <a:tc>
                  <a:txBody>
                    <a:bodyPr/>
                    <a:lstStyle/>
                    <a:p>
                      <a:pPr marL="105410">
                        <a:lnSpc>
                          <a:spcPct val="100000"/>
                        </a:lnSpc>
                        <a:spcBef>
                          <a:spcPts val="265"/>
                        </a:spcBef>
                      </a:pPr>
                      <a:r>
                        <a:rPr sz="1500" spc="-140" dirty="0"/>
                        <a:t>Rows</a:t>
                      </a:r>
                      <a:endParaRPr sz="1500">
                        <a:latin typeface="Arial"/>
                        <a:cs typeface="Arial"/>
                      </a:endParaRPr>
                    </a:p>
                  </a:txBody>
                  <a:tcPr marL="0" marR="0" marT="33655" marB="0"/>
                </a:tc>
                <a:tc>
                  <a:txBody>
                    <a:bodyPr/>
                    <a:lstStyle/>
                    <a:p>
                      <a:pPr marL="105410">
                        <a:lnSpc>
                          <a:spcPct val="100000"/>
                        </a:lnSpc>
                        <a:spcBef>
                          <a:spcPts val="265"/>
                        </a:spcBef>
                      </a:pPr>
                      <a:r>
                        <a:rPr sz="1500" spc="-95" dirty="0"/>
                        <a:t>Displays </a:t>
                      </a:r>
                      <a:r>
                        <a:rPr sz="1500" spc="-45" dirty="0"/>
                        <a:t>number </a:t>
                      </a:r>
                      <a:r>
                        <a:rPr sz="1500" spc="-5" dirty="0"/>
                        <a:t>of</a:t>
                      </a:r>
                      <a:r>
                        <a:rPr sz="1500" spc="-135" dirty="0"/>
                        <a:t> </a:t>
                      </a:r>
                      <a:r>
                        <a:rPr sz="1500" spc="-60" dirty="0"/>
                        <a:t>rows</a:t>
                      </a:r>
                      <a:endParaRPr sz="1500">
                        <a:latin typeface="Arial"/>
                        <a:cs typeface="Arial"/>
                      </a:endParaRPr>
                    </a:p>
                  </a:txBody>
                  <a:tcPr marL="0" marR="0" marT="33655" marB="0"/>
                </a:tc>
                <a:extLst>
                  <a:ext uri="{0D108BD9-81ED-4DB2-BD59-A6C34878D82A}">
                    <a16:rowId xmlns:a16="http://schemas.microsoft.com/office/drawing/2014/main" val="10004"/>
                  </a:ext>
                </a:extLst>
              </a:tr>
              <a:tr h="320040">
                <a:tc>
                  <a:txBody>
                    <a:bodyPr/>
                    <a:lstStyle/>
                    <a:p>
                      <a:pPr marL="105410">
                        <a:lnSpc>
                          <a:spcPct val="100000"/>
                        </a:lnSpc>
                        <a:spcBef>
                          <a:spcPts val="270"/>
                        </a:spcBef>
                      </a:pPr>
                      <a:r>
                        <a:rPr sz="1500" spc="-65" dirty="0"/>
                        <a:t>Avg_row_length</a:t>
                      </a:r>
                      <a:endParaRPr sz="1500">
                        <a:latin typeface="Arial"/>
                        <a:cs typeface="Arial"/>
                      </a:endParaRPr>
                    </a:p>
                  </a:txBody>
                  <a:tcPr marL="0" marR="0" marT="34290" marB="0"/>
                </a:tc>
                <a:tc>
                  <a:txBody>
                    <a:bodyPr/>
                    <a:lstStyle/>
                    <a:p>
                      <a:pPr marL="105410">
                        <a:lnSpc>
                          <a:spcPct val="100000"/>
                        </a:lnSpc>
                        <a:spcBef>
                          <a:spcPts val="270"/>
                        </a:spcBef>
                      </a:pPr>
                      <a:r>
                        <a:rPr sz="1500" spc="-95" dirty="0"/>
                        <a:t>Displays </a:t>
                      </a:r>
                      <a:r>
                        <a:rPr sz="1500" spc="-100" dirty="0"/>
                        <a:t>average </a:t>
                      </a:r>
                      <a:r>
                        <a:rPr sz="1500" spc="-20" dirty="0"/>
                        <a:t>row</a:t>
                      </a:r>
                      <a:r>
                        <a:rPr sz="1500" spc="-95" dirty="0"/>
                        <a:t> </a:t>
                      </a:r>
                      <a:r>
                        <a:rPr sz="1500" spc="-40" dirty="0"/>
                        <a:t>length</a:t>
                      </a:r>
                      <a:endParaRPr sz="1500">
                        <a:latin typeface="Arial"/>
                        <a:cs typeface="Arial"/>
                      </a:endParaRPr>
                    </a:p>
                  </a:txBody>
                  <a:tcPr marL="0" marR="0" marT="34290" marB="0"/>
                </a:tc>
                <a:extLst>
                  <a:ext uri="{0D108BD9-81ED-4DB2-BD59-A6C34878D82A}">
                    <a16:rowId xmlns:a16="http://schemas.microsoft.com/office/drawing/2014/main" val="10005"/>
                  </a:ext>
                </a:extLst>
              </a:tr>
              <a:tr h="319405">
                <a:tc>
                  <a:txBody>
                    <a:bodyPr/>
                    <a:lstStyle/>
                    <a:p>
                      <a:pPr marL="105410">
                        <a:lnSpc>
                          <a:spcPct val="100000"/>
                        </a:lnSpc>
                        <a:spcBef>
                          <a:spcPts val="270"/>
                        </a:spcBef>
                      </a:pPr>
                      <a:r>
                        <a:rPr sz="1500" spc="-65" dirty="0"/>
                        <a:t>Data_length</a:t>
                      </a:r>
                      <a:endParaRPr sz="1500">
                        <a:latin typeface="Arial"/>
                        <a:cs typeface="Arial"/>
                      </a:endParaRPr>
                    </a:p>
                  </a:txBody>
                  <a:tcPr marL="0" marR="0" marT="34290" marB="0"/>
                </a:tc>
                <a:tc>
                  <a:txBody>
                    <a:bodyPr/>
                    <a:lstStyle/>
                    <a:p>
                      <a:pPr marL="105410">
                        <a:lnSpc>
                          <a:spcPct val="100000"/>
                        </a:lnSpc>
                        <a:spcBef>
                          <a:spcPts val="270"/>
                        </a:spcBef>
                      </a:pPr>
                      <a:r>
                        <a:rPr sz="1500" spc="-95" dirty="0"/>
                        <a:t>Displays </a:t>
                      </a:r>
                      <a:r>
                        <a:rPr sz="1500" spc="-40" dirty="0"/>
                        <a:t>length </a:t>
                      </a:r>
                      <a:r>
                        <a:rPr sz="1500" spc="-5" dirty="0"/>
                        <a:t>of </a:t>
                      </a:r>
                      <a:r>
                        <a:rPr sz="1500" spc="-20" dirty="0"/>
                        <a:t>the </a:t>
                      </a:r>
                      <a:r>
                        <a:rPr sz="1500" spc="-60" dirty="0"/>
                        <a:t>data</a:t>
                      </a:r>
                      <a:r>
                        <a:rPr sz="1500" spc="-305" dirty="0"/>
                        <a:t> </a:t>
                      </a:r>
                      <a:r>
                        <a:rPr sz="1500" spc="-15" dirty="0"/>
                        <a:t>file</a:t>
                      </a:r>
                      <a:endParaRPr sz="1500">
                        <a:latin typeface="Arial"/>
                        <a:cs typeface="Arial"/>
                      </a:endParaRPr>
                    </a:p>
                  </a:txBody>
                  <a:tcPr marL="0" marR="0" marT="34290" marB="0"/>
                </a:tc>
                <a:extLst>
                  <a:ext uri="{0D108BD9-81ED-4DB2-BD59-A6C34878D82A}">
                    <a16:rowId xmlns:a16="http://schemas.microsoft.com/office/drawing/2014/main" val="10006"/>
                  </a:ext>
                </a:extLst>
              </a:tr>
              <a:tr h="361315">
                <a:tc>
                  <a:txBody>
                    <a:bodyPr/>
                    <a:lstStyle/>
                    <a:p>
                      <a:pPr marL="105410">
                        <a:lnSpc>
                          <a:spcPct val="100000"/>
                        </a:lnSpc>
                        <a:spcBef>
                          <a:spcPts val="270"/>
                        </a:spcBef>
                      </a:pPr>
                      <a:r>
                        <a:rPr sz="1500" spc="-60" dirty="0"/>
                        <a:t>Max_data_length</a:t>
                      </a:r>
                      <a:endParaRPr sz="1500">
                        <a:latin typeface="Arial"/>
                        <a:cs typeface="Arial"/>
                      </a:endParaRPr>
                    </a:p>
                  </a:txBody>
                  <a:tcPr marL="0" marR="0" marT="34290" marB="0"/>
                </a:tc>
                <a:tc>
                  <a:txBody>
                    <a:bodyPr/>
                    <a:lstStyle/>
                    <a:p>
                      <a:pPr marL="105410">
                        <a:lnSpc>
                          <a:spcPct val="100000"/>
                        </a:lnSpc>
                        <a:spcBef>
                          <a:spcPts val="270"/>
                        </a:spcBef>
                      </a:pPr>
                      <a:r>
                        <a:rPr sz="1500" spc="-95" dirty="0"/>
                        <a:t>Displays max </a:t>
                      </a:r>
                      <a:r>
                        <a:rPr sz="1500" spc="-40" dirty="0"/>
                        <a:t>length </a:t>
                      </a:r>
                      <a:r>
                        <a:rPr sz="1500" spc="-5" dirty="0"/>
                        <a:t>of </a:t>
                      </a:r>
                      <a:r>
                        <a:rPr sz="1500" spc="-20" dirty="0"/>
                        <a:t>the </a:t>
                      </a:r>
                      <a:r>
                        <a:rPr sz="1500" spc="-60" dirty="0"/>
                        <a:t>data</a:t>
                      </a:r>
                      <a:r>
                        <a:rPr sz="1500" spc="-280" dirty="0"/>
                        <a:t> </a:t>
                      </a:r>
                      <a:r>
                        <a:rPr sz="1500" spc="-15" dirty="0"/>
                        <a:t>file</a:t>
                      </a:r>
                      <a:endParaRPr sz="1500">
                        <a:latin typeface="Arial"/>
                        <a:cs typeface="Arial"/>
                      </a:endParaRPr>
                    </a:p>
                  </a:txBody>
                  <a:tcPr marL="0" marR="0" marT="34290" marB="0"/>
                </a:tc>
                <a:extLst>
                  <a:ext uri="{0D108BD9-81ED-4DB2-BD59-A6C34878D82A}">
                    <a16:rowId xmlns:a16="http://schemas.microsoft.com/office/drawing/2014/main" val="10007"/>
                  </a:ext>
                </a:extLst>
              </a:tr>
              <a:tr h="320040">
                <a:tc>
                  <a:txBody>
                    <a:bodyPr/>
                    <a:lstStyle/>
                    <a:p>
                      <a:pPr marL="105410">
                        <a:lnSpc>
                          <a:spcPct val="100000"/>
                        </a:lnSpc>
                        <a:spcBef>
                          <a:spcPts val="270"/>
                        </a:spcBef>
                      </a:pPr>
                      <a:r>
                        <a:rPr sz="1500" spc="-60" dirty="0"/>
                        <a:t>Index_length</a:t>
                      </a:r>
                      <a:endParaRPr sz="1500">
                        <a:latin typeface="Arial"/>
                        <a:cs typeface="Arial"/>
                      </a:endParaRPr>
                    </a:p>
                  </a:txBody>
                  <a:tcPr marL="0" marR="0" marT="34290" marB="0"/>
                </a:tc>
                <a:tc>
                  <a:txBody>
                    <a:bodyPr/>
                    <a:lstStyle/>
                    <a:p>
                      <a:pPr marL="105410">
                        <a:lnSpc>
                          <a:spcPct val="100000"/>
                        </a:lnSpc>
                        <a:spcBef>
                          <a:spcPts val="270"/>
                        </a:spcBef>
                      </a:pPr>
                      <a:r>
                        <a:rPr sz="1500" spc="-95" dirty="0"/>
                        <a:t>Displays </a:t>
                      </a:r>
                      <a:r>
                        <a:rPr sz="1500" spc="-40" dirty="0"/>
                        <a:t>length </a:t>
                      </a:r>
                      <a:r>
                        <a:rPr sz="1500" spc="-5" dirty="0"/>
                        <a:t>of </a:t>
                      </a:r>
                      <a:r>
                        <a:rPr sz="1500" spc="-20" dirty="0"/>
                        <a:t>the </a:t>
                      </a:r>
                      <a:r>
                        <a:rPr sz="1500" spc="-60" dirty="0"/>
                        <a:t>index</a:t>
                      </a:r>
                      <a:r>
                        <a:rPr sz="1500" spc="-280" dirty="0"/>
                        <a:t> </a:t>
                      </a:r>
                      <a:r>
                        <a:rPr sz="1500" spc="-10" dirty="0"/>
                        <a:t>file</a:t>
                      </a:r>
                      <a:endParaRPr sz="1500">
                        <a:latin typeface="Arial"/>
                        <a:cs typeface="Arial"/>
                      </a:endParaRPr>
                    </a:p>
                  </a:txBody>
                  <a:tcPr marL="0" marR="0" marT="34290" marB="0"/>
                </a:tc>
                <a:extLst>
                  <a:ext uri="{0D108BD9-81ED-4DB2-BD59-A6C34878D82A}">
                    <a16:rowId xmlns:a16="http://schemas.microsoft.com/office/drawing/2014/main" val="10008"/>
                  </a:ext>
                </a:extLst>
              </a:tr>
              <a:tr h="319405">
                <a:tc>
                  <a:txBody>
                    <a:bodyPr/>
                    <a:lstStyle/>
                    <a:p>
                      <a:pPr marL="105410">
                        <a:lnSpc>
                          <a:spcPct val="100000"/>
                        </a:lnSpc>
                        <a:spcBef>
                          <a:spcPts val="270"/>
                        </a:spcBef>
                      </a:pPr>
                      <a:r>
                        <a:rPr sz="1500" spc="-65" dirty="0"/>
                        <a:t>Data_free</a:t>
                      </a:r>
                      <a:endParaRPr sz="1500">
                        <a:latin typeface="Arial"/>
                        <a:cs typeface="Arial"/>
                      </a:endParaRPr>
                    </a:p>
                  </a:txBody>
                  <a:tcPr marL="0" marR="0" marT="34290" marB="0"/>
                </a:tc>
                <a:tc>
                  <a:txBody>
                    <a:bodyPr/>
                    <a:lstStyle/>
                    <a:p>
                      <a:pPr marL="105410">
                        <a:lnSpc>
                          <a:spcPct val="100000"/>
                        </a:lnSpc>
                        <a:spcBef>
                          <a:spcPts val="270"/>
                        </a:spcBef>
                      </a:pPr>
                      <a:r>
                        <a:rPr sz="1500" spc="-95" dirty="0"/>
                        <a:t>Displays </a:t>
                      </a:r>
                      <a:r>
                        <a:rPr sz="1500" spc="-45" dirty="0"/>
                        <a:t>number </a:t>
                      </a:r>
                      <a:r>
                        <a:rPr sz="1500" spc="-5" dirty="0"/>
                        <a:t>of </a:t>
                      </a:r>
                      <a:r>
                        <a:rPr sz="1500" spc="-75" dirty="0"/>
                        <a:t>unused </a:t>
                      </a:r>
                      <a:r>
                        <a:rPr sz="1500" spc="-55" dirty="0"/>
                        <a:t>allocated</a:t>
                      </a:r>
                      <a:r>
                        <a:rPr sz="1500" spc="-254" dirty="0"/>
                        <a:t> </a:t>
                      </a:r>
                      <a:r>
                        <a:rPr sz="1500" spc="-60" dirty="0"/>
                        <a:t>bytes</a:t>
                      </a:r>
                      <a:endParaRPr sz="1500">
                        <a:latin typeface="Arial"/>
                        <a:cs typeface="Arial"/>
                      </a:endParaRPr>
                    </a:p>
                  </a:txBody>
                  <a:tcPr marL="0" marR="0" marT="34290" marB="0"/>
                </a:tc>
                <a:extLst>
                  <a:ext uri="{0D108BD9-81ED-4DB2-BD59-A6C34878D82A}">
                    <a16:rowId xmlns:a16="http://schemas.microsoft.com/office/drawing/2014/main" val="10009"/>
                  </a:ext>
                </a:extLst>
              </a:tr>
              <a:tr h="320040">
                <a:tc>
                  <a:txBody>
                    <a:bodyPr/>
                    <a:lstStyle/>
                    <a:p>
                      <a:pPr marL="105410">
                        <a:lnSpc>
                          <a:spcPct val="100000"/>
                        </a:lnSpc>
                        <a:spcBef>
                          <a:spcPts val="270"/>
                        </a:spcBef>
                      </a:pPr>
                      <a:r>
                        <a:rPr sz="1500" spc="-45" dirty="0"/>
                        <a:t>Auto_increment</a:t>
                      </a:r>
                      <a:endParaRPr sz="1500">
                        <a:latin typeface="Arial"/>
                        <a:cs typeface="Arial"/>
                      </a:endParaRPr>
                    </a:p>
                  </a:txBody>
                  <a:tcPr marL="0" marR="0" marT="34290" marB="0"/>
                </a:tc>
                <a:tc>
                  <a:txBody>
                    <a:bodyPr/>
                    <a:lstStyle/>
                    <a:p>
                      <a:pPr marL="105410">
                        <a:lnSpc>
                          <a:spcPct val="100000"/>
                        </a:lnSpc>
                        <a:spcBef>
                          <a:spcPts val="270"/>
                        </a:spcBef>
                      </a:pPr>
                      <a:r>
                        <a:rPr sz="1500" spc="-95" dirty="0"/>
                        <a:t>Displays </a:t>
                      </a:r>
                      <a:r>
                        <a:rPr sz="1500" spc="-50" dirty="0"/>
                        <a:t>next </a:t>
                      </a:r>
                      <a:r>
                        <a:rPr sz="1500" spc="-35" dirty="0"/>
                        <a:t>auto </a:t>
                      </a:r>
                      <a:r>
                        <a:rPr sz="1500" spc="-40" dirty="0"/>
                        <a:t>increment</a:t>
                      </a:r>
                      <a:r>
                        <a:rPr sz="1500" spc="-190" dirty="0"/>
                        <a:t> </a:t>
                      </a:r>
                      <a:r>
                        <a:rPr sz="1500" spc="-70" dirty="0"/>
                        <a:t>value</a:t>
                      </a:r>
                      <a:endParaRPr sz="1500">
                        <a:latin typeface="Arial"/>
                        <a:cs typeface="Arial"/>
                      </a:endParaRPr>
                    </a:p>
                  </a:txBody>
                  <a:tcPr marL="0" marR="0" marT="34290" marB="0"/>
                </a:tc>
                <a:extLst>
                  <a:ext uri="{0D108BD9-81ED-4DB2-BD59-A6C34878D82A}">
                    <a16:rowId xmlns:a16="http://schemas.microsoft.com/office/drawing/2014/main" val="10010"/>
                  </a:ext>
                </a:extLst>
              </a:tr>
              <a:tr h="319405">
                <a:tc>
                  <a:txBody>
                    <a:bodyPr/>
                    <a:lstStyle/>
                    <a:p>
                      <a:pPr marL="105410">
                        <a:lnSpc>
                          <a:spcPct val="100000"/>
                        </a:lnSpc>
                        <a:spcBef>
                          <a:spcPts val="270"/>
                        </a:spcBef>
                      </a:pPr>
                      <a:r>
                        <a:rPr sz="1500" spc="-60" dirty="0"/>
                        <a:t>Create_time</a:t>
                      </a:r>
                      <a:endParaRPr sz="1500">
                        <a:latin typeface="Arial"/>
                        <a:cs typeface="Arial"/>
                      </a:endParaRPr>
                    </a:p>
                  </a:txBody>
                  <a:tcPr marL="0" marR="0" marT="34290" marB="0"/>
                </a:tc>
                <a:tc>
                  <a:txBody>
                    <a:bodyPr/>
                    <a:lstStyle/>
                    <a:p>
                      <a:pPr marL="105410">
                        <a:lnSpc>
                          <a:spcPct val="100000"/>
                        </a:lnSpc>
                        <a:spcBef>
                          <a:spcPts val="270"/>
                        </a:spcBef>
                      </a:pPr>
                      <a:r>
                        <a:rPr sz="1500" spc="-95" dirty="0"/>
                        <a:t>Displays </a:t>
                      </a:r>
                      <a:r>
                        <a:rPr sz="1500" spc="-55" dirty="0"/>
                        <a:t>when </a:t>
                      </a:r>
                      <a:r>
                        <a:rPr sz="1500" spc="-15" dirty="0"/>
                        <a:t>the </a:t>
                      </a:r>
                      <a:r>
                        <a:rPr sz="1500" spc="-40" dirty="0"/>
                        <a:t>table </a:t>
                      </a:r>
                      <a:r>
                        <a:rPr sz="1500" spc="-105" dirty="0"/>
                        <a:t>was</a:t>
                      </a:r>
                      <a:r>
                        <a:rPr sz="1500" spc="-235" dirty="0"/>
                        <a:t> </a:t>
                      </a:r>
                      <a:r>
                        <a:rPr sz="1500" spc="-60" dirty="0"/>
                        <a:t>created</a:t>
                      </a:r>
                      <a:endParaRPr sz="1500">
                        <a:latin typeface="Arial"/>
                        <a:cs typeface="Arial"/>
                      </a:endParaRPr>
                    </a:p>
                  </a:txBody>
                  <a:tcPr marL="0" marR="0" marT="34290" marB="0"/>
                </a:tc>
                <a:extLst>
                  <a:ext uri="{0D108BD9-81ED-4DB2-BD59-A6C34878D82A}">
                    <a16:rowId xmlns:a16="http://schemas.microsoft.com/office/drawing/2014/main" val="10011"/>
                  </a:ext>
                </a:extLst>
              </a:tr>
              <a:tr h="319405">
                <a:tc>
                  <a:txBody>
                    <a:bodyPr/>
                    <a:lstStyle/>
                    <a:p>
                      <a:pPr marL="105410">
                        <a:lnSpc>
                          <a:spcPct val="100000"/>
                        </a:lnSpc>
                        <a:spcBef>
                          <a:spcPts val="275"/>
                        </a:spcBef>
                      </a:pPr>
                      <a:r>
                        <a:rPr sz="1500" spc="-50" dirty="0"/>
                        <a:t>Update_time</a:t>
                      </a:r>
                      <a:endParaRPr sz="1500">
                        <a:latin typeface="Arial"/>
                        <a:cs typeface="Arial"/>
                      </a:endParaRPr>
                    </a:p>
                  </a:txBody>
                  <a:tcPr marL="0" marR="0" marT="34925" marB="0"/>
                </a:tc>
                <a:tc>
                  <a:txBody>
                    <a:bodyPr/>
                    <a:lstStyle/>
                    <a:p>
                      <a:pPr marL="105410">
                        <a:lnSpc>
                          <a:spcPct val="100000"/>
                        </a:lnSpc>
                        <a:spcBef>
                          <a:spcPts val="275"/>
                        </a:spcBef>
                      </a:pPr>
                      <a:r>
                        <a:rPr sz="1500" spc="-95" dirty="0"/>
                        <a:t>Displays</a:t>
                      </a:r>
                      <a:r>
                        <a:rPr sz="1500" spc="-110" dirty="0"/>
                        <a:t> </a:t>
                      </a:r>
                      <a:r>
                        <a:rPr sz="1500" spc="-20" dirty="0"/>
                        <a:t>the</a:t>
                      </a:r>
                      <a:r>
                        <a:rPr sz="1500" spc="-85" dirty="0"/>
                        <a:t> </a:t>
                      </a:r>
                      <a:r>
                        <a:rPr sz="1500" spc="-50" dirty="0"/>
                        <a:t>date</a:t>
                      </a:r>
                      <a:r>
                        <a:rPr sz="1500" spc="-95" dirty="0"/>
                        <a:t> </a:t>
                      </a:r>
                      <a:r>
                        <a:rPr sz="1500" spc="-5" dirty="0"/>
                        <a:t>of</a:t>
                      </a:r>
                      <a:r>
                        <a:rPr sz="1500" spc="-80" dirty="0"/>
                        <a:t> </a:t>
                      </a:r>
                      <a:r>
                        <a:rPr sz="1500" spc="-50" dirty="0"/>
                        <a:t>last</a:t>
                      </a:r>
                      <a:r>
                        <a:rPr sz="1500" spc="-95" dirty="0"/>
                        <a:t> </a:t>
                      </a:r>
                      <a:r>
                        <a:rPr sz="1500" spc="-35" dirty="0"/>
                        <a:t>updation</a:t>
                      </a:r>
                      <a:r>
                        <a:rPr sz="1500" spc="-114" dirty="0"/>
                        <a:t> </a:t>
                      </a:r>
                      <a:r>
                        <a:rPr sz="1500" spc="-5" dirty="0"/>
                        <a:t>of</a:t>
                      </a:r>
                      <a:r>
                        <a:rPr sz="1500" spc="-75" dirty="0"/>
                        <a:t> </a:t>
                      </a:r>
                      <a:r>
                        <a:rPr sz="1500" spc="-60" dirty="0"/>
                        <a:t>data</a:t>
                      </a:r>
                      <a:r>
                        <a:rPr sz="1500" spc="-105" dirty="0"/>
                        <a:t> </a:t>
                      </a:r>
                      <a:r>
                        <a:rPr sz="1500" spc="-15" dirty="0"/>
                        <a:t>file</a:t>
                      </a:r>
                      <a:endParaRPr sz="1500">
                        <a:latin typeface="Arial"/>
                        <a:cs typeface="Arial"/>
                      </a:endParaRPr>
                    </a:p>
                  </a:txBody>
                  <a:tcPr marL="0" marR="0" marT="34925" marB="0"/>
                </a:tc>
                <a:extLst>
                  <a:ext uri="{0D108BD9-81ED-4DB2-BD59-A6C34878D82A}">
                    <a16:rowId xmlns:a16="http://schemas.microsoft.com/office/drawing/2014/main" val="10012"/>
                  </a:ext>
                </a:extLst>
              </a:tr>
              <a:tr h="319405">
                <a:tc>
                  <a:txBody>
                    <a:bodyPr/>
                    <a:lstStyle/>
                    <a:p>
                      <a:pPr marL="105410">
                        <a:lnSpc>
                          <a:spcPct val="100000"/>
                        </a:lnSpc>
                        <a:spcBef>
                          <a:spcPts val="275"/>
                        </a:spcBef>
                      </a:pPr>
                      <a:r>
                        <a:rPr sz="1500" spc="-75" dirty="0"/>
                        <a:t>Check_time</a:t>
                      </a:r>
                      <a:endParaRPr sz="1500">
                        <a:latin typeface="Arial"/>
                        <a:cs typeface="Arial"/>
                      </a:endParaRPr>
                    </a:p>
                  </a:txBody>
                  <a:tcPr marL="0" marR="0" marT="34925" marB="0"/>
                </a:tc>
                <a:tc>
                  <a:txBody>
                    <a:bodyPr/>
                    <a:lstStyle/>
                    <a:p>
                      <a:pPr marL="105410">
                        <a:lnSpc>
                          <a:spcPct val="100000"/>
                        </a:lnSpc>
                        <a:spcBef>
                          <a:spcPts val="275"/>
                        </a:spcBef>
                      </a:pPr>
                      <a:r>
                        <a:rPr sz="1500" spc="-95" dirty="0"/>
                        <a:t>Displays </a:t>
                      </a:r>
                      <a:r>
                        <a:rPr sz="1500" spc="-50" dirty="0"/>
                        <a:t>when </a:t>
                      </a:r>
                      <a:r>
                        <a:rPr sz="1500" spc="-20" dirty="0"/>
                        <a:t>the </a:t>
                      </a:r>
                      <a:r>
                        <a:rPr sz="1500" spc="-40" dirty="0"/>
                        <a:t>table </a:t>
                      </a:r>
                      <a:r>
                        <a:rPr sz="1500" spc="-105" dirty="0"/>
                        <a:t>was </a:t>
                      </a:r>
                      <a:r>
                        <a:rPr sz="1500" spc="-50" dirty="0"/>
                        <a:t>last</a:t>
                      </a:r>
                      <a:r>
                        <a:rPr sz="1500" spc="-220" dirty="0"/>
                        <a:t> </a:t>
                      </a:r>
                      <a:r>
                        <a:rPr sz="1500" spc="-90" dirty="0"/>
                        <a:t>checked</a:t>
                      </a:r>
                      <a:endParaRPr sz="1500">
                        <a:latin typeface="Arial"/>
                        <a:cs typeface="Arial"/>
                      </a:endParaRPr>
                    </a:p>
                  </a:txBody>
                  <a:tcPr marL="0" marR="0" marT="34925" marB="0"/>
                </a:tc>
                <a:extLst>
                  <a:ext uri="{0D108BD9-81ED-4DB2-BD59-A6C34878D82A}">
                    <a16:rowId xmlns:a16="http://schemas.microsoft.com/office/drawing/2014/main" val="10013"/>
                  </a:ext>
                </a:extLst>
              </a:tr>
              <a:tr h="319405">
                <a:tc>
                  <a:txBody>
                    <a:bodyPr/>
                    <a:lstStyle/>
                    <a:p>
                      <a:pPr marL="105410">
                        <a:lnSpc>
                          <a:spcPct val="100000"/>
                        </a:lnSpc>
                        <a:spcBef>
                          <a:spcPts val="275"/>
                        </a:spcBef>
                      </a:pPr>
                      <a:r>
                        <a:rPr sz="1500" spc="-75" dirty="0"/>
                        <a:t>Comment</a:t>
                      </a:r>
                      <a:endParaRPr sz="1500">
                        <a:latin typeface="Arial"/>
                        <a:cs typeface="Arial"/>
                      </a:endParaRPr>
                    </a:p>
                  </a:txBody>
                  <a:tcPr marL="0" marR="0" marT="34925" marB="0"/>
                </a:tc>
                <a:tc>
                  <a:txBody>
                    <a:bodyPr/>
                    <a:lstStyle/>
                    <a:p>
                      <a:pPr marL="105410">
                        <a:lnSpc>
                          <a:spcPct val="100000"/>
                        </a:lnSpc>
                        <a:spcBef>
                          <a:spcPts val="275"/>
                        </a:spcBef>
                      </a:pPr>
                      <a:r>
                        <a:rPr sz="1500" spc="-95" dirty="0"/>
                        <a:t>Displays </a:t>
                      </a:r>
                      <a:r>
                        <a:rPr sz="1500" spc="-20" dirty="0"/>
                        <a:t>the </a:t>
                      </a:r>
                      <a:r>
                        <a:rPr sz="1500" spc="-65" dirty="0"/>
                        <a:t>comments </a:t>
                      </a:r>
                      <a:r>
                        <a:rPr sz="1500" spc="-10" dirty="0"/>
                        <a:t>for </a:t>
                      </a:r>
                      <a:r>
                        <a:rPr sz="1500" spc="-120" dirty="0"/>
                        <a:t>a </a:t>
                      </a:r>
                      <a:r>
                        <a:rPr sz="1500" spc="-50" dirty="0"/>
                        <a:t>column. </a:t>
                      </a:r>
                      <a:r>
                        <a:rPr sz="1500" spc="-110" dirty="0"/>
                        <a:t>The </a:t>
                      </a:r>
                      <a:r>
                        <a:rPr sz="1500" spc="-50" dirty="0"/>
                        <a:t>comment </a:t>
                      </a:r>
                      <a:r>
                        <a:rPr sz="1500" spc="-100" dirty="0"/>
                        <a:t>can </a:t>
                      </a:r>
                      <a:r>
                        <a:rPr sz="1500" spc="-70" dirty="0"/>
                        <a:t>be </a:t>
                      </a:r>
                      <a:r>
                        <a:rPr sz="1500" spc="-80" dirty="0"/>
                        <a:t>255 </a:t>
                      </a:r>
                      <a:r>
                        <a:rPr sz="1500" spc="-70" dirty="0"/>
                        <a:t>characters</a:t>
                      </a:r>
                      <a:r>
                        <a:rPr sz="1500" spc="-270" dirty="0"/>
                        <a:t> </a:t>
                      </a:r>
                      <a:r>
                        <a:rPr sz="1500" spc="-55" dirty="0"/>
                        <a:t>long</a:t>
                      </a:r>
                      <a:endParaRPr sz="1500" dirty="0">
                        <a:latin typeface="Arial"/>
                        <a:cs typeface="Arial"/>
                      </a:endParaRPr>
                    </a:p>
                  </a:txBody>
                  <a:tcPr marL="0" marR="0" marT="34925" marB="0"/>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29265421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1D7EC-4ECE-4C92-B7BE-08FCE6CA58E6}"/>
              </a:ext>
            </a:extLst>
          </p:cNvPr>
          <p:cNvSpPr>
            <a:spLocks noGrp="1"/>
          </p:cNvSpPr>
          <p:nvPr>
            <p:ph type="title"/>
          </p:nvPr>
        </p:nvSpPr>
        <p:spPr/>
        <p:txBody>
          <a:bodyPr/>
          <a:lstStyle/>
          <a:p>
            <a:r>
              <a:rPr lang="en-US" dirty="0"/>
              <a:t>Show users:</a:t>
            </a:r>
            <a:endParaRPr lang="en-PK" dirty="0"/>
          </a:p>
        </p:txBody>
      </p:sp>
      <p:sp>
        <p:nvSpPr>
          <p:cNvPr id="3" name="Content Placeholder 2">
            <a:extLst>
              <a:ext uri="{FF2B5EF4-FFF2-40B4-BE49-F238E27FC236}">
                <a16:creationId xmlns:a16="http://schemas.microsoft.com/office/drawing/2014/main" id="{D452A8AF-591E-4EDE-A83D-289EE24A333F}"/>
              </a:ext>
            </a:extLst>
          </p:cNvPr>
          <p:cNvSpPr>
            <a:spLocks noGrp="1"/>
          </p:cNvSpPr>
          <p:nvPr>
            <p:ph sz="quarter" idx="13"/>
          </p:nvPr>
        </p:nvSpPr>
        <p:spPr/>
        <p:txBody>
          <a:bodyPr/>
          <a:lstStyle/>
          <a:p>
            <a:r>
              <a:rPr lang="en-US" dirty="0"/>
              <a:t>To view a list of grants that are assigned for a user, use the  following syntax:</a:t>
            </a:r>
          </a:p>
          <a:p>
            <a:pPr marL="0" indent="0">
              <a:buNone/>
            </a:pPr>
            <a:r>
              <a:rPr lang="en-US" dirty="0"/>
              <a:t>	SHOW GRANTS FOR user;</a:t>
            </a:r>
          </a:p>
          <a:p>
            <a:r>
              <a:rPr lang="en-US" dirty="0"/>
              <a:t>where,</a:t>
            </a:r>
          </a:p>
          <a:p>
            <a:pPr lvl="1"/>
            <a:r>
              <a:rPr lang="en-US" dirty="0"/>
              <a:t>SHOW – displays information specified in the clause  GRANTS – displays privileges or account rights  FOR – specifies the object to display the privileges</a:t>
            </a:r>
          </a:p>
          <a:p>
            <a:pPr lvl="1"/>
            <a:r>
              <a:rPr lang="en-US" dirty="0"/>
              <a:t>user – specifies the type of object for which privileges are to be displayed</a:t>
            </a:r>
          </a:p>
          <a:p>
            <a:endParaRPr lang="en-PK" dirty="0"/>
          </a:p>
        </p:txBody>
      </p:sp>
    </p:spTree>
    <p:extLst>
      <p:ext uri="{BB962C8B-B14F-4D97-AF65-F5344CB8AC3E}">
        <p14:creationId xmlns:p14="http://schemas.microsoft.com/office/powerpoint/2010/main" val="22705643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4726A-BAB9-492B-99E0-9ED3410A4A89}"/>
              </a:ext>
            </a:extLst>
          </p:cNvPr>
          <p:cNvSpPr>
            <a:spLocks noGrp="1"/>
          </p:cNvSpPr>
          <p:nvPr>
            <p:ph type="title"/>
          </p:nvPr>
        </p:nvSpPr>
        <p:spPr/>
        <p:txBody>
          <a:bodyPr/>
          <a:lstStyle/>
          <a:p>
            <a:r>
              <a:rPr lang="en-US" dirty="0"/>
              <a:t>Alter database :</a:t>
            </a:r>
            <a:endParaRPr lang="en-PK" dirty="0"/>
          </a:p>
        </p:txBody>
      </p:sp>
      <p:sp>
        <p:nvSpPr>
          <p:cNvPr id="3" name="Content Placeholder 2">
            <a:extLst>
              <a:ext uri="{FF2B5EF4-FFF2-40B4-BE49-F238E27FC236}">
                <a16:creationId xmlns:a16="http://schemas.microsoft.com/office/drawing/2014/main" id="{62B9E842-1830-4C44-82CD-B0DF73FBD6CA}"/>
              </a:ext>
            </a:extLst>
          </p:cNvPr>
          <p:cNvSpPr>
            <a:spLocks noGrp="1"/>
          </p:cNvSpPr>
          <p:nvPr>
            <p:ph sz="quarter" idx="13"/>
          </p:nvPr>
        </p:nvSpPr>
        <p:spPr/>
        <p:txBody>
          <a:bodyPr/>
          <a:lstStyle/>
          <a:p>
            <a:r>
              <a:rPr lang="en-US" dirty="0"/>
              <a:t>The syntax for modifying the character set of a database is:</a:t>
            </a:r>
          </a:p>
          <a:p>
            <a:pPr marL="0" indent="0">
              <a:buNone/>
            </a:pPr>
            <a:r>
              <a:rPr lang="en-US" dirty="0"/>
              <a:t>	ALTER DATABASE </a:t>
            </a:r>
            <a:r>
              <a:rPr lang="en-US" dirty="0" err="1"/>
              <a:t>database_name</a:t>
            </a:r>
            <a:r>
              <a:rPr lang="en-US" dirty="0"/>
              <a:t> DEFAULT CHARACTER SET </a:t>
            </a:r>
            <a:r>
              <a:rPr lang="en-US" dirty="0" err="1"/>
              <a:t>charset_name</a:t>
            </a:r>
            <a:r>
              <a:rPr lang="en-US" dirty="0"/>
              <a:t>;</a:t>
            </a:r>
          </a:p>
          <a:p>
            <a:r>
              <a:rPr lang="en-US" dirty="0"/>
              <a:t>where,</a:t>
            </a:r>
          </a:p>
          <a:p>
            <a:pPr lvl="1"/>
            <a:r>
              <a:rPr lang="en-US" dirty="0"/>
              <a:t>ALTER DATABASE – edits the database</a:t>
            </a:r>
          </a:p>
          <a:p>
            <a:pPr lvl="1"/>
            <a:r>
              <a:rPr lang="en-US" dirty="0" err="1"/>
              <a:t>database_name</a:t>
            </a:r>
            <a:r>
              <a:rPr lang="en-US" dirty="0"/>
              <a:t> – specifies the name of the database on which you need to make changes</a:t>
            </a:r>
          </a:p>
          <a:p>
            <a:pPr lvl="1"/>
            <a:r>
              <a:rPr lang="en-US" dirty="0"/>
              <a:t>DEFAULT CHARACTER SET – specifies the default character set for the database</a:t>
            </a:r>
          </a:p>
          <a:p>
            <a:pPr lvl="1"/>
            <a:r>
              <a:rPr lang="en-US" dirty="0" err="1"/>
              <a:t>charset_name</a:t>
            </a:r>
            <a:r>
              <a:rPr lang="en-US" dirty="0"/>
              <a:t> – specifies the type of character set for the database</a:t>
            </a:r>
            <a:endParaRPr lang="en-PK" dirty="0"/>
          </a:p>
        </p:txBody>
      </p:sp>
    </p:spTree>
    <p:extLst>
      <p:ext uri="{BB962C8B-B14F-4D97-AF65-F5344CB8AC3E}">
        <p14:creationId xmlns:p14="http://schemas.microsoft.com/office/powerpoint/2010/main" val="4122799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D0408-94EC-4E3E-9BE3-EB6628EAA44D}"/>
              </a:ext>
            </a:extLst>
          </p:cNvPr>
          <p:cNvSpPr>
            <a:spLocks noGrp="1"/>
          </p:cNvSpPr>
          <p:nvPr>
            <p:ph type="title"/>
          </p:nvPr>
        </p:nvSpPr>
        <p:spPr/>
        <p:txBody>
          <a:bodyPr/>
          <a:lstStyle/>
          <a:p>
            <a:r>
              <a:rPr lang="en-US" dirty="0"/>
              <a:t>Alter table:</a:t>
            </a:r>
            <a:endParaRPr lang="en-PK" dirty="0"/>
          </a:p>
        </p:txBody>
      </p:sp>
      <p:sp>
        <p:nvSpPr>
          <p:cNvPr id="3" name="Content Placeholder 2">
            <a:extLst>
              <a:ext uri="{FF2B5EF4-FFF2-40B4-BE49-F238E27FC236}">
                <a16:creationId xmlns:a16="http://schemas.microsoft.com/office/drawing/2014/main" id="{6FC77587-FA6B-4035-AD54-0F35F1749350}"/>
              </a:ext>
            </a:extLst>
          </p:cNvPr>
          <p:cNvSpPr>
            <a:spLocks noGrp="1"/>
          </p:cNvSpPr>
          <p:nvPr>
            <p:ph sz="quarter" idx="13"/>
          </p:nvPr>
        </p:nvSpPr>
        <p:spPr/>
        <p:txBody>
          <a:bodyPr/>
          <a:lstStyle/>
          <a:p>
            <a:r>
              <a:rPr lang="en-US" dirty="0"/>
              <a:t>The syntax for altering a table is:</a:t>
            </a:r>
          </a:p>
          <a:p>
            <a:pPr marL="0" indent="0" algn="ctr">
              <a:buNone/>
            </a:pPr>
            <a:r>
              <a:rPr lang="en-US" dirty="0"/>
              <a:t>ALTER [IGNORE] TABLE </a:t>
            </a:r>
            <a:r>
              <a:rPr lang="en-US" dirty="0" err="1"/>
              <a:t>table_name</a:t>
            </a:r>
            <a:r>
              <a:rPr lang="en-US" dirty="0"/>
              <a:t> </a:t>
            </a:r>
            <a:r>
              <a:rPr lang="en-US" dirty="0" err="1"/>
              <a:t>alter_spec</a:t>
            </a:r>
            <a:r>
              <a:rPr lang="en-US" dirty="0"/>
              <a:t> [,  </a:t>
            </a:r>
            <a:r>
              <a:rPr lang="en-US" dirty="0" err="1"/>
              <a:t>alter_spec</a:t>
            </a:r>
            <a:r>
              <a:rPr lang="en-US" dirty="0"/>
              <a:t>...];</a:t>
            </a:r>
          </a:p>
          <a:p>
            <a:r>
              <a:rPr lang="en-US" dirty="0"/>
              <a:t>where,</a:t>
            </a:r>
          </a:p>
          <a:p>
            <a:pPr lvl="1"/>
            <a:r>
              <a:rPr lang="en-US" dirty="0"/>
              <a:t>ALTER – specifies to edit the object</a:t>
            </a:r>
          </a:p>
          <a:p>
            <a:pPr lvl="1"/>
            <a:r>
              <a:rPr lang="en-US" dirty="0"/>
              <a:t>IGNORE – checks for duplicate records on the index keys in the new table</a:t>
            </a:r>
          </a:p>
          <a:p>
            <a:pPr lvl="1"/>
            <a:r>
              <a:rPr lang="en-US" dirty="0"/>
              <a:t>TABLE – specifies the type of object to edit  </a:t>
            </a:r>
          </a:p>
          <a:p>
            <a:pPr lvl="1"/>
            <a:r>
              <a:rPr lang="en-US" dirty="0" err="1"/>
              <a:t>table_name</a:t>
            </a:r>
            <a:r>
              <a:rPr lang="en-US" dirty="0"/>
              <a:t> – specifies the name of the table  </a:t>
            </a:r>
          </a:p>
          <a:p>
            <a:pPr lvl="1"/>
            <a:r>
              <a:rPr lang="en-US" dirty="0" err="1"/>
              <a:t>alter_spec</a:t>
            </a:r>
            <a:r>
              <a:rPr lang="en-US" dirty="0"/>
              <a:t> – contains modification information</a:t>
            </a:r>
          </a:p>
          <a:p>
            <a:endParaRPr lang="en-PK" dirty="0"/>
          </a:p>
        </p:txBody>
      </p:sp>
    </p:spTree>
    <p:extLst>
      <p:ext uri="{BB962C8B-B14F-4D97-AF65-F5344CB8AC3E}">
        <p14:creationId xmlns:p14="http://schemas.microsoft.com/office/powerpoint/2010/main" val="32092411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E6A93-1DE8-46D4-B16A-98F9E9C226A0}"/>
              </a:ext>
            </a:extLst>
          </p:cNvPr>
          <p:cNvSpPr>
            <a:spLocks noGrp="1"/>
          </p:cNvSpPr>
          <p:nvPr>
            <p:ph type="title"/>
          </p:nvPr>
        </p:nvSpPr>
        <p:spPr/>
        <p:txBody>
          <a:bodyPr/>
          <a:lstStyle/>
          <a:p>
            <a:r>
              <a:rPr lang="en-US" dirty="0"/>
              <a:t>Alter column:</a:t>
            </a:r>
            <a:endParaRPr lang="en-PK" dirty="0"/>
          </a:p>
        </p:txBody>
      </p:sp>
      <p:sp>
        <p:nvSpPr>
          <p:cNvPr id="3" name="Content Placeholder 2">
            <a:extLst>
              <a:ext uri="{FF2B5EF4-FFF2-40B4-BE49-F238E27FC236}">
                <a16:creationId xmlns:a16="http://schemas.microsoft.com/office/drawing/2014/main" id="{AE51CCA4-F3DC-4768-9D40-D242FFBA37DE}"/>
              </a:ext>
            </a:extLst>
          </p:cNvPr>
          <p:cNvSpPr>
            <a:spLocks noGrp="1"/>
          </p:cNvSpPr>
          <p:nvPr>
            <p:ph sz="quarter" idx="13"/>
          </p:nvPr>
        </p:nvSpPr>
        <p:spPr/>
        <p:txBody>
          <a:bodyPr>
            <a:normAutofit/>
          </a:bodyPr>
          <a:lstStyle/>
          <a:p>
            <a:r>
              <a:rPr lang="en-US" dirty="0"/>
              <a:t>The syntax to add a column in the existing table is:</a:t>
            </a:r>
          </a:p>
          <a:p>
            <a:pPr marL="0" indent="0">
              <a:buNone/>
            </a:pPr>
            <a:r>
              <a:rPr lang="en-US" dirty="0"/>
              <a:t>	ALTER TABLE </a:t>
            </a:r>
            <a:r>
              <a:rPr lang="en-US" dirty="0" err="1"/>
              <a:t>table_name</a:t>
            </a:r>
            <a:r>
              <a:rPr lang="en-US" dirty="0"/>
              <a:t> ADD [COLUMN] </a:t>
            </a:r>
            <a:r>
              <a:rPr lang="en-US" dirty="0" err="1"/>
              <a:t>create_definition</a:t>
            </a:r>
            <a:r>
              <a:rPr lang="en-US" dirty="0"/>
              <a:t> [FIRST | AFTER </a:t>
            </a:r>
            <a:r>
              <a:rPr lang="en-US" dirty="0" err="1"/>
              <a:t>column_name</a:t>
            </a:r>
            <a:r>
              <a:rPr lang="en-US" dirty="0"/>
              <a:t>];</a:t>
            </a:r>
          </a:p>
          <a:p>
            <a:r>
              <a:rPr lang="en-US" dirty="0"/>
              <a:t>where,</a:t>
            </a:r>
          </a:p>
          <a:p>
            <a:pPr lvl="1"/>
            <a:r>
              <a:rPr lang="en-US" dirty="0" err="1"/>
              <a:t>table_name</a:t>
            </a:r>
            <a:r>
              <a:rPr lang="en-US" dirty="0"/>
              <a:t> – specifies the name of the table to modify</a:t>
            </a:r>
          </a:p>
          <a:p>
            <a:pPr lvl="1"/>
            <a:r>
              <a:rPr lang="en-US" dirty="0"/>
              <a:t>ADD [COLUMN] – appends a new column to the table</a:t>
            </a:r>
          </a:p>
          <a:p>
            <a:pPr lvl="1"/>
            <a:r>
              <a:rPr lang="en-US" dirty="0" err="1"/>
              <a:t>create_definition</a:t>
            </a:r>
            <a:r>
              <a:rPr lang="en-US" dirty="0"/>
              <a:t> – defines the column type in a table creation</a:t>
            </a:r>
          </a:p>
          <a:p>
            <a:pPr lvl="1"/>
            <a:r>
              <a:rPr lang="en-US" dirty="0"/>
              <a:t>FIRST | AFTER </a:t>
            </a:r>
            <a:r>
              <a:rPr lang="en-US" dirty="0" err="1"/>
              <a:t>column_name</a:t>
            </a:r>
            <a:r>
              <a:rPr lang="en-US" dirty="0"/>
              <a:t> – specifies the location of the new column in the table</a:t>
            </a:r>
          </a:p>
          <a:p>
            <a:endParaRPr lang="en-PK" dirty="0"/>
          </a:p>
        </p:txBody>
      </p:sp>
    </p:spTree>
    <p:extLst>
      <p:ext uri="{BB962C8B-B14F-4D97-AF65-F5344CB8AC3E}">
        <p14:creationId xmlns:p14="http://schemas.microsoft.com/office/powerpoint/2010/main" val="42607904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87E99-2F7A-4CA2-9E26-829B98154EEA}"/>
              </a:ext>
            </a:extLst>
          </p:cNvPr>
          <p:cNvSpPr>
            <a:spLocks noGrp="1"/>
          </p:cNvSpPr>
          <p:nvPr>
            <p:ph type="title"/>
          </p:nvPr>
        </p:nvSpPr>
        <p:spPr/>
        <p:txBody>
          <a:bodyPr/>
          <a:lstStyle/>
          <a:p>
            <a:r>
              <a:rPr lang="en-US" dirty="0"/>
              <a:t>Alter column definition:</a:t>
            </a:r>
            <a:endParaRPr lang="en-PK" dirty="0"/>
          </a:p>
        </p:txBody>
      </p:sp>
      <p:sp>
        <p:nvSpPr>
          <p:cNvPr id="3" name="Content Placeholder 2">
            <a:extLst>
              <a:ext uri="{FF2B5EF4-FFF2-40B4-BE49-F238E27FC236}">
                <a16:creationId xmlns:a16="http://schemas.microsoft.com/office/drawing/2014/main" id="{96C8D7BD-E385-4C6F-9B4E-AAB17445FD6D}"/>
              </a:ext>
            </a:extLst>
          </p:cNvPr>
          <p:cNvSpPr>
            <a:spLocks noGrp="1"/>
          </p:cNvSpPr>
          <p:nvPr>
            <p:ph sz="quarter" idx="13"/>
          </p:nvPr>
        </p:nvSpPr>
        <p:spPr/>
        <p:txBody>
          <a:bodyPr/>
          <a:lstStyle/>
          <a:p>
            <a:r>
              <a:rPr lang="en-US" dirty="0"/>
              <a:t>To modify a column definition, use the following syntax:</a:t>
            </a:r>
          </a:p>
          <a:p>
            <a:pPr marL="0" indent="0">
              <a:buNone/>
            </a:pPr>
            <a:r>
              <a:rPr lang="en-US" dirty="0"/>
              <a:t>	ALTER TABLE </a:t>
            </a:r>
            <a:r>
              <a:rPr lang="en-US" dirty="0" err="1"/>
              <a:t>table_name</a:t>
            </a:r>
            <a:r>
              <a:rPr lang="en-US" dirty="0"/>
              <a:t> MODIFY [COLUMN] </a:t>
            </a:r>
            <a:r>
              <a:rPr lang="en-US" dirty="0" err="1"/>
              <a:t>create_definition</a:t>
            </a:r>
            <a:r>
              <a:rPr lang="en-US" dirty="0"/>
              <a:t>;</a:t>
            </a:r>
          </a:p>
          <a:p>
            <a:r>
              <a:rPr lang="en-US" dirty="0"/>
              <a:t>where,</a:t>
            </a:r>
          </a:p>
          <a:p>
            <a:pPr lvl="1"/>
            <a:r>
              <a:rPr lang="en-US" dirty="0"/>
              <a:t>ALTER TABLE – specifies to edit the table  </a:t>
            </a:r>
            <a:r>
              <a:rPr lang="en-US" dirty="0" err="1"/>
              <a:t>table_name</a:t>
            </a:r>
            <a:r>
              <a:rPr lang="en-US" dirty="0"/>
              <a:t> – specifies the name of the table  MODIFY [COLUMN] – specifies to change the column structure</a:t>
            </a:r>
          </a:p>
          <a:p>
            <a:pPr lvl="1"/>
            <a:r>
              <a:rPr lang="en-US" dirty="0" err="1"/>
              <a:t>create_definition</a:t>
            </a:r>
            <a:r>
              <a:rPr lang="en-US" dirty="0"/>
              <a:t> – specifies the new rules for the column</a:t>
            </a:r>
          </a:p>
          <a:p>
            <a:endParaRPr lang="en-PK" dirty="0"/>
          </a:p>
        </p:txBody>
      </p:sp>
    </p:spTree>
    <p:extLst>
      <p:ext uri="{BB962C8B-B14F-4D97-AF65-F5344CB8AC3E}">
        <p14:creationId xmlns:p14="http://schemas.microsoft.com/office/powerpoint/2010/main" val="29103400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6D8BB-773E-4906-972D-4ACD9A066902}"/>
              </a:ext>
            </a:extLst>
          </p:cNvPr>
          <p:cNvSpPr>
            <a:spLocks noGrp="1"/>
          </p:cNvSpPr>
          <p:nvPr>
            <p:ph type="title"/>
          </p:nvPr>
        </p:nvSpPr>
        <p:spPr/>
        <p:txBody>
          <a:bodyPr/>
          <a:lstStyle/>
          <a:p>
            <a:r>
              <a:rPr lang="en-US" dirty="0"/>
              <a:t>Drop Column using Alter:</a:t>
            </a:r>
            <a:endParaRPr lang="en-PK" dirty="0"/>
          </a:p>
        </p:txBody>
      </p:sp>
      <p:sp>
        <p:nvSpPr>
          <p:cNvPr id="3" name="Content Placeholder 2">
            <a:extLst>
              <a:ext uri="{FF2B5EF4-FFF2-40B4-BE49-F238E27FC236}">
                <a16:creationId xmlns:a16="http://schemas.microsoft.com/office/drawing/2014/main" id="{8E496494-A91E-460E-9286-66CA0CC515EB}"/>
              </a:ext>
            </a:extLst>
          </p:cNvPr>
          <p:cNvSpPr>
            <a:spLocks noGrp="1"/>
          </p:cNvSpPr>
          <p:nvPr>
            <p:ph sz="quarter" idx="13"/>
          </p:nvPr>
        </p:nvSpPr>
        <p:spPr/>
        <p:txBody>
          <a:bodyPr/>
          <a:lstStyle/>
          <a:p>
            <a:r>
              <a:rPr lang="en-US" dirty="0"/>
              <a:t>To drop a column from a table, use the following syntax:  </a:t>
            </a:r>
          </a:p>
          <a:p>
            <a:pPr marL="0" indent="0" algn="ctr">
              <a:buNone/>
            </a:pPr>
            <a:r>
              <a:rPr lang="en-US" dirty="0"/>
              <a:t>ALTER </a:t>
            </a:r>
            <a:r>
              <a:rPr lang="en-US" dirty="0" err="1"/>
              <a:t>table_name</a:t>
            </a:r>
            <a:r>
              <a:rPr lang="en-US" dirty="0"/>
              <a:t> DROP [COLUMN] </a:t>
            </a:r>
            <a:r>
              <a:rPr lang="en-US" dirty="0" err="1"/>
              <a:t>column_name</a:t>
            </a:r>
            <a:r>
              <a:rPr lang="en-US" dirty="0"/>
              <a:t>; </a:t>
            </a:r>
          </a:p>
          <a:p>
            <a:r>
              <a:rPr lang="en-US" dirty="0"/>
              <a:t> where,</a:t>
            </a:r>
          </a:p>
          <a:p>
            <a:pPr lvl="1"/>
            <a:r>
              <a:rPr lang="en-US" dirty="0"/>
              <a:t>ALTER TABLE – modifies the table structure  </a:t>
            </a:r>
            <a:r>
              <a:rPr lang="en-US" dirty="0" err="1"/>
              <a:t>table_name</a:t>
            </a:r>
            <a:r>
              <a:rPr lang="en-US" dirty="0"/>
              <a:t> – specifies the name of the table to modify  </a:t>
            </a:r>
          </a:p>
          <a:p>
            <a:pPr lvl="1"/>
            <a:r>
              <a:rPr lang="en-US" dirty="0"/>
              <a:t>DROP [COLUMN] – removes the column from the table</a:t>
            </a:r>
          </a:p>
          <a:p>
            <a:pPr lvl="1"/>
            <a:r>
              <a:rPr lang="en-US" dirty="0" err="1"/>
              <a:t>column_name</a:t>
            </a:r>
            <a:r>
              <a:rPr lang="en-US" dirty="0"/>
              <a:t> – specifies the name of the column to remove from the table</a:t>
            </a:r>
          </a:p>
          <a:p>
            <a:endParaRPr lang="en-PK" dirty="0"/>
          </a:p>
        </p:txBody>
      </p:sp>
    </p:spTree>
    <p:extLst>
      <p:ext uri="{BB962C8B-B14F-4D97-AF65-F5344CB8AC3E}">
        <p14:creationId xmlns:p14="http://schemas.microsoft.com/office/powerpoint/2010/main" val="9074994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6FB67-E169-48A0-A0CE-16A24ECB7BD3}"/>
              </a:ext>
            </a:extLst>
          </p:cNvPr>
          <p:cNvSpPr>
            <a:spLocks noGrp="1"/>
          </p:cNvSpPr>
          <p:nvPr>
            <p:ph type="title"/>
          </p:nvPr>
        </p:nvSpPr>
        <p:spPr/>
        <p:txBody>
          <a:bodyPr/>
          <a:lstStyle/>
          <a:p>
            <a:r>
              <a:rPr lang="en-US" dirty="0"/>
              <a:t>Rename table:</a:t>
            </a:r>
            <a:endParaRPr lang="en-PK" dirty="0"/>
          </a:p>
        </p:txBody>
      </p:sp>
      <p:sp>
        <p:nvSpPr>
          <p:cNvPr id="3" name="Content Placeholder 2">
            <a:extLst>
              <a:ext uri="{FF2B5EF4-FFF2-40B4-BE49-F238E27FC236}">
                <a16:creationId xmlns:a16="http://schemas.microsoft.com/office/drawing/2014/main" id="{73E8C345-2436-45B3-95FF-027C1FCE912B}"/>
              </a:ext>
            </a:extLst>
          </p:cNvPr>
          <p:cNvSpPr>
            <a:spLocks noGrp="1"/>
          </p:cNvSpPr>
          <p:nvPr>
            <p:ph sz="quarter" idx="13"/>
          </p:nvPr>
        </p:nvSpPr>
        <p:spPr/>
        <p:txBody>
          <a:bodyPr/>
          <a:lstStyle/>
          <a:p>
            <a:r>
              <a:rPr lang="en-US" dirty="0"/>
              <a:t>To change the name of a table, use the following syntax:  </a:t>
            </a:r>
          </a:p>
          <a:p>
            <a:pPr marL="0" indent="0" algn="ctr">
              <a:buNone/>
            </a:pPr>
            <a:r>
              <a:rPr lang="en-US" dirty="0"/>
              <a:t>ALTER TABLE </a:t>
            </a:r>
            <a:r>
              <a:rPr lang="en-US" dirty="0" err="1"/>
              <a:t>table_name</a:t>
            </a:r>
            <a:r>
              <a:rPr lang="en-US" dirty="0"/>
              <a:t> RENAME </a:t>
            </a:r>
            <a:r>
              <a:rPr lang="en-US" dirty="0" err="1"/>
              <a:t>new_table_name</a:t>
            </a:r>
            <a:r>
              <a:rPr lang="en-US" dirty="0"/>
              <a:t>;  </a:t>
            </a:r>
          </a:p>
          <a:p>
            <a:r>
              <a:rPr lang="en-US" dirty="0"/>
              <a:t>where,</a:t>
            </a:r>
          </a:p>
          <a:p>
            <a:pPr lvl="1"/>
            <a:r>
              <a:rPr lang="en-US" dirty="0"/>
              <a:t>ALTER TABLE – edits the table structure</a:t>
            </a:r>
          </a:p>
          <a:p>
            <a:pPr lvl="1"/>
            <a:r>
              <a:rPr lang="en-US" dirty="0" err="1"/>
              <a:t>table_name</a:t>
            </a:r>
            <a:r>
              <a:rPr lang="en-US" dirty="0"/>
              <a:t> – specifies the name of the table to modify </a:t>
            </a:r>
          </a:p>
          <a:p>
            <a:pPr lvl="1"/>
            <a:r>
              <a:rPr lang="en-US" dirty="0"/>
              <a:t>RENAME – changes the name of the table  </a:t>
            </a:r>
          </a:p>
          <a:p>
            <a:pPr lvl="1"/>
            <a:r>
              <a:rPr lang="en-US" dirty="0" err="1"/>
              <a:t>new_table_name</a:t>
            </a:r>
            <a:r>
              <a:rPr lang="en-US" dirty="0"/>
              <a:t> – specifies the new name for the table</a:t>
            </a:r>
          </a:p>
          <a:p>
            <a:endParaRPr lang="en-PK" dirty="0"/>
          </a:p>
        </p:txBody>
      </p:sp>
    </p:spTree>
    <p:extLst>
      <p:ext uri="{BB962C8B-B14F-4D97-AF65-F5344CB8AC3E}">
        <p14:creationId xmlns:p14="http://schemas.microsoft.com/office/powerpoint/2010/main" val="40760295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38920-DDA1-4360-89BE-20A34AEB8094}"/>
              </a:ext>
            </a:extLst>
          </p:cNvPr>
          <p:cNvSpPr>
            <a:spLocks noGrp="1"/>
          </p:cNvSpPr>
          <p:nvPr>
            <p:ph type="title"/>
          </p:nvPr>
        </p:nvSpPr>
        <p:spPr/>
        <p:txBody>
          <a:bodyPr/>
          <a:lstStyle/>
          <a:p>
            <a:r>
              <a:rPr lang="en-US" dirty="0"/>
              <a:t>Points remember about Alter Command:</a:t>
            </a:r>
            <a:endParaRPr lang="en-PK" dirty="0"/>
          </a:p>
        </p:txBody>
      </p:sp>
      <p:sp>
        <p:nvSpPr>
          <p:cNvPr id="3" name="Content Placeholder 2">
            <a:extLst>
              <a:ext uri="{FF2B5EF4-FFF2-40B4-BE49-F238E27FC236}">
                <a16:creationId xmlns:a16="http://schemas.microsoft.com/office/drawing/2014/main" id="{4287B88F-79F9-46DD-86DB-8D40270818E7}"/>
              </a:ext>
            </a:extLst>
          </p:cNvPr>
          <p:cNvSpPr>
            <a:spLocks noGrp="1"/>
          </p:cNvSpPr>
          <p:nvPr>
            <p:ph sz="quarter" idx="13"/>
          </p:nvPr>
        </p:nvSpPr>
        <p:spPr/>
        <p:txBody>
          <a:bodyPr/>
          <a:lstStyle/>
          <a:p>
            <a:r>
              <a:rPr lang="en-US" dirty="0"/>
              <a:t>Following are some of the points to be remembered  while working with ALTER TABLE command:</a:t>
            </a:r>
          </a:p>
          <a:p>
            <a:r>
              <a:rPr lang="en-US" dirty="0"/>
              <a:t>MySQL deletes the index values of columns when you drop  columns from a table. MySQL also removes the index when you  drop or delete all indexed columns</a:t>
            </a:r>
          </a:p>
          <a:p>
            <a:r>
              <a:rPr lang="en-US" dirty="0"/>
              <a:t>If DESCRIBE </a:t>
            </a:r>
            <a:r>
              <a:rPr lang="en-US" dirty="0" err="1"/>
              <a:t>table_name</a:t>
            </a:r>
            <a:r>
              <a:rPr lang="en-US" dirty="0"/>
              <a:t> displays that the column  specification, modified using the ALTER TABLE command, has  not changed, then it is possible that the modification is ignored  because the size of the column to be changed may be greater than  or less than the required size length</a:t>
            </a:r>
          </a:p>
          <a:p>
            <a:r>
              <a:rPr lang="en-US" dirty="0"/>
              <a:t>A single ALTER TABLE command can contain several ADD, ALTER,  DROP, and CHANGE clauses</a:t>
            </a:r>
          </a:p>
          <a:p>
            <a:endParaRPr lang="en-PK" dirty="0"/>
          </a:p>
        </p:txBody>
      </p:sp>
    </p:spTree>
    <p:extLst>
      <p:ext uri="{BB962C8B-B14F-4D97-AF65-F5344CB8AC3E}">
        <p14:creationId xmlns:p14="http://schemas.microsoft.com/office/powerpoint/2010/main" val="1187721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CB4E2-950F-435C-8D26-D5283242EC77}"/>
              </a:ext>
            </a:extLst>
          </p:cNvPr>
          <p:cNvSpPr>
            <a:spLocks noGrp="1"/>
          </p:cNvSpPr>
          <p:nvPr>
            <p:ph type="title"/>
          </p:nvPr>
        </p:nvSpPr>
        <p:spPr/>
        <p:txBody>
          <a:bodyPr/>
          <a:lstStyle/>
          <a:p>
            <a:r>
              <a:rPr lang="en-US" dirty="0"/>
              <a:t>Insert :</a:t>
            </a:r>
            <a:endParaRPr lang="en-PK" dirty="0"/>
          </a:p>
        </p:txBody>
      </p:sp>
      <p:sp>
        <p:nvSpPr>
          <p:cNvPr id="3" name="Content Placeholder 2">
            <a:extLst>
              <a:ext uri="{FF2B5EF4-FFF2-40B4-BE49-F238E27FC236}">
                <a16:creationId xmlns:a16="http://schemas.microsoft.com/office/drawing/2014/main" id="{11D68266-3443-4186-ABB3-735D44B6CF46}"/>
              </a:ext>
            </a:extLst>
          </p:cNvPr>
          <p:cNvSpPr>
            <a:spLocks noGrp="1"/>
          </p:cNvSpPr>
          <p:nvPr>
            <p:ph sz="quarter" idx="13"/>
          </p:nvPr>
        </p:nvSpPr>
        <p:spPr/>
        <p:txBody>
          <a:bodyPr/>
          <a:lstStyle/>
          <a:p>
            <a:r>
              <a:rPr lang="en-US" dirty="0"/>
              <a:t>MySQL provides the INSERT command to add data to the table</a:t>
            </a:r>
          </a:p>
          <a:p>
            <a:r>
              <a:rPr lang="en-US" dirty="0"/>
              <a:t>The syntax for INSERT command is:</a:t>
            </a:r>
          </a:p>
          <a:p>
            <a:pPr marL="0" indent="0" algn="ctr">
              <a:buNone/>
            </a:pPr>
            <a:r>
              <a:rPr lang="en-US" dirty="0"/>
              <a:t>INSERT INTO </a:t>
            </a:r>
            <a:r>
              <a:rPr lang="en-US" dirty="0" err="1"/>
              <a:t>table_name</a:t>
            </a:r>
            <a:r>
              <a:rPr lang="en-US" dirty="0"/>
              <a:t> {VALUES | VALUE} (value1, value2…);</a:t>
            </a:r>
          </a:p>
          <a:p>
            <a:r>
              <a:rPr lang="en-US" dirty="0"/>
              <a:t>where,</a:t>
            </a:r>
          </a:p>
          <a:p>
            <a:pPr lvl="1"/>
            <a:r>
              <a:rPr lang="en-US" dirty="0"/>
              <a:t>INSERT INTO – adds a new record to the table</a:t>
            </a:r>
          </a:p>
          <a:p>
            <a:pPr lvl="1"/>
            <a:r>
              <a:rPr lang="en-US" dirty="0" err="1"/>
              <a:t>table_name</a:t>
            </a:r>
            <a:r>
              <a:rPr lang="en-US" dirty="0"/>
              <a:t> – specifies the name of the table to add the record</a:t>
            </a:r>
          </a:p>
          <a:p>
            <a:pPr lvl="1"/>
            <a:r>
              <a:rPr lang="en-US" dirty="0"/>
              <a:t>{VALUES | VALUE} – any one of these two may be used to specify the  values and either may be used for a single values list or multiple lists</a:t>
            </a:r>
          </a:p>
          <a:p>
            <a:pPr lvl="1"/>
            <a:r>
              <a:rPr lang="en-US" dirty="0"/>
              <a:t>value1 – specifies the data that will be added to the column</a:t>
            </a:r>
            <a:endParaRPr lang="en-PK" dirty="0"/>
          </a:p>
        </p:txBody>
      </p:sp>
    </p:spTree>
    <p:extLst>
      <p:ext uri="{BB962C8B-B14F-4D97-AF65-F5344CB8AC3E}">
        <p14:creationId xmlns:p14="http://schemas.microsoft.com/office/powerpoint/2010/main" val="9281940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16A63-D027-431C-A16E-59199501CBAE}"/>
              </a:ext>
            </a:extLst>
          </p:cNvPr>
          <p:cNvSpPr>
            <a:spLocks noGrp="1"/>
          </p:cNvSpPr>
          <p:nvPr>
            <p:ph type="title"/>
          </p:nvPr>
        </p:nvSpPr>
        <p:spPr/>
        <p:txBody>
          <a:bodyPr/>
          <a:lstStyle/>
          <a:p>
            <a:r>
              <a:rPr lang="en-US" dirty="0"/>
              <a:t>SELECT:</a:t>
            </a:r>
            <a:endParaRPr lang="en-PK" dirty="0"/>
          </a:p>
        </p:txBody>
      </p:sp>
      <p:sp>
        <p:nvSpPr>
          <p:cNvPr id="3" name="Content Placeholder 2">
            <a:extLst>
              <a:ext uri="{FF2B5EF4-FFF2-40B4-BE49-F238E27FC236}">
                <a16:creationId xmlns:a16="http://schemas.microsoft.com/office/drawing/2014/main" id="{451C568E-8F00-4ABF-8EBC-CF6912E3C5FA}"/>
              </a:ext>
            </a:extLst>
          </p:cNvPr>
          <p:cNvSpPr>
            <a:spLocks noGrp="1"/>
          </p:cNvSpPr>
          <p:nvPr>
            <p:ph sz="quarter" idx="13"/>
          </p:nvPr>
        </p:nvSpPr>
        <p:spPr/>
        <p:txBody>
          <a:bodyPr/>
          <a:lstStyle/>
          <a:p>
            <a:r>
              <a:rPr lang="en-US" dirty="0"/>
              <a:t>You can use the SELECT command to retrieve data from  one or more tables. The SELECT command has two  clauses:</a:t>
            </a:r>
          </a:p>
          <a:p>
            <a:pPr lvl="1"/>
            <a:r>
              <a:rPr lang="en-US" dirty="0"/>
              <a:t>FROM - specifies the table name whose records are to be  retrieved</a:t>
            </a:r>
          </a:p>
          <a:p>
            <a:pPr lvl="1"/>
            <a:r>
              <a:rPr lang="en-US" dirty="0"/>
              <a:t>WHERE - specifies the condition, based on which the records  are retrieved. This clause is optional</a:t>
            </a:r>
          </a:p>
          <a:p>
            <a:r>
              <a:rPr lang="en-US" dirty="0"/>
              <a:t>The syntax for retrieving all the records of a table is:</a:t>
            </a:r>
          </a:p>
          <a:p>
            <a:pPr marL="0" indent="0" algn="ctr">
              <a:buNone/>
            </a:pPr>
            <a:r>
              <a:rPr lang="en-US" dirty="0"/>
              <a:t>	SELECT [*] FROM </a:t>
            </a:r>
            <a:r>
              <a:rPr lang="en-US" dirty="0" err="1"/>
              <a:t>table_name</a:t>
            </a:r>
            <a:r>
              <a:rPr lang="en-US" dirty="0"/>
              <a:t>;</a:t>
            </a:r>
          </a:p>
          <a:p>
            <a:r>
              <a:rPr lang="en-US" dirty="0"/>
              <a:t>where,</a:t>
            </a:r>
          </a:p>
          <a:p>
            <a:pPr lvl="1"/>
            <a:r>
              <a:rPr lang="en-US" dirty="0"/>
              <a:t>‘*’ displays all the columns of the specified table</a:t>
            </a:r>
          </a:p>
          <a:p>
            <a:endParaRPr lang="en-PK" dirty="0"/>
          </a:p>
        </p:txBody>
      </p:sp>
    </p:spTree>
    <p:extLst>
      <p:ext uri="{BB962C8B-B14F-4D97-AF65-F5344CB8AC3E}">
        <p14:creationId xmlns:p14="http://schemas.microsoft.com/office/powerpoint/2010/main" val="7530947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366D8-9BA2-4702-BA15-4FC27A1C9C74}"/>
              </a:ext>
            </a:extLst>
          </p:cNvPr>
          <p:cNvSpPr>
            <a:spLocks noGrp="1"/>
          </p:cNvSpPr>
          <p:nvPr>
            <p:ph type="title"/>
          </p:nvPr>
        </p:nvSpPr>
        <p:spPr/>
        <p:txBody>
          <a:bodyPr/>
          <a:lstStyle/>
          <a:p>
            <a:r>
              <a:rPr lang="en-US" dirty="0"/>
              <a:t>DISTINCT:</a:t>
            </a:r>
            <a:endParaRPr lang="en-PK" dirty="0"/>
          </a:p>
        </p:txBody>
      </p:sp>
      <p:sp>
        <p:nvSpPr>
          <p:cNvPr id="3" name="Content Placeholder 2">
            <a:extLst>
              <a:ext uri="{FF2B5EF4-FFF2-40B4-BE49-F238E27FC236}">
                <a16:creationId xmlns:a16="http://schemas.microsoft.com/office/drawing/2014/main" id="{2E7BD267-D966-4FBA-A34A-F3D5355653E8}"/>
              </a:ext>
            </a:extLst>
          </p:cNvPr>
          <p:cNvSpPr>
            <a:spLocks noGrp="1"/>
          </p:cNvSpPr>
          <p:nvPr>
            <p:ph sz="quarter" idx="13"/>
          </p:nvPr>
        </p:nvSpPr>
        <p:spPr/>
        <p:txBody>
          <a:bodyPr/>
          <a:lstStyle/>
          <a:p>
            <a:r>
              <a:rPr lang="en-US" dirty="0"/>
              <a:t>To display unique	information from columns using DISTINCT keyword with SELECT command, use the syntax:</a:t>
            </a:r>
          </a:p>
          <a:p>
            <a:pPr marL="0" indent="0">
              <a:buNone/>
            </a:pPr>
            <a:r>
              <a:rPr lang="en-US" dirty="0"/>
              <a:t>	SELECT DISTINCT </a:t>
            </a:r>
            <a:r>
              <a:rPr lang="en-US" dirty="0" err="1"/>
              <a:t>column_name</a:t>
            </a:r>
            <a:r>
              <a:rPr lang="en-US" dirty="0"/>
              <a:t> FROM </a:t>
            </a:r>
            <a:r>
              <a:rPr lang="en-US" dirty="0" err="1"/>
              <a:t>table_name</a:t>
            </a:r>
            <a:r>
              <a:rPr lang="en-US" dirty="0"/>
              <a:t>;</a:t>
            </a:r>
          </a:p>
          <a:p>
            <a:r>
              <a:rPr lang="en-US" dirty="0"/>
              <a:t>where,</a:t>
            </a:r>
          </a:p>
          <a:p>
            <a:pPr lvl="1"/>
            <a:r>
              <a:rPr lang="en-US" dirty="0"/>
              <a:t>SELECT – displays data from the table</a:t>
            </a:r>
          </a:p>
          <a:p>
            <a:pPr lvl="1"/>
            <a:r>
              <a:rPr lang="en-US" dirty="0"/>
              <a:t>DISTINCT – is the keyword that displays unique information from columns</a:t>
            </a:r>
          </a:p>
          <a:p>
            <a:pPr lvl="1"/>
            <a:r>
              <a:rPr lang="en-US" dirty="0" err="1"/>
              <a:t>column_name</a:t>
            </a:r>
            <a:r>
              <a:rPr lang="en-US" dirty="0"/>
              <a:t> – specifies the name of the column</a:t>
            </a:r>
          </a:p>
          <a:p>
            <a:pPr lvl="1"/>
            <a:r>
              <a:rPr lang="en-US" dirty="0" err="1"/>
              <a:t>table_name</a:t>
            </a:r>
            <a:r>
              <a:rPr lang="en-US" dirty="0"/>
              <a:t> – specifies the name of the table where the column exists</a:t>
            </a:r>
          </a:p>
          <a:p>
            <a:endParaRPr lang="en-PK" dirty="0"/>
          </a:p>
        </p:txBody>
      </p:sp>
    </p:spTree>
    <p:extLst>
      <p:ext uri="{BB962C8B-B14F-4D97-AF65-F5344CB8AC3E}">
        <p14:creationId xmlns:p14="http://schemas.microsoft.com/office/powerpoint/2010/main" val="7281363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0A083-3D45-4D8E-927F-37E9B65702D1}"/>
              </a:ext>
            </a:extLst>
          </p:cNvPr>
          <p:cNvSpPr>
            <a:spLocks noGrp="1"/>
          </p:cNvSpPr>
          <p:nvPr>
            <p:ph type="title"/>
          </p:nvPr>
        </p:nvSpPr>
        <p:spPr>
          <a:xfrm>
            <a:off x="609600" y="274638"/>
            <a:ext cx="7924800" cy="563562"/>
          </a:xfrm>
        </p:spPr>
        <p:txBody>
          <a:bodyPr/>
          <a:lstStyle/>
          <a:p>
            <a:r>
              <a:rPr lang="en-US" dirty="0"/>
              <a:t>WHERE clause :</a:t>
            </a:r>
            <a:endParaRPr lang="en-PK" dirty="0"/>
          </a:p>
        </p:txBody>
      </p:sp>
      <p:sp>
        <p:nvSpPr>
          <p:cNvPr id="3" name="Content Placeholder 2">
            <a:extLst>
              <a:ext uri="{FF2B5EF4-FFF2-40B4-BE49-F238E27FC236}">
                <a16:creationId xmlns:a16="http://schemas.microsoft.com/office/drawing/2014/main" id="{78E7796D-4B43-4D1B-8368-D9537D9A0021}"/>
              </a:ext>
            </a:extLst>
          </p:cNvPr>
          <p:cNvSpPr>
            <a:spLocks noGrp="1"/>
          </p:cNvSpPr>
          <p:nvPr>
            <p:ph sz="quarter" idx="13"/>
          </p:nvPr>
        </p:nvSpPr>
        <p:spPr>
          <a:xfrm>
            <a:off x="609600" y="1036638"/>
            <a:ext cx="7924800" cy="4114800"/>
          </a:xfrm>
        </p:spPr>
        <p:txBody>
          <a:bodyPr/>
          <a:lstStyle/>
          <a:p>
            <a:r>
              <a:rPr lang="en-US" dirty="0"/>
              <a:t>The WHERE clause contains one or more conditions that must be satisfied  before the query retrieves a row</a:t>
            </a:r>
          </a:p>
          <a:p>
            <a:r>
              <a:rPr lang="en-US" dirty="0"/>
              <a:t>The WHERE clause uses logical and conditional operators in the query</a:t>
            </a:r>
          </a:p>
          <a:p>
            <a:r>
              <a:rPr lang="en-US" dirty="0"/>
              <a:t>The syntax to specify a condition using the WHERE clause is:</a:t>
            </a:r>
          </a:p>
          <a:p>
            <a:pPr marL="0" indent="0" algn="ctr">
              <a:buNone/>
            </a:pPr>
            <a:r>
              <a:rPr lang="en-US" dirty="0"/>
              <a:t>SELECT * FROM </a:t>
            </a:r>
            <a:r>
              <a:rPr lang="en-US" dirty="0" err="1"/>
              <a:t>table_name</a:t>
            </a:r>
            <a:r>
              <a:rPr lang="en-US" dirty="0"/>
              <a:t> WHERE &lt;condition to satisfy&gt;;</a:t>
            </a:r>
          </a:p>
          <a:p>
            <a:r>
              <a:rPr lang="en-US" dirty="0"/>
              <a:t>where,</a:t>
            </a:r>
          </a:p>
          <a:p>
            <a:pPr lvl="1"/>
            <a:r>
              <a:rPr lang="en-US" dirty="0"/>
              <a:t>SELECT – retrieves the data</a:t>
            </a:r>
          </a:p>
          <a:p>
            <a:pPr lvl="1"/>
            <a:r>
              <a:rPr lang="en-US" dirty="0"/>
              <a:t>* – specifies to retrieve all the columns of the table  </a:t>
            </a:r>
            <a:r>
              <a:rPr lang="en-US" dirty="0" err="1"/>
              <a:t>table_name</a:t>
            </a:r>
            <a:r>
              <a:rPr lang="en-US" dirty="0"/>
              <a:t> – specifies the name of the table  WHERE – specifies the clause to filter data</a:t>
            </a:r>
          </a:p>
          <a:p>
            <a:pPr lvl="1"/>
            <a:r>
              <a:rPr lang="en-US" dirty="0"/>
              <a:t>&lt;condition to satisfy&gt; – contains conditions to satisfy before</a:t>
            </a:r>
          </a:p>
          <a:p>
            <a:pPr lvl="1"/>
            <a:r>
              <a:rPr lang="en-US" dirty="0"/>
              <a:t>retrieving and displaying data</a:t>
            </a:r>
            <a:endParaRPr lang="en-PK" dirty="0"/>
          </a:p>
        </p:txBody>
      </p:sp>
    </p:spTree>
    <p:extLst>
      <p:ext uri="{BB962C8B-B14F-4D97-AF65-F5344CB8AC3E}">
        <p14:creationId xmlns:p14="http://schemas.microsoft.com/office/powerpoint/2010/main" val="35102834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C3A87-2934-4444-AABF-C4CB965D5277}"/>
              </a:ext>
            </a:extLst>
          </p:cNvPr>
          <p:cNvSpPr>
            <a:spLocks noGrp="1"/>
          </p:cNvSpPr>
          <p:nvPr>
            <p:ph type="title"/>
          </p:nvPr>
        </p:nvSpPr>
        <p:spPr>
          <a:xfrm>
            <a:off x="609600" y="274638"/>
            <a:ext cx="7924800" cy="563562"/>
          </a:xfrm>
        </p:spPr>
        <p:txBody>
          <a:bodyPr/>
          <a:lstStyle/>
          <a:p>
            <a:r>
              <a:rPr lang="en-US" dirty="0"/>
              <a:t>Operators used in where clause:</a:t>
            </a:r>
            <a:endParaRPr lang="en-PK" dirty="0"/>
          </a:p>
        </p:txBody>
      </p:sp>
      <p:sp>
        <p:nvSpPr>
          <p:cNvPr id="3" name="Content Placeholder 2">
            <a:extLst>
              <a:ext uri="{FF2B5EF4-FFF2-40B4-BE49-F238E27FC236}">
                <a16:creationId xmlns:a16="http://schemas.microsoft.com/office/drawing/2014/main" id="{3393ED48-47F9-487A-9EED-B2227CB7B2B3}"/>
              </a:ext>
            </a:extLst>
          </p:cNvPr>
          <p:cNvSpPr>
            <a:spLocks noGrp="1"/>
          </p:cNvSpPr>
          <p:nvPr>
            <p:ph sz="quarter" idx="13"/>
          </p:nvPr>
        </p:nvSpPr>
        <p:spPr>
          <a:xfrm>
            <a:off x="609600" y="990600"/>
            <a:ext cx="7924800" cy="4724400"/>
          </a:xfrm>
        </p:spPr>
        <p:txBody>
          <a:bodyPr/>
          <a:lstStyle/>
          <a:p>
            <a:r>
              <a:rPr lang="en-US" dirty="0"/>
              <a:t>==</a:t>
            </a:r>
          </a:p>
          <a:p>
            <a:r>
              <a:rPr lang="en-US" dirty="0"/>
              <a:t>&gt;</a:t>
            </a:r>
          </a:p>
          <a:p>
            <a:r>
              <a:rPr lang="en-US" dirty="0"/>
              <a:t>&lt;</a:t>
            </a:r>
          </a:p>
          <a:p>
            <a:r>
              <a:rPr lang="en-US" dirty="0"/>
              <a:t>&gt;=</a:t>
            </a:r>
          </a:p>
          <a:p>
            <a:r>
              <a:rPr lang="en-US" dirty="0"/>
              <a:t>&lt;=</a:t>
            </a:r>
          </a:p>
          <a:p>
            <a:r>
              <a:rPr lang="en-US" dirty="0"/>
              <a:t>!=</a:t>
            </a:r>
          </a:p>
        </p:txBody>
      </p:sp>
    </p:spTree>
    <p:extLst>
      <p:ext uri="{BB962C8B-B14F-4D97-AF65-F5344CB8AC3E}">
        <p14:creationId xmlns:p14="http://schemas.microsoft.com/office/powerpoint/2010/main" val="23247791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AEE68-644F-4F34-BAFC-5B6A14FBB3F4}"/>
              </a:ext>
            </a:extLst>
          </p:cNvPr>
          <p:cNvSpPr>
            <a:spLocks noGrp="1"/>
          </p:cNvSpPr>
          <p:nvPr>
            <p:ph type="title"/>
          </p:nvPr>
        </p:nvSpPr>
        <p:spPr>
          <a:xfrm>
            <a:off x="609600" y="274638"/>
            <a:ext cx="7924800" cy="639762"/>
          </a:xfrm>
        </p:spPr>
        <p:txBody>
          <a:bodyPr/>
          <a:lstStyle/>
          <a:p>
            <a:r>
              <a:rPr lang="en-US" dirty="0"/>
              <a:t>Drop table:</a:t>
            </a:r>
            <a:endParaRPr lang="en-PK" dirty="0"/>
          </a:p>
        </p:txBody>
      </p:sp>
      <p:sp>
        <p:nvSpPr>
          <p:cNvPr id="3" name="Content Placeholder 2">
            <a:extLst>
              <a:ext uri="{FF2B5EF4-FFF2-40B4-BE49-F238E27FC236}">
                <a16:creationId xmlns:a16="http://schemas.microsoft.com/office/drawing/2014/main" id="{D901F0D4-1A37-4795-A73F-0DB186683722}"/>
              </a:ext>
            </a:extLst>
          </p:cNvPr>
          <p:cNvSpPr>
            <a:spLocks noGrp="1"/>
          </p:cNvSpPr>
          <p:nvPr>
            <p:ph sz="quarter" idx="13"/>
          </p:nvPr>
        </p:nvSpPr>
        <p:spPr>
          <a:xfrm>
            <a:off x="609600" y="1143000"/>
            <a:ext cx="7924800" cy="4114800"/>
          </a:xfrm>
        </p:spPr>
        <p:txBody>
          <a:bodyPr>
            <a:normAutofit/>
          </a:bodyPr>
          <a:lstStyle/>
          <a:p>
            <a:r>
              <a:rPr lang="en-US" dirty="0"/>
              <a:t>MySQL provides the DROP TABLE command to remove or  delete tables from a database</a:t>
            </a:r>
          </a:p>
          <a:p>
            <a:r>
              <a:rPr lang="en-US" dirty="0"/>
              <a:t>This command removes table definition, data, indexes, triggers, constraints, and permissions for that table</a:t>
            </a:r>
          </a:p>
          <a:p>
            <a:r>
              <a:rPr lang="en-US" dirty="0"/>
              <a:t>The syntax for the DROP command is:</a:t>
            </a:r>
          </a:p>
          <a:p>
            <a:pPr marL="0" indent="0" algn="ctr">
              <a:buNone/>
            </a:pPr>
            <a:r>
              <a:rPr lang="en-US" dirty="0"/>
              <a:t>DROP TABLE [IF EXIST] </a:t>
            </a:r>
            <a:r>
              <a:rPr lang="en-US" dirty="0" err="1"/>
              <a:t>table_name</a:t>
            </a:r>
            <a:r>
              <a:rPr lang="en-US" dirty="0"/>
              <a:t>[table_name1,…][RESTRICT |CASCADE];</a:t>
            </a:r>
          </a:p>
          <a:p>
            <a:r>
              <a:rPr lang="en-US" dirty="0"/>
              <a:t>where,</a:t>
            </a:r>
          </a:p>
          <a:p>
            <a:pPr lvl="1"/>
            <a:r>
              <a:rPr lang="en-US" dirty="0" err="1"/>
              <a:t>table_name</a:t>
            </a:r>
            <a:r>
              <a:rPr lang="en-US" dirty="0"/>
              <a:t> – specifies the name of the table to delete</a:t>
            </a:r>
          </a:p>
          <a:p>
            <a:pPr lvl="1"/>
            <a:r>
              <a:rPr lang="en-US" dirty="0"/>
              <a:t>IF EXIST - prevents error occurrence while executing the command if the table does not exist  RESTRICT - specifies that if any dependencies exist, MySQL will not delete the table, if dependencies exist  CASCADE - specifies to remove dependencies before deleting the table</a:t>
            </a:r>
          </a:p>
          <a:p>
            <a:endParaRPr lang="en-PK" dirty="0"/>
          </a:p>
        </p:txBody>
      </p:sp>
    </p:spTree>
    <p:extLst>
      <p:ext uri="{BB962C8B-B14F-4D97-AF65-F5344CB8AC3E}">
        <p14:creationId xmlns:p14="http://schemas.microsoft.com/office/powerpoint/2010/main" val="12856252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F3FF6-6321-47F2-8D65-B0522ED2CD29}"/>
              </a:ext>
            </a:extLst>
          </p:cNvPr>
          <p:cNvSpPr>
            <a:spLocks noGrp="1"/>
          </p:cNvSpPr>
          <p:nvPr>
            <p:ph type="title"/>
          </p:nvPr>
        </p:nvSpPr>
        <p:spPr/>
        <p:txBody>
          <a:bodyPr/>
          <a:lstStyle/>
          <a:p>
            <a:r>
              <a:rPr lang="en-US" dirty="0"/>
              <a:t>Delete:</a:t>
            </a:r>
            <a:endParaRPr lang="en-PK" dirty="0"/>
          </a:p>
        </p:txBody>
      </p:sp>
      <p:sp>
        <p:nvSpPr>
          <p:cNvPr id="3" name="Content Placeholder 2">
            <a:extLst>
              <a:ext uri="{FF2B5EF4-FFF2-40B4-BE49-F238E27FC236}">
                <a16:creationId xmlns:a16="http://schemas.microsoft.com/office/drawing/2014/main" id="{4D3EE7F2-B969-4140-A62C-CBADDEDB918F}"/>
              </a:ext>
            </a:extLst>
          </p:cNvPr>
          <p:cNvSpPr>
            <a:spLocks noGrp="1"/>
          </p:cNvSpPr>
          <p:nvPr>
            <p:ph sz="quarter" idx="13"/>
          </p:nvPr>
        </p:nvSpPr>
        <p:spPr/>
        <p:txBody>
          <a:bodyPr/>
          <a:lstStyle/>
          <a:p>
            <a:r>
              <a:rPr lang="en-US" dirty="0"/>
              <a:t>MySQL provides the DELETE command to remove rows  from a table</a:t>
            </a:r>
          </a:p>
          <a:p>
            <a:r>
              <a:rPr lang="en-US" dirty="0"/>
              <a:t>You can choose to remove selected rows of a table or the  entire table</a:t>
            </a:r>
          </a:p>
          <a:p>
            <a:r>
              <a:rPr lang="en-US" dirty="0"/>
              <a:t>The syntax to delete rows from a table is:</a:t>
            </a:r>
          </a:p>
          <a:p>
            <a:pPr marL="0" indent="0" algn="ctr">
              <a:buNone/>
            </a:pPr>
            <a:r>
              <a:rPr lang="en-US" dirty="0"/>
              <a:t>DELETE [LOW_PRIORITY|QUICK] [IGNORE} FROM </a:t>
            </a:r>
            <a:r>
              <a:rPr lang="en-US" dirty="0" err="1"/>
              <a:t>tbl_name</a:t>
            </a:r>
            <a:r>
              <a:rPr lang="en-US" dirty="0"/>
              <a:t> [WHERE clause] [ORDER BY column,...] [LIMIT n];</a:t>
            </a:r>
          </a:p>
          <a:p>
            <a:r>
              <a:rPr lang="en-US" dirty="0"/>
              <a:t>where,</a:t>
            </a:r>
          </a:p>
          <a:p>
            <a:pPr lvl="1"/>
            <a:r>
              <a:rPr lang="en-US" dirty="0"/>
              <a:t>DELETE – removes data from the table</a:t>
            </a:r>
          </a:p>
          <a:p>
            <a:pPr lvl="1"/>
            <a:r>
              <a:rPr lang="en-US" dirty="0" err="1"/>
              <a:t>tbl_name</a:t>
            </a:r>
            <a:r>
              <a:rPr lang="en-US" dirty="0"/>
              <a:t>– specifies the name of the table from which  rows are to be deleted</a:t>
            </a:r>
          </a:p>
        </p:txBody>
      </p:sp>
    </p:spTree>
    <p:extLst>
      <p:ext uri="{BB962C8B-B14F-4D97-AF65-F5344CB8AC3E}">
        <p14:creationId xmlns:p14="http://schemas.microsoft.com/office/powerpoint/2010/main" val="27307206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53BA0-301F-4151-BAF0-810ABFF7F8BD}"/>
              </a:ext>
            </a:extLst>
          </p:cNvPr>
          <p:cNvSpPr>
            <a:spLocks noGrp="1"/>
          </p:cNvSpPr>
          <p:nvPr>
            <p:ph type="title"/>
          </p:nvPr>
        </p:nvSpPr>
        <p:spPr>
          <a:xfrm>
            <a:off x="609600" y="274638"/>
            <a:ext cx="7924800" cy="715962"/>
          </a:xfrm>
        </p:spPr>
        <p:txBody>
          <a:bodyPr/>
          <a:lstStyle/>
          <a:p>
            <a:r>
              <a:rPr lang="en-US" dirty="0" err="1"/>
              <a:t>Orderby</a:t>
            </a:r>
            <a:r>
              <a:rPr lang="en-US" dirty="0"/>
              <a:t>:</a:t>
            </a:r>
            <a:endParaRPr lang="en-PK" dirty="0"/>
          </a:p>
        </p:txBody>
      </p:sp>
      <p:sp>
        <p:nvSpPr>
          <p:cNvPr id="3" name="Content Placeholder 2">
            <a:extLst>
              <a:ext uri="{FF2B5EF4-FFF2-40B4-BE49-F238E27FC236}">
                <a16:creationId xmlns:a16="http://schemas.microsoft.com/office/drawing/2014/main" id="{02A94AD6-BF25-4105-B383-6382E3A0C8EB}"/>
              </a:ext>
            </a:extLst>
          </p:cNvPr>
          <p:cNvSpPr>
            <a:spLocks noGrp="1"/>
          </p:cNvSpPr>
          <p:nvPr>
            <p:ph sz="quarter" idx="13"/>
          </p:nvPr>
        </p:nvSpPr>
        <p:spPr>
          <a:xfrm>
            <a:off x="609600" y="990600"/>
            <a:ext cx="7924800" cy="4876800"/>
          </a:xfrm>
        </p:spPr>
        <p:txBody>
          <a:bodyPr>
            <a:normAutofit fontScale="92500" lnSpcReduction="20000"/>
          </a:bodyPr>
          <a:lstStyle/>
          <a:p>
            <a:r>
              <a:rPr lang="en-US" dirty="0"/>
              <a:t>You use the SELECT command to retrieve data from a  database</a:t>
            </a:r>
          </a:p>
          <a:p>
            <a:r>
              <a:rPr lang="en-US" dirty="0"/>
              <a:t>MySQL displays the SELECT command result in the order  in which the data is inserted in the table</a:t>
            </a:r>
          </a:p>
          <a:p>
            <a:r>
              <a:rPr lang="en-US" dirty="0"/>
              <a:t>You can also sort the output on more than one column in  ascending or descending order</a:t>
            </a:r>
          </a:p>
          <a:p>
            <a:r>
              <a:rPr lang="en-US" dirty="0"/>
              <a:t>You will use the ORDER BY clause with SELECT command to sort the data</a:t>
            </a:r>
          </a:p>
          <a:p>
            <a:r>
              <a:rPr lang="en-US" dirty="0"/>
              <a:t>The use of DISTINCT keyword causes only one row of  data to be displayed for every group of rows that is  identical</a:t>
            </a:r>
          </a:p>
          <a:p>
            <a:r>
              <a:rPr lang="en-US" dirty="0"/>
              <a:t>The syntax for ORDER BY is:</a:t>
            </a:r>
          </a:p>
          <a:p>
            <a:pPr marL="0" indent="0" algn="ctr">
              <a:buNone/>
            </a:pPr>
            <a:r>
              <a:rPr lang="en-US" dirty="0"/>
              <a:t>SELECT </a:t>
            </a:r>
            <a:r>
              <a:rPr lang="en-US" dirty="0" err="1"/>
              <a:t>column_name</a:t>
            </a:r>
            <a:r>
              <a:rPr lang="en-US" dirty="0"/>
              <a:t> FROM </a:t>
            </a:r>
            <a:r>
              <a:rPr lang="en-US" dirty="0" err="1"/>
              <a:t>tbl_name</a:t>
            </a:r>
            <a:r>
              <a:rPr lang="en-US" dirty="0"/>
              <a:t> ORDER BY column [ASC|DESC] [,column2[ASC|DESC],...];</a:t>
            </a:r>
          </a:p>
          <a:p>
            <a:r>
              <a:rPr lang="en-US" dirty="0"/>
              <a:t>where,</a:t>
            </a:r>
          </a:p>
          <a:p>
            <a:pPr lvl="1"/>
            <a:r>
              <a:rPr lang="en-US" dirty="0"/>
              <a:t>SELECT – retrieves data from the table</a:t>
            </a:r>
          </a:p>
          <a:p>
            <a:pPr lvl="1"/>
            <a:r>
              <a:rPr lang="en-US" dirty="0" err="1"/>
              <a:t>column_name</a:t>
            </a:r>
            <a:r>
              <a:rPr lang="en-US" dirty="0"/>
              <a:t> – specifies the name for the column to retrieve data from  </a:t>
            </a:r>
            <a:r>
              <a:rPr lang="en-US" dirty="0" err="1"/>
              <a:t>tbl_name</a:t>
            </a:r>
            <a:r>
              <a:rPr lang="en-US" dirty="0"/>
              <a:t> – specifies the name of the table that contains the column and data  ORDER BY – sorts the column data in the specified order</a:t>
            </a:r>
          </a:p>
          <a:p>
            <a:pPr lvl="1"/>
            <a:r>
              <a:rPr lang="en-US" dirty="0"/>
              <a:t>column – specifies the name of the column</a:t>
            </a:r>
          </a:p>
          <a:p>
            <a:pPr lvl="1"/>
            <a:r>
              <a:rPr lang="en-US" dirty="0"/>
              <a:t>ASC|DESC – specifies the sort direction for data. MySQL supports types of sorting</a:t>
            </a:r>
          </a:p>
        </p:txBody>
      </p:sp>
    </p:spTree>
    <p:extLst>
      <p:ext uri="{BB962C8B-B14F-4D97-AF65-F5344CB8AC3E}">
        <p14:creationId xmlns:p14="http://schemas.microsoft.com/office/powerpoint/2010/main" val="5176492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E77E-03CE-4D42-AF24-D26670BED65D}"/>
              </a:ext>
            </a:extLst>
          </p:cNvPr>
          <p:cNvSpPr>
            <a:spLocks noGrp="1"/>
          </p:cNvSpPr>
          <p:nvPr>
            <p:ph type="title"/>
          </p:nvPr>
        </p:nvSpPr>
        <p:spPr>
          <a:xfrm>
            <a:off x="609600" y="274638"/>
            <a:ext cx="7924800" cy="715962"/>
          </a:xfrm>
        </p:spPr>
        <p:txBody>
          <a:bodyPr/>
          <a:lstStyle/>
          <a:p>
            <a:r>
              <a:rPr lang="en-US" dirty="0" err="1"/>
              <a:t>Groupby</a:t>
            </a:r>
            <a:r>
              <a:rPr lang="en-US" dirty="0"/>
              <a:t>:</a:t>
            </a:r>
            <a:endParaRPr lang="en-PK" dirty="0"/>
          </a:p>
        </p:txBody>
      </p:sp>
      <p:sp>
        <p:nvSpPr>
          <p:cNvPr id="3" name="Content Placeholder 2">
            <a:extLst>
              <a:ext uri="{FF2B5EF4-FFF2-40B4-BE49-F238E27FC236}">
                <a16:creationId xmlns:a16="http://schemas.microsoft.com/office/drawing/2014/main" id="{9200CFE5-2D0B-49F3-B8EE-F01CAD725D09}"/>
              </a:ext>
            </a:extLst>
          </p:cNvPr>
          <p:cNvSpPr>
            <a:spLocks noGrp="1"/>
          </p:cNvSpPr>
          <p:nvPr>
            <p:ph sz="quarter" idx="13"/>
          </p:nvPr>
        </p:nvSpPr>
        <p:spPr>
          <a:xfrm>
            <a:off x="609600" y="990600"/>
            <a:ext cx="7924800" cy="4724400"/>
          </a:xfrm>
        </p:spPr>
        <p:txBody>
          <a:bodyPr>
            <a:normAutofit/>
          </a:bodyPr>
          <a:lstStyle/>
          <a:p>
            <a:r>
              <a:rPr lang="en-US" dirty="0"/>
              <a:t>MySQL provides the GROUP BY command to group rows with similar  values for a specific column into a single row</a:t>
            </a:r>
          </a:p>
          <a:p>
            <a:r>
              <a:rPr lang="en-US" dirty="0"/>
              <a:t>This will enable you to execute tasks on these grouped rows</a:t>
            </a:r>
          </a:p>
          <a:p>
            <a:r>
              <a:rPr lang="en-US" dirty="0"/>
              <a:t>The syntax for grouping data is:</a:t>
            </a:r>
          </a:p>
          <a:p>
            <a:pPr marL="0" indent="0" algn="ctr">
              <a:buNone/>
            </a:pPr>
            <a:r>
              <a:rPr lang="en-US" dirty="0"/>
              <a:t>SELECT </a:t>
            </a:r>
            <a:r>
              <a:rPr lang="en-US" dirty="0" err="1"/>
              <a:t>column_name</a:t>
            </a:r>
            <a:r>
              <a:rPr lang="en-US" dirty="0"/>
              <a:t> FROM </a:t>
            </a:r>
            <a:r>
              <a:rPr lang="en-US" dirty="0" err="1"/>
              <a:t>tbl_name</a:t>
            </a:r>
            <a:r>
              <a:rPr lang="en-US" dirty="0"/>
              <a:t> GROUP BY column [,column2...];</a:t>
            </a:r>
          </a:p>
          <a:p>
            <a:r>
              <a:rPr lang="en-US" dirty="0"/>
              <a:t>where,</a:t>
            </a:r>
          </a:p>
          <a:p>
            <a:pPr lvl="1"/>
            <a:r>
              <a:rPr lang="en-US" dirty="0"/>
              <a:t>SELECT – retrieves data from the table</a:t>
            </a:r>
          </a:p>
          <a:p>
            <a:pPr lvl="1"/>
            <a:r>
              <a:rPr lang="en-US" dirty="0" err="1"/>
              <a:t>column_name</a:t>
            </a:r>
            <a:r>
              <a:rPr lang="en-US" dirty="0"/>
              <a:t> – specifies the column name to retrieve data from</a:t>
            </a:r>
          </a:p>
          <a:p>
            <a:pPr lvl="1"/>
            <a:r>
              <a:rPr lang="en-US" dirty="0" err="1"/>
              <a:t>tbl_name</a:t>
            </a:r>
            <a:r>
              <a:rPr lang="en-US" dirty="0"/>
              <a:t> – specifies the name of the table that contains the column and data</a:t>
            </a:r>
          </a:p>
          <a:p>
            <a:pPr lvl="1"/>
            <a:r>
              <a:rPr lang="en-US" dirty="0"/>
              <a:t>GROUP BY – categorizes the data</a:t>
            </a:r>
          </a:p>
          <a:p>
            <a:pPr lvl="1"/>
            <a:r>
              <a:rPr lang="en-US" dirty="0"/>
              <a:t>column – specifies the name of the column in the table</a:t>
            </a:r>
          </a:p>
          <a:p>
            <a:endParaRPr lang="en-PK" dirty="0"/>
          </a:p>
        </p:txBody>
      </p:sp>
    </p:spTree>
    <p:extLst>
      <p:ext uri="{BB962C8B-B14F-4D97-AF65-F5344CB8AC3E}">
        <p14:creationId xmlns:p14="http://schemas.microsoft.com/office/powerpoint/2010/main" val="7134115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DF8FE-9C14-4B12-85A3-860B51B18B63}"/>
              </a:ext>
            </a:extLst>
          </p:cNvPr>
          <p:cNvSpPr>
            <a:spLocks noGrp="1"/>
          </p:cNvSpPr>
          <p:nvPr>
            <p:ph type="title"/>
          </p:nvPr>
        </p:nvSpPr>
        <p:spPr>
          <a:xfrm>
            <a:off x="609600" y="274638"/>
            <a:ext cx="7924800" cy="639762"/>
          </a:xfrm>
        </p:spPr>
        <p:txBody>
          <a:bodyPr/>
          <a:lstStyle/>
          <a:p>
            <a:r>
              <a:rPr lang="en-US" dirty="0"/>
              <a:t>Joins:</a:t>
            </a:r>
            <a:endParaRPr lang="en-PK" dirty="0"/>
          </a:p>
        </p:txBody>
      </p:sp>
      <p:sp>
        <p:nvSpPr>
          <p:cNvPr id="3" name="Content Placeholder 2">
            <a:extLst>
              <a:ext uri="{FF2B5EF4-FFF2-40B4-BE49-F238E27FC236}">
                <a16:creationId xmlns:a16="http://schemas.microsoft.com/office/drawing/2014/main" id="{B9C44464-6EFD-4E06-BD31-1919DEE8A6F9}"/>
              </a:ext>
            </a:extLst>
          </p:cNvPr>
          <p:cNvSpPr>
            <a:spLocks noGrp="1"/>
          </p:cNvSpPr>
          <p:nvPr>
            <p:ph sz="quarter" idx="13"/>
          </p:nvPr>
        </p:nvSpPr>
        <p:spPr>
          <a:xfrm>
            <a:off x="609600" y="914400"/>
            <a:ext cx="7924800" cy="4800600"/>
          </a:xfrm>
        </p:spPr>
        <p:txBody>
          <a:bodyPr/>
          <a:lstStyle/>
          <a:p>
            <a:r>
              <a:rPr lang="en-US" dirty="0"/>
              <a:t>Combining two or more records of different tables from  the same database, into one comprehensive structure, is  known as joining of tables</a:t>
            </a:r>
          </a:p>
          <a:p>
            <a:r>
              <a:rPr lang="en-US" dirty="0"/>
              <a:t>Joining tables enables ease of manipulation, increases  the speed of access, and reduces data redundancy</a:t>
            </a:r>
          </a:p>
          <a:p>
            <a:r>
              <a:rPr lang="en-US" dirty="0"/>
              <a:t>The concept of joining tables is to display a single table  that will be derived from the base of all related tables  linked to each other with a common attribute</a:t>
            </a:r>
          </a:p>
          <a:p>
            <a:r>
              <a:rPr lang="en-US" dirty="0"/>
              <a:t>You can join the tables either using the WHERE clause  with the SELECT command or by using the JOIN  keyword</a:t>
            </a:r>
          </a:p>
          <a:p>
            <a:endParaRPr lang="en-PK" dirty="0"/>
          </a:p>
        </p:txBody>
      </p:sp>
    </p:spTree>
    <p:extLst>
      <p:ext uri="{BB962C8B-B14F-4D97-AF65-F5344CB8AC3E}">
        <p14:creationId xmlns:p14="http://schemas.microsoft.com/office/powerpoint/2010/main" val="384003960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F9E30-CE0A-4101-9401-AEC06B7D938C}"/>
              </a:ext>
            </a:extLst>
          </p:cNvPr>
          <p:cNvSpPr>
            <a:spLocks noGrp="1"/>
          </p:cNvSpPr>
          <p:nvPr>
            <p:ph type="title"/>
          </p:nvPr>
        </p:nvSpPr>
        <p:spPr>
          <a:xfrm>
            <a:off x="609600" y="274638"/>
            <a:ext cx="7924800" cy="563562"/>
          </a:xfrm>
        </p:spPr>
        <p:txBody>
          <a:bodyPr/>
          <a:lstStyle/>
          <a:p>
            <a:r>
              <a:rPr lang="en-US" dirty="0" err="1"/>
              <a:t>Equi</a:t>
            </a:r>
            <a:r>
              <a:rPr lang="en-US" dirty="0"/>
              <a:t>-join:</a:t>
            </a:r>
            <a:endParaRPr lang="en-PK" dirty="0"/>
          </a:p>
        </p:txBody>
      </p:sp>
      <p:sp>
        <p:nvSpPr>
          <p:cNvPr id="3" name="Content Placeholder 2">
            <a:extLst>
              <a:ext uri="{FF2B5EF4-FFF2-40B4-BE49-F238E27FC236}">
                <a16:creationId xmlns:a16="http://schemas.microsoft.com/office/drawing/2014/main" id="{025EC202-5561-44AF-805E-B353F1B461B6}"/>
              </a:ext>
            </a:extLst>
          </p:cNvPr>
          <p:cNvSpPr>
            <a:spLocks noGrp="1"/>
          </p:cNvSpPr>
          <p:nvPr>
            <p:ph sz="quarter" idx="13"/>
          </p:nvPr>
        </p:nvSpPr>
        <p:spPr>
          <a:xfrm>
            <a:off x="609600" y="838200"/>
            <a:ext cx="7924800" cy="4876800"/>
          </a:xfrm>
        </p:spPr>
        <p:txBody>
          <a:bodyPr>
            <a:normAutofit/>
          </a:bodyPr>
          <a:lstStyle/>
          <a:p>
            <a:r>
              <a:rPr lang="en-US" dirty="0"/>
              <a:t>In </a:t>
            </a:r>
            <a:r>
              <a:rPr lang="en-US" dirty="0" err="1"/>
              <a:t>Equi</a:t>
            </a:r>
            <a:r>
              <a:rPr lang="en-US" dirty="0"/>
              <a:t>-Join, MySQL combines records from two or more tables based  on a common column</a:t>
            </a:r>
          </a:p>
          <a:p>
            <a:r>
              <a:rPr lang="en-US" dirty="0"/>
              <a:t>The syntax for </a:t>
            </a:r>
            <a:r>
              <a:rPr lang="en-US" dirty="0" err="1"/>
              <a:t>Equi</a:t>
            </a:r>
            <a:r>
              <a:rPr lang="en-US" dirty="0"/>
              <a:t>-Join is:</a:t>
            </a:r>
          </a:p>
          <a:p>
            <a:pPr marL="0" indent="0" algn="ctr">
              <a:buNone/>
            </a:pPr>
            <a:r>
              <a:rPr lang="en-US" dirty="0"/>
              <a:t>SELECT </a:t>
            </a:r>
            <a:r>
              <a:rPr lang="en-US" dirty="0" err="1"/>
              <a:t>column_name</a:t>
            </a:r>
            <a:r>
              <a:rPr lang="en-US" dirty="0"/>
              <a:t>,...[*] FROM table1 [as alias],table2 [as  alias] WHERE (</a:t>
            </a:r>
            <a:r>
              <a:rPr lang="en-US" dirty="0" err="1"/>
              <a:t>join_condition</a:t>
            </a:r>
            <a:r>
              <a:rPr lang="en-US" dirty="0"/>
              <a:t>);</a:t>
            </a:r>
          </a:p>
          <a:p>
            <a:r>
              <a:rPr lang="en-US" dirty="0"/>
              <a:t>where,</a:t>
            </a:r>
          </a:p>
          <a:p>
            <a:pPr lvl="1"/>
            <a:r>
              <a:rPr lang="en-US" dirty="0"/>
              <a:t>SELECT – retrieves data from the specified column and the table</a:t>
            </a:r>
          </a:p>
          <a:p>
            <a:pPr lvl="1"/>
            <a:r>
              <a:rPr lang="en-US" dirty="0" err="1"/>
              <a:t>column_name</a:t>
            </a:r>
            <a:r>
              <a:rPr lang="en-US" dirty="0"/>
              <a:t> – specifies the name of the column to retrieve from the table</a:t>
            </a:r>
          </a:p>
          <a:p>
            <a:pPr lvl="1"/>
            <a:r>
              <a:rPr lang="en-US" dirty="0"/>
              <a:t>table1 – specifies the name of the table that contains the columns</a:t>
            </a:r>
          </a:p>
          <a:p>
            <a:pPr lvl="1"/>
            <a:r>
              <a:rPr lang="en-US" dirty="0"/>
              <a:t>as alias – specifies the reference name for the table</a:t>
            </a:r>
          </a:p>
          <a:p>
            <a:pPr lvl="1"/>
            <a:r>
              <a:rPr lang="en-US" dirty="0"/>
              <a:t>WHERE – specifies the conditions that need to be satisfied before retrieving data</a:t>
            </a:r>
          </a:p>
          <a:p>
            <a:pPr lvl="1"/>
            <a:r>
              <a:rPr lang="en-US" dirty="0" err="1"/>
              <a:t>join_condition</a:t>
            </a:r>
            <a:r>
              <a:rPr lang="en-US" dirty="0"/>
              <a:t> – compares data from the tables as specified in this clause</a:t>
            </a:r>
          </a:p>
          <a:p>
            <a:endParaRPr lang="en-PK" dirty="0"/>
          </a:p>
        </p:txBody>
      </p:sp>
    </p:spTree>
    <p:extLst>
      <p:ext uri="{BB962C8B-B14F-4D97-AF65-F5344CB8AC3E}">
        <p14:creationId xmlns:p14="http://schemas.microsoft.com/office/powerpoint/2010/main" val="72760894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89EA1-EA10-42AB-8613-26F85259FFC1}"/>
              </a:ext>
            </a:extLst>
          </p:cNvPr>
          <p:cNvSpPr>
            <a:spLocks noGrp="1"/>
          </p:cNvSpPr>
          <p:nvPr>
            <p:ph type="title"/>
          </p:nvPr>
        </p:nvSpPr>
        <p:spPr>
          <a:xfrm>
            <a:off x="609600" y="274638"/>
            <a:ext cx="7924800" cy="1147762"/>
          </a:xfrm>
        </p:spPr>
        <p:txBody>
          <a:bodyPr/>
          <a:lstStyle/>
          <a:p>
            <a:r>
              <a:rPr lang="en-US" dirty="0"/>
              <a:t>Join</a:t>
            </a:r>
            <a:endParaRPr lang="en-PK" dirty="0"/>
          </a:p>
        </p:txBody>
      </p:sp>
      <p:sp>
        <p:nvSpPr>
          <p:cNvPr id="3" name="Content Placeholder 2">
            <a:extLst>
              <a:ext uri="{FF2B5EF4-FFF2-40B4-BE49-F238E27FC236}">
                <a16:creationId xmlns:a16="http://schemas.microsoft.com/office/drawing/2014/main" id="{D21723A2-E977-49BE-8665-6AAE22569244}"/>
              </a:ext>
            </a:extLst>
          </p:cNvPr>
          <p:cNvSpPr>
            <a:spLocks noGrp="1"/>
          </p:cNvSpPr>
          <p:nvPr>
            <p:ph sz="quarter" idx="13"/>
          </p:nvPr>
        </p:nvSpPr>
        <p:spPr/>
        <p:txBody>
          <a:bodyPr/>
          <a:lstStyle/>
          <a:p>
            <a:r>
              <a:rPr lang="en-US" dirty="0"/>
              <a:t>You can specify the join condition using any one  of the following clauses:</a:t>
            </a:r>
          </a:p>
          <a:p>
            <a:r>
              <a:rPr lang="en-US" dirty="0"/>
              <a:t>ON clause:</a:t>
            </a:r>
          </a:p>
          <a:p>
            <a:pPr lvl="1"/>
            <a:r>
              <a:rPr lang="en-US" dirty="0"/>
              <a:t>Specifies the conditional expression that can be used in a</a:t>
            </a:r>
          </a:p>
          <a:p>
            <a:r>
              <a:rPr lang="en-US" dirty="0"/>
              <a:t>WHERE clause</a:t>
            </a:r>
          </a:p>
          <a:p>
            <a:pPr lvl="1"/>
            <a:r>
              <a:rPr lang="en-US" dirty="0"/>
              <a:t>If there is no matching record present in the specified  table according to the query, then the row with all  columns set to NULL will be used</a:t>
            </a:r>
          </a:p>
          <a:p>
            <a:pPr lvl="1"/>
            <a:r>
              <a:rPr lang="en-US" dirty="0"/>
              <a:t>USING clause:</a:t>
            </a:r>
          </a:p>
          <a:p>
            <a:pPr lvl="1"/>
            <a:r>
              <a:rPr lang="en-US" dirty="0"/>
              <a:t>Specifies the common attribute of the joining tables</a:t>
            </a:r>
          </a:p>
          <a:p>
            <a:endParaRPr lang="en-PK" dirty="0"/>
          </a:p>
        </p:txBody>
      </p:sp>
    </p:spTree>
    <p:extLst>
      <p:ext uri="{BB962C8B-B14F-4D97-AF65-F5344CB8AC3E}">
        <p14:creationId xmlns:p14="http://schemas.microsoft.com/office/powerpoint/2010/main" val="251584064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B9D01-8B20-4EF7-AE50-D14A7BDDBB41}"/>
              </a:ext>
            </a:extLst>
          </p:cNvPr>
          <p:cNvSpPr>
            <a:spLocks noGrp="1"/>
          </p:cNvSpPr>
          <p:nvPr>
            <p:ph type="title"/>
          </p:nvPr>
        </p:nvSpPr>
        <p:spPr/>
        <p:txBody>
          <a:bodyPr/>
          <a:lstStyle/>
          <a:p>
            <a:r>
              <a:rPr lang="en-US" dirty="0"/>
              <a:t>Inner join:</a:t>
            </a:r>
            <a:endParaRPr lang="en-PK" dirty="0"/>
          </a:p>
        </p:txBody>
      </p:sp>
      <p:sp>
        <p:nvSpPr>
          <p:cNvPr id="3" name="Content Placeholder 2">
            <a:extLst>
              <a:ext uri="{FF2B5EF4-FFF2-40B4-BE49-F238E27FC236}">
                <a16:creationId xmlns:a16="http://schemas.microsoft.com/office/drawing/2014/main" id="{325C80A8-582F-4A87-81B2-97B145447F8E}"/>
              </a:ext>
            </a:extLst>
          </p:cNvPr>
          <p:cNvSpPr>
            <a:spLocks noGrp="1"/>
          </p:cNvSpPr>
          <p:nvPr>
            <p:ph sz="quarter" idx="13"/>
          </p:nvPr>
        </p:nvSpPr>
        <p:spPr/>
        <p:txBody>
          <a:bodyPr/>
          <a:lstStyle/>
          <a:p>
            <a:r>
              <a:rPr lang="en-US" dirty="0"/>
              <a:t>The most common join operation used in applications is an INNER JOIN</a:t>
            </a:r>
          </a:p>
          <a:p>
            <a:r>
              <a:rPr lang="en-US" dirty="0"/>
              <a:t>An INNER JOIN creates a virtual table by combining the fields of both tables that satisfy the query for both the tables</a:t>
            </a:r>
          </a:p>
          <a:p>
            <a:r>
              <a:rPr lang="en-US" dirty="0"/>
              <a:t>An INNER JOIN creates a virtual table by combining the fields  of both tables that satisfy the query for both the tables</a:t>
            </a:r>
          </a:p>
          <a:p>
            <a:r>
              <a:rPr lang="en-US" dirty="0"/>
              <a:t>The only difference is in the syntax.</a:t>
            </a:r>
          </a:p>
          <a:p>
            <a:endParaRPr lang="en-PK" dirty="0"/>
          </a:p>
        </p:txBody>
      </p:sp>
    </p:spTree>
    <p:extLst>
      <p:ext uri="{BB962C8B-B14F-4D97-AF65-F5344CB8AC3E}">
        <p14:creationId xmlns:p14="http://schemas.microsoft.com/office/powerpoint/2010/main" val="273985462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1E6A9-5E91-4F5C-8D2D-211FC08AB21F}"/>
              </a:ext>
            </a:extLst>
          </p:cNvPr>
          <p:cNvSpPr>
            <a:spLocks noGrp="1"/>
          </p:cNvSpPr>
          <p:nvPr>
            <p:ph type="title"/>
          </p:nvPr>
        </p:nvSpPr>
        <p:spPr>
          <a:xfrm>
            <a:off x="609600" y="274638"/>
            <a:ext cx="7924800" cy="487362"/>
          </a:xfrm>
        </p:spPr>
        <p:txBody>
          <a:bodyPr/>
          <a:lstStyle/>
          <a:p>
            <a:r>
              <a:rPr lang="en-US" dirty="0"/>
              <a:t>Inner join:</a:t>
            </a:r>
            <a:endParaRPr lang="en-PK" dirty="0"/>
          </a:p>
        </p:txBody>
      </p:sp>
      <p:sp>
        <p:nvSpPr>
          <p:cNvPr id="3" name="Content Placeholder 2">
            <a:extLst>
              <a:ext uri="{FF2B5EF4-FFF2-40B4-BE49-F238E27FC236}">
                <a16:creationId xmlns:a16="http://schemas.microsoft.com/office/drawing/2014/main" id="{61BD6661-04FD-423F-85E2-F39914B27DEB}"/>
              </a:ext>
            </a:extLst>
          </p:cNvPr>
          <p:cNvSpPr>
            <a:spLocks noGrp="1"/>
          </p:cNvSpPr>
          <p:nvPr>
            <p:ph sz="quarter" idx="13"/>
          </p:nvPr>
        </p:nvSpPr>
        <p:spPr>
          <a:xfrm>
            <a:off x="609600" y="762000"/>
            <a:ext cx="7924800" cy="4953000"/>
          </a:xfrm>
        </p:spPr>
        <p:txBody>
          <a:bodyPr/>
          <a:lstStyle/>
          <a:p>
            <a:r>
              <a:rPr lang="en-US" dirty="0"/>
              <a:t>The syntax for inner join is :</a:t>
            </a:r>
          </a:p>
          <a:p>
            <a:pPr marL="0" indent="0" algn="ctr">
              <a:buNone/>
            </a:pPr>
            <a:r>
              <a:rPr lang="en-US" dirty="0"/>
              <a:t>SELECT column_name1, column_name2, column_name3FROM table_name1  INNER JOIN table_name2 ON table_name1.primary_keyfield =  table_name2.foreign_keyfield;</a:t>
            </a:r>
          </a:p>
          <a:p>
            <a:r>
              <a:rPr lang="en-US" dirty="0"/>
              <a:t>where,</a:t>
            </a:r>
          </a:p>
          <a:p>
            <a:pPr lvl="1"/>
            <a:r>
              <a:rPr lang="en-US" dirty="0"/>
              <a:t>SELECT – retrieves data from the table</a:t>
            </a:r>
          </a:p>
          <a:p>
            <a:pPr lvl="1"/>
            <a:r>
              <a:rPr lang="en-US" dirty="0" err="1"/>
              <a:t>column_name</a:t>
            </a:r>
            <a:r>
              <a:rPr lang="en-US" dirty="0"/>
              <a:t> – specifies the name of the column</a:t>
            </a:r>
          </a:p>
          <a:p>
            <a:pPr lvl="1"/>
            <a:r>
              <a:rPr lang="en-US" dirty="0" err="1"/>
              <a:t>table_name</a:t>
            </a:r>
            <a:r>
              <a:rPr lang="en-US" dirty="0"/>
              <a:t> – specifies the name of the table that contain data</a:t>
            </a:r>
          </a:p>
          <a:p>
            <a:pPr lvl="1"/>
            <a:r>
              <a:rPr lang="en-US" dirty="0"/>
              <a:t>INNER JOIN – creates a virtual table by combining the fields from both tables that satisfy the query</a:t>
            </a:r>
          </a:p>
          <a:p>
            <a:pPr lvl="1"/>
            <a:r>
              <a:rPr lang="en-US" dirty="0"/>
              <a:t>table_name1.primary_keyfield=  table_name2.foreign_keyfield – specifies the relationship between the tables</a:t>
            </a:r>
          </a:p>
          <a:p>
            <a:endParaRPr lang="en-PK" dirty="0"/>
          </a:p>
        </p:txBody>
      </p:sp>
    </p:spTree>
    <p:extLst>
      <p:ext uri="{BB962C8B-B14F-4D97-AF65-F5344CB8AC3E}">
        <p14:creationId xmlns:p14="http://schemas.microsoft.com/office/powerpoint/2010/main" val="64916863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FD6CA-4307-4EFD-9DE0-EBFFFBC081DB}"/>
              </a:ext>
            </a:extLst>
          </p:cNvPr>
          <p:cNvSpPr>
            <a:spLocks noGrp="1"/>
          </p:cNvSpPr>
          <p:nvPr>
            <p:ph type="title"/>
          </p:nvPr>
        </p:nvSpPr>
        <p:spPr/>
        <p:txBody>
          <a:bodyPr/>
          <a:lstStyle/>
          <a:p>
            <a:r>
              <a:rPr lang="en-US" dirty="0"/>
              <a:t>Inner join:</a:t>
            </a:r>
            <a:endParaRPr lang="en-PK" dirty="0"/>
          </a:p>
        </p:txBody>
      </p:sp>
      <p:sp>
        <p:nvSpPr>
          <p:cNvPr id="3" name="Content Placeholder 2">
            <a:extLst>
              <a:ext uri="{FF2B5EF4-FFF2-40B4-BE49-F238E27FC236}">
                <a16:creationId xmlns:a16="http://schemas.microsoft.com/office/drawing/2014/main" id="{83CE193C-B40D-4AF2-BAA2-DB0AD3B3ABD1}"/>
              </a:ext>
            </a:extLst>
          </p:cNvPr>
          <p:cNvSpPr>
            <a:spLocks noGrp="1"/>
          </p:cNvSpPr>
          <p:nvPr>
            <p:ph sz="quarter" idx="13"/>
          </p:nvPr>
        </p:nvSpPr>
        <p:spPr/>
        <p:txBody>
          <a:bodyPr/>
          <a:lstStyle/>
          <a:p>
            <a:r>
              <a:rPr lang="en-US" dirty="0"/>
              <a:t>You can join numeric fields together, as long as they are of same  data type such as AutoNumber or Long</a:t>
            </a:r>
          </a:p>
          <a:p>
            <a:r>
              <a:rPr lang="en-US" dirty="0"/>
              <a:t>In case of non-numeric data, the fields must be of same type and length and should contain same kind of data</a:t>
            </a:r>
          </a:p>
          <a:p>
            <a:r>
              <a:rPr lang="en-US" dirty="0"/>
              <a:t>In the ON clause, you can use relational operators such as =,&lt;, &gt;, &lt;=, &gt;=, or &lt;&gt;</a:t>
            </a:r>
          </a:p>
          <a:p>
            <a:r>
              <a:rPr lang="en-US" dirty="0"/>
              <a:t>You can also use the AND or the OR operator with INNER  JOIN command</a:t>
            </a:r>
          </a:p>
          <a:p>
            <a:endParaRPr lang="en-PK" dirty="0"/>
          </a:p>
        </p:txBody>
      </p:sp>
    </p:spTree>
    <p:extLst>
      <p:ext uri="{BB962C8B-B14F-4D97-AF65-F5344CB8AC3E}">
        <p14:creationId xmlns:p14="http://schemas.microsoft.com/office/powerpoint/2010/main" val="342872824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AC3B5-34AB-4810-82A9-1E7C33C39CF8}"/>
              </a:ext>
            </a:extLst>
          </p:cNvPr>
          <p:cNvSpPr>
            <a:spLocks noGrp="1"/>
          </p:cNvSpPr>
          <p:nvPr>
            <p:ph type="title"/>
          </p:nvPr>
        </p:nvSpPr>
        <p:spPr>
          <a:xfrm>
            <a:off x="609600" y="274638"/>
            <a:ext cx="7924800" cy="563562"/>
          </a:xfrm>
        </p:spPr>
        <p:txBody>
          <a:bodyPr/>
          <a:lstStyle/>
          <a:p>
            <a:r>
              <a:rPr lang="en-US" dirty="0"/>
              <a:t>Outer join:</a:t>
            </a:r>
            <a:endParaRPr lang="en-PK" dirty="0"/>
          </a:p>
        </p:txBody>
      </p:sp>
      <p:sp>
        <p:nvSpPr>
          <p:cNvPr id="3" name="Content Placeholder 2">
            <a:extLst>
              <a:ext uri="{FF2B5EF4-FFF2-40B4-BE49-F238E27FC236}">
                <a16:creationId xmlns:a16="http://schemas.microsoft.com/office/drawing/2014/main" id="{71796690-949E-45B9-907F-2A47D4055A1D}"/>
              </a:ext>
            </a:extLst>
          </p:cNvPr>
          <p:cNvSpPr>
            <a:spLocks noGrp="1"/>
          </p:cNvSpPr>
          <p:nvPr>
            <p:ph sz="quarter" idx="13"/>
          </p:nvPr>
        </p:nvSpPr>
        <p:spPr>
          <a:xfrm>
            <a:off x="609600" y="914400"/>
            <a:ext cx="7924800" cy="4800600"/>
          </a:xfrm>
        </p:spPr>
        <p:txBody>
          <a:bodyPr>
            <a:normAutofit/>
          </a:bodyPr>
          <a:lstStyle/>
          <a:p>
            <a:r>
              <a:rPr lang="en-US" dirty="0"/>
              <a:t>An OUTER JOIN displays rows of the tables that may not have  any matching value in the other tables to appear in the result set</a:t>
            </a:r>
          </a:p>
          <a:p>
            <a:r>
              <a:rPr lang="en-US" dirty="0"/>
              <a:t>To use an OUTER JOIN, the tables must have one or more columns in common</a:t>
            </a:r>
          </a:p>
          <a:p>
            <a:r>
              <a:rPr lang="en-US" dirty="0"/>
              <a:t>The two types of OUTER JOIN are as follows:</a:t>
            </a:r>
          </a:p>
          <a:p>
            <a:r>
              <a:rPr lang="en-US" dirty="0"/>
              <a:t>LEFT JOIN:</a:t>
            </a:r>
          </a:p>
          <a:p>
            <a:pPr lvl="1"/>
            <a:r>
              <a:rPr lang="en-US" dirty="0"/>
              <a:t>It is also known as LEFT OUTER JOIN. It displays all the records from  the table specified on the left of the OUTER JOIN operator in the  result set, with or without any matching records from the table specified on the right</a:t>
            </a:r>
          </a:p>
          <a:p>
            <a:pPr lvl="1"/>
            <a:r>
              <a:rPr lang="en-US" dirty="0"/>
              <a:t>If no matching record is found in any of the rows from the table  placed on the right, then the corresponding columns of that row will  contain NULL values</a:t>
            </a:r>
          </a:p>
          <a:p>
            <a:endParaRPr lang="en-PK" dirty="0"/>
          </a:p>
        </p:txBody>
      </p:sp>
    </p:spTree>
    <p:extLst>
      <p:ext uri="{BB962C8B-B14F-4D97-AF65-F5344CB8AC3E}">
        <p14:creationId xmlns:p14="http://schemas.microsoft.com/office/powerpoint/2010/main" val="422462344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83A55-C1B4-46DE-87ED-A01A16FBF74B}"/>
              </a:ext>
            </a:extLst>
          </p:cNvPr>
          <p:cNvSpPr>
            <a:spLocks noGrp="1"/>
          </p:cNvSpPr>
          <p:nvPr>
            <p:ph type="title"/>
          </p:nvPr>
        </p:nvSpPr>
        <p:spPr>
          <a:xfrm>
            <a:off x="609600" y="274638"/>
            <a:ext cx="7924800" cy="563562"/>
          </a:xfrm>
        </p:spPr>
        <p:txBody>
          <a:bodyPr/>
          <a:lstStyle/>
          <a:p>
            <a:r>
              <a:rPr lang="en-US" dirty="0"/>
              <a:t>Left outer join:</a:t>
            </a:r>
            <a:endParaRPr lang="en-PK" dirty="0"/>
          </a:p>
        </p:txBody>
      </p:sp>
      <p:sp>
        <p:nvSpPr>
          <p:cNvPr id="3" name="Content Placeholder 2">
            <a:extLst>
              <a:ext uri="{FF2B5EF4-FFF2-40B4-BE49-F238E27FC236}">
                <a16:creationId xmlns:a16="http://schemas.microsoft.com/office/drawing/2014/main" id="{4A61597A-D5E9-48B7-9883-27E80A33E9F8}"/>
              </a:ext>
            </a:extLst>
          </p:cNvPr>
          <p:cNvSpPr>
            <a:spLocks noGrp="1"/>
          </p:cNvSpPr>
          <p:nvPr>
            <p:ph sz="quarter" idx="13"/>
          </p:nvPr>
        </p:nvSpPr>
        <p:spPr>
          <a:xfrm>
            <a:off x="609600" y="838200"/>
            <a:ext cx="7924800" cy="4876800"/>
          </a:xfrm>
        </p:spPr>
        <p:txBody>
          <a:bodyPr>
            <a:normAutofit/>
          </a:bodyPr>
          <a:lstStyle/>
          <a:p>
            <a:r>
              <a:rPr lang="en-US" dirty="0"/>
              <a:t>The syntax for LEFT OUTER JOIN is:</a:t>
            </a:r>
          </a:p>
          <a:p>
            <a:pPr marL="0" indent="0" algn="ctr">
              <a:buNone/>
            </a:pPr>
            <a:r>
              <a:rPr lang="en-US" dirty="0"/>
              <a:t>SELECT COLUMN1, COLUMN2 FROM TABLE1 LEFT OUTER JOIN TABLE2 ON (JOIN CONDITION);</a:t>
            </a:r>
          </a:p>
          <a:p>
            <a:r>
              <a:rPr lang="en-US" dirty="0"/>
              <a:t>where,</a:t>
            </a:r>
          </a:p>
          <a:p>
            <a:pPr lvl="1"/>
            <a:r>
              <a:rPr lang="en-US" dirty="0"/>
              <a:t>SELECT – retrieves data from columns in the table</a:t>
            </a:r>
          </a:p>
          <a:p>
            <a:pPr lvl="1"/>
            <a:r>
              <a:rPr lang="en-US" dirty="0"/>
              <a:t>COLUMN1,… – specifies the name of the column to retrieve data from</a:t>
            </a:r>
          </a:p>
          <a:p>
            <a:pPr lvl="1"/>
            <a:r>
              <a:rPr lang="en-US" dirty="0"/>
              <a:t>LEFT OUTER JOIN - displays all rows from the table specified on the left of the</a:t>
            </a:r>
          </a:p>
          <a:p>
            <a:pPr lvl="1"/>
            <a:r>
              <a:rPr lang="en-US" dirty="0"/>
              <a:t>OUTER JOIN operator</a:t>
            </a:r>
          </a:p>
          <a:p>
            <a:pPr lvl="1"/>
            <a:r>
              <a:rPr lang="en-US" dirty="0"/>
              <a:t>TABLE1 – specifies the name of the table</a:t>
            </a:r>
          </a:p>
          <a:p>
            <a:pPr lvl="1"/>
            <a:r>
              <a:rPr lang="en-US" dirty="0"/>
              <a:t>JOIN CONDITION – specifies the conditions to retrieve data from tables</a:t>
            </a:r>
          </a:p>
          <a:p>
            <a:endParaRPr lang="en-PK" dirty="0"/>
          </a:p>
        </p:txBody>
      </p:sp>
    </p:spTree>
    <p:extLst>
      <p:ext uri="{BB962C8B-B14F-4D97-AF65-F5344CB8AC3E}">
        <p14:creationId xmlns:p14="http://schemas.microsoft.com/office/powerpoint/2010/main" val="58429071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C9E73-4422-41F5-AE55-14B4215382B5}"/>
              </a:ext>
            </a:extLst>
          </p:cNvPr>
          <p:cNvSpPr>
            <a:spLocks noGrp="1"/>
          </p:cNvSpPr>
          <p:nvPr>
            <p:ph type="title"/>
          </p:nvPr>
        </p:nvSpPr>
        <p:spPr>
          <a:xfrm>
            <a:off x="609600" y="274638"/>
            <a:ext cx="7924800" cy="563562"/>
          </a:xfrm>
        </p:spPr>
        <p:txBody>
          <a:bodyPr/>
          <a:lstStyle/>
          <a:p>
            <a:r>
              <a:rPr lang="en-US" dirty="0"/>
              <a:t>Left outer join:</a:t>
            </a:r>
            <a:endParaRPr lang="en-PK" dirty="0"/>
          </a:p>
        </p:txBody>
      </p:sp>
      <p:sp>
        <p:nvSpPr>
          <p:cNvPr id="3" name="Content Placeholder 2">
            <a:extLst>
              <a:ext uri="{FF2B5EF4-FFF2-40B4-BE49-F238E27FC236}">
                <a16:creationId xmlns:a16="http://schemas.microsoft.com/office/drawing/2014/main" id="{0A5A1CED-2941-4CEF-BAD8-372377628CBA}"/>
              </a:ext>
            </a:extLst>
          </p:cNvPr>
          <p:cNvSpPr>
            <a:spLocks noGrp="1"/>
          </p:cNvSpPr>
          <p:nvPr>
            <p:ph sz="quarter" idx="13"/>
          </p:nvPr>
        </p:nvSpPr>
        <p:spPr>
          <a:xfrm>
            <a:off x="609600" y="838200"/>
            <a:ext cx="7924800" cy="4876800"/>
          </a:xfrm>
        </p:spPr>
        <p:txBody>
          <a:bodyPr/>
          <a:lstStyle/>
          <a:p>
            <a:r>
              <a:rPr lang="en-US" dirty="0"/>
              <a:t>Table lists the JOIN conditions that can be specified in the ON clause</a:t>
            </a:r>
          </a:p>
          <a:p>
            <a:endParaRPr lang="en-PK" dirty="0"/>
          </a:p>
        </p:txBody>
      </p:sp>
      <p:graphicFrame>
        <p:nvGraphicFramePr>
          <p:cNvPr id="4" name="object 6">
            <a:extLst>
              <a:ext uri="{FF2B5EF4-FFF2-40B4-BE49-F238E27FC236}">
                <a16:creationId xmlns:a16="http://schemas.microsoft.com/office/drawing/2014/main" id="{22517C0D-3F5B-47BD-BF9D-A9DE178E0FD2}"/>
              </a:ext>
            </a:extLst>
          </p:cNvPr>
          <p:cNvGraphicFramePr>
            <a:graphicFrameLocks noGrp="1"/>
          </p:cNvGraphicFramePr>
          <p:nvPr>
            <p:extLst>
              <p:ext uri="{D42A27DB-BD31-4B8C-83A1-F6EECF244321}">
                <p14:modId xmlns:p14="http://schemas.microsoft.com/office/powerpoint/2010/main" val="1265806152"/>
              </p:ext>
            </p:extLst>
          </p:nvPr>
        </p:nvGraphicFramePr>
        <p:xfrm>
          <a:off x="304800" y="1299730"/>
          <a:ext cx="8686800" cy="2570480"/>
        </p:xfrm>
        <a:graphic>
          <a:graphicData uri="http://schemas.openxmlformats.org/drawingml/2006/table">
            <a:tbl>
              <a:tblPr firstRow="1" bandRow="1">
                <a:tableStyleId>{616DA210-FB5B-4158-B5E0-FEB733F419BA}</a:tableStyleId>
              </a:tblPr>
              <a:tblGrid>
                <a:gridCol w="1524000">
                  <a:extLst>
                    <a:ext uri="{9D8B030D-6E8A-4147-A177-3AD203B41FA5}">
                      <a16:colId xmlns:a16="http://schemas.microsoft.com/office/drawing/2014/main" val="20000"/>
                    </a:ext>
                  </a:extLst>
                </a:gridCol>
                <a:gridCol w="7162800">
                  <a:extLst>
                    <a:ext uri="{9D8B030D-6E8A-4147-A177-3AD203B41FA5}">
                      <a16:colId xmlns:a16="http://schemas.microsoft.com/office/drawing/2014/main" val="20001"/>
                    </a:ext>
                  </a:extLst>
                </a:gridCol>
              </a:tblGrid>
              <a:tr h="319405">
                <a:tc>
                  <a:txBody>
                    <a:bodyPr/>
                    <a:lstStyle/>
                    <a:p>
                      <a:pPr marL="211454">
                        <a:lnSpc>
                          <a:spcPct val="100000"/>
                        </a:lnSpc>
                        <a:spcBef>
                          <a:spcPts val="265"/>
                        </a:spcBef>
                      </a:pPr>
                      <a:r>
                        <a:rPr sz="1500" spc="-160" dirty="0"/>
                        <a:t>Join</a:t>
                      </a:r>
                      <a:r>
                        <a:rPr sz="1500" spc="-95" dirty="0"/>
                        <a:t> </a:t>
                      </a:r>
                      <a:r>
                        <a:rPr sz="1500" spc="-105" dirty="0"/>
                        <a:t>Condition</a:t>
                      </a:r>
                      <a:endParaRPr sz="1500">
                        <a:latin typeface="Arial"/>
                        <a:cs typeface="Arial"/>
                      </a:endParaRPr>
                    </a:p>
                  </a:txBody>
                  <a:tcPr marL="0" marR="0" marT="33655" marB="0"/>
                </a:tc>
                <a:tc>
                  <a:txBody>
                    <a:bodyPr/>
                    <a:lstStyle/>
                    <a:p>
                      <a:pPr marL="28575" algn="ctr">
                        <a:lnSpc>
                          <a:spcPct val="100000"/>
                        </a:lnSpc>
                        <a:spcBef>
                          <a:spcPts val="265"/>
                        </a:spcBef>
                      </a:pPr>
                      <a:r>
                        <a:rPr sz="1500" spc="-105" dirty="0"/>
                        <a:t>Description</a:t>
                      </a:r>
                      <a:endParaRPr sz="1500" dirty="0">
                        <a:latin typeface="Arial"/>
                        <a:cs typeface="Arial"/>
                      </a:endParaRPr>
                    </a:p>
                  </a:txBody>
                  <a:tcPr marL="0" marR="0" marT="33655" marB="0"/>
                </a:tc>
                <a:extLst>
                  <a:ext uri="{0D108BD9-81ED-4DB2-BD59-A6C34878D82A}">
                    <a16:rowId xmlns:a16="http://schemas.microsoft.com/office/drawing/2014/main" val="10000"/>
                  </a:ext>
                </a:extLst>
              </a:tr>
              <a:tr h="319405">
                <a:tc>
                  <a:txBody>
                    <a:bodyPr/>
                    <a:lstStyle/>
                    <a:p>
                      <a:pPr marL="105410">
                        <a:lnSpc>
                          <a:spcPct val="100000"/>
                        </a:lnSpc>
                        <a:spcBef>
                          <a:spcPts val="265"/>
                        </a:spcBef>
                      </a:pPr>
                      <a:r>
                        <a:rPr sz="1500" spc="-200" dirty="0"/>
                        <a:t>BETWEEN</a:t>
                      </a:r>
                      <a:endParaRPr sz="1500">
                        <a:latin typeface="Arial"/>
                        <a:cs typeface="Arial"/>
                      </a:endParaRPr>
                    </a:p>
                  </a:txBody>
                  <a:tcPr marL="0" marR="0" marT="33655" marB="0"/>
                </a:tc>
                <a:tc>
                  <a:txBody>
                    <a:bodyPr/>
                    <a:lstStyle/>
                    <a:p>
                      <a:pPr marL="105410">
                        <a:lnSpc>
                          <a:spcPct val="100000"/>
                        </a:lnSpc>
                        <a:spcBef>
                          <a:spcPts val="265"/>
                        </a:spcBef>
                      </a:pPr>
                      <a:r>
                        <a:rPr sz="1500" spc="-100" dirty="0"/>
                        <a:t>Compares </a:t>
                      </a:r>
                      <a:r>
                        <a:rPr sz="1500" spc="-85" dirty="0"/>
                        <a:t>values </a:t>
                      </a:r>
                      <a:r>
                        <a:rPr sz="1500" dirty="0"/>
                        <a:t>that </a:t>
                      </a:r>
                      <a:r>
                        <a:rPr sz="1500" spc="-25" dirty="0"/>
                        <a:t>lie </a:t>
                      </a:r>
                      <a:r>
                        <a:rPr sz="1500" spc="-15" dirty="0"/>
                        <a:t>in </a:t>
                      </a:r>
                      <a:r>
                        <a:rPr sz="1500" spc="-50" dirty="0"/>
                        <a:t>between </a:t>
                      </a:r>
                      <a:r>
                        <a:rPr sz="1500" spc="-114" dirty="0"/>
                        <a:t>a </a:t>
                      </a:r>
                      <a:r>
                        <a:rPr sz="1500" spc="-65" dirty="0"/>
                        <a:t>specific</a:t>
                      </a:r>
                      <a:r>
                        <a:rPr sz="1500" spc="-275" dirty="0"/>
                        <a:t> </a:t>
                      </a:r>
                      <a:r>
                        <a:rPr sz="1500" spc="-80" dirty="0"/>
                        <a:t>range</a:t>
                      </a:r>
                      <a:endParaRPr sz="1500">
                        <a:latin typeface="Arial"/>
                        <a:cs typeface="Arial"/>
                      </a:endParaRPr>
                    </a:p>
                  </a:txBody>
                  <a:tcPr marL="0" marR="0" marT="33655" marB="0"/>
                </a:tc>
                <a:extLst>
                  <a:ext uri="{0D108BD9-81ED-4DB2-BD59-A6C34878D82A}">
                    <a16:rowId xmlns:a16="http://schemas.microsoft.com/office/drawing/2014/main" val="10001"/>
                  </a:ext>
                </a:extLst>
              </a:tr>
              <a:tr h="319405">
                <a:tc>
                  <a:txBody>
                    <a:bodyPr/>
                    <a:lstStyle/>
                    <a:p>
                      <a:pPr marL="105410">
                        <a:lnSpc>
                          <a:spcPct val="100000"/>
                        </a:lnSpc>
                        <a:spcBef>
                          <a:spcPts val="265"/>
                        </a:spcBef>
                      </a:pPr>
                      <a:r>
                        <a:rPr sz="1500" spc="-185" dirty="0"/>
                        <a:t>COMPARISON</a:t>
                      </a:r>
                      <a:endParaRPr sz="1500">
                        <a:latin typeface="Arial"/>
                        <a:cs typeface="Arial"/>
                      </a:endParaRPr>
                    </a:p>
                  </a:txBody>
                  <a:tcPr marL="0" marR="0" marT="33655" marB="0"/>
                </a:tc>
                <a:tc>
                  <a:txBody>
                    <a:bodyPr/>
                    <a:lstStyle/>
                    <a:p>
                      <a:pPr marL="105410">
                        <a:lnSpc>
                          <a:spcPct val="100000"/>
                        </a:lnSpc>
                        <a:spcBef>
                          <a:spcPts val="265"/>
                        </a:spcBef>
                      </a:pPr>
                      <a:r>
                        <a:rPr sz="1500" spc="-100" dirty="0"/>
                        <a:t>Compares </a:t>
                      </a:r>
                      <a:r>
                        <a:rPr sz="1500" spc="5" dirty="0"/>
                        <a:t>two </a:t>
                      </a:r>
                      <a:r>
                        <a:rPr sz="1500" spc="-85" dirty="0"/>
                        <a:t>values </a:t>
                      </a:r>
                      <a:r>
                        <a:rPr sz="1500" spc="-80" dirty="0"/>
                        <a:t>using </a:t>
                      </a:r>
                      <a:r>
                        <a:rPr sz="1500" spc="-55" dirty="0"/>
                        <a:t>operators </a:t>
                      </a:r>
                      <a:r>
                        <a:rPr sz="1500" spc="-95" dirty="0"/>
                        <a:t>such </a:t>
                      </a:r>
                      <a:r>
                        <a:rPr sz="1500" spc="-140" dirty="0"/>
                        <a:t>as </a:t>
                      </a:r>
                      <a:r>
                        <a:rPr sz="1500" spc="-90" dirty="0"/>
                        <a:t>=, &gt;, </a:t>
                      </a:r>
                      <a:r>
                        <a:rPr sz="1500" spc="-95" dirty="0"/>
                        <a:t>&lt;, </a:t>
                      </a:r>
                      <a:r>
                        <a:rPr sz="1500" spc="-110" dirty="0"/>
                        <a:t>&gt;=, &lt;=,</a:t>
                      </a:r>
                      <a:r>
                        <a:rPr sz="1500" spc="-70" dirty="0"/>
                        <a:t> </a:t>
                      </a:r>
                      <a:r>
                        <a:rPr sz="1500" spc="-135" dirty="0"/>
                        <a:t>&lt;&gt;</a:t>
                      </a:r>
                      <a:endParaRPr sz="1500">
                        <a:latin typeface="Arial"/>
                        <a:cs typeface="Arial"/>
                      </a:endParaRPr>
                    </a:p>
                  </a:txBody>
                  <a:tcPr marL="0" marR="0" marT="33655" marB="0"/>
                </a:tc>
                <a:extLst>
                  <a:ext uri="{0D108BD9-81ED-4DB2-BD59-A6C34878D82A}">
                    <a16:rowId xmlns:a16="http://schemas.microsoft.com/office/drawing/2014/main" val="10002"/>
                  </a:ext>
                </a:extLst>
              </a:tr>
              <a:tr h="320040">
                <a:tc>
                  <a:txBody>
                    <a:bodyPr/>
                    <a:lstStyle/>
                    <a:p>
                      <a:pPr marL="105410">
                        <a:lnSpc>
                          <a:spcPct val="100000"/>
                        </a:lnSpc>
                        <a:spcBef>
                          <a:spcPts val="270"/>
                        </a:spcBef>
                      </a:pPr>
                      <a:r>
                        <a:rPr sz="1500" spc="-215" dirty="0"/>
                        <a:t>EXIST</a:t>
                      </a:r>
                      <a:endParaRPr sz="1500" dirty="0">
                        <a:latin typeface="Arial"/>
                        <a:cs typeface="Arial"/>
                      </a:endParaRPr>
                    </a:p>
                  </a:txBody>
                  <a:tcPr marL="0" marR="0" marT="34290" marB="0"/>
                </a:tc>
                <a:tc>
                  <a:txBody>
                    <a:bodyPr/>
                    <a:lstStyle/>
                    <a:p>
                      <a:pPr marL="105410">
                        <a:lnSpc>
                          <a:spcPct val="100000"/>
                        </a:lnSpc>
                        <a:spcBef>
                          <a:spcPts val="270"/>
                        </a:spcBef>
                      </a:pPr>
                      <a:r>
                        <a:rPr sz="1500" spc="-60" dirty="0"/>
                        <a:t>Determines </a:t>
                      </a:r>
                      <a:r>
                        <a:rPr sz="1500" spc="-30" dirty="0"/>
                        <a:t>whether </a:t>
                      </a:r>
                      <a:r>
                        <a:rPr sz="1500" spc="-120" dirty="0"/>
                        <a:t>a </a:t>
                      </a:r>
                      <a:r>
                        <a:rPr sz="1500" spc="-70" dirty="0"/>
                        <a:t>value </a:t>
                      </a:r>
                      <a:r>
                        <a:rPr sz="1500" spc="-65" dirty="0"/>
                        <a:t>exist </a:t>
                      </a:r>
                      <a:r>
                        <a:rPr sz="1500" spc="-20" dirty="0"/>
                        <a:t>in the </a:t>
                      </a:r>
                      <a:r>
                        <a:rPr sz="1500" spc="-70" dirty="0"/>
                        <a:t>given</a:t>
                      </a:r>
                      <a:r>
                        <a:rPr sz="1500" spc="-260" dirty="0"/>
                        <a:t> </a:t>
                      </a:r>
                      <a:r>
                        <a:rPr sz="1500" spc="-40" dirty="0"/>
                        <a:t>table</a:t>
                      </a:r>
                      <a:endParaRPr sz="1500">
                        <a:latin typeface="Arial"/>
                        <a:cs typeface="Arial"/>
                      </a:endParaRPr>
                    </a:p>
                  </a:txBody>
                  <a:tcPr marL="0" marR="0" marT="34290" marB="0"/>
                </a:tc>
                <a:extLst>
                  <a:ext uri="{0D108BD9-81ED-4DB2-BD59-A6C34878D82A}">
                    <a16:rowId xmlns:a16="http://schemas.microsoft.com/office/drawing/2014/main" val="10003"/>
                  </a:ext>
                </a:extLst>
              </a:tr>
              <a:tr h="332740">
                <a:tc>
                  <a:txBody>
                    <a:bodyPr/>
                    <a:lstStyle/>
                    <a:p>
                      <a:pPr marL="105410">
                        <a:lnSpc>
                          <a:spcPct val="100000"/>
                        </a:lnSpc>
                        <a:spcBef>
                          <a:spcPts val="270"/>
                        </a:spcBef>
                      </a:pPr>
                      <a:r>
                        <a:rPr sz="1500" spc="-75" dirty="0"/>
                        <a:t>IN</a:t>
                      </a:r>
                      <a:endParaRPr sz="1500">
                        <a:latin typeface="Arial"/>
                        <a:cs typeface="Arial"/>
                      </a:endParaRPr>
                    </a:p>
                  </a:txBody>
                  <a:tcPr marL="0" marR="0" marT="34290" marB="0"/>
                </a:tc>
                <a:tc>
                  <a:txBody>
                    <a:bodyPr/>
                    <a:lstStyle/>
                    <a:p>
                      <a:pPr marL="105410">
                        <a:lnSpc>
                          <a:spcPct val="100000"/>
                        </a:lnSpc>
                        <a:spcBef>
                          <a:spcPts val="270"/>
                        </a:spcBef>
                      </a:pPr>
                      <a:r>
                        <a:rPr sz="1500" spc="-60" dirty="0"/>
                        <a:t>Determines</a:t>
                      </a:r>
                      <a:r>
                        <a:rPr sz="1500" spc="-75" dirty="0"/>
                        <a:t> </a:t>
                      </a:r>
                      <a:r>
                        <a:rPr sz="1500" spc="-30" dirty="0"/>
                        <a:t>whether</a:t>
                      </a:r>
                      <a:r>
                        <a:rPr sz="1500" spc="-70" dirty="0"/>
                        <a:t> </a:t>
                      </a:r>
                      <a:r>
                        <a:rPr sz="1500" spc="-120" dirty="0"/>
                        <a:t>a</a:t>
                      </a:r>
                      <a:r>
                        <a:rPr sz="1500" spc="-95" dirty="0"/>
                        <a:t> </a:t>
                      </a:r>
                      <a:r>
                        <a:rPr sz="1500" spc="-70" dirty="0"/>
                        <a:t>value</a:t>
                      </a:r>
                      <a:r>
                        <a:rPr sz="1500" spc="-85" dirty="0"/>
                        <a:t> </a:t>
                      </a:r>
                      <a:r>
                        <a:rPr sz="1500" spc="-65" dirty="0"/>
                        <a:t>exist</a:t>
                      </a:r>
                      <a:r>
                        <a:rPr sz="1500" spc="-70" dirty="0"/>
                        <a:t> </a:t>
                      </a:r>
                      <a:r>
                        <a:rPr sz="1500" spc="-20" dirty="0"/>
                        <a:t>in</a:t>
                      </a:r>
                      <a:r>
                        <a:rPr sz="1500" spc="-75" dirty="0"/>
                        <a:t> </a:t>
                      </a:r>
                      <a:r>
                        <a:rPr sz="1500" spc="-20" dirty="0"/>
                        <a:t>the</a:t>
                      </a:r>
                      <a:r>
                        <a:rPr sz="1500" spc="-95" dirty="0"/>
                        <a:t> </a:t>
                      </a:r>
                      <a:r>
                        <a:rPr sz="1500" spc="-20" dirty="0"/>
                        <a:t>list</a:t>
                      </a:r>
                      <a:r>
                        <a:rPr sz="1500" spc="-80" dirty="0"/>
                        <a:t> </a:t>
                      </a:r>
                      <a:r>
                        <a:rPr sz="1500" spc="-5" dirty="0"/>
                        <a:t>of</a:t>
                      </a:r>
                      <a:r>
                        <a:rPr sz="1500" spc="-85" dirty="0"/>
                        <a:t> values</a:t>
                      </a:r>
                      <a:r>
                        <a:rPr sz="1500" spc="-75" dirty="0"/>
                        <a:t> </a:t>
                      </a:r>
                      <a:r>
                        <a:rPr sz="1500" spc="-15" dirty="0"/>
                        <a:t>or</a:t>
                      </a:r>
                      <a:r>
                        <a:rPr sz="1500" spc="-85" dirty="0"/>
                        <a:t> </a:t>
                      </a:r>
                      <a:r>
                        <a:rPr sz="1500" spc="-120" dirty="0"/>
                        <a:t>a</a:t>
                      </a:r>
                      <a:r>
                        <a:rPr sz="1500" spc="-80" dirty="0"/>
                        <a:t> </a:t>
                      </a:r>
                      <a:r>
                        <a:rPr sz="1500" spc="-40" dirty="0"/>
                        <a:t>table</a:t>
                      </a:r>
                      <a:endParaRPr sz="1500">
                        <a:latin typeface="Arial"/>
                        <a:cs typeface="Arial"/>
                      </a:endParaRPr>
                    </a:p>
                  </a:txBody>
                  <a:tcPr marL="0" marR="0" marT="34290" marB="0"/>
                </a:tc>
                <a:extLst>
                  <a:ext uri="{0D108BD9-81ED-4DB2-BD59-A6C34878D82A}">
                    <a16:rowId xmlns:a16="http://schemas.microsoft.com/office/drawing/2014/main" val="10004"/>
                  </a:ext>
                </a:extLst>
              </a:tr>
              <a:tr h="320040">
                <a:tc>
                  <a:txBody>
                    <a:bodyPr/>
                    <a:lstStyle/>
                    <a:p>
                      <a:pPr marL="105410">
                        <a:lnSpc>
                          <a:spcPct val="100000"/>
                        </a:lnSpc>
                        <a:spcBef>
                          <a:spcPts val="270"/>
                        </a:spcBef>
                      </a:pPr>
                      <a:r>
                        <a:rPr sz="1500" spc="-180" dirty="0"/>
                        <a:t>IS</a:t>
                      </a:r>
                      <a:r>
                        <a:rPr sz="1500" spc="-95" dirty="0"/>
                        <a:t> </a:t>
                      </a:r>
                      <a:r>
                        <a:rPr sz="1500" spc="-160" dirty="0"/>
                        <a:t>NULL</a:t>
                      </a:r>
                      <a:endParaRPr sz="1500">
                        <a:latin typeface="Arial"/>
                        <a:cs typeface="Arial"/>
                      </a:endParaRPr>
                    </a:p>
                  </a:txBody>
                  <a:tcPr marL="0" marR="0" marT="34290" marB="0"/>
                </a:tc>
                <a:tc>
                  <a:txBody>
                    <a:bodyPr/>
                    <a:lstStyle/>
                    <a:p>
                      <a:pPr marL="105410">
                        <a:lnSpc>
                          <a:spcPct val="100000"/>
                        </a:lnSpc>
                        <a:spcBef>
                          <a:spcPts val="270"/>
                        </a:spcBef>
                      </a:pPr>
                      <a:r>
                        <a:rPr sz="1500" spc="-100" dirty="0"/>
                        <a:t>Compares </a:t>
                      </a:r>
                      <a:r>
                        <a:rPr sz="1500" spc="-120" dirty="0"/>
                        <a:t>a </a:t>
                      </a:r>
                      <a:r>
                        <a:rPr sz="1500" spc="-70" dirty="0"/>
                        <a:t>value </a:t>
                      </a:r>
                      <a:r>
                        <a:rPr sz="1500" spc="5" dirty="0"/>
                        <a:t>with </a:t>
                      </a:r>
                      <a:r>
                        <a:rPr sz="1500" spc="-85" dirty="0"/>
                        <a:t>an </a:t>
                      </a:r>
                      <a:r>
                        <a:rPr sz="1500" spc="-40" dirty="0"/>
                        <a:t>empty </a:t>
                      </a:r>
                      <a:r>
                        <a:rPr sz="1500" spc="-15" dirty="0"/>
                        <a:t>or </a:t>
                      </a:r>
                      <a:r>
                        <a:rPr sz="1500" spc="-160" dirty="0"/>
                        <a:t>NULL</a:t>
                      </a:r>
                      <a:r>
                        <a:rPr sz="1500" spc="-290" dirty="0"/>
                        <a:t> </a:t>
                      </a:r>
                      <a:r>
                        <a:rPr sz="1500" spc="-70" dirty="0"/>
                        <a:t>value</a:t>
                      </a:r>
                      <a:endParaRPr sz="1500">
                        <a:latin typeface="Arial"/>
                        <a:cs typeface="Arial"/>
                      </a:endParaRPr>
                    </a:p>
                  </a:txBody>
                  <a:tcPr marL="0" marR="0" marT="34290" marB="0"/>
                </a:tc>
                <a:extLst>
                  <a:ext uri="{0D108BD9-81ED-4DB2-BD59-A6C34878D82A}">
                    <a16:rowId xmlns:a16="http://schemas.microsoft.com/office/drawing/2014/main" val="10005"/>
                  </a:ext>
                </a:extLst>
              </a:tr>
              <a:tr h="320040">
                <a:tc>
                  <a:txBody>
                    <a:bodyPr/>
                    <a:lstStyle/>
                    <a:p>
                      <a:pPr marL="105410">
                        <a:lnSpc>
                          <a:spcPct val="100000"/>
                        </a:lnSpc>
                        <a:spcBef>
                          <a:spcPts val="270"/>
                        </a:spcBef>
                      </a:pPr>
                      <a:r>
                        <a:rPr sz="1500" spc="-185" dirty="0"/>
                        <a:t>LIKE</a:t>
                      </a:r>
                      <a:endParaRPr sz="1500">
                        <a:latin typeface="Arial"/>
                        <a:cs typeface="Arial"/>
                      </a:endParaRPr>
                    </a:p>
                  </a:txBody>
                  <a:tcPr marL="0" marR="0" marT="34290" marB="0"/>
                </a:tc>
                <a:tc>
                  <a:txBody>
                    <a:bodyPr/>
                    <a:lstStyle/>
                    <a:p>
                      <a:pPr marL="105410">
                        <a:lnSpc>
                          <a:spcPct val="100000"/>
                        </a:lnSpc>
                        <a:spcBef>
                          <a:spcPts val="270"/>
                        </a:spcBef>
                      </a:pPr>
                      <a:r>
                        <a:rPr sz="1500" spc="-100" dirty="0"/>
                        <a:t>Compares </a:t>
                      </a:r>
                      <a:r>
                        <a:rPr sz="1500" spc="-65" dirty="0"/>
                        <a:t>one </a:t>
                      </a:r>
                      <a:r>
                        <a:rPr sz="1500" spc="-70" dirty="0"/>
                        <a:t>value </a:t>
                      </a:r>
                      <a:r>
                        <a:rPr sz="1500" spc="5" dirty="0"/>
                        <a:t>with</a:t>
                      </a:r>
                      <a:r>
                        <a:rPr sz="1500" spc="-114" dirty="0"/>
                        <a:t> </a:t>
                      </a:r>
                      <a:r>
                        <a:rPr sz="1500" spc="-35" dirty="0"/>
                        <a:t>another</a:t>
                      </a:r>
                      <a:endParaRPr sz="1500">
                        <a:latin typeface="Arial"/>
                        <a:cs typeface="Arial"/>
                      </a:endParaRPr>
                    </a:p>
                  </a:txBody>
                  <a:tcPr marL="0" marR="0" marT="34290" marB="0"/>
                </a:tc>
                <a:extLst>
                  <a:ext uri="{0D108BD9-81ED-4DB2-BD59-A6C34878D82A}">
                    <a16:rowId xmlns:a16="http://schemas.microsoft.com/office/drawing/2014/main" val="10006"/>
                  </a:ext>
                </a:extLst>
              </a:tr>
              <a:tr h="319405">
                <a:tc>
                  <a:txBody>
                    <a:bodyPr/>
                    <a:lstStyle/>
                    <a:p>
                      <a:pPr marL="105410">
                        <a:lnSpc>
                          <a:spcPct val="100000"/>
                        </a:lnSpc>
                        <a:spcBef>
                          <a:spcPts val="270"/>
                        </a:spcBef>
                      </a:pPr>
                      <a:r>
                        <a:rPr sz="1500" spc="-145" dirty="0"/>
                        <a:t>SOME/ANY/ALL</a:t>
                      </a:r>
                      <a:endParaRPr sz="1500">
                        <a:latin typeface="Arial"/>
                        <a:cs typeface="Arial"/>
                      </a:endParaRPr>
                    </a:p>
                  </a:txBody>
                  <a:tcPr marL="0" marR="0" marT="34290" marB="0"/>
                </a:tc>
                <a:tc>
                  <a:txBody>
                    <a:bodyPr/>
                    <a:lstStyle/>
                    <a:p>
                      <a:pPr marL="105410">
                        <a:lnSpc>
                          <a:spcPct val="100000"/>
                        </a:lnSpc>
                        <a:spcBef>
                          <a:spcPts val="270"/>
                        </a:spcBef>
                      </a:pPr>
                      <a:r>
                        <a:rPr sz="1500" spc="-70" dirty="0"/>
                        <a:t>Performs </a:t>
                      </a:r>
                      <a:r>
                        <a:rPr sz="1500" spc="-30" dirty="0"/>
                        <a:t>quantified</a:t>
                      </a:r>
                      <a:r>
                        <a:rPr sz="1500" spc="-110" dirty="0"/>
                        <a:t> </a:t>
                      </a:r>
                      <a:r>
                        <a:rPr sz="1500" spc="-75" dirty="0"/>
                        <a:t>comparisons</a:t>
                      </a:r>
                      <a:endParaRPr sz="1500" dirty="0">
                        <a:latin typeface="Arial"/>
                        <a:cs typeface="Arial"/>
                      </a:endParaRPr>
                    </a:p>
                  </a:txBody>
                  <a:tcPr marL="0" marR="0" marT="34290" marB="0"/>
                </a:tc>
                <a:extLst>
                  <a:ext uri="{0D108BD9-81ED-4DB2-BD59-A6C34878D82A}">
                    <a16:rowId xmlns:a16="http://schemas.microsoft.com/office/drawing/2014/main" val="10007"/>
                  </a:ext>
                </a:extLst>
              </a:tr>
            </a:tbl>
          </a:graphicData>
        </a:graphic>
      </p:graphicFrame>
      <p:sp>
        <p:nvSpPr>
          <p:cNvPr id="5" name="Rectangle 4">
            <a:extLst>
              <a:ext uri="{FF2B5EF4-FFF2-40B4-BE49-F238E27FC236}">
                <a16:creationId xmlns:a16="http://schemas.microsoft.com/office/drawing/2014/main" id="{0450E7FC-C338-405E-867A-4D5E29D4A314}"/>
              </a:ext>
            </a:extLst>
          </p:cNvPr>
          <p:cNvSpPr/>
          <p:nvPr/>
        </p:nvSpPr>
        <p:spPr>
          <a:xfrm>
            <a:off x="381000" y="4080942"/>
            <a:ext cx="8190087" cy="1477328"/>
          </a:xfrm>
          <a:prstGeom prst="rect">
            <a:avLst/>
          </a:prstGeom>
        </p:spPr>
        <p:txBody>
          <a:bodyPr wrap="square">
            <a:spAutoFit/>
          </a:bodyPr>
          <a:lstStyle/>
          <a:p>
            <a:pPr marL="285750" indent="-285750">
              <a:buFont typeface="Arial" panose="020B0604020202020204" pitchFamily="34" charset="0"/>
              <a:buChar char="•"/>
            </a:pPr>
            <a:r>
              <a:rPr lang="en-US" dirty="0"/>
              <a:t>You can specify conditions in a join with the ON and USING</a:t>
            </a:r>
          </a:p>
          <a:p>
            <a:r>
              <a:rPr lang="en-US" dirty="0"/>
              <a:t>clauses in the SELECT command</a:t>
            </a:r>
          </a:p>
          <a:p>
            <a:pPr marL="285750" indent="-285750">
              <a:buFont typeface="Arial" panose="020B0604020202020204" pitchFamily="34" charset="0"/>
              <a:buChar char="•"/>
            </a:pPr>
            <a:r>
              <a:rPr lang="en-US" dirty="0"/>
              <a:t>The ON clause specifies the conditions to join tables</a:t>
            </a:r>
          </a:p>
          <a:p>
            <a:pPr marL="285750" indent="-285750">
              <a:buFont typeface="Arial" panose="020B0604020202020204" pitchFamily="34" charset="0"/>
              <a:buChar char="•"/>
            </a:pPr>
            <a:r>
              <a:rPr lang="en-US" dirty="0"/>
              <a:t>The USING clause specifies the requirement for matching  columns to be present in both the tables</a:t>
            </a:r>
          </a:p>
        </p:txBody>
      </p:sp>
    </p:spTree>
    <p:extLst>
      <p:ext uri="{BB962C8B-B14F-4D97-AF65-F5344CB8AC3E}">
        <p14:creationId xmlns:p14="http://schemas.microsoft.com/office/powerpoint/2010/main" val="196087215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F874B-14CB-49BF-9F8C-DE04E62A4729}"/>
              </a:ext>
            </a:extLst>
          </p:cNvPr>
          <p:cNvSpPr>
            <a:spLocks noGrp="1"/>
          </p:cNvSpPr>
          <p:nvPr>
            <p:ph type="title"/>
          </p:nvPr>
        </p:nvSpPr>
        <p:spPr/>
        <p:txBody>
          <a:bodyPr/>
          <a:lstStyle/>
          <a:p>
            <a:r>
              <a:rPr lang="en-US" dirty="0"/>
              <a:t>Left outer join:</a:t>
            </a:r>
            <a:endParaRPr lang="en-PK" dirty="0"/>
          </a:p>
        </p:txBody>
      </p:sp>
      <p:sp>
        <p:nvSpPr>
          <p:cNvPr id="3" name="Content Placeholder 2">
            <a:extLst>
              <a:ext uri="{FF2B5EF4-FFF2-40B4-BE49-F238E27FC236}">
                <a16:creationId xmlns:a16="http://schemas.microsoft.com/office/drawing/2014/main" id="{77B385AD-9B0C-45F1-AAA1-106B2B6E130F}"/>
              </a:ext>
            </a:extLst>
          </p:cNvPr>
          <p:cNvSpPr>
            <a:spLocks noGrp="1"/>
          </p:cNvSpPr>
          <p:nvPr>
            <p:ph sz="quarter" idx="13"/>
          </p:nvPr>
        </p:nvSpPr>
        <p:spPr/>
        <p:txBody>
          <a:bodyPr/>
          <a:lstStyle/>
          <a:p>
            <a:r>
              <a:rPr lang="en-US" dirty="0"/>
              <a:t>The syntax for joining three tables using the LEFT OUTER JOIN is:</a:t>
            </a:r>
          </a:p>
          <a:p>
            <a:pPr marL="0" indent="0" algn="ctr">
              <a:buNone/>
            </a:pPr>
            <a:r>
              <a:rPr lang="en-US" dirty="0"/>
              <a:t>SELECT COLUMN1, COLUMN2 FROM TABLE1 LEFT OUTER JOIN TABLE2 ON (JOIN CONDITION)  LEFT OUTER JOIN TABLE3 ON (JOIN CONDITION);</a:t>
            </a:r>
          </a:p>
          <a:p>
            <a:r>
              <a:rPr lang="en-US" dirty="0"/>
              <a:t>where,</a:t>
            </a:r>
          </a:p>
          <a:p>
            <a:pPr lvl="1"/>
            <a:r>
              <a:rPr lang="en-US" dirty="0"/>
              <a:t>SELECT – retrieves data from the table</a:t>
            </a:r>
          </a:p>
          <a:p>
            <a:pPr lvl="1"/>
            <a:r>
              <a:rPr lang="en-US" dirty="0"/>
              <a:t>COLUMN1,… – specifies the name of the column to be retrieved  TABLE1 – specifies the name of the table that contain the columns  LEFT OUTER JOIN – compares the records from tables using the conditions specified</a:t>
            </a:r>
          </a:p>
          <a:p>
            <a:pPr lvl="1"/>
            <a:r>
              <a:rPr lang="en-US" dirty="0"/>
              <a:t>JOIN CONDITON – contains the clauses to satisfy, before retrieving data  from the tables</a:t>
            </a:r>
          </a:p>
        </p:txBody>
      </p:sp>
    </p:spTree>
    <p:extLst>
      <p:ext uri="{BB962C8B-B14F-4D97-AF65-F5344CB8AC3E}">
        <p14:creationId xmlns:p14="http://schemas.microsoft.com/office/powerpoint/2010/main" val="215572958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AB02E-A7A5-4B8C-8A6C-7CE491929F20}"/>
              </a:ext>
            </a:extLst>
          </p:cNvPr>
          <p:cNvSpPr>
            <a:spLocks noGrp="1"/>
          </p:cNvSpPr>
          <p:nvPr>
            <p:ph type="title"/>
          </p:nvPr>
        </p:nvSpPr>
        <p:spPr>
          <a:xfrm>
            <a:off x="609600" y="274638"/>
            <a:ext cx="7924800" cy="715962"/>
          </a:xfrm>
        </p:spPr>
        <p:txBody>
          <a:bodyPr/>
          <a:lstStyle/>
          <a:p>
            <a:r>
              <a:rPr lang="en-US" dirty="0"/>
              <a:t>Right outer join:</a:t>
            </a:r>
            <a:endParaRPr lang="en-PK" dirty="0"/>
          </a:p>
        </p:txBody>
      </p:sp>
      <p:sp>
        <p:nvSpPr>
          <p:cNvPr id="3" name="Content Placeholder 2">
            <a:extLst>
              <a:ext uri="{FF2B5EF4-FFF2-40B4-BE49-F238E27FC236}">
                <a16:creationId xmlns:a16="http://schemas.microsoft.com/office/drawing/2014/main" id="{91F22590-7A8A-4100-AA64-482F310839DE}"/>
              </a:ext>
            </a:extLst>
          </p:cNvPr>
          <p:cNvSpPr>
            <a:spLocks noGrp="1"/>
          </p:cNvSpPr>
          <p:nvPr>
            <p:ph sz="quarter" idx="13"/>
          </p:nvPr>
        </p:nvSpPr>
        <p:spPr>
          <a:xfrm>
            <a:off x="609600" y="990600"/>
            <a:ext cx="7924800" cy="4724400"/>
          </a:xfrm>
        </p:spPr>
        <p:txBody>
          <a:bodyPr/>
          <a:lstStyle/>
          <a:p>
            <a:r>
              <a:rPr lang="en-US" dirty="0"/>
              <a:t>It displays all records from the table specified on the right of  the OUTER JOIN operator in the result set, with or without  any matching records from the table specified on the left</a:t>
            </a:r>
          </a:p>
          <a:p>
            <a:r>
              <a:rPr lang="en-US" dirty="0"/>
              <a:t>If there is no matching record found in any of the row from  the table placed on the left, then the corresponding  columns of that row will contain NULL values</a:t>
            </a:r>
          </a:p>
          <a:p>
            <a:r>
              <a:rPr lang="en-US" dirty="0"/>
              <a:t>The syntax for RIGHT OUTER JOIN is:</a:t>
            </a:r>
          </a:p>
          <a:p>
            <a:pPr marL="0" indent="0" algn="ctr">
              <a:buNone/>
            </a:pPr>
            <a:r>
              <a:rPr lang="en-US" dirty="0"/>
              <a:t>SELECT COLUMN1, COLUMN2 FROM TABLE1 RIGHT OUTER JOIN TABLE2 ON (JOIN CONDITION);</a:t>
            </a:r>
          </a:p>
          <a:p>
            <a:r>
              <a:rPr lang="en-US" dirty="0"/>
              <a:t>where,</a:t>
            </a:r>
          </a:p>
          <a:p>
            <a:pPr lvl="1"/>
            <a:r>
              <a:rPr lang="en-US" dirty="0"/>
              <a:t>SELECT – retrieves data from the table</a:t>
            </a:r>
          </a:p>
          <a:p>
            <a:pPr lvl="1"/>
            <a:r>
              <a:rPr lang="en-US" dirty="0"/>
              <a:t>COLUMN1,… – specifies the name for the column to retrieve data from</a:t>
            </a:r>
          </a:p>
          <a:p>
            <a:pPr lvl="1"/>
            <a:r>
              <a:rPr lang="en-US" dirty="0"/>
              <a:t>TABLE1 – specifies the name of the table that contains the columns</a:t>
            </a:r>
          </a:p>
          <a:p>
            <a:pPr lvl="1"/>
            <a:r>
              <a:rPr lang="en-US" dirty="0"/>
              <a:t>RIGHT OUTER JOIN – specifies the comparison type to fetch data from the tables</a:t>
            </a:r>
          </a:p>
          <a:p>
            <a:endParaRPr lang="en-PK" dirty="0"/>
          </a:p>
        </p:txBody>
      </p:sp>
    </p:spTree>
    <p:extLst>
      <p:ext uri="{BB962C8B-B14F-4D97-AF65-F5344CB8AC3E}">
        <p14:creationId xmlns:p14="http://schemas.microsoft.com/office/powerpoint/2010/main" val="237084759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BA3C3-B67B-4660-AD6E-25367016EE87}"/>
              </a:ext>
            </a:extLst>
          </p:cNvPr>
          <p:cNvSpPr>
            <a:spLocks noGrp="1"/>
          </p:cNvSpPr>
          <p:nvPr>
            <p:ph type="title"/>
          </p:nvPr>
        </p:nvSpPr>
        <p:spPr/>
        <p:txBody>
          <a:bodyPr/>
          <a:lstStyle/>
          <a:p>
            <a:r>
              <a:rPr lang="en-US" dirty="0"/>
              <a:t>Self join:</a:t>
            </a:r>
            <a:endParaRPr lang="en-PK" dirty="0"/>
          </a:p>
        </p:txBody>
      </p:sp>
      <p:sp>
        <p:nvSpPr>
          <p:cNvPr id="3" name="Content Placeholder 2">
            <a:extLst>
              <a:ext uri="{FF2B5EF4-FFF2-40B4-BE49-F238E27FC236}">
                <a16:creationId xmlns:a16="http://schemas.microsoft.com/office/drawing/2014/main" id="{C316E406-B07E-45F4-A5C6-C85947FF2B42}"/>
              </a:ext>
            </a:extLst>
          </p:cNvPr>
          <p:cNvSpPr>
            <a:spLocks noGrp="1"/>
          </p:cNvSpPr>
          <p:nvPr>
            <p:ph sz="quarter" idx="13"/>
          </p:nvPr>
        </p:nvSpPr>
        <p:spPr/>
        <p:txBody>
          <a:bodyPr>
            <a:normAutofit/>
          </a:bodyPr>
          <a:lstStyle/>
          <a:p>
            <a:r>
              <a:rPr lang="en-US" dirty="0"/>
              <a:t>A self-join statement joins or compares a table with itself</a:t>
            </a:r>
          </a:p>
          <a:p>
            <a:r>
              <a:rPr lang="en-US" dirty="0"/>
              <a:t>It means that self-join compares records of a column with  the other</a:t>
            </a:r>
          </a:p>
          <a:p>
            <a:r>
              <a:rPr lang="en-US" dirty="0"/>
              <a:t>The syntax for self-join is:</a:t>
            </a:r>
          </a:p>
          <a:p>
            <a:pPr marL="0" indent="0" algn="ctr">
              <a:buNone/>
            </a:pPr>
            <a:r>
              <a:rPr lang="en-US" dirty="0"/>
              <a:t>SELECT DISTINCT COLUMN1, COLUMN2 FROM TABLE WHERE (JOIN CONDITION);</a:t>
            </a:r>
          </a:p>
          <a:p>
            <a:r>
              <a:rPr lang="en-US" dirty="0"/>
              <a:t>where,</a:t>
            </a:r>
          </a:p>
          <a:p>
            <a:pPr lvl="1"/>
            <a:r>
              <a:rPr lang="en-US" dirty="0"/>
              <a:t>SELECT – retrieves data from the table</a:t>
            </a:r>
          </a:p>
          <a:p>
            <a:pPr lvl="1"/>
            <a:r>
              <a:rPr lang="en-US" dirty="0"/>
              <a:t>DISTINCT – displays unique values</a:t>
            </a:r>
          </a:p>
          <a:p>
            <a:pPr lvl="1"/>
            <a:r>
              <a:rPr lang="en-US" dirty="0"/>
              <a:t>COLUMN1,… – specifies the name for the column to retrieve data from</a:t>
            </a:r>
          </a:p>
          <a:p>
            <a:pPr lvl="1"/>
            <a:r>
              <a:rPr lang="en-US" dirty="0"/>
              <a:t>TABLE – specifies the name of the table that contains the columns</a:t>
            </a:r>
          </a:p>
          <a:p>
            <a:endParaRPr lang="en-PK" dirty="0"/>
          </a:p>
        </p:txBody>
      </p:sp>
    </p:spTree>
    <p:extLst>
      <p:ext uri="{BB962C8B-B14F-4D97-AF65-F5344CB8AC3E}">
        <p14:creationId xmlns:p14="http://schemas.microsoft.com/office/powerpoint/2010/main" val="389498306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D1EF5-99E4-4F96-8BFF-B021E5BB79FF}"/>
              </a:ext>
            </a:extLst>
          </p:cNvPr>
          <p:cNvSpPr>
            <a:spLocks noGrp="1"/>
          </p:cNvSpPr>
          <p:nvPr>
            <p:ph type="title"/>
          </p:nvPr>
        </p:nvSpPr>
        <p:spPr/>
        <p:txBody>
          <a:bodyPr/>
          <a:lstStyle/>
          <a:p>
            <a:r>
              <a:rPr lang="en-US" dirty="0"/>
              <a:t>Substring:</a:t>
            </a:r>
            <a:endParaRPr lang="en-PK" dirty="0"/>
          </a:p>
        </p:txBody>
      </p:sp>
      <p:sp>
        <p:nvSpPr>
          <p:cNvPr id="3" name="Content Placeholder 2">
            <a:extLst>
              <a:ext uri="{FF2B5EF4-FFF2-40B4-BE49-F238E27FC236}">
                <a16:creationId xmlns:a16="http://schemas.microsoft.com/office/drawing/2014/main" id="{5A6A8DD9-2E39-43D8-A55D-6CD51736360A}"/>
              </a:ext>
            </a:extLst>
          </p:cNvPr>
          <p:cNvSpPr>
            <a:spLocks noGrp="1"/>
          </p:cNvSpPr>
          <p:nvPr>
            <p:ph sz="quarter" idx="13"/>
          </p:nvPr>
        </p:nvSpPr>
        <p:spPr/>
        <p:txBody>
          <a:bodyPr/>
          <a:lstStyle/>
          <a:p>
            <a:r>
              <a:rPr lang="en-US" dirty="0"/>
              <a:t>A SUBSTRING function extracts string or character literal from a  column of a table, specified in the column reference</a:t>
            </a:r>
          </a:p>
          <a:p>
            <a:r>
              <a:rPr lang="en-US" dirty="0"/>
              <a:t>The FROM clause of SUBSTRING function specifies the character position from where the extracted string should start</a:t>
            </a:r>
          </a:p>
          <a:p>
            <a:r>
              <a:rPr lang="en-US" dirty="0"/>
              <a:t>The FOR clause of the function specifies the length of the  extracted string</a:t>
            </a:r>
          </a:p>
          <a:p>
            <a:endParaRPr lang="en-PK" dirty="0"/>
          </a:p>
        </p:txBody>
      </p:sp>
    </p:spTree>
    <p:extLst>
      <p:ext uri="{BB962C8B-B14F-4D97-AF65-F5344CB8AC3E}">
        <p14:creationId xmlns:p14="http://schemas.microsoft.com/office/powerpoint/2010/main" val="32552123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53376-178E-4EBD-B1EE-C5469346A446}"/>
              </a:ext>
            </a:extLst>
          </p:cNvPr>
          <p:cNvSpPr>
            <a:spLocks noGrp="1"/>
          </p:cNvSpPr>
          <p:nvPr>
            <p:ph type="title"/>
          </p:nvPr>
        </p:nvSpPr>
        <p:spPr/>
        <p:txBody>
          <a:bodyPr/>
          <a:lstStyle/>
          <a:p>
            <a:r>
              <a:rPr lang="en-US" dirty="0"/>
              <a:t>Subqueries:</a:t>
            </a:r>
            <a:endParaRPr lang="en-PK" dirty="0"/>
          </a:p>
        </p:txBody>
      </p:sp>
      <p:sp>
        <p:nvSpPr>
          <p:cNvPr id="3" name="Content Placeholder 2">
            <a:extLst>
              <a:ext uri="{FF2B5EF4-FFF2-40B4-BE49-F238E27FC236}">
                <a16:creationId xmlns:a16="http://schemas.microsoft.com/office/drawing/2014/main" id="{71064320-514B-4835-823F-69CCDCAB543C}"/>
              </a:ext>
            </a:extLst>
          </p:cNvPr>
          <p:cNvSpPr>
            <a:spLocks noGrp="1"/>
          </p:cNvSpPr>
          <p:nvPr>
            <p:ph sz="quarter" idx="13"/>
          </p:nvPr>
        </p:nvSpPr>
        <p:spPr/>
        <p:txBody>
          <a:bodyPr/>
          <a:lstStyle/>
          <a:p>
            <a:r>
              <a:rPr lang="en-US" dirty="0"/>
              <a:t>When a SELECT query is placed inside another SELECT query,  then the inner SELECT query is said to be a subquery</a:t>
            </a:r>
          </a:p>
          <a:p>
            <a:r>
              <a:rPr lang="en-US" dirty="0"/>
              <a:t>The syntax for the subquery is:</a:t>
            </a:r>
          </a:p>
          <a:p>
            <a:pPr marL="0" indent="0" algn="ctr">
              <a:buNone/>
            </a:pPr>
            <a:r>
              <a:rPr lang="en-US" dirty="0"/>
              <a:t>SELECT [*] </a:t>
            </a:r>
            <a:r>
              <a:rPr lang="en-US" dirty="0" err="1"/>
              <a:t>column_name</a:t>
            </a:r>
            <a:r>
              <a:rPr lang="en-US" dirty="0"/>
              <a:t>… FROM table_name1  WHERE </a:t>
            </a:r>
            <a:r>
              <a:rPr lang="en-US" dirty="0" err="1"/>
              <a:t>column_name</a:t>
            </a:r>
            <a:r>
              <a:rPr lang="en-US" dirty="0"/>
              <a:t> IN (SELECT </a:t>
            </a:r>
            <a:r>
              <a:rPr lang="en-US" dirty="0" err="1"/>
              <a:t>column_name</a:t>
            </a:r>
            <a:r>
              <a:rPr lang="en-US" dirty="0"/>
              <a:t> FROM table_name2);</a:t>
            </a:r>
          </a:p>
          <a:p>
            <a:r>
              <a:rPr lang="en-US" dirty="0"/>
              <a:t>where,</a:t>
            </a:r>
          </a:p>
          <a:p>
            <a:pPr lvl="1"/>
            <a:r>
              <a:rPr lang="en-US" dirty="0"/>
              <a:t>SELECT – retrieves data from the table</a:t>
            </a:r>
          </a:p>
          <a:p>
            <a:pPr lvl="1"/>
            <a:r>
              <a:rPr lang="en-US" dirty="0"/>
              <a:t>* - retrieves all the records from the table  </a:t>
            </a:r>
            <a:r>
              <a:rPr lang="en-US" dirty="0" err="1"/>
              <a:t>column_name</a:t>
            </a:r>
            <a:r>
              <a:rPr lang="en-US" dirty="0"/>
              <a:t> – specifies the name of the column  IN – compares data from both the tables  table_name1 – specifies the name of the table</a:t>
            </a:r>
          </a:p>
          <a:p>
            <a:r>
              <a:rPr lang="en-US" dirty="0"/>
              <a:t>You can use the </a:t>
            </a:r>
            <a:r>
              <a:rPr lang="en-US" b="1" u="sng" dirty="0"/>
              <a:t>NOT IN operator </a:t>
            </a:r>
            <a:r>
              <a:rPr lang="en-US" dirty="0"/>
              <a:t>to display the unmatched  values of tables</a:t>
            </a:r>
            <a:endParaRPr lang="en-PK" dirty="0"/>
          </a:p>
        </p:txBody>
      </p:sp>
    </p:spTree>
    <p:extLst>
      <p:ext uri="{BB962C8B-B14F-4D97-AF65-F5344CB8AC3E}">
        <p14:creationId xmlns:p14="http://schemas.microsoft.com/office/powerpoint/2010/main" val="20390085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DE624-B056-4904-942A-2FC16B91CC45}"/>
              </a:ext>
            </a:extLst>
          </p:cNvPr>
          <p:cNvSpPr>
            <a:spLocks noGrp="1"/>
          </p:cNvSpPr>
          <p:nvPr>
            <p:ph type="title"/>
          </p:nvPr>
        </p:nvSpPr>
        <p:spPr/>
        <p:txBody>
          <a:bodyPr/>
          <a:lstStyle/>
          <a:p>
            <a:r>
              <a:rPr lang="en-US" dirty="0"/>
              <a:t>Subqueries:</a:t>
            </a:r>
            <a:endParaRPr lang="en-PK" dirty="0"/>
          </a:p>
        </p:txBody>
      </p:sp>
      <p:sp>
        <p:nvSpPr>
          <p:cNvPr id="3" name="Content Placeholder 2">
            <a:extLst>
              <a:ext uri="{FF2B5EF4-FFF2-40B4-BE49-F238E27FC236}">
                <a16:creationId xmlns:a16="http://schemas.microsoft.com/office/drawing/2014/main" id="{5B6701E7-EE50-4E0D-8E38-BD76BAF6BC04}"/>
              </a:ext>
            </a:extLst>
          </p:cNvPr>
          <p:cNvSpPr>
            <a:spLocks noGrp="1"/>
          </p:cNvSpPr>
          <p:nvPr>
            <p:ph sz="quarter" idx="13"/>
          </p:nvPr>
        </p:nvSpPr>
        <p:spPr/>
        <p:txBody>
          <a:bodyPr/>
          <a:lstStyle/>
          <a:p>
            <a:r>
              <a:rPr lang="en-US" dirty="0"/>
              <a:t>MySQL also supports the use of SELECT statement within the REPLACE and INSERT queries</a:t>
            </a:r>
          </a:p>
          <a:p>
            <a:r>
              <a:rPr lang="en-US" dirty="0"/>
              <a:t>It means that when a SELECT query is used within an INSERT  or REPLACE query, then that SELECT query is said to be  subquery of INSERT or REPLACE query</a:t>
            </a:r>
          </a:p>
          <a:p>
            <a:endParaRPr lang="en-US" dirty="0"/>
          </a:p>
          <a:p>
            <a:pPr marL="79375" indent="0" algn="ctr">
              <a:spcBef>
                <a:spcPts val="1635"/>
              </a:spcBef>
              <a:buNone/>
            </a:pPr>
            <a:r>
              <a:rPr lang="en-US" sz="1600" spc="-5" dirty="0">
                <a:latin typeface="Courier New"/>
                <a:cs typeface="Courier New"/>
              </a:rPr>
              <a:t>INSERT INTO </a:t>
            </a:r>
            <a:r>
              <a:rPr lang="en-US" sz="1600" spc="-10" dirty="0" err="1">
                <a:latin typeface="Courier New"/>
                <a:cs typeface="Courier New"/>
              </a:rPr>
              <a:t>tbl_name</a:t>
            </a:r>
            <a:r>
              <a:rPr lang="en-US" sz="1600" spc="-10" dirty="0">
                <a:latin typeface="Courier New"/>
                <a:cs typeface="Courier New"/>
              </a:rPr>
              <a:t>(</a:t>
            </a:r>
            <a:r>
              <a:rPr lang="en-US" sz="1600" spc="-10" dirty="0" err="1">
                <a:latin typeface="Courier New"/>
                <a:cs typeface="Courier New"/>
              </a:rPr>
              <a:t>col_name</a:t>
            </a:r>
            <a:r>
              <a:rPr lang="en-US" sz="1600" spc="-10" dirty="0">
                <a:latin typeface="Courier New"/>
                <a:cs typeface="Courier New"/>
              </a:rPr>
              <a:t>) SELECT </a:t>
            </a:r>
            <a:r>
              <a:rPr lang="en-US" sz="1600" spc="-10" dirty="0" err="1">
                <a:latin typeface="Courier New"/>
                <a:cs typeface="Courier New"/>
              </a:rPr>
              <a:t>col_name</a:t>
            </a:r>
            <a:r>
              <a:rPr lang="en-US" sz="1600" spc="-10" dirty="0">
                <a:latin typeface="Courier New"/>
                <a:cs typeface="Courier New"/>
              </a:rPr>
              <a:t> FROM</a:t>
            </a:r>
            <a:r>
              <a:rPr lang="en-US" sz="1600" dirty="0">
                <a:latin typeface="Courier New"/>
                <a:cs typeface="Courier New"/>
              </a:rPr>
              <a:t> </a:t>
            </a:r>
            <a:r>
              <a:rPr lang="en-US" sz="1600" spc="-10" dirty="0" err="1">
                <a:latin typeface="Courier New"/>
                <a:cs typeface="Courier New"/>
              </a:rPr>
              <a:t>tbl_name</a:t>
            </a:r>
            <a:r>
              <a:rPr lang="en-US" sz="1600" spc="-10" dirty="0">
                <a:latin typeface="Courier New"/>
                <a:cs typeface="Courier New"/>
              </a:rPr>
              <a:t>;</a:t>
            </a:r>
            <a:endParaRPr lang="en-PK" dirty="0"/>
          </a:p>
        </p:txBody>
      </p:sp>
    </p:spTree>
    <p:extLst>
      <p:ext uri="{BB962C8B-B14F-4D97-AF65-F5344CB8AC3E}">
        <p14:creationId xmlns:p14="http://schemas.microsoft.com/office/powerpoint/2010/main" val="173342123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3F323-807B-4FD3-9B17-DB6C092A418B}"/>
              </a:ext>
            </a:extLst>
          </p:cNvPr>
          <p:cNvSpPr>
            <a:spLocks noGrp="1"/>
          </p:cNvSpPr>
          <p:nvPr>
            <p:ph type="title"/>
          </p:nvPr>
        </p:nvSpPr>
        <p:spPr/>
        <p:txBody>
          <a:bodyPr/>
          <a:lstStyle/>
          <a:p>
            <a:r>
              <a:rPr lang="en-US" dirty="0"/>
              <a:t>Union:</a:t>
            </a:r>
            <a:endParaRPr lang="en-PK" dirty="0"/>
          </a:p>
        </p:txBody>
      </p:sp>
      <p:sp>
        <p:nvSpPr>
          <p:cNvPr id="3" name="Content Placeholder 2">
            <a:extLst>
              <a:ext uri="{FF2B5EF4-FFF2-40B4-BE49-F238E27FC236}">
                <a16:creationId xmlns:a16="http://schemas.microsoft.com/office/drawing/2014/main" id="{57889D60-0CB9-43B0-AE35-4DC184A809A6}"/>
              </a:ext>
            </a:extLst>
          </p:cNvPr>
          <p:cNvSpPr>
            <a:spLocks noGrp="1"/>
          </p:cNvSpPr>
          <p:nvPr>
            <p:ph sz="quarter" idx="13"/>
          </p:nvPr>
        </p:nvSpPr>
        <p:spPr/>
        <p:txBody>
          <a:bodyPr/>
          <a:lstStyle/>
          <a:p>
            <a:r>
              <a:rPr lang="en-US" dirty="0"/>
              <a:t>Union is used to combine many result sets used with SELECT command into a single result set</a:t>
            </a:r>
          </a:p>
          <a:p>
            <a:r>
              <a:rPr lang="en-US" dirty="0"/>
              <a:t>The syntax for the UNION command is:</a:t>
            </a:r>
          </a:p>
          <a:p>
            <a:pPr marL="0" indent="0" algn="ctr">
              <a:buNone/>
            </a:pPr>
            <a:r>
              <a:rPr lang="en-US" dirty="0"/>
              <a:t>SELECT * FROM TABLE1  UNION [ALL | DISTINCT]  SELECT * FROM TABLE2  UNION [ALL | DISTINCT];</a:t>
            </a:r>
          </a:p>
          <a:p>
            <a:r>
              <a:rPr lang="en-US" dirty="0"/>
              <a:t>where,</a:t>
            </a:r>
          </a:p>
          <a:p>
            <a:pPr lvl="1"/>
            <a:r>
              <a:rPr lang="en-US" dirty="0"/>
              <a:t>SELECT – retrieves data from the table</a:t>
            </a:r>
          </a:p>
          <a:p>
            <a:pPr lvl="1"/>
            <a:r>
              <a:rPr lang="en-US" dirty="0"/>
              <a:t>* - retrieves all data from the table</a:t>
            </a:r>
          </a:p>
          <a:p>
            <a:pPr lvl="1"/>
            <a:r>
              <a:rPr lang="en-US" dirty="0"/>
              <a:t>TABLE1 – specifies the name of the table that contains data</a:t>
            </a:r>
          </a:p>
          <a:p>
            <a:pPr lvl="1"/>
            <a:r>
              <a:rPr lang="en-US" dirty="0"/>
              <a:t>UNION – combines query results into a single result</a:t>
            </a:r>
          </a:p>
        </p:txBody>
      </p:sp>
    </p:spTree>
    <p:extLst>
      <p:ext uri="{BB962C8B-B14F-4D97-AF65-F5344CB8AC3E}">
        <p14:creationId xmlns:p14="http://schemas.microsoft.com/office/powerpoint/2010/main" val="381846690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60949-A4A6-4B37-927A-6CFE82BBE6EA}"/>
              </a:ext>
            </a:extLst>
          </p:cNvPr>
          <p:cNvSpPr>
            <a:spLocks noGrp="1"/>
          </p:cNvSpPr>
          <p:nvPr>
            <p:ph type="title"/>
          </p:nvPr>
        </p:nvSpPr>
        <p:spPr/>
        <p:txBody>
          <a:bodyPr/>
          <a:lstStyle/>
          <a:p>
            <a:r>
              <a:rPr lang="en-US" dirty="0"/>
              <a:t>Union:</a:t>
            </a:r>
            <a:endParaRPr lang="en-PK" dirty="0"/>
          </a:p>
        </p:txBody>
      </p:sp>
      <p:sp>
        <p:nvSpPr>
          <p:cNvPr id="3" name="Content Placeholder 2">
            <a:extLst>
              <a:ext uri="{FF2B5EF4-FFF2-40B4-BE49-F238E27FC236}">
                <a16:creationId xmlns:a16="http://schemas.microsoft.com/office/drawing/2014/main" id="{40B6C7C1-80C6-4E87-824F-4EA23BFE5888}"/>
              </a:ext>
            </a:extLst>
          </p:cNvPr>
          <p:cNvSpPr>
            <a:spLocks noGrp="1"/>
          </p:cNvSpPr>
          <p:nvPr>
            <p:ph sz="quarter" idx="13"/>
          </p:nvPr>
        </p:nvSpPr>
        <p:spPr/>
        <p:txBody>
          <a:bodyPr/>
          <a:lstStyle/>
          <a:p>
            <a:r>
              <a:rPr lang="en-US" dirty="0"/>
              <a:t>The ORDER BY clause can also be used to sort the entire  UNION results</a:t>
            </a:r>
          </a:p>
          <a:p>
            <a:r>
              <a:rPr lang="en-US" dirty="0"/>
              <a:t>The SELECT statements must be included within  parenthesis</a:t>
            </a:r>
          </a:p>
          <a:p>
            <a:r>
              <a:rPr lang="en-US" dirty="0"/>
              <a:t>MySQL supports the LIMIT clause to restrict the number of  records returned by the query</a:t>
            </a:r>
          </a:p>
          <a:p>
            <a:r>
              <a:rPr lang="en-US" dirty="0"/>
              <a:t>These values must be in the form of non-negative integer  constants</a:t>
            </a:r>
          </a:p>
          <a:p>
            <a:r>
              <a:rPr lang="en-US" dirty="0"/>
              <a:t>The first value in the argument defines the first row to return  and the second value defines the maximum number of rows  to return</a:t>
            </a:r>
          </a:p>
        </p:txBody>
      </p:sp>
    </p:spTree>
    <p:extLst>
      <p:ext uri="{BB962C8B-B14F-4D97-AF65-F5344CB8AC3E}">
        <p14:creationId xmlns:p14="http://schemas.microsoft.com/office/powerpoint/2010/main" val="413973871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827CB-5610-4E92-88EF-01741ED9E6C6}"/>
              </a:ext>
            </a:extLst>
          </p:cNvPr>
          <p:cNvSpPr>
            <a:spLocks noGrp="1"/>
          </p:cNvSpPr>
          <p:nvPr>
            <p:ph type="title"/>
          </p:nvPr>
        </p:nvSpPr>
        <p:spPr/>
        <p:txBody>
          <a:bodyPr/>
          <a:lstStyle/>
          <a:p>
            <a:r>
              <a:rPr lang="en-US" dirty="0"/>
              <a:t>Note:</a:t>
            </a:r>
            <a:endParaRPr lang="en-PK" dirty="0"/>
          </a:p>
        </p:txBody>
      </p:sp>
      <p:sp>
        <p:nvSpPr>
          <p:cNvPr id="3" name="Content Placeholder 2">
            <a:extLst>
              <a:ext uri="{FF2B5EF4-FFF2-40B4-BE49-F238E27FC236}">
                <a16:creationId xmlns:a16="http://schemas.microsoft.com/office/drawing/2014/main" id="{DCD1908E-4245-4C19-8ACC-983987E2D551}"/>
              </a:ext>
            </a:extLst>
          </p:cNvPr>
          <p:cNvSpPr>
            <a:spLocks noGrp="1"/>
          </p:cNvSpPr>
          <p:nvPr>
            <p:ph sz="quarter" idx="13"/>
          </p:nvPr>
        </p:nvSpPr>
        <p:spPr/>
        <p:txBody>
          <a:bodyPr/>
          <a:lstStyle/>
          <a:p>
            <a:r>
              <a:rPr lang="en-US" dirty="0"/>
              <a:t>From book:</a:t>
            </a:r>
          </a:p>
          <a:p>
            <a:pPr lvl="1"/>
            <a:r>
              <a:rPr lang="en-US" dirty="0"/>
              <a:t>Aggregate Functions</a:t>
            </a:r>
          </a:p>
          <a:p>
            <a:pPr lvl="1"/>
            <a:r>
              <a:rPr lang="en-US" dirty="0"/>
              <a:t>Math Functions</a:t>
            </a:r>
          </a:p>
          <a:p>
            <a:pPr lvl="1"/>
            <a:r>
              <a:rPr lang="en-US" dirty="0"/>
              <a:t>String Functions</a:t>
            </a:r>
          </a:p>
          <a:p>
            <a:pPr lvl="1"/>
            <a:r>
              <a:rPr lang="en-US" dirty="0"/>
              <a:t>Date Time Functions</a:t>
            </a:r>
          </a:p>
          <a:p>
            <a:pPr lvl="1"/>
            <a:r>
              <a:rPr lang="en-US" dirty="0"/>
              <a:t>System Information Functions</a:t>
            </a:r>
          </a:p>
        </p:txBody>
      </p:sp>
    </p:spTree>
    <p:extLst>
      <p:ext uri="{BB962C8B-B14F-4D97-AF65-F5344CB8AC3E}">
        <p14:creationId xmlns:p14="http://schemas.microsoft.com/office/powerpoint/2010/main" val="3859276105"/>
      </p:ext>
    </p:extLst>
  </p:cSld>
  <p:clrMapOvr>
    <a:masterClrMapping/>
  </p:clrMapOvr>
</p:sld>
</file>

<file path=ppt/theme/theme1.xml><?xml version="1.0" encoding="utf-8"?>
<a:theme xmlns:a="http://schemas.openxmlformats.org/drawingml/2006/main" name="Horizon">
  <a:themeElements>
    <a:clrScheme name="Horizon">
      <a:dk1>
        <a:srgbClr val="000000"/>
      </a:dk1>
      <a:lt1>
        <a:srgbClr val="FFFFFF"/>
      </a:lt1>
      <a:dk2>
        <a:srgbClr val="1F2123"/>
      </a:dk2>
      <a:lt2>
        <a:srgbClr val="DC9E1F"/>
      </a:lt2>
      <a:accent1>
        <a:srgbClr val="7E97AD"/>
      </a:accent1>
      <a:accent2>
        <a:srgbClr val="CC8E60"/>
      </a:accent2>
      <a:accent3>
        <a:srgbClr val="7A6A60"/>
      </a:accent3>
      <a:accent4>
        <a:srgbClr val="B4936D"/>
      </a:accent4>
      <a:accent5>
        <a:srgbClr val="67787B"/>
      </a:accent5>
      <a:accent6>
        <a:srgbClr val="9D936F"/>
      </a:accent6>
      <a:hlink>
        <a:srgbClr val="646464"/>
      </a:hlink>
      <a:folHlink>
        <a:srgbClr val="969696"/>
      </a:folHlink>
    </a:clrScheme>
    <a:fontScheme name="Horizon">
      <a:maj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Horizon">
      <a:fillStyleLst>
        <a:solidFill>
          <a:schemeClr val="phClr"/>
        </a:solidFill>
        <a:gradFill rotWithShape="1">
          <a:gsLst>
            <a:gs pos="0">
              <a:schemeClr val="phClr">
                <a:tint val="83000"/>
                <a:shade val="100000"/>
                <a:satMod val="100000"/>
              </a:schemeClr>
            </a:gs>
            <a:gs pos="100000">
              <a:schemeClr val="phClr">
                <a:tint val="61000"/>
                <a:alpha val="100000"/>
                <a:satMod val="200000"/>
              </a:schemeClr>
            </a:gs>
          </a:gsLst>
          <a:path path="circle">
            <a:fillToRect l="100000" t="100000" r="100000" b="100000"/>
          </a:path>
        </a:gradFill>
        <a:gradFill rotWithShape="1">
          <a:gsLst>
            <a:gs pos="0">
              <a:schemeClr val="phClr">
                <a:shade val="85000"/>
              </a:schemeClr>
            </a:gs>
            <a:gs pos="100000">
              <a:schemeClr val="phClr">
                <a:tint val="90000"/>
                <a:alpha val="100000"/>
                <a:satMod val="20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2924" dir="5400000" rotWithShape="0">
              <a:srgbClr val="000000">
                <a:alpha val="40000"/>
              </a:srgbClr>
            </a:outerShdw>
          </a:effectLst>
        </a:effectStyle>
        <a:effectStyle>
          <a:effectLst>
            <a:outerShdw blurRad="50800" dist="25400" dir="5400000" rotWithShape="0">
              <a:srgbClr val="000000">
                <a:alpha val="40000"/>
              </a:srgbClr>
            </a:outerShdw>
          </a:effectLst>
          <a:scene3d>
            <a:camera prst="orthographicFront">
              <a:rot lat="0" lon="0" rev="0"/>
            </a:camera>
            <a:lightRig rig="flat" dir="t">
              <a:rot lat="0" lon="0" rev="3600000"/>
            </a:lightRig>
          </a:scene3d>
          <a:sp3d prstMaterial="flat">
            <a:bevelT w="34925" h="47625" prst="coolSlant"/>
          </a:sp3d>
        </a:effectStyle>
      </a:effectStyleLst>
      <a:bgFillStyleLst>
        <a:solidFill>
          <a:schemeClr val="phClr"/>
        </a:solidFill>
        <a:gradFill rotWithShape="1">
          <a:gsLst>
            <a:gs pos="0">
              <a:schemeClr val="phClr">
                <a:tint val="96000"/>
                <a:shade val="100000"/>
                <a:alpha val="100000"/>
                <a:satMod val="140000"/>
              </a:schemeClr>
            </a:gs>
            <a:gs pos="31000">
              <a:schemeClr val="phClr">
                <a:tint val="100000"/>
                <a:shade val="90000"/>
                <a:alpha val="100000"/>
              </a:schemeClr>
            </a:gs>
            <a:gs pos="100000">
              <a:schemeClr val="phClr">
                <a:tint val="100000"/>
                <a:shade val="80000"/>
                <a:alpha val="100000"/>
              </a:schemeClr>
            </a:gs>
          </a:gsLst>
          <a:lin ang="5400000" scaled="0"/>
        </a:gradFill>
        <a:gradFill rotWithShape="1">
          <a:gsLst>
            <a:gs pos="0">
              <a:schemeClr val="phClr">
                <a:tint val="96000"/>
                <a:shade val="100000"/>
                <a:alpha val="100000"/>
                <a:satMod val="180000"/>
              </a:schemeClr>
            </a:gs>
            <a:gs pos="41000">
              <a:schemeClr val="phClr">
                <a:tint val="100000"/>
                <a:shade val="100000"/>
                <a:alpha val="100000"/>
                <a:satMod val="150000"/>
              </a:schemeClr>
            </a:gs>
            <a:gs pos="100000">
              <a:schemeClr val="phClr">
                <a:tint val="100000"/>
                <a:shade val="65000"/>
                <a:alpha val="100000"/>
              </a:schemeClr>
            </a:gs>
          </a:gsLst>
          <a:path path="circle">
            <a:fillToRect l="50000" t="80000" r="100000" b="10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1318</TotalTime>
  <Words>7194</Words>
  <Application>Microsoft Office PowerPoint</Application>
  <PresentationFormat>On-screen Show (4:3)</PresentationFormat>
  <Paragraphs>721</Paragraphs>
  <Slides>73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73</vt:i4>
      </vt:variant>
    </vt:vector>
  </HeadingPairs>
  <TitlesOfParts>
    <vt:vector size="79" baseType="lpstr">
      <vt:lpstr>Arial</vt:lpstr>
      <vt:lpstr>Arial Narrow</vt:lpstr>
      <vt:lpstr>Calibri</vt:lpstr>
      <vt:lpstr>Courier New</vt:lpstr>
      <vt:lpstr>Trebuchet MS</vt:lpstr>
      <vt:lpstr>Horizon</vt:lpstr>
      <vt:lpstr>MYSQL</vt:lpstr>
      <vt:lpstr>Introduction:</vt:lpstr>
      <vt:lpstr>MYSQL:</vt:lpstr>
      <vt:lpstr>TECHNICAL Features of MySQL:</vt:lpstr>
      <vt:lpstr>Features of mysql:</vt:lpstr>
      <vt:lpstr>Features:</vt:lpstr>
      <vt:lpstr>Features:</vt:lpstr>
      <vt:lpstr>Features:</vt:lpstr>
      <vt:lpstr>Advantages over other rdbms:</vt:lpstr>
      <vt:lpstr>Comparing MySQL With Other RDBMS </vt:lpstr>
      <vt:lpstr>Advantages of php in mysql environment:</vt:lpstr>
      <vt:lpstr>Requirements of PHP script:</vt:lpstr>
      <vt:lpstr>open-source software license:</vt:lpstr>
      <vt:lpstr>Licensing of mysql:</vt:lpstr>
      <vt:lpstr>Creating database:</vt:lpstr>
      <vt:lpstr>Working with tables:</vt:lpstr>
      <vt:lpstr>Complex Data Type:</vt:lpstr>
      <vt:lpstr>Tables in Mysql:</vt:lpstr>
      <vt:lpstr>Features of transaction-safe tables:</vt:lpstr>
      <vt:lpstr>Storage engine:</vt:lpstr>
      <vt:lpstr>Create table:</vt:lpstr>
      <vt:lpstr>Create table:</vt:lpstr>
      <vt:lpstr>Create table:</vt:lpstr>
      <vt:lpstr>Use Command:</vt:lpstr>
      <vt:lpstr>Revised From CPISm:</vt:lpstr>
      <vt:lpstr>Database concept:</vt:lpstr>
      <vt:lpstr>Indexes:</vt:lpstr>
      <vt:lpstr>Indexes:</vt:lpstr>
      <vt:lpstr>Indexes:</vt:lpstr>
      <vt:lpstr>Indexes:</vt:lpstr>
      <vt:lpstr>PowerPoint Presentation</vt:lpstr>
      <vt:lpstr>Show command:</vt:lpstr>
      <vt:lpstr>Show command:</vt:lpstr>
      <vt:lpstr>LIKE:</vt:lpstr>
      <vt:lpstr>Show Indexes:</vt:lpstr>
      <vt:lpstr>Show indexes:</vt:lpstr>
      <vt:lpstr>SHOW TABLE STATUS:</vt:lpstr>
      <vt:lpstr>PowerPoint Presentation</vt:lpstr>
      <vt:lpstr>Show users:</vt:lpstr>
      <vt:lpstr>Alter database :</vt:lpstr>
      <vt:lpstr>Alter table:</vt:lpstr>
      <vt:lpstr>Alter column:</vt:lpstr>
      <vt:lpstr>Alter column definition:</vt:lpstr>
      <vt:lpstr>Drop Column using Alter:</vt:lpstr>
      <vt:lpstr>Rename table:</vt:lpstr>
      <vt:lpstr>Points remember about Alter Command:</vt:lpstr>
      <vt:lpstr>Insert :</vt:lpstr>
      <vt:lpstr>SELECT:</vt:lpstr>
      <vt:lpstr>DISTINCT:</vt:lpstr>
      <vt:lpstr>WHERE clause :</vt:lpstr>
      <vt:lpstr>Operators used in where clause:</vt:lpstr>
      <vt:lpstr>Drop table:</vt:lpstr>
      <vt:lpstr>Delete:</vt:lpstr>
      <vt:lpstr>Orderby:</vt:lpstr>
      <vt:lpstr>Groupby:</vt:lpstr>
      <vt:lpstr>Joins:</vt:lpstr>
      <vt:lpstr>Equi-join:</vt:lpstr>
      <vt:lpstr>Join</vt:lpstr>
      <vt:lpstr>Inner join:</vt:lpstr>
      <vt:lpstr>Inner join:</vt:lpstr>
      <vt:lpstr>Inner join:</vt:lpstr>
      <vt:lpstr>Outer join:</vt:lpstr>
      <vt:lpstr>Left outer join:</vt:lpstr>
      <vt:lpstr>Left outer join:</vt:lpstr>
      <vt:lpstr>Left outer join:</vt:lpstr>
      <vt:lpstr>Right outer join:</vt:lpstr>
      <vt:lpstr>Self join:</vt:lpstr>
      <vt:lpstr>Substring:</vt:lpstr>
      <vt:lpstr>Subqueries:</vt:lpstr>
      <vt:lpstr>Subqueries:</vt:lpstr>
      <vt:lpstr>Union:</vt:lpstr>
      <vt:lpstr>Union:</vt:lpstr>
      <vt:lpstr>Note: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PHp</dc:title>
  <dc:creator>dell</dc:creator>
  <cp:lastModifiedBy>Aatika</cp:lastModifiedBy>
  <cp:revision>265</cp:revision>
  <dcterms:created xsi:type="dcterms:W3CDTF">2019-05-20T17:11:15Z</dcterms:created>
  <dcterms:modified xsi:type="dcterms:W3CDTF">2020-03-18T10:11:08Z</dcterms:modified>
</cp:coreProperties>
</file>