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0C2E9C57-3744-4DD9-BDAD-69E577D23F1B}">
          <p14:sldIdLst>
            <p14:sldId id="259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9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6568693-47F6-45AB-84B4-99741BCB5974}" styleName="Table_0">
    <a:wholeTbl>
      <a:tcTxStyle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Style>
        <a:tcBdr/>
      </a:tcStyle>
    </a:band2H>
    <a:band1V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2" y="198"/>
      </p:cViewPr>
      <p:guideLst>
        <p:guide orient="horz" pos="2160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9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09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333937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E5624D-E8C3-4C1C-A49E-8F28E7FA3CD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135128"/>
            <a:ext cx="8529319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Version </a:t>
            </a:r>
            <a:r>
              <a:rPr spc="-5" dirty="0"/>
              <a:t>1.0 © Aptech</a:t>
            </a:r>
            <a:r>
              <a:rPr spc="10" dirty="0"/>
              <a:t> </a:t>
            </a:r>
            <a:r>
              <a:rPr spc="-10" dirty="0"/>
              <a:t>Limited.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Handling Databases with PHP </a:t>
            </a:r>
            <a:r>
              <a:rPr spc="-5" dirty="0"/>
              <a:t>/ </a:t>
            </a:r>
            <a:r>
              <a:rPr spc="-10" dirty="0"/>
              <a:t>Session </a:t>
            </a:r>
            <a:r>
              <a:rPr spc="-5" dirty="0"/>
              <a:t>18 / </a:t>
            </a:r>
            <a:r>
              <a:rPr spc="-10" dirty="0"/>
              <a:t>Slide </a:t>
            </a:r>
            <a:fld id="{81D60167-4931-47E6-BA6A-407CBD079E47}" type="slidenum">
              <a:rPr spc="-5" dirty="0"/>
              <a:t>‹#›</a:t>
            </a:fld>
            <a:r>
              <a:rPr spc="-5" dirty="0"/>
              <a:t> of</a:t>
            </a:r>
            <a:r>
              <a:rPr spc="45" dirty="0"/>
              <a:t> </a:t>
            </a:r>
            <a:r>
              <a:rPr spc="-10" dirty="0"/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11413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6350" y="0"/>
            <a:ext cx="91503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144889" y="866422"/>
            <a:ext cx="6740702" cy="182033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spc="-190" dirty="0">
                <a:latin typeface="Trebuchet MS"/>
                <a:cs typeface="Trebuchet MS"/>
              </a:rPr>
              <a:t>Handling </a:t>
            </a:r>
            <a:r>
              <a:rPr lang="en-US" sz="4000" b="1" spc="-175" dirty="0">
                <a:latin typeface="Trebuchet MS"/>
                <a:cs typeface="Trebuchet MS"/>
              </a:rPr>
              <a:t>Databases </a:t>
            </a:r>
            <a:r>
              <a:rPr lang="en-US" sz="4000" b="1" spc="-204" dirty="0">
                <a:latin typeface="Trebuchet MS"/>
                <a:cs typeface="Trebuchet MS"/>
              </a:rPr>
              <a:t>with</a:t>
            </a:r>
            <a:r>
              <a:rPr lang="en-US" sz="4000" b="1" spc="-545" dirty="0">
                <a:latin typeface="Trebuchet MS"/>
                <a:cs typeface="Trebuchet MS"/>
              </a:rPr>
              <a:t> </a:t>
            </a:r>
            <a:r>
              <a:rPr lang="en-US" sz="4000" b="1" spc="-225" dirty="0">
                <a:latin typeface="Trebuchet MS"/>
                <a:cs typeface="Trebuchet MS"/>
              </a:rPr>
              <a:t>PHP</a:t>
            </a:r>
            <a:endParaRPr lang="en-US" sz="4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689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277859" cy="36926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65" dirty="0">
                <a:solidFill>
                  <a:schemeClr val="tx1"/>
                </a:solidFill>
                <a:latin typeface="Trebuchet MS"/>
                <a:cs typeface="Trebuchet MS"/>
              </a:rPr>
              <a:t>Objectives</a:t>
            </a:r>
            <a:endParaRPr sz="25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3180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3200" i="1" spc="-150" dirty="0">
                <a:solidFill>
                  <a:schemeClr val="tx1"/>
                </a:solidFill>
                <a:latin typeface="Trebuchet MS"/>
                <a:cs typeface="Trebuchet MS"/>
              </a:rPr>
              <a:t>Describe </a:t>
            </a:r>
            <a:r>
              <a:rPr sz="3200" i="1" spc="-105" dirty="0">
                <a:solidFill>
                  <a:schemeClr val="tx1"/>
                </a:solidFill>
                <a:latin typeface="Trebuchet MS"/>
                <a:cs typeface="Trebuchet MS"/>
              </a:rPr>
              <a:t>Database</a:t>
            </a:r>
            <a:r>
              <a:rPr sz="3200" i="1" spc="-2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3200" i="1" spc="-80" dirty="0">
                <a:solidFill>
                  <a:schemeClr val="tx1"/>
                </a:solidFill>
                <a:latin typeface="Trebuchet MS"/>
                <a:cs typeface="Trebuchet MS"/>
              </a:rPr>
              <a:t>APIs</a:t>
            </a:r>
            <a:endParaRPr sz="32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431800" indent="-342900">
              <a:lnSpc>
                <a:spcPct val="100000"/>
              </a:lnSpc>
              <a:spcBef>
                <a:spcPts val="76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3200" i="1" spc="-175" dirty="0">
                <a:solidFill>
                  <a:schemeClr val="tx1"/>
                </a:solidFill>
                <a:latin typeface="Trebuchet MS"/>
                <a:cs typeface="Trebuchet MS"/>
              </a:rPr>
              <a:t>Explain </a:t>
            </a:r>
            <a:r>
              <a:rPr sz="3200" i="1" spc="-200" dirty="0">
                <a:solidFill>
                  <a:schemeClr val="tx1"/>
                </a:solidFill>
                <a:latin typeface="Trebuchet MS"/>
                <a:cs typeface="Trebuchet MS"/>
              </a:rPr>
              <a:t>the </a:t>
            </a:r>
            <a:r>
              <a:rPr sz="3200" i="1" spc="-130" dirty="0">
                <a:solidFill>
                  <a:schemeClr val="tx1"/>
                </a:solidFill>
                <a:latin typeface="Trebuchet MS"/>
                <a:cs typeface="Trebuchet MS"/>
              </a:rPr>
              <a:t>process </a:t>
            </a:r>
            <a:r>
              <a:rPr sz="3200" i="1" spc="-195" dirty="0">
                <a:solidFill>
                  <a:schemeClr val="tx1"/>
                </a:solidFill>
                <a:latin typeface="Trebuchet MS"/>
                <a:cs typeface="Trebuchet MS"/>
              </a:rPr>
              <a:t>of </a:t>
            </a:r>
            <a:r>
              <a:rPr sz="3200" i="1" spc="-140" dirty="0">
                <a:solidFill>
                  <a:schemeClr val="tx1"/>
                </a:solidFill>
                <a:latin typeface="Trebuchet MS"/>
                <a:cs typeface="Trebuchet MS"/>
              </a:rPr>
              <a:t>connecting </a:t>
            </a:r>
            <a:r>
              <a:rPr sz="3200" i="1" spc="-195" dirty="0">
                <a:solidFill>
                  <a:schemeClr val="tx1"/>
                </a:solidFill>
                <a:latin typeface="Trebuchet MS"/>
                <a:cs typeface="Trebuchet MS"/>
              </a:rPr>
              <a:t>to </a:t>
            </a:r>
            <a:r>
              <a:rPr sz="3200" i="1" spc="-35" dirty="0">
                <a:solidFill>
                  <a:schemeClr val="tx1"/>
                </a:solidFill>
                <a:latin typeface="Trebuchet MS"/>
                <a:cs typeface="Trebuchet MS"/>
              </a:rPr>
              <a:t>a</a:t>
            </a:r>
            <a:r>
              <a:rPr sz="3200" i="1" spc="-5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3200" i="1" spc="-125" dirty="0">
                <a:solidFill>
                  <a:schemeClr val="tx1"/>
                </a:solidFill>
                <a:latin typeface="Trebuchet MS"/>
                <a:cs typeface="Trebuchet MS"/>
              </a:rPr>
              <a:t>database</a:t>
            </a:r>
            <a:endParaRPr sz="32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431800" indent="-342900">
              <a:lnSpc>
                <a:spcPct val="100000"/>
              </a:lnSpc>
              <a:spcBef>
                <a:spcPts val="77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3200" i="1" spc="-175" dirty="0">
                <a:solidFill>
                  <a:schemeClr val="tx1"/>
                </a:solidFill>
                <a:latin typeface="Trebuchet MS"/>
                <a:cs typeface="Trebuchet MS"/>
              </a:rPr>
              <a:t>Explain </a:t>
            </a:r>
            <a:r>
              <a:rPr sz="3200" i="1" spc="-200" dirty="0">
                <a:solidFill>
                  <a:schemeClr val="tx1"/>
                </a:solidFill>
                <a:latin typeface="Trebuchet MS"/>
                <a:cs typeface="Trebuchet MS"/>
              </a:rPr>
              <a:t>the </a:t>
            </a:r>
            <a:r>
              <a:rPr sz="3200" i="1" spc="-130" dirty="0">
                <a:solidFill>
                  <a:schemeClr val="tx1"/>
                </a:solidFill>
                <a:latin typeface="Trebuchet MS"/>
                <a:cs typeface="Trebuchet MS"/>
              </a:rPr>
              <a:t>use </a:t>
            </a:r>
            <a:r>
              <a:rPr sz="3200" i="1" spc="-195" dirty="0">
                <a:solidFill>
                  <a:schemeClr val="tx1"/>
                </a:solidFill>
                <a:latin typeface="Trebuchet MS"/>
                <a:cs typeface="Trebuchet MS"/>
              </a:rPr>
              <a:t>of </a:t>
            </a:r>
            <a:r>
              <a:rPr sz="3200" i="1" spc="-135" dirty="0">
                <a:solidFill>
                  <a:schemeClr val="tx1"/>
                </a:solidFill>
                <a:latin typeface="Trebuchet MS"/>
                <a:cs typeface="Trebuchet MS"/>
              </a:rPr>
              <a:t>data </a:t>
            </a:r>
            <a:r>
              <a:rPr sz="3200" i="1" spc="-110" dirty="0">
                <a:solidFill>
                  <a:schemeClr val="tx1"/>
                </a:solidFill>
                <a:latin typeface="Trebuchet MS"/>
                <a:cs typeface="Trebuchet MS"/>
              </a:rPr>
              <a:t>access</a:t>
            </a:r>
            <a:r>
              <a:rPr sz="3200" i="1" spc="-5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3200" i="1" spc="-165" dirty="0">
                <a:solidFill>
                  <a:schemeClr val="tx1"/>
                </a:solidFill>
                <a:latin typeface="Trebuchet MS"/>
                <a:cs typeface="Trebuchet MS"/>
              </a:rPr>
              <a:t>functions</a:t>
            </a:r>
            <a:endParaRPr sz="32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431800" indent="-342900">
              <a:lnSpc>
                <a:spcPct val="100000"/>
              </a:lnSpc>
              <a:spcBef>
                <a:spcPts val="76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3200" i="1" spc="-175" dirty="0">
                <a:solidFill>
                  <a:schemeClr val="tx1"/>
                </a:solidFill>
                <a:latin typeface="Trebuchet MS"/>
                <a:cs typeface="Trebuchet MS"/>
              </a:rPr>
              <a:t>Explain </a:t>
            </a:r>
            <a:r>
              <a:rPr sz="3200" i="1" spc="-135" dirty="0">
                <a:solidFill>
                  <a:schemeClr val="tx1"/>
                </a:solidFill>
                <a:latin typeface="Trebuchet MS"/>
                <a:cs typeface="Trebuchet MS"/>
              </a:rPr>
              <a:t>SQL </a:t>
            </a:r>
            <a:r>
              <a:rPr sz="3200" i="1" spc="-170" dirty="0">
                <a:solidFill>
                  <a:schemeClr val="tx1"/>
                </a:solidFill>
                <a:latin typeface="Trebuchet MS"/>
                <a:cs typeface="Trebuchet MS"/>
              </a:rPr>
              <a:t>queries </a:t>
            </a:r>
            <a:r>
              <a:rPr sz="3200" i="1" spc="-105" dirty="0">
                <a:solidFill>
                  <a:schemeClr val="tx1"/>
                </a:solidFill>
                <a:latin typeface="Trebuchet MS"/>
                <a:cs typeface="Trebuchet MS"/>
              </a:rPr>
              <a:t>using</a:t>
            </a:r>
            <a:r>
              <a:rPr sz="3200" i="1" spc="-43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3200" i="1" spc="-90" dirty="0">
                <a:solidFill>
                  <a:schemeClr val="tx1"/>
                </a:solidFill>
                <a:latin typeface="Trebuchet MS"/>
                <a:cs typeface="Trebuchet MS"/>
              </a:rPr>
              <a:t>PHP</a:t>
            </a:r>
            <a:endParaRPr sz="32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431800" indent="-342900">
              <a:lnSpc>
                <a:spcPct val="100000"/>
              </a:lnSpc>
              <a:spcBef>
                <a:spcPts val="77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3200" i="1" spc="-175" dirty="0">
                <a:solidFill>
                  <a:schemeClr val="tx1"/>
                </a:solidFill>
                <a:latin typeface="Trebuchet MS"/>
                <a:cs typeface="Trebuchet MS"/>
              </a:rPr>
              <a:t>Explain </a:t>
            </a:r>
            <a:r>
              <a:rPr sz="3200" i="1" spc="-95" dirty="0">
                <a:solidFill>
                  <a:schemeClr val="tx1"/>
                </a:solidFill>
                <a:latin typeface="Trebuchet MS"/>
                <a:cs typeface="Trebuchet MS"/>
              </a:rPr>
              <a:t>HTML </a:t>
            </a:r>
            <a:r>
              <a:rPr sz="3200" i="1" spc="-175" dirty="0">
                <a:solidFill>
                  <a:schemeClr val="tx1"/>
                </a:solidFill>
                <a:latin typeface="Trebuchet MS"/>
                <a:cs typeface="Trebuchet MS"/>
              </a:rPr>
              <a:t>tables </a:t>
            </a:r>
            <a:r>
              <a:rPr sz="3200" i="1" spc="-105" dirty="0">
                <a:solidFill>
                  <a:schemeClr val="tx1"/>
                </a:solidFill>
                <a:latin typeface="Trebuchet MS"/>
                <a:cs typeface="Trebuchet MS"/>
              </a:rPr>
              <a:t>using </a:t>
            </a:r>
            <a:r>
              <a:rPr sz="3200" i="1" spc="-135" dirty="0">
                <a:solidFill>
                  <a:schemeClr val="tx1"/>
                </a:solidFill>
                <a:latin typeface="Trebuchet MS"/>
                <a:cs typeface="Trebuchet MS"/>
              </a:rPr>
              <a:t>SQL</a:t>
            </a:r>
            <a:r>
              <a:rPr sz="3200" i="1" spc="-5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3200" i="1" spc="-170" dirty="0">
                <a:solidFill>
                  <a:schemeClr val="tx1"/>
                </a:solidFill>
                <a:latin typeface="Trebuchet MS"/>
                <a:cs typeface="Trebuchet MS"/>
              </a:rPr>
              <a:t>queries</a:t>
            </a:r>
            <a:endParaRPr sz="32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331834" cy="4171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35" dirty="0">
                <a:solidFill>
                  <a:schemeClr val="tx1"/>
                </a:solidFill>
                <a:latin typeface="Trebuchet MS"/>
                <a:cs typeface="Trebuchet MS"/>
              </a:rPr>
              <a:t>Introduction</a:t>
            </a:r>
            <a:endParaRPr sz="25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31800" indent="-342900">
              <a:lnSpc>
                <a:spcPct val="100000"/>
              </a:lnSpc>
              <a:buClr>
                <a:srgbClr val="1F487C"/>
              </a:buClr>
              <a:buSzPct val="57142"/>
              <a:buFont typeface="Wingdings"/>
              <a:buChar char=""/>
              <a:tabLst>
                <a:tab pos="544195" algn="l"/>
                <a:tab pos="545465" algn="l"/>
              </a:tabLst>
            </a:pPr>
            <a:r>
              <a:rPr sz="2800" spc="-114" dirty="0">
                <a:solidFill>
                  <a:schemeClr val="tx1"/>
                </a:solidFill>
                <a:latin typeface="Arial"/>
                <a:cs typeface="Arial"/>
              </a:rPr>
              <a:t>Relational </a:t>
            </a:r>
            <a:r>
              <a:rPr sz="2800" spc="-180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800" spc="-114" dirty="0">
                <a:solidFill>
                  <a:schemeClr val="tx1"/>
                </a:solidFill>
                <a:latin typeface="Arial"/>
                <a:cs typeface="Arial"/>
              </a:rPr>
              <a:t>Management </a:t>
            </a:r>
            <a:r>
              <a:rPr sz="2800" spc="-215" dirty="0">
                <a:solidFill>
                  <a:schemeClr val="tx1"/>
                </a:solidFill>
                <a:latin typeface="Arial"/>
                <a:cs typeface="Arial"/>
              </a:rPr>
              <a:t>System</a:t>
            </a:r>
            <a:r>
              <a:rPr sz="2800" spc="-1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240" dirty="0">
                <a:solidFill>
                  <a:schemeClr val="tx1"/>
                </a:solidFill>
                <a:latin typeface="Arial"/>
                <a:cs typeface="Arial"/>
              </a:rPr>
              <a:t>(RDBMS):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32485" marR="549910" indent="-287020">
              <a:lnSpc>
                <a:spcPct val="100000"/>
              </a:lnSpc>
              <a:spcBef>
                <a:spcPts val="590"/>
              </a:spcBef>
              <a:tabLst>
                <a:tab pos="832485" algn="l"/>
              </a:tabLst>
            </a:pPr>
            <a:r>
              <a:rPr sz="12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Stores</a:t>
            </a:r>
            <a:r>
              <a:rPr sz="24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sz="24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3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sz="24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90" dirty="0">
                <a:solidFill>
                  <a:schemeClr val="tx1"/>
                </a:solidFill>
                <a:latin typeface="Arial"/>
                <a:cs typeface="Arial"/>
              </a:rPr>
              <a:t>tables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chemeClr val="tx1"/>
                </a:solidFill>
                <a:latin typeface="Arial"/>
                <a:cs typeface="Arial"/>
              </a:rPr>
              <a:t>that</a:t>
            </a:r>
            <a:r>
              <a:rPr sz="24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10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sz="2400" spc="-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75" dirty="0">
                <a:solidFill>
                  <a:schemeClr val="tx1"/>
                </a:solidFill>
                <a:latin typeface="Arial"/>
                <a:cs typeface="Arial"/>
              </a:rPr>
              <a:t>linked</a:t>
            </a:r>
            <a:r>
              <a:rPr sz="2400" spc="-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chemeClr val="tx1"/>
                </a:solidFill>
                <a:latin typeface="Arial"/>
                <a:cs typeface="Arial"/>
              </a:rPr>
              <a:t>with</a:t>
            </a:r>
            <a:r>
              <a:rPr sz="24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chemeClr val="tx1"/>
                </a:solidFill>
                <a:latin typeface="Arial"/>
                <a:cs typeface="Arial"/>
              </a:rPr>
              <a:t>common</a:t>
            </a:r>
            <a:r>
              <a:rPr sz="24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70" dirty="0">
                <a:solidFill>
                  <a:schemeClr val="tx1"/>
                </a:solidFill>
                <a:latin typeface="Arial"/>
                <a:cs typeface="Arial"/>
              </a:rPr>
              <a:t>fields,  </a:t>
            </a:r>
            <a:r>
              <a:rPr sz="2400" spc="-75" dirty="0">
                <a:solidFill>
                  <a:schemeClr val="tx1"/>
                </a:solidFill>
                <a:latin typeface="Arial"/>
                <a:cs typeface="Arial"/>
              </a:rPr>
              <a:t>known </a:t>
            </a:r>
            <a:r>
              <a:rPr sz="2400" spc="-225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400" spc="-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185" dirty="0">
                <a:solidFill>
                  <a:schemeClr val="tx1"/>
                </a:solidFill>
                <a:latin typeface="Arial"/>
                <a:cs typeface="Arial"/>
              </a:rPr>
              <a:t>keys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645160" marR="551815" indent="-99060">
              <a:lnSpc>
                <a:spcPts val="2800"/>
              </a:lnSpc>
              <a:spcBef>
                <a:spcPts val="765"/>
              </a:spcBef>
              <a:tabLst>
                <a:tab pos="832485" algn="l"/>
              </a:tabLst>
            </a:pPr>
            <a:r>
              <a:rPr sz="12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400" spc="-225" dirty="0">
                <a:solidFill>
                  <a:schemeClr val="tx1"/>
                </a:solidFill>
                <a:latin typeface="Arial"/>
                <a:cs typeface="Arial"/>
              </a:rPr>
              <a:t>MS </a:t>
            </a:r>
            <a:r>
              <a:rPr sz="2400" spc="-190" dirty="0">
                <a:solidFill>
                  <a:schemeClr val="tx1"/>
                </a:solidFill>
                <a:latin typeface="Arial"/>
                <a:cs typeface="Arial"/>
              </a:rPr>
              <a:t>Access, </a:t>
            </a:r>
            <a:r>
              <a:rPr sz="2400" spc="-125" dirty="0">
                <a:solidFill>
                  <a:schemeClr val="tx1"/>
                </a:solidFill>
                <a:latin typeface="Arial"/>
                <a:cs typeface="Arial"/>
              </a:rPr>
              <a:t>Oracle, </a:t>
            </a:r>
            <a:r>
              <a:rPr sz="2400" spc="-114" dirty="0">
                <a:solidFill>
                  <a:schemeClr val="tx1"/>
                </a:solidFill>
                <a:latin typeface="Arial"/>
                <a:cs typeface="Arial"/>
              </a:rPr>
              <a:t>and </a:t>
            </a:r>
            <a:r>
              <a:rPr sz="2400" spc="-229" dirty="0">
                <a:solidFill>
                  <a:schemeClr val="tx1"/>
                </a:solidFill>
                <a:latin typeface="Arial"/>
                <a:cs typeface="Arial"/>
              </a:rPr>
              <a:t>MySQL </a:t>
            </a:r>
            <a:r>
              <a:rPr sz="2400" spc="-110" dirty="0">
                <a:solidFill>
                  <a:schemeClr val="tx1"/>
                </a:solidFill>
                <a:latin typeface="Arial"/>
                <a:cs typeface="Arial"/>
              </a:rPr>
              <a:t>are </a:t>
            </a:r>
            <a:r>
              <a:rPr sz="2400" spc="-30" dirty="0">
                <a:solidFill>
                  <a:schemeClr val="tx1"/>
                </a:solidFill>
                <a:latin typeface="Arial"/>
                <a:cs typeface="Arial"/>
              </a:rPr>
              <a:t>the different </a:t>
            </a:r>
            <a:r>
              <a:rPr sz="2400" spc="-90" dirty="0">
                <a:solidFill>
                  <a:schemeClr val="tx1"/>
                </a:solidFill>
                <a:latin typeface="Arial"/>
                <a:cs typeface="Arial"/>
              </a:rPr>
              <a:t>types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of  </a:t>
            </a:r>
            <a:r>
              <a:rPr sz="2400" spc="-290" dirty="0">
                <a:solidFill>
                  <a:schemeClr val="tx1"/>
                </a:solidFill>
                <a:latin typeface="Arial"/>
                <a:cs typeface="Arial"/>
              </a:rPr>
              <a:t>RDBMS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31800" marR="5080" indent="-342900">
              <a:lnSpc>
                <a:spcPct val="90000"/>
              </a:lnSpc>
              <a:spcBef>
                <a:spcPts val="43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800" spc="-80" dirty="0">
                <a:solidFill>
                  <a:schemeClr val="tx1"/>
                </a:solidFill>
                <a:latin typeface="Arial"/>
                <a:cs typeface="Arial"/>
              </a:rPr>
              <a:t>In </a:t>
            </a:r>
            <a:r>
              <a:rPr sz="2800" spc="-35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800" spc="-150" dirty="0">
                <a:solidFill>
                  <a:schemeClr val="tx1"/>
                </a:solidFill>
                <a:latin typeface="Arial"/>
                <a:cs typeface="Arial"/>
              </a:rPr>
              <a:t>Linux </a:t>
            </a:r>
            <a:r>
              <a:rPr sz="2800" spc="-85" dirty="0">
                <a:solidFill>
                  <a:schemeClr val="tx1"/>
                </a:solidFill>
                <a:latin typeface="Arial"/>
                <a:cs typeface="Arial"/>
              </a:rPr>
              <a:t>operating </a:t>
            </a:r>
            <a:r>
              <a:rPr sz="2800" spc="-155" dirty="0">
                <a:solidFill>
                  <a:schemeClr val="tx1"/>
                </a:solidFill>
                <a:latin typeface="Arial"/>
                <a:cs typeface="Arial"/>
              </a:rPr>
              <a:t>system, </a:t>
            </a:r>
            <a:r>
              <a:rPr sz="2800" spc="-270" dirty="0">
                <a:solidFill>
                  <a:schemeClr val="tx1"/>
                </a:solidFill>
                <a:latin typeface="Arial"/>
                <a:cs typeface="Arial"/>
              </a:rPr>
              <a:t>MySQL </a:t>
            </a:r>
            <a:r>
              <a:rPr sz="2800" spc="-145" dirty="0">
                <a:solidFill>
                  <a:schemeClr val="tx1"/>
                </a:solidFill>
                <a:latin typeface="Arial"/>
                <a:cs typeface="Arial"/>
              </a:rPr>
              <a:t>is </a:t>
            </a:r>
            <a:r>
              <a:rPr sz="2800" spc="-80" dirty="0">
                <a:solidFill>
                  <a:schemeClr val="tx1"/>
                </a:solidFill>
                <a:latin typeface="Arial"/>
                <a:cs typeface="Arial"/>
              </a:rPr>
              <a:t>mostly  </a:t>
            </a:r>
            <a:r>
              <a:rPr sz="2800" spc="-75" dirty="0">
                <a:solidFill>
                  <a:schemeClr val="tx1"/>
                </a:solidFill>
                <a:latin typeface="Arial"/>
                <a:cs typeface="Arial"/>
              </a:rPr>
              <a:t>preferred </a:t>
            </a:r>
            <a:r>
              <a:rPr sz="2800" spc="-185" dirty="0">
                <a:solidFill>
                  <a:schemeClr val="tx1"/>
                </a:solidFill>
                <a:latin typeface="Arial"/>
                <a:cs typeface="Arial"/>
              </a:rPr>
              <a:t>because </a:t>
            </a:r>
            <a:r>
              <a:rPr sz="2800" spc="85" dirty="0">
                <a:solidFill>
                  <a:schemeClr val="tx1"/>
                </a:solidFill>
                <a:latin typeface="Arial"/>
                <a:cs typeface="Arial"/>
              </a:rPr>
              <a:t>it </a:t>
            </a:r>
            <a:r>
              <a:rPr sz="2800" spc="-145" dirty="0">
                <a:solidFill>
                  <a:schemeClr val="tx1"/>
                </a:solidFill>
                <a:latin typeface="Arial"/>
                <a:cs typeface="Arial"/>
              </a:rPr>
              <a:t>is </a:t>
            </a:r>
            <a:r>
              <a:rPr sz="2800" spc="-155" dirty="0">
                <a:solidFill>
                  <a:schemeClr val="tx1"/>
                </a:solidFill>
                <a:latin typeface="Arial"/>
                <a:cs typeface="Arial"/>
              </a:rPr>
              <a:t>an </a:t>
            </a:r>
            <a:r>
              <a:rPr sz="2800" spc="-114" dirty="0">
                <a:solidFill>
                  <a:schemeClr val="tx1"/>
                </a:solidFill>
                <a:latin typeface="Arial"/>
                <a:cs typeface="Arial"/>
              </a:rPr>
              <a:t>open </a:t>
            </a:r>
            <a:r>
              <a:rPr sz="2800" spc="-145" dirty="0">
                <a:solidFill>
                  <a:schemeClr val="tx1"/>
                </a:solidFill>
                <a:latin typeface="Arial"/>
                <a:cs typeface="Arial"/>
              </a:rPr>
              <a:t>source </a:t>
            </a:r>
            <a:r>
              <a:rPr sz="2800" spc="-80" dirty="0">
                <a:solidFill>
                  <a:schemeClr val="tx1"/>
                </a:solidFill>
                <a:latin typeface="Arial"/>
                <a:cs typeface="Arial"/>
              </a:rPr>
              <a:t>software, </a:t>
            </a:r>
            <a:r>
              <a:rPr sz="2800" spc="-13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sz="2800" spc="-3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chemeClr val="tx1"/>
                </a:solidFill>
                <a:latin typeface="Arial"/>
                <a:cs typeface="Arial"/>
              </a:rPr>
              <a:t>is  </a:t>
            </a:r>
            <a:r>
              <a:rPr sz="2800" spc="-220" dirty="0">
                <a:solidFill>
                  <a:schemeClr val="tx1"/>
                </a:solidFill>
                <a:latin typeface="Arial"/>
                <a:cs typeface="Arial"/>
              </a:rPr>
              <a:t>easy </a:t>
            </a:r>
            <a:r>
              <a:rPr sz="2800" spc="25" dirty="0">
                <a:solidFill>
                  <a:schemeClr val="tx1"/>
                </a:solidFill>
                <a:latin typeface="Arial"/>
                <a:cs typeface="Arial"/>
              </a:rPr>
              <a:t>to</a:t>
            </a:r>
            <a:r>
              <a:rPr sz="2800" spc="-7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195" dirty="0">
                <a:solidFill>
                  <a:schemeClr val="tx1"/>
                </a:solidFill>
                <a:latin typeface="Arial"/>
                <a:cs typeface="Arial"/>
              </a:rPr>
              <a:t>use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180705" cy="42902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z="2500" b="1" spc="-114" dirty="0">
                <a:solidFill>
                  <a:schemeClr val="tx1"/>
                </a:solidFill>
                <a:latin typeface="Trebuchet MS"/>
                <a:cs typeface="Trebuchet MS"/>
              </a:rPr>
              <a:t>Database</a:t>
            </a:r>
            <a:r>
              <a:rPr sz="2500" b="1" spc="-1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500" b="1" spc="-80" dirty="0">
                <a:solidFill>
                  <a:schemeClr val="tx1"/>
                </a:solidFill>
                <a:latin typeface="Trebuchet MS"/>
                <a:cs typeface="Trebuchet MS"/>
              </a:rPr>
              <a:t>APIs	</a:t>
            </a:r>
            <a:r>
              <a:rPr sz="2500" b="1" spc="-190" dirty="0">
                <a:solidFill>
                  <a:schemeClr val="tx1"/>
                </a:solidFill>
                <a:latin typeface="Trebuchet MS"/>
                <a:cs typeface="Trebuchet MS"/>
              </a:rPr>
              <a:t>1-2</a:t>
            </a:r>
            <a:endParaRPr sz="25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4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65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600" spc="-240" dirty="0">
                <a:solidFill>
                  <a:schemeClr val="tx1"/>
                </a:solidFill>
                <a:latin typeface="Arial"/>
                <a:cs typeface="Arial"/>
              </a:rPr>
              <a:t>APIs </a:t>
            </a:r>
            <a:r>
              <a:rPr sz="2600" spc="-95" dirty="0">
                <a:solidFill>
                  <a:schemeClr val="tx1"/>
                </a:solidFill>
                <a:latin typeface="Arial"/>
                <a:cs typeface="Arial"/>
              </a:rPr>
              <a:t>allows </a:t>
            </a:r>
            <a:r>
              <a:rPr sz="2600" spc="-114" dirty="0">
                <a:solidFill>
                  <a:schemeClr val="tx1"/>
                </a:solidFill>
                <a:latin typeface="Arial"/>
                <a:cs typeface="Arial"/>
              </a:rPr>
              <a:t>developers </a:t>
            </a:r>
            <a:r>
              <a:rPr sz="2600" spc="25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600" spc="5" dirty="0">
                <a:solidFill>
                  <a:schemeClr val="tx1"/>
                </a:solidFill>
                <a:latin typeface="Arial"/>
                <a:cs typeface="Arial"/>
              </a:rPr>
              <a:t>write </a:t>
            </a:r>
            <a:r>
              <a:rPr sz="2600" spc="-85" dirty="0">
                <a:solidFill>
                  <a:schemeClr val="tx1"/>
                </a:solidFill>
                <a:latin typeface="Arial"/>
                <a:cs typeface="Arial"/>
              </a:rPr>
              <a:t>applications</a:t>
            </a:r>
            <a:r>
              <a:rPr sz="2600" spc="-48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chemeClr val="tx1"/>
                </a:solidFill>
                <a:latin typeface="Arial"/>
                <a:cs typeface="Arial"/>
              </a:rPr>
              <a:t>that  </a:t>
            </a:r>
            <a:r>
              <a:rPr sz="2600" spc="-114" dirty="0">
                <a:solidFill>
                  <a:schemeClr val="tx1"/>
                </a:solidFill>
                <a:latin typeface="Arial"/>
                <a:cs typeface="Arial"/>
              </a:rPr>
              <a:t>are </a:t>
            </a:r>
            <a:r>
              <a:rPr sz="2600" spc="-110" dirty="0">
                <a:solidFill>
                  <a:schemeClr val="tx1"/>
                </a:solidFill>
                <a:latin typeface="Arial"/>
                <a:cs typeface="Arial"/>
              </a:rPr>
              <a:t>movable </a:t>
            </a:r>
            <a:r>
              <a:rPr sz="2600" spc="-20" dirty="0">
                <a:solidFill>
                  <a:schemeClr val="tx1"/>
                </a:solidFill>
                <a:latin typeface="Arial"/>
                <a:cs typeface="Arial"/>
              </a:rPr>
              <a:t>or </a:t>
            </a:r>
            <a:r>
              <a:rPr sz="2600" spc="-120" dirty="0">
                <a:solidFill>
                  <a:schemeClr val="tx1"/>
                </a:solidFill>
                <a:latin typeface="Arial"/>
                <a:cs typeface="Arial"/>
              </a:rPr>
              <a:t>easily </a:t>
            </a:r>
            <a:r>
              <a:rPr sz="2600" spc="-155" dirty="0">
                <a:solidFill>
                  <a:schemeClr val="tx1"/>
                </a:solidFill>
                <a:latin typeface="Arial"/>
                <a:cs typeface="Arial"/>
              </a:rPr>
              <a:t>accessible </a:t>
            </a:r>
            <a:r>
              <a:rPr sz="2600" spc="-75" dirty="0">
                <a:solidFill>
                  <a:schemeClr val="tx1"/>
                </a:solidFill>
                <a:latin typeface="Arial"/>
                <a:cs typeface="Arial"/>
              </a:rPr>
              <a:t>between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600" spc="-140" dirty="0">
                <a:solidFill>
                  <a:schemeClr val="tx1"/>
                </a:solidFill>
                <a:latin typeface="Arial"/>
                <a:cs typeface="Arial"/>
              </a:rPr>
              <a:t>database  </a:t>
            </a:r>
            <a:r>
              <a:rPr sz="2600" spc="-85" dirty="0">
                <a:solidFill>
                  <a:schemeClr val="tx1"/>
                </a:solidFill>
                <a:latin typeface="Arial"/>
                <a:cs typeface="Arial"/>
              </a:rPr>
              <a:t>products</a:t>
            </a:r>
            <a:endParaRPr sz="2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220" dirty="0">
                <a:solidFill>
                  <a:schemeClr val="tx1"/>
                </a:solidFill>
                <a:latin typeface="Arial"/>
                <a:cs typeface="Arial"/>
              </a:rPr>
              <a:t>Some </a:t>
            </a:r>
            <a:r>
              <a:rPr sz="2600" spc="-5" dirty="0">
                <a:solidFill>
                  <a:schemeClr val="tx1"/>
                </a:solidFill>
                <a:latin typeface="Arial"/>
                <a:cs typeface="Arial"/>
              </a:rPr>
              <a:t>of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600" spc="-110" dirty="0">
                <a:solidFill>
                  <a:schemeClr val="tx1"/>
                </a:solidFill>
                <a:latin typeface="Arial"/>
                <a:cs typeface="Arial"/>
              </a:rPr>
              <a:t>common </a:t>
            </a:r>
            <a:r>
              <a:rPr sz="2600" spc="-140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600" spc="-240" dirty="0">
                <a:solidFill>
                  <a:schemeClr val="tx1"/>
                </a:solidFill>
                <a:latin typeface="Arial"/>
                <a:cs typeface="Arial"/>
              </a:rPr>
              <a:t>APIs</a:t>
            </a:r>
            <a:r>
              <a:rPr sz="2600" spc="-3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95" dirty="0">
                <a:solidFill>
                  <a:schemeClr val="tx1"/>
                </a:solidFill>
                <a:latin typeface="Arial"/>
                <a:cs typeface="Arial"/>
              </a:rPr>
              <a:t>are:</a:t>
            </a:r>
            <a:endParaRPr sz="2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  <a:tabLst>
                <a:tab pos="756285" algn="l"/>
              </a:tabLst>
            </a:pPr>
            <a:r>
              <a:rPr sz="12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400" spc="-80" dirty="0">
                <a:solidFill>
                  <a:schemeClr val="tx1"/>
                </a:solidFill>
                <a:latin typeface="Arial"/>
                <a:cs typeface="Arial"/>
              </a:rPr>
              <a:t>Native-Interface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  <a:tabLst>
                <a:tab pos="756285" algn="l"/>
              </a:tabLst>
            </a:pPr>
            <a:r>
              <a:rPr sz="1200" spc="380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Open </a:t>
            </a:r>
            <a:r>
              <a:rPr sz="2400" spc="-150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400" spc="-80" dirty="0">
                <a:solidFill>
                  <a:schemeClr val="tx1"/>
                </a:solidFill>
                <a:latin typeface="Arial"/>
                <a:cs typeface="Arial"/>
              </a:rPr>
              <a:t>Connectivity</a:t>
            </a:r>
            <a:r>
              <a:rPr sz="24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45" dirty="0">
                <a:solidFill>
                  <a:schemeClr val="tx1"/>
                </a:solidFill>
                <a:latin typeface="Arial"/>
                <a:cs typeface="Arial"/>
              </a:rPr>
              <a:t>(ODBC)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  <a:tabLst>
                <a:tab pos="756285" algn="l"/>
              </a:tabLst>
            </a:pPr>
            <a:r>
              <a:rPr sz="12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400" spc="-250" dirty="0">
                <a:solidFill>
                  <a:schemeClr val="tx1"/>
                </a:solidFill>
                <a:latin typeface="Arial"/>
                <a:cs typeface="Arial"/>
              </a:rPr>
              <a:t>Java </a:t>
            </a:r>
            <a:r>
              <a:rPr sz="2400" spc="-155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400" spc="-80" dirty="0">
                <a:solidFill>
                  <a:schemeClr val="tx1"/>
                </a:solidFill>
                <a:latin typeface="Arial"/>
                <a:cs typeface="Arial"/>
              </a:rPr>
              <a:t>Connectivity</a:t>
            </a:r>
            <a:r>
              <a:rPr sz="2400" spc="-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70" dirty="0">
                <a:solidFill>
                  <a:schemeClr val="tx1"/>
                </a:solidFill>
                <a:latin typeface="Arial"/>
                <a:cs typeface="Arial"/>
              </a:rPr>
              <a:t>(JDBC)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  <a:tabLst>
                <a:tab pos="756285" algn="l"/>
              </a:tabLst>
            </a:pPr>
            <a:r>
              <a:rPr sz="12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Common </a:t>
            </a:r>
            <a:r>
              <a:rPr sz="2400" spc="-90" dirty="0">
                <a:solidFill>
                  <a:schemeClr val="tx1"/>
                </a:solidFill>
                <a:latin typeface="Arial"/>
                <a:cs typeface="Arial"/>
              </a:rPr>
              <a:t>Object </a:t>
            </a:r>
            <a:r>
              <a:rPr sz="2400" spc="-150" dirty="0">
                <a:solidFill>
                  <a:schemeClr val="tx1"/>
                </a:solidFill>
                <a:latin typeface="Arial"/>
                <a:cs typeface="Arial"/>
              </a:rPr>
              <a:t>Request </a:t>
            </a:r>
            <a:r>
              <a:rPr sz="2400" spc="-110" dirty="0">
                <a:solidFill>
                  <a:schemeClr val="tx1"/>
                </a:solidFill>
                <a:latin typeface="Arial"/>
                <a:cs typeface="Arial"/>
              </a:rPr>
              <a:t>Broker </a:t>
            </a:r>
            <a:r>
              <a:rPr sz="2400" spc="-65" dirty="0">
                <a:solidFill>
                  <a:schemeClr val="tx1"/>
                </a:solidFill>
                <a:latin typeface="Arial"/>
                <a:cs typeface="Arial"/>
              </a:rPr>
              <a:t>Architecture</a:t>
            </a:r>
            <a:r>
              <a:rPr sz="2400" spc="-2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70" dirty="0">
                <a:solidFill>
                  <a:schemeClr val="tx1"/>
                </a:solidFill>
                <a:latin typeface="Arial"/>
                <a:cs typeface="Arial"/>
              </a:rPr>
              <a:t>(CORBA)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239125" cy="47003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z="2500" b="1" spc="-114" dirty="0">
                <a:solidFill>
                  <a:schemeClr val="tx1"/>
                </a:solidFill>
                <a:latin typeface="Trebuchet MS"/>
                <a:cs typeface="Trebuchet MS"/>
              </a:rPr>
              <a:t>Database</a:t>
            </a:r>
            <a:r>
              <a:rPr sz="2500" b="1" spc="-1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500" b="1" spc="-80" dirty="0">
                <a:solidFill>
                  <a:schemeClr val="tx1"/>
                </a:solidFill>
                <a:latin typeface="Trebuchet MS"/>
                <a:cs typeface="Trebuchet MS"/>
              </a:rPr>
              <a:t>APIs	</a:t>
            </a:r>
            <a:r>
              <a:rPr sz="2500" b="1" spc="-190" dirty="0">
                <a:solidFill>
                  <a:schemeClr val="tx1"/>
                </a:solidFill>
                <a:latin typeface="Trebuchet MS"/>
                <a:cs typeface="Trebuchet MS"/>
              </a:rPr>
              <a:t>2-2</a:t>
            </a:r>
            <a:endParaRPr sz="25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380" dirty="0">
                <a:solidFill>
                  <a:schemeClr val="tx1"/>
                </a:solidFill>
                <a:latin typeface="Arial"/>
                <a:cs typeface="Arial"/>
              </a:rPr>
              <a:t>PHP </a:t>
            </a:r>
            <a:r>
              <a:rPr sz="2800" spc="-100" dirty="0">
                <a:solidFill>
                  <a:schemeClr val="tx1"/>
                </a:solidFill>
                <a:latin typeface="Arial"/>
                <a:cs typeface="Arial"/>
              </a:rPr>
              <a:t>supports </a:t>
            </a:r>
            <a:r>
              <a:rPr sz="2800" spc="-270" dirty="0">
                <a:solidFill>
                  <a:schemeClr val="tx1"/>
                </a:solidFill>
                <a:latin typeface="Arial"/>
                <a:cs typeface="Arial"/>
              </a:rPr>
              <a:t>MySQL </a:t>
            </a:r>
            <a:r>
              <a:rPr sz="2800" spc="-155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800" spc="-15" dirty="0">
                <a:solidFill>
                  <a:schemeClr val="tx1"/>
                </a:solidFill>
                <a:latin typeface="Arial"/>
                <a:cs typeface="Arial"/>
              </a:rPr>
              <a:t>for </a:t>
            </a:r>
            <a:r>
              <a:rPr sz="2800" spc="-195" dirty="0">
                <a:solidFill>
                  <a:schemeClr val="tx1"/>
                </a:solidFill>
                <a:latin typeface="Arial"/>
                <a:cs typeface="Arial"/>
              </a:rPr>
              <a:t>accessing </a:t>
            </a:r>
            <a:r>
              <a:rPr sz="2800" spc="-110" dirty="0">
                <a:solidFill>
                  <a:schemeClr val="tx1"/>
                </a:solidFill>
                <a:latin typeface="Arial"/>
                <a:cs typeface="Arial"/>
              </a:rPr>
              <a:t>data </a:t>
            </a:r>
            <a:r>
              <a:rPr sz="2800" spc="-35" dirty="0">
                <a:solidFill>
                  <a:schemeClr val="tx1"/>
                </a:solidFill>
                <a:latin typeface="Arial"/>
                <a:cs typeface="Arial"/>
              </a:rPr>
              <a:t>from  the</a:t>
            </a:r>
            <a:r>
              <a:rPr sz="2800" spc="-1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800" spc="-155" dirty="0">
                <a:solidFill>
                  <a:schemeClr val="tx1"/>
                </a:solidFill>
                <a:latin typeface="Arial"/>
                <a:cs typeface="Arial"/>
              </a:rPr>
              <a:t>database</a:t>
            </a:r>
            <a:endParaRPr sz="2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944"/>
              </a:spcBef>
              <a:tabLst>
                <a:tab pos="855344" algn="l"/>
              </a:tabLst>
            </a:pPr>
            <a:r>
              <a:rPr sz="1400" spc="44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600" b="1" spc="-155" dirty="0">
                <a:solidFill>
                  <a:schemeClr val="tx1"/>
                </a:solidFill>
                <a:latin typeface="Trebuchet MS"/>
                <a:cs typeface="Trebuchet MS"/>
              </a:rPr>
              <a:t>Connecting </a:t>
            </a:r>
            <a:r>
              <a:rPr sz="2600" b="1" spc="-114" dirty="0">
                <a:solidFill>
                  <a:schemeClr val="tx1"/>
                </a:solidFill>
                <a:latin typeface="Trebuchet MS"/>
                <a:cs typeface="Trebuchet MS"/>
              </a:rPr>
              <a:t>to </a:t>
            </a:r>
            <a:r>
              <a:rPr sz="2600" b="1" spc="-100" dirty="0">
                <a:solidFill>
                  <a:schemeClr val="tx1"/>
                </a:solidFill>
                <a:latin typeface="Trebuchet MS"/>
                <a:cs typeface="Trebuchet MS"/>
              </a:rPr>
              <a:t>a</a:t>
            </a:r>
            <a:r>
              <a:rPr sz="2600" b="1" spc="-3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600" b="1" spc="-114" dirty="0">
                <a:solidFill>
                  <a:schemeClr val="tx1"/>
                </a:solidFill>
                <a:latin typeface="Trebuchet MS"/>
                <a:cs typeface="Trebuchet MS"/>
              </a:rPr>
              <a:t>Database</a:t>
            </a:r>
            <a:endParaRPr sz="26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155700" marR="416559" indent="-228600">
              <a:lnSpc>
                <a:spcPct val="100800"/>
              </a:lnSpc>
              <a:spcBef>
                <a:spcPts val="550"/>
              </a:spcBef>
            </a:pPr>
            <a:r>
              <a:rPr sz="950" spc="310" dirty="0">
                <a:solidFill>
                  <a:schemeClr val="tx1"/>
                </a:solidFill>
                <a:latin typeface="Arial"/>
                <a:cs typeface="Arial"/>
              </a:rPr>
              <a:t> </a:t>
            </a:r>
            <a:r>
              <a:rPr sz="2400" spc="-215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Web </a:t>
            </a:r>
            <a:r>
              <a:rPr sz="2400" spc="-75" dirty="0">
                <a:solidFill>
                  <a:schemeClr val="tx1"/>
                </a:solidFill>
                <a:latin typeface="Arial"/>
                <a:cs typeface="Arial"/>
              </a:rPr>
              <a:t>site </a:t>
            </a:r>
            <a:r>
              <a:rPr sz="2400" spc="-114" dirty="0">
                <a:solidFill>
                  <a:schemeClr val="tx1"/>
                </a:solidFill>
                <a:latin typeface="Arial"/>
                <a:cs typeface="Arial"/>
              </a:rPr>
              <a:t>connects </a:t>
            </a:r>
            <a:r>
              <a:rPr sz="2400" spc="20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400" spc="-19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400" spc="-130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400" spc="20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400" spc="-204" dirty="0">
                <a:solidFill>
                  <a:schemeClr val="tx1"/>
                </a:solidFill>
                <a:latin typeface="Arial"/>
                <a:cs typeface="Arial"/>
              </a:rPr>
              <a:t>access </a:t>
            </a:r>
            <a:r>
              <a:rPr sz="2400" spc="-114" dirty="0">
                <a:solidFill>
                  <a:schemeClr val="tx1"/>
                </a:solidFill>
                <a:latin typeface="Arial"/>
                <a:cs typeface="Arial"/>
              </a:rPr>
              <a:t>and </a:t>
            </a:r>
            <a:r>
              <a:rPr sz="2400" spc="-135" dirty="0">
                <a:solidFill>
                  <a:schemeClr val="tx1"/>
                </a:solidFill>
                <a:latin typeface="Arial"/>
                <a:cs typeface="Arial"/>
              </a:rPr>
              <a:t>store  </a:t>
            </a:r>
            <a:r>
              <a:rPr sz="2400" spc="-35" dirty="0">
                <a:solidFill>
                  <a:schemeClr val="tx1"/>
                </a:solidFill>
                <a:latin typeface="Arial"/>
                <a:cs typeface="Arial"/>
              </a:rPr>
              <a:t>information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555"/>
              </a:spcBef>
            </a:pPr>
            <a:r>
              <a:rPr sz="950" spc="310" dirty="0">
                <a:solidFill>
                  <a:schemeClr val="tx1"/>
                </a:solidFill>
                <a:latin typeface="Arial"/>
                <a:cs typeface="Arial"/>
              </a:rPr>
              <a:t> </a:t>
            </a:r>
            <a:r>
              <a:rPr sz="2400" spc="-180" dirty="0">
                <a:solidFill>
                  <a:schemeClr val="tx1"/>
                </a:solidFill>
                <a:latin typeface="Arial"/>
                <a:cs typeface="Arial"/>
              </a:rPr>
              <a:t>Steps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for </a:t>
            </a:r>
            <a:r>
              <a:rPr sz="2400" spc="-95" dirty="0">
                <a:solidFill>
                  <a:schemeClr val="tx1"/>
                </a:solidFill>
                <a:latin typeface="Arial"/>
                <a:cs typeface="Arial"/>
              </a:rPr>
              <a:t>connecting </a:t>
            </a:r>
            <a:r>
              <a:rPr sz="2400" spc="20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400" spc="-185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400" spc="-130" dirty="0">
                <a:solidFill>
                  <a:schemeClr val="tx1"/>
                </a:solidFill>
                <a:latin typeface="Arial"/>
                <a:cs typeface="Arial"/>
              </a:rPr>
              <a:t>database </a:t>
            </a:r>
            <a:r>
              <a:rPr sz="2400" spc="-110" dirty="0">
                <a:solidFill>
                  <a:schemeClr val="tx1"/>
                </a:solidFill>
                <a:latin typeface="Arial"/>
                <a:cs typeface="Arial"/>
              </a:rPr>
              <a:t>are </a:t>
            </a:r>
            <a:r>
              <a:rPr sz="2400" spc="-225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400" spc="-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60" dirty="0">
                <a:solidFill>
                  <a:schemeClr val="tx1"/>
                </a:solidFill>
                <a:latin typeface="Arial"/>
                <a:cs typeface="Arial"/>
              </a:rPr>
              <a:t>follows: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612900" indent="-228600">
              <a:lnSpc>
                <a:spcPct val="100000"/>
              </a:lnSpc>
              <a:spcBef>
                <a:spcPts val="550"/>
              </a:spcBef>
              <a:buClr>
                <a:srgbClr val="1F487C"/>
              </a:buClr>
              <a:buChar char="–"/>
              <a:tabLst>
                <a:tab pos="1613535" algn="l"/>
              </a:tabLst>
            </a:pPr>
            <a:r>
              <a:rPr sz="2200" spc="-140" dirty="0">
                <a:solidFill>
                  <a:schemeClr val="tx1"/>
                </a:solidFill>
                <a:latin typeface="Arial"/>
                <a:cs typeface="Arial"/>
              </a:rPr>
              <a:t>Open </a:t>
            </a:r>
            <a:r>
              <a:rPr sz="22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200" spc="-125" dirty="0">
                <a:solidFill>
                  <a:schemeClr val="tx1"/>
                </a:solidFill>
                <a:latin typeface="Arial"/>
                <a:cs typeface="Arial"/>
              </a:rPr>
              <a:t>database</a:t>
            </a:r>
            <a:r>
              <a:rPr sz="2200" spc="-1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chemeClr val="tx1"/>
                </a:solidFill>
                <a:latin typeface="Arial"/>
                <a:cs typeface="Arial"/>
              </a:rPr>
              <a:t>connection</a:t>
            </a:r>
            <a:endParaRPr sz="2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612900" indent="-228600">
              <a:lnSpc>
                <a:spcPct val="100000"/>
              </a:lnSpc>
              <a:spcBef>
                <a:spcPts val="525"/>
              </a:spcBef>
              <a:buClr>
                <a:srgbClr val="1F487C"/>
              </a:buClr>
              <a:buChar char="–"/>
              <a:tabLst>
                <a:tab pos="1613535" algn="l"/>
              </a:tabLst>
            </a:pPr>
            <a:r>
              <a:rPr sz="2200" spc="-90" dirty="0">
                <a:solidFill>
                  <a:schemeClr val="tx1"/>
                </a:solidFill>
                <a:latin typeface="Arial"/>
                <a:cs typeface="Arial"/>
              </a:rPr>
              <a:t>Work </a:t>
            </a:r>
            <a:r>
              <a:rPr sz="2200" spc="10" dirty="0">
                <a:solidFill>
                  <a:schemeClr val="tx1"/>
                </a:solidFill>
                <a:latin typeface="Arial"/>
                <a:cs typeface="Arial"/>
              </a:rPr>
              <a:t>with </a:t>
            </a:r>
            <a:r>
              <a:rPr sz="2200" spc="-3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200" spc="-2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200" spc="-125" dirty="0">
                <a:solidFill>
                  <a:schemeClr val="tx1"/>
                </a:solidFill>
                <a:latin typeface="Arial"/>
                <a:cs typeface="Arial"/>
              </a:rPr>
              <a:t>database</a:t>
            </a:r>
            <a:endParaRPr sz="22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1612900" indent="-228600">
              <a:lnSpc>
                <a:spcPct val="100000"/>
              </a:lnSpc>
              <a:spcBef>
                <a:spcPts val="530"/>
              </a:spcBef>
              <a:buClr>
                <a:srgbClr val="1F487C"/>
              </a:buClr>
              <a:buChar char="–"/>
              <a:tabLst>
                <a:tab pos="1613535" algn="l"/>
              </a:tabLst>
            </a:pPr>
            <a:r>
              <a:rPr sz="2200" spc="-170" dirty="0">
                <a:solidFill>
                  <a:schemeClr val="tx1"/>
                </a:solidFill>
                <a:latin typeface="Arial"/>
                <a:cs typeface="Arial"/>
              </a:rPr>
              <a:t>Close </a:t>
            </a:r>
            <a:r>
              <a:rPr sz="22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200" spc="-125" dirty="0">
                <a:solidFill>
                  <a:schemeClr val="tx1"/>
                </a:solidFill>
                <a:latin typeface="Arial"/>
                <a:cs typeface="Arial"/>
              </a:rPr>
              <a:t>database</a:t>
            </a:r>
            <a:r>
              <a:rPr sz="22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200" spc="-75" dirty="0">
                <a:solidFill>
                  <a:schemeClr val="tx1"/>
                </a:solidFill>
                <a:latin typeface="Arial"/>
                <a:cs typeface="Arial"/>
              </a:rPr>
              <a:t>connection</a:t>
            </a:r>
            <a:endParaRPr sz="22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5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27861"/>
            <a:ext cx="8530590" cy="394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35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229" dirty="0">
                <a:latin typeface="Arial"/>
                <a:cs typeface="Arial"/>
              </a:rPr>
              <a:t>MySQL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70" dirty="0">
                <a:latin typeface="Arial"/>
                <a:cs typeface="Arial"/>
              </a:rPr>
              <a:t>automatically installed </a:t>
            </a:r>
            <a:r>
              <a:rPr sz="2400" spc="-45" dirty="0">
                <a:latin typeface="Arial"/>
                <a:cs typeface="Arial"/>
              </a:rPr>
              <a:t>while </a:t>
            </a:r>
            <a:r>
              <a:rPr sz="2400" spc="-105" dirty="0">
                <a:latin typeface="Arial"/>
                <a:cs typeface="Arial"/>
              </a:rPr>
              <a:t>customizing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50" dirty="0">
                <a:latin typeface="Arial"/>
                <a:cs typeface="Arial"/>
              </a:rPr>
              <a:t>installation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130" dirty="0">
                <a:latin typeface="Arial"/>
                <a:cs typeface="Arial"/>
              </a:rPr>
              <a:t>Linux </a:t>
            </a:r>
            <a:r>
              <a:rPr sz="2400" spc="-75" dirty="0">
                <a:latin typeface="Arial"/>
                <a:cs typeface="Arial"/>
              </a:rPr>
              <a:t>operating</a:t>
            </a:r>
            <a:r>
              <a:rPr sz="2400" spc="-35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system</a:t>
            </a:r>
            <a:endParaRPr sz="2400">
              <a:latin typeface="Arial"/>
              <a:cs typeface="Arial"/>
            </a:endParaRPr>
          </a:p>
          <a:p>
            <a:pPr marL="355600" marR="5080" indent="-342900">
              <a:lnSpc>
                <a:spcPts val="2780"/>
              </a:lnSpc>
              <a:spcBef>
                <a:spcPts val="188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215" dirty="0">
                <a:latin typeface="Arial"/>
                <a:cs typeface="Arial"/>
              </a:rPr>
              <a:t>A </a:t>
            </a:r>
            <a:r>
              <a:rPr sz="2400" spc="-80" dirty="0">
                <a:latin typeface="Arial"/>
                <a:cs typeface="Arial"/>
              </a:rPr>
              <a:t>connection </a:t>
            </a:r>
            <a:r>
              <a:rPr sz="2400" spc="-140" dirty="0">
                <a:latin typeface="Arial"/>
                <a:cs typeface="Arial"/>
              </a:rPr>
              <a:t>needs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100" dirty="0">
                <a:latin typeface="Arial"/>
                <a:cs typeface="Arial"/>
              </a:rPr>
              <a:t>establish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29" dirty="0">
                <a:latin typeface="Arial"/>
                <a:cs typeface="Arial"/>
              </a:rPr>
              <a:t>MySQL </a:t>
            </a:r>
            <a:r>
              <a:rPr sz="2400" spc="-100" dirty="0">
                <a:latin typeface="Arial"/>
                <a:cs typeface="Arial"/>
              </a:rPr>
              <a:t>server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320" dirty="0">
                <a:latin typeface="Arial"/>
                <a:cs typeface="Arial"/>
              </a:rPr>
              <a:t>PHP  </a:t>
            </a:r>
            <a:r>
              <a:rPr sz="2400" spc="15" dirty="0">
                <a:latin typeface="Arial"/>
                <a:cs typeface="Arial"/>
              </a:rPr>
              <a:t>with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help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420" dirty="0">
                <a:latin typeface="Arial"/>
                <a:cs typeface="Arial"/>
              </a:rPr>
              <a:t> </a:t>
            </a:r>
            <a:r>
              <a:rPr sz="2400" spc="-20" dirty="0">
                <a:latin typeface="Courier New"/>
                <a:cs typeface="Courier New"/>
              </a:rPr>
              <a:t>mysql_connect()</a:t>
            </a:r>
            <a:r>
              <a:rPr sz="2400" spc="-20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3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60" dirty="0">
                <a:latin typeface="Arial"/>
                <a:cs typeface="Arial"/>
              </a:rPr>
              <a:t>This </a:t>
            </a:r>
            <a:r>
              <a:rPr sz="2400" spc="-40" dirty="0">
                <a:latin typeface="Arial"/>
                <a:cs typeface="Arial"/>
              </a:rPr>
              <a:t>function </a:t>
            </a:r>
            <a:r>
              <a:rPr sz="2400" spc="-135" dirty="0">
                <a:latin typeface="Arial"/>
                <a:cs typeface="Arial"/>
              </a:rPr>
              <a:t>takes </a:t>
            </a:r>
            <a:r>
              <a:rPr sz="2400" spc="-45" dirty="0">
                <a:latin typeface="Arial"/>
                <a:cs typeface="Arial"/>
              </a:rPr>
              <a:t>three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arguments: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15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spc="-140" dirty="0">
                <a:latin typeface="Arial"/>
                <a:cs typeface="Arial"/>
              </a:rPr>
              <a:t>Name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00" dirty="0">
                <a:latin typeface="Arial"/>
                <a:cs typeface="Arial"/>
              </a:rPr>
              <a:t>machine </a:t>
            </a:r>
            <a:r>
              <a:rPr sz="2200" spc="-70" dirty="0">
                <a:latin typeface="Arial"/>
                <a:cs typeface="Arial"/>
              </a:rPr>
              <a:t>on </a:t>
            </a:r>
            <a:r>
              <a:rPr sz="2200" spc="-65" dirty="0">
                <a:latin typeface="Arial"/>
                <a:cs typeface="Arial"/>
              </a:rPr>
              <a:t>which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25" dirty="0">
                <a:latin typeface="Arial"/>
                <a:cs typeface="Arial"/>
              </a:rPr>
              <a:t>database </a:t>
            </a:r>
            <a:r>
              <a:rPr sz="2200" spc="-114" dirty="0">
                <a:latin typeface="Arial"/>
                <a:cs typeface="Arial"/>
              </a:rPr>
              <a:t>is</a:t>
            </a:r>
            <a:r>
              <a:rPr sz="2200" spc="-43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running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689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spc="-145" dirty="0">
                <a:latin typeface="Arial"/>
                <a:cs typeface="Arial"/>
              </a:rPr>
              <a:t>Database</a:t>
            </a:r>
            <a:r>
              <a:rPr sz="2200" spc="-120" dirty="0">
                <a:latin typeface="Arial"/>
                <a:cs typeface="Arial"/>
              </a:rPr>
              <a:t> </a:t>
            </a:r>
            <a:r>
              <a:rPr sz="2200" spc="-114" dirty="0">
                <a:latin typeface="Arial"/>
                <a:cs typeface="Arial"/>
              </a:rPr>
              <a:t>username</a:t>
            </a:r>
            <a:endParaRPr sz="2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spc="-140" dirty="0">
                <a:latin typeface="Arial"/>
                <a:cs typeface="Arial"/>
              </a:rPr>
              <a:t>Database </a:t>
            </a:r>
            <a:r>
              <a:rPr sz="2200" spc="-105" dirty="0">
                <a:latin typeface="Arial"/>
                <a:cs typeface="Arial"/>
              </a:rPr>
              <a:t>user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114" dirty="0">
                <a:latin typeface="Arial"/>
                <a:cs typeface="Arial"/>
              </a:rPr>
              <a:t>password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6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77609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45" dirty="0"/>
              <a:t>Con</a:t>
            </a:r>
            <a:r>
              <a:rPr spc="-140" dirty="0"/>
              <a:t>n</a:t>
            </a:r>
            <a:r>
              <a:rPr spc="-155" dirty="0"/>
              <a:t>ecting</a:t>
            </a:r>
            <a:r>
              <a:rPr spc="-185" dirty="0"/>
              <a:t> </a:t>
            </a:r>
            <a:r>
              <a:rPr spc="-160" dirty="0"/>
              <a:t>t</a:t>
            </a:r>
            <a:r>
              <a:rPr spc="-75" dirty="0"/>
              <a:t>o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75" dirty="0"/>
              <a:t>MySQ</a:t>
            </a:r>
            <a:r>
              <a:rPr spc="-60" dirty="0"/>
              <a:t>L</a:t>
            </a:r>
            <a:r>
              <a:rPr spc="-170" dirty="0"/>
              <a:t> </a:t>
            </a:r>
            <a:r>
              <a:rPr spc="-165" dirty="0"/>
              <a:t>Se</a:t>
            </a:r>
            <a:r>
              <a:rPr spc="-110" dirty="0"/>
              <a:t>r</a:t>
            </a:r>
            <a:r>
              <a:rPr spc="-170" dirty="0"/>
              <a:t>v</a:t>
            </a:r>
            <a:r>
              <a:rPr spc="-215" dirty="0"/>
              <a:t>e</a:t>
            </a:r>
            <a:r>
              <a:rPr spc="-155" dirty="0"/>
              <a:t>r</a:t>
            </a:r>
            <a:endParaRPr spc="-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2755519"/>
            <a:ext cx="7609205" cy="33039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95" dirty="0">
                <a:latin typeface="Arial"/>
                <a:cs typeface="Arial"/>
              </a:rPr>
              <a:t>W</a:t>
            </a:r>
            <a:r>
              <a:rPr sz="2400" spc="-95" dirty="0">
                <a:latin typeface="Arial"/>
                <a:cs typeface="Arial"/>
              </a:rPr>
              <a:t>here,</a:t>
            </a:r>
            <a:endParaRPr sz="2400">
              <a:latin typeface="Arial"/>
              <a:cs typeface="Arial"/>
            </a:endParaRPr>
          </a:p>
          <a:p>
            <a:pPr marL="1841500" marR="5080" indent="-1486535">
              <a:lnSpc>
                <a:spcPct val="100000"/>
              </a:lnSpc>
              <a:spcBef>
                <a:spcPts val="1720"/>
              </a:spcBef>
            </a:pPr>
            <a:r>
              <a:rPr sz="2200" b="1" spc="-125" dirty="0">
                <a:latin typeface="Trebuchet MS"/>
                <a:cs typeface="Trebuchet MS"/>
              </a:rPr>
              <a:t>host_name </a:t>
            </a:r>
            <a:r>
              <a:rPr sz="2200" spc="-65" dirty="0">
                <a:latin typeface="Arial"/>
                <a:cs typeface="Arial"/>
              </a:rPr>
              <a:t>- </a:t>
            </a:r>
            <a:r>
              <a:rPr sz="2200" spc="-105" dirty="0">
                <a:latin typeface="Arial"/>
                <a:cs typeface="Arial"/>
              </a:rPr>
              <a:t>specifies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20" dirty="0">
                <a:latin typeface="Arial"/>
                <a:cs typeface="Arial"/>
              </a:rPr>
              <a:t>name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95" dirty="0">
                <a:latin typeface="Arial"/>
                <a:cs typeface="Arial"/>
              </a:rPr>
              <a:t>server </a:t>
            </a:r>
            <a:r>
              <a:rPr sz="2200" spc="-75" dirty="0">
                <a:latin typeface="Arial"/>
                <a:cs typeface="Arial"/>
              </a:rPr>
              <a:t>on </a:t>
            </a:r>
            <a:r>
              <a:rPr sz="2200" spc="-65" dirty="0">
                <a:latin typeface="Arial"/>
                <a:cs typeface="Arial"/>
              </a:rPr>
              <a:t>which </a:t>
            </a:r>
            <a:r>
              <a:rPr sz="2200" spc="-35" dirty="0">
                <a:latin typeface="Arial"/>
                <a:cs typeface="Arial"/>
              </a:rPr>
              <a:t>the  </a:t>
            </a:r>
            <a:r>
              <a:rPr sz="2200" spc="-125" dirty="0">
                <a:latin typeface="Arial"/>
                <a:cs typeface="Arial"/>
              </a:rPr>
              <a:t>database </a:t>
            </a:r>
            <a:r>
              <a:rPr sz="2200" spc="-114" dirty="0">
                <a:latin typeface="Arial"/>
                <a:cs typeface="Arial"/>
              </a:rPr>
              <a:t>is </a:t>
            </a:r>
            <a:r>
              <a:rPr sz="2200" spc="-60" dirty="0">
                <a:latin typeface="Arial"/>
                <a:cs typeface="Arial"/>
              </a:rPr>
              <a:t>running. </a:t>
            </a:r>
            <a:r>
              <a:rPr sz="2200" spc="-165" dirty="0">
                <a:latin typeface="Arial"/>
                <a:cs typeface="Arial"/>
              </a:rPr>
              <a:t>The </a:t>
            </a:r>
            <a:r>
              <a:rPr sz="2200" spc="-50" dirty="0">
                <a:latin typeface="Arial"/>
                <a:cs typeface="Arial"/>
              </a:rPr>
              <a:t>default </a:t>
            </a:r>
            <a:r>
              <a:rPr sz="2200" spc="-55" dirty="0">
                <a:latin typeface="Arial"/>
                <a:cs typeface="Arial"/>
              </a:rPr>
              <a:t>location </a:t>
            </a:r>
            <a:r>
              <a:rPr sz="2200" spc="-10" dirty="0">
                <a:latin typeface="Arial"/>
                <a:cs typeface="Arial"/>
              </a:rPr>
              <a:t>of</a:t>
            </a:r>
            <a:r>
              <a:rPr sz="2200" spc="-225" dirty="0">
                <a:latin typeface="Arial"/>
                <a:cs typeface="Arial"/>
              </a:rPr>
              <a:t> </a:t>
            </a:r>
            <a:r>
              <a:rPr sz="2200" spc="-215" dirty="0">
                <a:latin typeface="Arial"/>
                <a:cs typeface="Arial"/>
              </a:rPr>
              <a:t>MySQL  </a:t>
            </a:r>
            <a:r>
              <a:rPr sz="2200" spc="-95" dirty="0">
                <a:latin typeface="Arial"/>
                <a:cs typeface="Arial"/>
              </a:rPr>
              <a:t>server </a:t>
            </a:r>
            <a:r>
              <a:rPr sz="2200" spc="-114" dirty="0">
                <a:latin typeface="Arial"/>
                <a:cs typeface="Arial"/>
              </a:rPr>
              <a:t>is</a:t>
            </a:r>
            <a:r>
              <a:rPr sz="2200" spc="-145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localhost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705"/>
              </a:spcBef>
            </a:pPr>
            <a:r>
              <a:rPr sz="2200" b="1" spc="-135" dirty="0">
                <a:latin typeface="Trebuchet MS"/>
                <a:cs typeface="Trebuchet MS"/>
              </a:rPr>
              <a:t>user_name </a:t>
            </a:r>
            <a:r>
              <a:rPr sz="2200" spc="-60" dirty="0">
                <a:latin typeface="Arial"/>
                <a:cs typeface="Arial"/>
              </a:rPr>
              <a:t>- </a:t>
            </a:r>
            <a:r>
              <a:rPr sz="2200" spc="-105" dirty="0">
                <a:latin typeface="Arial"/>
                <a:cs typeface="Arial"/>
              </a:rPr>
              <a:t>specifies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160" dirty="0">
                <a:latin typeface="Arial"/>
                <a:cs typeface="Arial"/>
              </a:rPr>
              <a:t> </a:t>
            </a:r>
            <a:r>
              <a:rPr sz="2200" spc="-114" dirty="0">
                <a:latin typeface="Arial"/>
                <a:cs typeface="Arial"/>
              </a:rPr>
              <a:t>username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705"/>
              </a:spcBef>
            </a:pPr>
            <a:r>
              <a:rPr sz="2200" b="1" spc="-105" dirty="0">
                <a:latin typeface="Trebuchet MS"/>
                <a:cs typeface="Trebuchet MS"/>
              </a:rPr>
              <a:t>password</a:t>
            </a:r>
            <a:r>
              <a:rPr sz="2200" b="1" spc="-140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Arial"/>
                <a:cs typeface="Arial"/>
              </a:rPr>
              <a:t>-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specifies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114" dirty="0">
                <a:latin typeface="Arial"/>
                <a:cs typeface="Arial"/>
              </a:rPr>
              <a:t> password</a:t>
            </a:r>
            <a:r>
              <a:rPr sz="2200" spc="-135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to</a:t>
            </a:r>
            <a:r>
              <a:rPr sz="2200" spc="-90" dirty="0">
                <a:latin typeface="Arial"/>
                <a:cs typeface="Arial"/>
              </a:rPr>
              <a:t> connect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15" dirty="0">
                <a:latin typeface="Arial"/>
                <a:cs typeface="Arial"/>
              </a:rPr>
              <a:t>to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database</a:t>
            </a:r>
            <a:endParaRPr sz="22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714"/>
              </a:spcBef>
            </a:pPr>
            <a:r>
              <a:rPr sz="2200" b="1" spc="-130" dirty="0">
                <a:latin typeface="Trebuchet MS"/>
                <a:cs typeface="Trebuchet MS"/>
              </a:rPr>
              <a:t>link_id</a:t>
            </a:r>
            <a:r>
              <a:rPr sz="2200" b="1" spc="-18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Arial"/>
                <a:cs typeface="Arial"/>
              </a:rPr>
              <a:t>-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100" dirty="0">
                <a:latin typeface="Arial"/>
                <a:cs typeface="Arial"/>
              </a:rPr>
              <a:t>stores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return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value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of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75" dirty="0">
                <a:latin typeface="Arial"/>
                <a:cs typeface="Arial"/>
              </a:rPr>
              <a:t>connection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7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645350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/>
              <a:t>Connecting </a:t>
            </a:r>
            <a:r>
              <a:rPr spc="-114" dirty="0"/>
              <a:t>to </a:t>
            </a:r>
            <a:r>
              <a:rPr spc="-150" dirty="0"/>
              <a:t>the </a:t>
            </a:r>
            <a:r>
              <a:rPr spc="-70" dirty="0"/>
              <a:t>MySQL</a:t>
            </a:r>
            <a:r>
              <a:rPr spc="-370" dirty="0"/>
              <a:t> </a:t>
            </a:r>
            <a:r>
              <a:rPr spc="-165" dirty="0"/>
              <a:t>Server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1963801"/>
            <a:ext cx="8458200" cy="39878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835"/>
              </a:lnSpc>
            </a:pPr>
            <a:r>
              <a:rPr sz="1600" spc="-5" dirty="0">
                <a:latin typeface="Courier New"/>
                <a:cs typeface="Courier New"/>
              </a:rPr>
              <a:t>$link_id =</a:t>
            </a:r>
            <a:r>
              <a:rPr sz="1600" spc="3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mysql_connect("host_name","user_name","password");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545336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926338"/>
            <a:ext cx="645350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25" dirty="0">
                <a:latin typeface="Arial"/>
                <a:cs typeface="Arial"/>
              </a:rPr>
              <a:t>Connecting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245" dirty="0">
                <a:latin typeface="Arial"/>
                <a:cs typeface="Arial"/>
              </a:rPr>
              <a:t>MySQL </a:t>
            </a:r>
            <a:r>
              <a:rPr sz="2600" spc="-110" dirty="0">
                <a:latin typeface="Arial"/>
                <a:cs typeface="Arial"/>
              </a:rPr>
              <a:t>server </a:t>
            </a:r>
            <a:r>
              <a:rPr sz="2600" spc="-135" dirty="0">
                <a:latin typeface="Arial"/>
                <a:cs typeface="Arial"/>
              </a:rPr>
              <a:t>is </a:t>
            </a:r>
            <a:r>
              <a:rPr sz="2600" spc="-245" dirty="0">
                <a:latin typeface="Arial"/>
                <a:cs typeface="Arial"/>
              </a:rPr>
              <a:t>as</a:t>
            </a:r>
            <a:r>
              <a:rPr sz="2600" spc="-390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follows: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915670"/>
            <a:ext cx="6232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5600" algn="l"/>
                <a:tab pos="356235" algn="l"/>
              </a:tabLst>
            </a:pPr>
            <a:r>
              <a:rPr sz="2400" b="1" spc="-5" dirty="0">
                <a:latin typeface="Courier New"/>
                <a:cs typeface="Courier New"/>
              </a:rPr>
              <a:t>mysql.php</a:t>
            </a:r>
            <a:r>
              <a:rPr sz="2400" b="1" spc="-1195" dirty="0">
                <a:latin typeface="Courier New"/>
                <a:cs typeface="Courier New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- </a:t>
            </a:r>
            <a:r>
              <a:rPr sz="2400" spc="-114" dirty="0">
                <a:latin typeface="Arial"/>
                <a:cs typeface="Arial"/>
              </a:rPr>
              <a:t>Connecting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29" dirty="0">
                <a:latin typeface="Arial"/>
                <a:cs typeface="Arial"/>
              </a:rPr>
              <a:t>MySQL </a:t>
            </a:r>
            <a:r>
              <a:rPr sz="2400" spc="-100" dirty="0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39" y="55238"/>
            <a:ext cx="6386971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/>
              <a:t>Connecting </a:t>
            </a:r>
            <a:r>
              <a:rPr spc="-114" dirty="0"/>
              <a:t>to </a:t>
            </a:r>
            <a:r>
              <a:rPr spc="-150" dirty="0"/>
              <a:t>the </a:t>
            </a:r>
            <a:r>
              <a:rPr spc="-70" dirty="0"/>
              <a:t>MySQL</a:t>
            </a:r>
            <a:r>
              <a:rPr spc="-370" dirty="0"/>
              <a:t> </a:t>
            </a:r>
            <a:r>
              <a:rPr spc="-165" dirty="0"/>
              <a:t>Server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2165350"/>
            <a:ext cx="6172200" cy="11277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739"/>
              </a:lnSpc>
            </a:pPr>
            <a:r>
              <a:rPr sz="1600" spc="-5" dirty="0">
                <a:latin typeface="Courier New"/>
                <a:cs typeface="Courier New"/>
              </a:rPr>
              <a:t>&lt;?php</a:t>
            </a:r>
            <a:endParaRPr sz="1600">
              <a:latin typeface="Courier New"/>
              <a:cs typeface="Courier New"/>
            </a:endParaRPr>
          </a:p>
          <a:p>
            <a:pPr marL="67945" marR="848994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latin typeface="Courier New"/>
                <a:cs typeface="Courier New"/>
              </a:rPr>
              <a:t>$link_id  mysql_connect("localhost","root","abc123");</a:t>
            </a:r>
            <a:endParaRPr sz="16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00"/>
              </a:spcBef>
            </a:pPr>
            <a:r>
              <a:rPr sz="1600" spc="-5" dirty="0">
                <a:latin typeface="Courier New"/>
                <a:cs typeface="Courier New"/>
              </a:rPr>
              <a:t>?&gt;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741932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01161" y="3353561"/>
            <a:ext cx="3352800" cy="1295400"/>
          </a:xfrm>
          <a:custGeom>
            <a:avLst/>
            <a:gdLst/>
            <a:ahLst/>
            <a:cxnLst/>
            <a:rect l="l" t="t" r="r" b="b"/>
            <a:pathLst>
              <a:path w="3352800" h="1295400">
                <a:moveTo>
                  <a:pt x="3352800" y="0"/>
                </a:moveTo>
                <a:lnTo>
                  <a:pt x="606551" y="0"/>
                </a:lnTo>
                <a:lnTo>
                  <a:pt x="559145" y="1824"/>
                </a:lnTo>
                <a:lnTo>
                  <a:pt x="512737" y="7208"/>
                </a:lnTo>
                <a:lnTo>
                  <a:pt x="467463" y="16017"/>
                </a:lnTo>
                <a:lnTo>
                  <a:pt x="423457" y="28116"/>
                </a:lnTo>
                <a:lnTo>
                  <a:pt x="380854" y="43370"/>
                </a:lnTo>
                <a:lnTo>
                  <a:pt x="339789" y="61644"/>
                </a:lnTo>
                <a:lnTo>
                  <a:pt x="300397" y="82804"/>
                </a:lnTo>
                <a:lnTo>
                  <a:pt x="262812" y="106714"/>
                </a:lnTo>
                <a:lnTo>
                  <a:pt x="227169" y="133241"/>
                </a:lnTo>
                <a:lnTo>
                  <a:pt x="193603" y="162248"/>
                </a:lnTo>
                <a:lnTo>
                  <a:pt x="162248" y="193603"/>
                </a:lnTo>
                <a:lnTo>
                  <a:pt x="133241" y="227169"/>
                </a:lnTo>
                <a:lnTo>
                  <a:pt x="106714" y="262812"/>
                </a:lnTo>
                <a:lnTo>
                  <a:pt x="82803" y="300397"/>
                </a:lnTo>
                <a:lnTo>
                  <a:pt x="61644" y="339789"/>
                </a:lnTo>
                <a:lnTo>
                  <a:pt x="43370" y="380854"/>
                </a:lnTo>
                <a:lnTo>
                  <a:pt x="28116" y="423457"/>
                </a:lnTo>
                <a:lnTo>
                  <a:pt x="16017" y="467463"/>
                </a:lnTo>
                <a:lnTo>
                  <a:pt x="7208" y="512737"/>
                </a:lnTo>
                <a:lnTo>
                  <a:pt x="1824" y="559145"/>
                </a:lnTo>
                <a:lnTo>
                  <a:pt x="0" y="606552"/>
                </a:lnTo>
                <a:lnTo>
                  <a:pt x="0" y="1295400"/>
                </a:lnTo>
                <a:lnTo>
                  <a:pt x="3352800" y="1295400"/>
                </a:lnTo>
                <a:lnTo>
                  <a:pt x="33528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01161" y="3353561"/>
            <a:ext cx="3352800" cy="1295400"/>
          </a:xfrm>
          <a:custGeom>
            <a:avLst/>
            <a:gdLst/>
            <a:ahLst/>
            <a:cxnLst/>
            <a:rect l="l" t="t" r="r" b="b"/>
            <a:pathLst>
              <a:path w="3352800" h="1295400">
                <a:moveTo>
                  <a:pt x="606551" y="0"/>
                </a:moveTo>
                <a:lnTo>
                  <a:pt x="3352800" y="0"/>
                </a:lnTo>
                <a:lnTo>
                  <a:pt x="3352800" y="1295400"/>
                </a:lnTo>
                <a:lnTo>
                  <a:pt x="0" y="1295400"/>
                </a:lnTo>
                <a:lnTo>
                  <a:pt x="0" y="606552"/>
                </a:lnTo>
                <a:lnTo>
                  <a:pt x="1824" y="559145"/>
                </a:lnTo>
                <a:lnTo>
                  <a:pt x="7208" y="512737"/>
                </a:lnTo>
                <a:lnTo>
                  <a:pt x="16017" y="467463"/>
                </a:lnTo>
                <a:lnTo>
                  <a:pt x="28116" y="423457"/>
                </a:lnTo>
                <a:lnTo>
                  <a:pt x="43370" y="380854"/>
                </a:lnTo>
                <a:lnTo>
                  <a:pt x="61644" y="339789"/>
                </a:lnTo>
                <a:lnTo>
                  <a:pt x="82803" y="300397"/>
                </a:lnTo>
                <a:lnTo>
                  <a:pt x="106714" y="262812"/>
                </a:lnTo>
                <a:lnTo>
                  <a:pt x="133241" y="227169"/>
                </a:lnTo>
                <a:lnTo>
                  <a:pt x="162248" y="193603"/>
                </a:lnTo>
                <a:lnTo>
                  <a:pt x="193603" y="162248"/>
                </a:lnTo>
                <a:lnTo>
                  <a:pt x="227169" y="133241"/>
                </a:lnTo>
                <a:lnTo>
                  <a:pt x="262812" y="106714"/>
                </a:lnTo>
                <a:lnTo>
                  <a:pt x="300397" y="82804"/>
                </a:lnTo>
                <a:lnTo>
                  <a:pt x="339789" y="61644"/>
                </a:lnTo>
                <a:lnTo>
                  <a:pt x="380854" y="43370"/>
                </a:lnTo>
                <a:lnTo>
                  <a:pt x="423457" y="28116"/>
                </a:lnTo>
                <a:lnTo>
                  <a:pt x="467463" y="16017"/>
                </a:lnTo>
                <a:lnTo>
                  <a:pt x="512737" y="7208"/>
                </a:lnTo>
                <a:lnTo>
                  <a:pt x="559145" y="1824"/>
                </a:lnTo>
                <a:lnTo>
                  <a:pt x="606551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97071" y="3638550"/>
            <a:ext cx="211137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1400" b="1" spc="-9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400" b="1" spc="-65" dirty="0">
                <a:solidFill>
                  <a:srgbClr val="FFFFFF"/>
                </a:solidFill>
                <a:latin typeface="Trebuchet MS"/>
                <a:cs typeface="Trebuchet MS"/>
              </a:rPr>
              <a:t>root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username.  </a:t>
            </a:r>
            <a:r>
              <a:rPr sz="1400" b="1" spc="-70" dirty="0">
                <a:solidFill>
                  <a:srgbClr val="FFFFFF"/>
                </a:solidFill>
                <a:latin typeface="Trebuchet MS"/>
                <a:cs typeface="Trebuchet MS"/>
              </a:rPr>
              <a:t>localhost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server</a:t>
            </a:r>
            <a:r>
              <a:rPr sz="1400" spc="-2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name.  </a:t>
            </a:r>
            <a:r>
              <a:rPr sz="1400" b="1" spc="-100" dirty="0">
                <a:solidFill>
                  <a:srgbClr val="FFFFFF"/>
                </a:solidFill>
                <a:latin typeface="Trebuchet MS"/>
                <a:cs typeface="Trebuchet MS"/>
              </a:rPr>
              <a:t>abc123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password.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8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354059" cy="42680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z="2500" b="1" spc="-120" dirty="0">
                <a:solidFill>
                  <a:schemeClr val="tx1"/>
                </a:solidFill>
                <a:latin typeface="Trebuchet MS"/>
                <a:cs typeface="Trebuchet MS"/>
              </a:rPr>
              <a:t>Working </a:t>
            </a:r>
            <a:r>
              <a:rPr sz="2500" b="1" spc="-130" dirty="0">
                <a:solidFill>
                  <a:schemeClr val="tx1"/>
                </a:solidFill>
                <a:latin typeface="Trebuchet MS"/>
                <a:cs typeface="Trebuchet MS"/>
              </a:rPr>
              <a:t>with</a:t>
            </a:r>
            <a:r>
              <a:rPr sz="2500" b="1" spc="-24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500" b="1" spc="-150" dirty="0">
                <a:solidFill>
                  <a:schemeClr val="tx1"/>
                </a:solidFill>
                <a:latin typeface="Trebuchet MS"/>
                <a:cs typeface="Trebuchet MS"/>
              </a:rPr>
              <a:t>the</a:t>
            </a:r>
            <a:r>
              <a:rPr sz="2500" b="1" spc="-1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500" b="1" spc="-114" dirty="0">
                <a:solidFill>
                  <a:schemeClr val="tx1"/>
                </a:solidFill>
                <a:latin typeface="Trebuchet MS"/>
                <a:cs typeface="Trebuchet MS"/>
              </a:rPr>
              <a:t>Database	</a:t>
            </a:r>
            <a:r>
              <a:rPr sz="2500" b="1" spc="-195" dirty="0">
                <a:solidFill>
                  <a:schemeClr val="tx1"/>
                </a:solidFill>
                <a:latin typeface="Trebuchet MS"/>
                <a:cs typeface="Trebuchet MS"/>
              </a:rPr>
              <a:t>1-11</a:t>
            </a:r>
            <a:endParaRPr sz="25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20" dirty="0">
                <a:solidFill>
                  <a:schemeClr val="tx1"/>
                </a:solidFill>
                <a:latin typeface="Arial"/>
                <a:cs typeface="Arial"/>
              </a:rPr>
              <a:t>Before </a:t>
            </a:r>
            <a:r>
              <a:rPr sz="2600" spc="-60" dirty="0">
                <a:solidFill>
                  <a:schemeClr val="tx1"/>
                </a:solidFill>
                <a:latin typeface="Arial"/>
                <a:cs typeface="Arial"/>
              </a:rPr>
              <a:t>starting </a:t>
            </a:r>
            <a:r>
              <a:rPr sz="2600" spc="-50" dirty="0">
                <a:solidFill>
                  <a:schemeClr val="tx1"/>
                </a:solidFill>
                <a:latin typeface="Arial"/>
                <a:cs typeface="Arial"/>
              </a:rPr>
              <a:t>work </a:t>
            </a:r>
            <a:r>
              <a:rPr sz="2600" spc="15" dirty="0">
                <a:solidFill>
                  <a:schemeClr val="tx1"/>
                </a:solidFill>
                <a:latin typeface="Arial"/>
                <a:cs typeface="Arial"/>
              </a:rPr>
              <a:t>with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600" spc="-130" dirty="0">
                <a:solidFill>
                  <a:schemeClr val="tx1"/>
                </a:solidFill>
                <a:latin typeface="Arial"/>
                <a:cs typeface="Arial"/>
              </a:rPr>
              <a:t>database, </a:t>
            </a:r>
            <a:r>
              <a:rPr sz="2600" spc="-20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600" spc="-85" dirty="0">
                <a:solidFill>
                  <a:schemeClr val="tx1"/>
                </a:solidFill>
                <a:latin typeface="Arial"/>
                <a:cs typeface="Arial"/>
              </a:rPr>
              <a:t>connection</a:t>
            </a:r>
            <a:r>
              <a:rPr sz="2600" spc="-5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155" dirty="0">
                <a:solidFill>
                  <a:schemeClr val="tx1"/>
                </a:solidFill>
                <a:latin typeface="Arial"/>
                <a:cs typeface="Arial"/>
              </a:rPr>
              <a:t>needs  </a:t>
            </a:r>
            <a:r>
              <a:rPr sz="2600" spc="25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600" spc="-120" dirty="0">
                <a:solidFill>
                  <a:schemeClr val="tx1"/>
                </a:solidFill>
                <a:latin typeface="Arial"/>
                <a:cs typeface="Arial"/>
              </a:rPr>
              <a:t>be </a:t>
            </a:r>
            <a:r>
              <a:rPr sz="2600" spc="-110" dirty="0">
                <a:solidFill>
                  <a:schemeClr val="tx1"/>
                </a:solidFill>
                <a:latin typeface="Arial"/>
                <a:cs typeface="Arial"/>
              </a:rPr>
              <a:t>established </a:t>
            </a:r>
            <a:r>
              <a:rPr sz="2600" spc="15" dirty="0">
                <a:solidFill>
                  <a:schemeClr val="tx1"/>
                </a:solidFill>
                <a:latin typeface="Arial"/>
                <a:cs typeface="Arial"/>
              </a:rPr>
              <a:t>with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600" spc="-45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245" dirty="0">
                <a:solidFill>
                  <a:schemeClr val="tx1"/>
                </a:solidFill>
                <a:latin typeface="Arial"/>
                <a:cs typeface="Arial"/>
              </a:rPr>
              <a:t>MySQL </a:t>
            </a:r>
            <a:r>
              <a:rPr sz="2600" spc="-110" dirty="0">
                <a:solidFill>
                  <a:schemeClr val="tx1"/>
                </a:solidFill>
                <a:latin typeface="Arial"/>
                <a:cs typeface="Arial"/>
              </a:rPr>
              <a:t>server</a:t>
            </a:r>
            <a:endParaRPr sz="2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355600" marR="75946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345" dirty="0">
                <a:solidFill>
                  <a:schemeClr val="tx1"/>
                </a:solidFill>
                <a:latin typeface="Arial"/>
                <a:cs typeface="Arial"/>
              </a:rPr>
              <a:t>PHP </a:t>
            </a:r>
            <a:r>
              <a:rPr sz="2600" spc="-100" dirty="0">
                <a:solidFill>
                  <a:schemeClr val="tx1"/>
                </a:solidFill>
                <a:latin typeface="Arial"/>
                <a:cs typeface="Arial"/>
              </a:rPr>
              <a:t>provides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600" spc="-50" dirty="0">
                <a:solidFill>
                  <a:schemeClr val="tx1"/>
                </a:solidFill>
                <a:latin typeface="Arial"/>
                <a:cs typeface="Arial"/>
              </a:rPr>
              <a:t>following </a:t>
            </a:r>
            <a:r>
              <a:rPr sz="2600" spc="-65" dirty="0">
                <a:solidFill>
                  <a:schemeClr val="tx1"/>
                </a:solidFill>
                <a:latin typeface="Arial"/>
                <a:cs typeface="Arial"/>
              </a:rPr>
              <a:t>functions </a:t>
            </a:r>
            <a:r>
              <a:rPr sz="2600" spc="25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600" spc="-55" dirty="0">
                <a:solidFill>
                  <a:schemeClr val="tx1"/>
                </a:solidFill>
                <a:latin typeface="Arial"/>
                <a:cs typeface="Arial"/>
              </a:rPr>
              <a:t>work </a:t>
            </a:r>
            <a:r>
              <a:rPr sz="2600" spc="15" dirty="0">
                <a:solidFill>
                  <a:schemeClr val="tx1"/>
                </a:solidFill>
                <a:latin typeface="Arial"/>
                <a:cs typeface="Arial"/>
              </a:rPr>
              <a:t>with</a:t>
            </a:r>
            <a:r>
              <a:rPr sz="2600" spc="-4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600" spc="-245" dirty="0">
                <a:solidFill>
                  <a:schemeClr val="tx1"/>
                </a:solidFill>
                <a:latin typeface="Arial"/>
                <a:cs typeface="Arial"/>
              </a:rPr>
              <a:t>MySQL</a:t>
            </a:r>
            <a:r>
              <a:rPr sz="26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125" dirty="0">
                <a:solidFill>
                  <a:schemeClr val="tx1"/>
                </a:solidFill>
                <a:latin typeface="Arial"/>
                <a:cs typeface="Arial"/>
              </a:rPr>
              <a:t>database:</a:t>
            </a:r>
            <a:endParaRPr sz="2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756285" marR="467359" indent="-287020">
              <a:lnSpc>
                <a:spcPct val="103499"/>
              </a:lnSpc>
              <a:spcBef>
                <a:spcPts val="1475"/>
              </a:spcBef>
            </a:pPr>
            <a:r>
              <a:rPr sz="1300" spc="400" dirty="0">
                <a:solidFill>
                  <a:schemeClr val="tx1"/>
                </a:solidFill>
                <a:latin typeface="Arial"/>
                <a:cs typeface="Arial"/>
              </a:rPr>
              <a:t> </a:t>
            </a:r>
            <a:r>
              <a:rPr sz="2600" b="1" spc="-15" dirty="0">
                <a:solidFill>
                  <a:schemeClr val="tx1"/>
                </a:solidFill>
                <a:latin typeface="Courier New"/>
                <a:cs typeface="Courier New"/>
              </a:rPr>
              <a:t>mysql_list_dbs()</a:t>
            </a:r>
            <a:r>
              <a:rPr sz="2600" b="1" spc="-15" dirty="0">
                <a:solidFill>
                  <a:schemeClr val="tx1"/>
                </a:solidFill>
                <a:latin typeface="Trebuchet MS"/>
                <a:cs typeface="Trebuchet MS"/>
              </a:rPr>
              <a:t>- </a:t>
            </a:r>
            <a:r>
              <a:rPr sz="2600" spc="-170" dirty="0">
                <a:solidFill>
                  <a:schemeClr val="tx1"/>
                </a:solidFill>
                <a:latin typeface="Arial"/>
                <a:cs typeface="Arial"/>
              </a:rPr>
              <a:t>This </a:t>
            </a:r>
            <a:r>
              <a:rPr sz="2600" spc="-40" dirty="0">
                <a:solidFill>
                  <a:schemeClr val="tx1"/>
                </a:solidFill>
                <a:latin typeface="Arial"/>
                <a:cs typeface="Arial"/>
              </a:rPr>
              <a:t>function </a:t>
            </a:r>
            <a:r>
              <a:rPr sz="2600" spc="-140" dirty="0">
                <a:solidFill>
                  <a:schemeClr val="tx1"/>
                </a:solidFill>
                <a:latin typeface="Arial"/>
                <a:cs typeface="Arial"/>
              </a:rPr>
              <a:t>displays </a:t>
            </a:r>
            <a:r>
              <a:rPr sz="2600" spc="-55" dirty="0">
                <a:solidFill>
                  <a:schemeClr val="tx1"/>
                </a:solidFill>
                <a:latin typeface="Arial"/>
                <a:cs typeface="Arial"/>
              </a:rPr>
              <a:t>all </a:t>
            </a:r>
            <a:r>
              <a:rPr sz="2600" spc="-390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600" spc="-155" dirty="0">
                <a:solidFill>
                  <a:schemeClr val="tx1"/>
                </a:solidFill>
                <a:latin typeface="Arial"/>
                <a:cs typeface="Arial"/>
              </a:rPr>
              <a:t>databases </a:t>
            </a:r>
            <a:r>
              <a:rPr sz="2600" spc="-110" dirty="0">
                <a:solidFill>
                  <a:schemeClr val="tx1"/>
                </a:solidFill>
                <a:latin typeface="Arial"/>
                <a:cs typeface="Arial"/>
              </a:rPr>
              <a:t>available </a:t>
            </a:r>
            <a:r>
              <a:rPr sz="2600" spc="-85" dirty="0">
                <a:solidFill>
                  <a:schemeClr val="tx1"/>
                </a:solidFill>
                <a:latin typeface="Arial"/>
                <a:cs typeface="Arial"/>
              </a:rPr>
              <a:t>on </a:t>
            </a:r>
            <a:r>
              <a:rPr sz="2600" spc="-3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600" spc="-229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110" dirty="0">
                <a:solidFill>
                  <a:schemeClr val="tx1"/>
                </a:solidFill>
                <a:latin typeface="Arial"/>
                <a:cs typeface="Arial"/>
              </a:rPr>
              <a:t>server</a:t>
            </a:r>
            <a:endParaRPr sz="26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44830">
              <a:lnSpc>
                <a:spcPct val="100000"/>
              </a:lnSpc>
              <a:spcBef>
                <a:spcPts val="1595"/>
              </a:spcBef>
            </a:pPr>
            <a:r>
              <a:rPr sz="2600" spc="-19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600" spc="-15" dirty="0">
                <a:solidFill>
                  <a:schemeClr val="tx1"/>
                </a:solidFill>
                <a:latin typeface="Courier New"/>
                <a:cs typeface="Courier New"/>
              </a:rPr>
              <a:t>mysql_list_dbs()</a:t>
            </a:r>
            <a:r>
              <a:rPr sz="2600" spc="-15" dirty="0">
                <a:solidFill>
                  <a:schemeClr val="tx1"/>
                </a:solidFill>
                <a:latin typeface="Arial"/>
                <a:cs typeface="Arial"/>
              </a:rPr>
              <a:t>function </a:t>
            </a:r>
            <a:r>
              <a:rPr sz="2600" spc="-135" dirty="0">
                <a:solidFill>
                  <a:schemeClr val="tx1"/>
                </a:solidFill>
                <a:latin typeface="Arial"/>
                <a:cs typeface="Arial"/>
              </a:rPr>
              <a:t>is </a:t>
            </a:r>
            <a:r>
              <a:rPr sz="2600" spc="-245" dirty="0">
                <a:solidFill>
                  <a:schemeClr val="tx1"/>
                </a:solidFill>
                <a:latin typeface="Arial"/>
                <a:cs typeface="Arial"/>
              </a:rPr>
              <a:t>as</a:t>
            </a:r>
            <a:r>
              <a:rPr sz="2600" spc="-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600" spc="-65" dirty="0">
                <a:solidFill>
                  <a:schemeClr val="tx1"/>
                </a:solidFill>
                <a:latin typeface="Arial"/>
                <a:cs typeface="Arial"/>
              </a:rPr>
              <a:t>follows:</a:t>
            </a:r>
            <a:endParaRPr sz="2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9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33424" y="5439867"/>
            <a:ext cx="5866765" cy="916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  <a:spcBef>
                <a:spcPts val="1730"/>
              </a:spcBef>
            </a:pPr>
            <a:r>
              <a:rPr sz="2000" b="1" spc="-120" dirty="0">
                <a:latin typeface="Trebuchet MS"/>
                <a:cs typeface="Trebuchet MS"/>
              </a:rPr>
              <a:t>link_id</a:t>
            </a:r>
            <a:r>
              <a:rPr sz="2000" b="1" spc="-16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Arial"/>
                <a:cs typeface="Arial"/>
              </a:rPr>
              <a:t>-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specifies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return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value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3000" y="5011673"/>
            <a:ext cx="3200400" cy="2565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839"/>
              </a:lnSpc>
            </a:pPr>
            <a:r>
              <a:rPr sz="1600" spc="-5" dirty="0">
                <a:latin typeface="Courier New"/>
                <a:cs typeface="Courier New"/>
              </a:rPr>
              <a:t>mysql_list_dbs($link_id);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3000" y="44196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80" dirty="0"/>
              <a:t>D</a:t>
            </a:r>
            <a:r>
              <a:rPr spc="-95" dirty="0"/>
              <a:t>a</a:t>
            </a:r>
            <a:r>
              <a:rPr spc="-155" dirty="0"/>
              <a:t>t</a:t>
            </a:r>
            <a:r>
              <a:rPr spc="-110" dirty="0"/>
              <a:t>ab</a:t>
            </a:r>
            <a:r>
              <a:rPr spc="-100" dirty="0"/>
              <a:t>a</a:t>
            </a:r>
            <a:r>
              <a:rPr spc="-135" dirty="0"/>
              <a:t>se</a:t>
            </a:r>
            <a:r>
              <a:rPr dirty="0"/>
              <a:t>	</a:t>
            </a:r>
            <a:r>
              <a:rPr spc="-204" dirty="0"/>
              <a:t>2</a:t>
            </a:r>
            <a:r>
              <a:rPr spc="-155" dirty="0"/>
              <a:t>-</a:t>
            </a:r>
            <a:r>
              <a:rPr spc="-210" dirty="0"/>
              <a:t>11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839470"/>
            <a:ext cx="8141970" cy="7696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6870" marR="5080" indent="-356870">
              <a:lnSpc>
                <a:spcPct val="103299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6870" algn="l"/>
                <a:tab pos="357505" algn="l"/>
              </a:tabLst>
            </a:pPr>
            <a:r>
              <a:rPr sz="2400" b="1" dirty="0">
                <a:latin typeface="Courier New"/>
                <a:cs typeface="Courier New"/>
              </a:rPr>
              <a:t>list_dbs.php</a:t>
            </a:r>
            <a:r>
              <a:rPr sz="2400" b="1" spc="-965" dirty="0">
                <a:latin typeface="Courier New"/>
                <a:cs typeface="Courier New"/>
              </a:rPr>
              <a:t> </a:t>
            </a:r>
            <a:r>
              <a:rPr sz="2400" b="1" spc="310" dirty="0">
                <a:latin typeface="Trebuchet MS"/>
                <a:cs typeface="Trebuchet MS"/>
              </a:rPr>
              <a:t>–</a:t>
            </a:r>
            <a:r>
              <a:rPr sz="2400" b="1" spc="-180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Arial"/>
                <a:cs typeface="Arial"/>
              </a:rPr>
              <a:t>Displaying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all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databases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present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on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100" dirty="0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16002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2057400"/>
            <a:ext cx="5791200" cy="3216275"/>
          </a:xfrm>
          <a:custGeom>
            <a:avLst/>
            <a:gdLst/>
            <a:ahLst/>
            <a:cxnLst/>
            <a:rect l="l" t="t" r="r" b="b"/>
            <a:pathLst>
              <a:path w="5791200" h="3216275">
                <a:moveTo>
                  <a:pt x="0" y="3216275"/>
                </a:moveTo>
                <a:lnTo>
                  <a:pt x="5791200" y="3216275"/>
                </a:lnTo>
                <a:lnTo>
                  <a:pt x="5791200" y="0"/>
                </a:lnTo>
                <a:lnTo>
                  <a:pt x="0" y="0"/>
                </a:lnTo>
                <a:lnTo>
                  <a:pt x="0" y="321627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57200" y="2057400"/>
            <a:ext cx="5791200" cy="32162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$connect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mysql_connect('localhost', 'root',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'');</a:t>
            </a:r>
            <a:endParaRPr sz="1400">
              <a:latin typeface="Courier New"/>
              <a:cs typeface="Courier New"/>
            </a:endParaRPr>
          </a:p>
          <a:p>
            <a:pPr marL="67945" marR="1670050">
              <a:lnSpc>
                <a:spcPct val="164300"/>
              </a:lnSpc>
              <a:spcBef>
                <a:spcPts val="10"/>
              </a:spcBef>
            </a:pPr>
            <a:r>
              <a:rPr sz="1400" spc="-5" dirty="0">
                <a:latin typeface="Courier New"/>
                <a:cs typeface="Courier New"/>
              </a:rPr>
              <a:t>$db_list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mysql_list_dbs($connect);  echo </a:t>
            </a:r>
            <a:r>
              <a:rPr sz="1400" spc="-10" dirty="0">
                <a:latin typeface="Courier New"/>
                <a:cs typeface="Courier New"/>
              </a:rPr>
              <a:t>"The </a:t>
            </a:r>
            <a:r>
              <a:rPr sz="1400" spc="-5" dirty="0">
                <a:latin typeface="Courier New"/>
                <a:cs typeface="Courier New"/>
              </a:rPr>
              <a:t>list of databases</a:t>
            </a:r>
            <a:r>
              <a:rPr sz="1400" spc="-7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are:&lt;br&gt;";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while ($row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mysql_fetch_object($db_list))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9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echo $row-&gt;Database </a:t>
            </a:r>
            <a:r>
              <a:rPr sz="1400" dirty="0">
                <a:latin typeface="Courier New"/>
                <a:cs typeface="Courier New"/>
              </a:rPr>
              <a:t>.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"&lt;br&gt;";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90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6990" y="3369945"/>
            <a:ext cx="25025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5" dirty="0">
                <a:latin typeface="Arial"/>
                <a:cs typeface="Arial"/>
              </a:rPr>
              <a:t>Displays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5" dirty="0">
                <a:latin typeface="Arial"/>
                <a:cs typeface="Arial"/>
              </a:rPr>
              <a:t>output: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05883" y="3855685"/>
            <a:ext cx="4500100" cy="2621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7962" y="5499353"/>
            <a:ext cx="3581400" cy="990600"/>
          </a:xfrm>
          <a:custGeom>
            <a:avLst/>
            <a:gdLst/>
            <a:ahLst/>
            <a:cxnLst/>
            <a:rect l="l" t="t" r="r" b="b"/>
            <a:pathLst>
              <a:path w="3581400" h="990600">
                <a:moveTo>
                  <a:pt x="3581400" y="0"/>
                </a:moveTo>
                <a:lnTo>
                  <a:pt x="463854" y="0"/>
                </a:lnTo>
                <a:lnTo>
                  <a:pt x="416427" y="2394"/>
                </a:lnTo>
                <a:lnTo>
                  <a:pt x="370370" y="9423"/>
                </a:lnTo>
                <a:lnTo>
                  <a:pt x="325916" y="20853"/>
                </a:lnTo>
                <a:lnTo>
                  <a:pt x="283299" y="36451"/>
                </a:lnTo>
                <a:lnTo>
                  <a:pt x="242752" y="55983"/>
                </a:lnTo>
                <a:lnTo>
                  <a:pt x="204507" y="79217"/>
                </a:lnTo>
                <a:lnTo>
                  <a:pt x="168798" y="105920"/>
                </a:lnTo>
                <a:lnTo>
                  <a:pt x="135858" y="135858"/>
                </a:lnTo>
                <a:lnTo>
                  <a:pt x="105920" y="168798"/>
                </a:lnTo>
                <a:lnTo>
                  <a:pt x="79217" y="204507"/>
                </a:lnTo>
                <a:lnTo>
                  <a:pt x="55983" y="242752"/>
                </a:lnTo>
                <a:lnTo>
                  <a:pt x="36451" y="283299"/>
                </a:lnTo>
                <a:lnTo>
                  <a:pt x="20853" y="325916"/>
                </a:lnTo>
                <a:lnTo>
                  <a:pt x="9423" y="370370"/>
                </a:lnTo>
                <a:lnTo>
                  <a:pt x="2394" y="416427"/>
                </a:lnTo>
                <a:lnTo>
                  <a:pt x="0" y="463854"/>
                </a:lnTo>
                <a:lnTo>
                  <a:pt x="0" y="990600"/>
                </a:lnTo>
                <a:lnTo>
                  <a:pt x="3581400" y="990600"/>
                </a:lnTo>
                <a:lnTo>
                  <a:pt x="35814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57962" y="5499353"/>
            <a:ext cx="3581400" cy="990600"/>
          </a:xfrm>
          <a:custGeom>
            <a:avLst/>
            <a:gdLst/>
            <a:ahLst/>
            <a:cxnLst/>
            <a:rect l="l" t="t" r="r" b="b"/>
            <a:pathLst>
              <a:path w="3581400" h="990600">
                <a:moveTo>
                  <a:pt x="463854" y="0"/>
                </a:moveTo>
                <a:lnTo>
                  <a:pt x="3581400" y="0"/>
                </a:lnTo>
                <a:lnTo>
                  <a:pt x="3581400" y="990600"/>
                </a:lnTo>
                <a:lnTo>
                  <a:pt x="0" y="990600"/>
                </a:lnTo>
                <a:lnTo>
                  <a:pt x="0" y="463854"/>
                </a:lnTo>
                <a:lnTo>
                  <a:pt x="2394" y="416427"/>
                </a:lnTo>
                <a:lnTo>
                  <a:pt x="9423" y="370370"/>
                </a:lnTo>
                <a:lnTo>
                  <a:pt x="20853" y="325916"/>
                </a:lnTo>
                <a:lnTo>
                  <a:pt x="36451" y="283299"/>
                </a:lnTo>
                <a:lnTo>
                  <a:pt x="55983" y="242752"/>
                </a:lnTo>
                <a:lnTo>
                  <a:pt x="79217" y="204507"/>
                </a:lnTo>
                <a:lnTo>
                  <a:pt x="105920" y="168798"/>
                </a:lnTo>
                <a:lnTo>
                  <a:pt x="135858" y="135858"/>
                </a:lnTo>
                <a:lnTo>
                  <a:pt x="168798" y="105920"/>
                </a:lnTo>
                <a:lnTo>
                  <a:pt x="204507" y="79217"/>
                </a:lnTo>
                <a:lnTo>
                  <a:pt x="242752" y="55983"/>
                </a:lnTo>
                <a:lnTo>
                  <a:pt x="283299" y="36451"/>
                </a:lnTo>
                <a:lnTo>
                  <a:pt x="325916" y="20853"/>
                </a:lnTo>
                <a:lnTo>
                  <a:pt x="370370" y="9423"/>
                </a:lnTo>
                <a:lnTo>
                  <a:pt x="416427" y="2394"/>
                </a:lnTo>
                <a:lnTo>
                  <a:pt x="463854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71880" y="5825439"/>
            <a:ext cx="32880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Displays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the list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databases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are 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present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instance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2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MySQL.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82161" y="5563361"/>
            <a:ext cx="824865" cy="228600"/>
          </a:xfrm>
          <a:custGeom>
            <a:avLst/>
            <a:gdLst/>
            <a:ahLst/>
            <a:cxnLst/>
            <a:rect l="l" t="t" r="r" b="b"/>
            <a:pathLst>
              <a:path w="824864" h="228600">
                <a:moveTo>
                  <a:pt x="114300" y="0"/>
                </a:moveTo>
                <a:lnTo>
                  <a:pt x="0" y="114300"/>
                </a:lnTo>
                <a:lnTo>
                  <a:pt x="114300" y="228600"/>
                </a:lnTo>
                <a:lnTo>
                  <a:pt x="114300" y="171450"/>
                </a:lnTo>
                <a:lnTo>
                  <a:pt x="824484" y="171450"/>
                </a:lnTo>
                <a:lnTo>
                  <a:pt x="824484" y="57150"/>
                </a:lnTo>
                <a:lnTo>
                  <a:pt x="114300" y="5715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2161" y="5563361"/>
            <a:ext cx="824865" cy="228600"/>
          </a:xfrm>
          <a:custGeom>
            <a:avLst/>
            <a:gdLst/>
            <a:ahLst/>
            <a:cxnLst/>
            <a:rect l="l" t="t" r="r" b="b"/>
            <a:pathLst>
              <a:path w="824864" h="228600">
                <a:moveTo>
                  <a:pt x="0" y="114300"/>
                </a:moveTo>
                <a:lnTo>
                  <a:pt x="114300" y="0"/>
                </a:lnTo>
                <a:lnTo>
                  <a:pt x="114300" y="57150"/>
                </a:lnTo>
                <a:lnTo>
                  <a:pt x="824484" y="57150"/>
                </a:lnTo>
                <a:lnTo>
                  <a:pt x="824484" y="171450"/>
                </a:lnTo>
                <a:lnTo>
                  <a:pt x="114300" y="171450"/>
                </a:lnTo>
                <a:lnTo>
                  <a:pt x="114300" y="228600"/>
                </a:lnTo>
                <a:lnTo>
                  <a:pt x="0" y="11430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10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80" dirty="0"/>
              <a:t>D</a:t>
            </a:r>
            <a:r>
              <a:rPr spc="-95" dirty="0"/>
              <a:t>a</a:t>
            </a:r>
            <a:r>
              <a:rPr spc="-155" dirty="0"/>
              <a:t>t</a:t>
            </a:r>
            <a:r>
              <a:rPr spc="-110" dirty="0"/>
              <a:t>ab</a:t>
            </a:r>
            <a:r>
              <a:rPr spc="-100" dirty="0"/>
              <a:t>a</a:t>
            </a:r>
            <a:r>
              <a:rPr spc="-135" dirty="0"/>
              <a:t>se</a:t>
            </a:r>
            <a:r>
              <a:rPr dirty="0"/>
              <a:t>	</a:t>
            </a:r>
            <a:r>
              <a:rPr spc="-204" dirty="0"/>
              <a:t>3</a:t>
            </a:r>
            <a:r>
              <a:rPr spc="-155" dirty="0"/>
              <a:t>-</a:t>
            </a:r>
            <a:r>
              <a:rPr spc="-210" dirty="0"/>
              <a:t>11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11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66800" y="3335401"/>
            <a:ext cx="6172200" cy="2565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835"/>
              </a:lnSpc>
            </a:pPr>
            <a:r>
              <a:rPr sz="1600" spc="-5" dirty="0">
                <a:latin typeface="Courier New"/>
                <a:cs typeface="Courier New"/>
              </a:rPr>
              <a:t>mysql_select_db("database_name",</a:t>
            </a:r>
            <a:r>
              <a:rPr sz="160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$link_id);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800" y="25908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340" y="912621"/>
            <a:ext cx="7150100" cy="14319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99085" marR="5080" indent="-287020">
              <a:lnSpc>
                <a:spcPts val="3229"/>
              </a:lnSpc>
              <a:spcBef>
                <a:spcPts val="120"/>
              </a:spcBef>
            </a:pPr>
            <a:r>
              <a:rPr sz="1300" spc="40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600" b="1" spc="-15" dirty="0">
                <a:latin typeface="Courier New"/>
                <a:cs typeface="Courier New"/>
              </a:rPr>
              <a:t>mysql_select_db()</a:t>
            </a:r>
            <a:r>
              <a:rPr sz="2600" b="1" spc="-15" dirty="0">
                <a:latin typeface="Trebuchet MS"/>
                <a:cs typeface="Trebuchet MS"/>
              </a:rPr>
              <a:t>- </a:t>
            </a:r>
            <a:r>
              <a:rPr sz="2600" spc="-170" dirty="0">
                <a:latin typeface="Arial"/>
                <a:cs typeface="Arial"/>
              </a:rPr>
              <a:t>This </a:t>
            </a:r>
            <a:r>
              <a:rPr sz="2600" spc="-40" dirty="0">
                <a:latin typeface="Arial"/>
                <a:cs typeface="Arial"/>
              </a:rPr>
              <a:t>function </a:t>
            </a:r>
            <a:r>
              <a:rPr sz="2600" spc="-100" dirty="0">
                <a:latin typeface="Arial"/>
                <a:cs typeface="Arial"/>
              </a:rPr>
              <a:t>defines </a:t>
            </a:r>
            <a:r>
              <a:rPr sz="2600" spc="-380" dirty="0">
                <a:latin typeface="Arial"/>
                <a:cs typeface="Arial"/>
              </a:rPr>
              <a:t>the  </a:t>
            </a:r>
            <a:r>
              <a:rPr sz="2600" spc="-140" dirty="0">
                <a:latin typeface="Arial"/>
                <a:cs typeface="Arial"/>
              </a:rPr>
              <a:t>database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that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10" dirty="0">
                <a:latin typeface="Arial"/>
                <a:cs typeface="Arial"/>
              </a:rPr>
              <a:t>will</a:t>
            </a:r>
            <a:r>
              <a:rPr sz="2600" spc="-135" dirty="0">
                <a:latin typeface="Arial"/>
                <a:cs typeface="Arial"/>
              </a:rPr>
              <a:t> </a:t>
            </a:r>
            <a:r>
              <a:rPr sz="2600" spc="-120" dirty="0">
                <a:latin typeface="Arial"/>
                <a:cs typeface="Arial"/>
              </a:rPr>
              <a:t>be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155" dirty="0">
                <a:latin typeface="Arial"/>
                <a:cs typeface="Arial"/>
              </a:rPr>
              <a:t>used</a:t>
            </a:r>
            <a:r>
              <a:rPr sz="2600" spc="-16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for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the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connection</a:t>
            </a:r>
            <a:endParaRPr sz="2600">
              <a:latin typeface="Arial"/>
              <a:cs typeface="Arial"/>
            </a:endParaRPr>
          </a:p>
          <a:p>
            <a:pPr marL="86995">
              <a:lnSpc>
                <a:spcPct val="100000"/>
              </a:lnSpc>
              <a:spcBef>
                <a:spcPts val="1470"/>
              </a:spcBef>
            </a:pPr>
            <a:r>
              <a:rPr sz="2600" spc="-185" dirty="0">
                <a:latin typeface="Arial"/>
                <a:cs typeface="Arial"/>
              </a:rPr>
              <a:t>The </a:t>
            </a:r>
            <a:r>
              <a:rPr sz="2600" spc="-15" dirty="0">
                <a:latin typeface="Courier New"/>
                <a:cs typeface="Courier New"/>
              </a:rPr>
              <a:t>mysql_select_db()</a:t>
            </a:r>
            <a:r>
              <a:rPr sz="2600" spc="-15" dirty="0">
                <a:latin typeface="Arial"/>
                <a:cs typeface="Arial"/>
              </a:rPr>
              <a:t>function </a:t>
            </a:r>
            <a:r>
              <a:rPr sz="2600" spc="-135" dirty="0">
                <a:latin typeface="Arial"/>
                <a:cs typeface="Arial"/>
              </a:rPr>
              <a:t>is </a:t>
            </a:r>
            <a:r>
              <a:rPr sz="2600" spc="-245" dirty="0">
                <a:latin typeface="Arial"/>
                <a:cs typeface="Arial"/>
              </a:rPr>
              <a:t>as</a:t>
            </a:r>
            <a:r>
              <a:rPr sz="2600" spc="-229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follows: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919" y="3743325"/>
            <a:ext cx="6876415" cy="155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401320">
              <a:lnSpc>
                <a:spcPct val="100000"/>
              </a:lnSpc>
              <a:spcBef>
                <a:spcPts val="1700"/>
              </a:spcBef>
            </a:pPr>
            <a:r>
              <a:rPr sz="2400" b="1" spc="-130" dirty="0">
                <a:latin typeface="Trebuchet MS"/>
                <a:cs typeface="Trebuchet MS"/>
              </a:rPr>
              <a:t>database_name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30" dirty="0">
                <a:latin typeface="Arial"/>
                <a:cs typeface="Arial"/>
              </a:rPr>
              <a:t>database</a:t>
            </a:r>
            <a:r>
              <a:rPr sz="2400" spc="-32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name</a:t>
            </a:r>
            <a:endParaRPr sz="2400">
              <a:latin typeface="Arial"/>
              <a:cs typeface="Arial"/>
            </a:endParaRPr>
          </a:p>
          <a:p>
            <a:pPr marL="401320">
              <a:lnSpc>
                <a:spcPct val="100000"/>
              </a:lnSpc>
              <a:spcBef>
                <a:spcPts val="1695"/>
              </a:spcBef>
            </a:pPr>
            <a:r>
              <a:rPr sz="2400" b="1" spc="-145" dirty="0">
                <a:latin typeface="Trebuchet MS"/>
                <a:cs typeface="Trebuchet MS"/>
              </a:rPr>
              <a:t>link_id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5" dirty="0">
                <a:latin typeface="Arial"/>
                <a:cs typeface="Arial"/>
              </a:rPr>
              <a:t>return </a:t>
            </a:r>
            <a:r>
              <a:rPr sz="2400" spc="-110" dirty="0">
                <a:latin typeface="Arial"/>
                <a:cs typeface="Arial"/>
              </a:rPr>
              <a:t>value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484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connection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80" dirty="0"/>
              <a:t>D</a:t>
            </a:r>
            <a:r>
              <a:rPr spc="-95" dirty="0"/>
              <a:t>a</a:t>
            </a:r>
            <a:r>
              <a:rPr spc="-155" dirty="0"/>
              <a:t>t</a:t>
            </a:r>
            <a:r>
              <a:rPr spc="-110" dirty="0"/>
              <a:t>ab</a:t>
            </a:r>
            <a:r>
              <a:rPr spc="-100" dirty="0"/>
              <a:t>a</a:t>
            </a:r>
            <a:r>
              <a:rPr spc="-135" dirty="0"/>
              <a:t>se</a:t>
            </a:r>
            <a:r>
              <a:rPr dirty="0"/>
              <a:t>	</a:t>
            </a:r>
            <a:r>
              <a:rPr spc="-204" dirty="0"/>
              <a:t>4</a:t>
            </a:r>
            <a:r>
              <a:rPr spc="-155" dirty="0"/>
              <a:t>-</a:t>
            </a:r>
            <a:r>
              <a:rPr spc="-210" dirty="0"/>
              <a:t>11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12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4400" y="1286255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767841"/>
            <a:ext cx="70243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9085" algn="l"/>
              </a:tabLst>
            </a:pPr>
            <a:r>
              <a:rPr sz="1000" spc="30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b="1" spc="-5" dirty="0">
                <a:latin typeface="Courier New"/>
                <a:cs typeface="Courier New"/>
              </a:rPr>
              <a:t>mysql_select_db.php</a:t>
            </a:r>
            <a:r>
              <a:rPr sz="2000" b="1" spc="-930" dirty="0">
                <a:latin typeface="Courier New"/>
                <a:cs typeface="Courier New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- </a:t>
            </a:r>
            <a:r>
              <a:rPr sz="2000" spc="-95" dirty="0">
                <a:latin typeface="Arial"/>
                <a:cs typeface="Arial"/>
              </a:rPr>
              <a:t>Connecting </a:t>
            </a:r>
            <a:r>
              <a:rPr sz="2000" spc="15" dirty="0">
                <a:latin typeface="Arial"/>
                <a:cs typeface="Arial"/>
              </a:rPr>
              <a:t>to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90" dirty="0">
                <a:latin typeface="Arial"/>
                <a:cs typeface="Arial"/>
              </a:rPr>
              <a:t>MySQL </a:t>
            </a:r>
            <a:r>
              <a:rPr sz="2000" spc="-110" dirty="0">
                <a:latin typeface="Arial"/>
                <a:cs typeface="Arial"/>
              </a:rPr>
              <a:t>database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8200" y="1752600"/>
            <a:ext cx="7010400" cy="41249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520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0"/>
              </a:spcBef>
            </a:pPr>
            <a:r>
              <a:rPr sz="1400" spc="-5" dirty="0">
                <a:latin typeface="Courier New"/>
                <a:cs typeface="Courier New"/>
              </a:rPr>
              <a:t>$server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5"/>
              </a:spcBef>
            </a:pPr>
            <a:r>
              <a:rPr sz="1400" spc="-5" dirty="0">
                <a:latin typeface="Courier New"/>
                <a:cs typeface="Courier New"/>
              </a:rPr>
              <a:t>$username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"root";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395"/>
              </a:spcBef>
            </a:pPr>
            <a:r>
              <a:rPr sz="1400" spc="-5" dirty="0">
                <a:latin typeface="Courier New"/>
                <a:cs typeface="Courier New"/>
              </a:rPr>
              <a:t>$password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0"/>
              </a:spcBef>
              <a:tabLst>
                <a:tab pos="1734820" algn="l"/>
                <a:tab pos="2016760" algn="l"/>
                <a:tab pos="4532630" algn="l"/>
                <a:tab pos="5772150" algn="l"/>
              </a:tabLst>
            </a:pPr>
            <a:r>
              <a:rPr sz="1400" spc="-5" dirty="0">
                <a:latin typeface="Courier New"/>
                <a:cs typeface="Courier New"/>
              </a:rPr>
              <a:t>$connect_mysql	</a:t>
            </a:r>
            <a:r>
              <a:rPr sz="1400" dirty="0">
                <a:latin typeface="Courier New"/>
                <a:cs typeface="Courier New"/>
              </a:rPr>
              <a:t>=	</a:t>
            </a:r>
            <a:r>
              <a:rPr sz="1400" spc="-10" dirty="0">
                <a:latin typeface="Courier New"/>
                <a:cs typeface="Courier New"/>
              </a:rPr>
              <a:t>mysql_connect($server,	</a:t>
            </a:r>
            <a:r>
              <a:rPr sz="1400" spc="-5" dirty="0">
                <a:latin typeface="Courier New"/>
                <a:cs typeface="Courier New"/>
              </a:rPr>
              <a:t>$username,	$password);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$mysql_db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10" dirty="0">
                <a:latin typeface="Courier New"/>
                <a:cs typeface="Courier New"/>
              </a:rPr>
              <a:t>mysql_select_db("mysql", $connect_mysql);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0"/>
              </a:spcBef>
            </a:pPr>
            <a:r>
              <a:rPr sz="1400" spc="-5" dirty="0">
                <a:latin typeface="Courier New"/>
                <a:cs typeface="Courier New"/>
              </a:rPr>
              <a:t>if(!$mysql_db)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39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409"/>
              </a:spcBef>
            </a:pPr>
            <a:r>
              <a:rPr sz="1400" spc="-5" dirty="0">
                <a:latin typeface="Courier New"/>
                <a:cs typeface="Courier New"/>
              </a:rPr>
              <a:t>die("Connection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failed");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39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395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9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39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"Current </a:t>
            </a:r>
            <a:r>
              <a:rPr sz="1400" spc="-5" dirty="0">
                <a:latin typeface="Courier New"/>
                <a:cs typeface="Courier New"/>
              </a:rPr>
              <a:t>Database </a:t>
            </a:r>
            <a:r>
              <a:rPr sz="1400" spc="-10" dirty="0">
                <a:latin typeface="Courier New"/>
                <a:cs typeface="Courier New"/>
              </a:rPr>
              <a:t>is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selected";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40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80" dirty="0"/>
              <a:t>D</a:t>
            </a:r>
            <a:r>
              <a:rPr spc="-95" dirty="0"/>
              <a:t>a</a:t>
            </a:r>
            <a:r>
              <a:rPr spc="-155" dirty="0"/>
              <a:t>t</a:t>
            </a:r>
            <a:r>
              <a:rPr spc="-110" dirty="0"/>
              <a:t>ab</a:t>
            </a:r>
            <a:r>
              <a:rPr spc="-100" dirty="0"/>
              <a:t>a</a:t>
            </a:r>
            <a:r>
              <a:rPr spc="-135" dirty="0"/>
              <a:t>se</a:t>
            </a:r>
            <a:r>
              <a:rPr dirty="0"/>
              <a:t>	</a:t>
            </a:r>
            <a:r>
              <a:rPr spc="-204" dirty="0"/>
              <a:t>5</a:t>
            </a:r>
            <a:r>
              <a:rPr spc="-155" dirty="0"/>
              <a:t>-</a:t>
            </a:r>
            <a:r>
              <a:rPr spc="-210" dirty="0"/>
              <a:t>11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13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915670"/>
            <a:ext cx="7992109" cy="133032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99085" marR="5080" indent="-287020">
              <a:lnSpc>
                <a:spcPct val="103299"/>
              </a:lnSpc>
              <a:spcBef>
                <a:spcPts val="5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b="1" spc="-5" dirty="0">
                <a:latin typeface="Courier New"/>
                <a:cs typeface="Courier New"/>
              </a:rPr>
              <a:t>mysql_list_tables()-</a:t>
            </a:r>
            <a:r>
              <a:rPr sz="2400" b="1" spc="-1215" dirty="0">
                <a:latin typeface="Courier New"/>
                <a:cs typeface="Courier New"/>
              </a:rPr>
              <a:t> </a:t>
            </a:r>
            <a:r>
              <a:rPr sz="2400" spc="-160" dirty="0">
                <a:latin typeface="Arial"/>
                <a:cs typeface="Arial"/>
              </a:rPr>
              <a:t>This </a:t>
            </a:r>
            <a:r>
              <a:rPr sz="2400" spc="-40" dirty="0">
                <a:latin typeface="Arial"/>
                <a:cs typeface="Arial"/>
              </a:rPr>
              <a:t>function </a:t>
            </a:r>
            <a:r>
              <a:rPr sz="2400" spc="-130" dirty="0">
                <a:latin typeface="Arial"/>
                <a:cs typeface="Arial"/>
              </a:rPr>
              <a:t>displays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30" dirty="0">
                <a:latin typeface="Arial"/>
                <a:cs typeface="Arial"/>
              </a:rPr>
              <a:t>list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50" dirty="0">
                <a:latin typeface="Arial"/>
                <a:cs typeface="Arial"/>
              </a:rPr>
              <a:t>all 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tables </a:t>
            </a:r>
            <a:r>
              <a:rPr sz="2400" spc="-105" dirty="0">
                <a:latin typeface="Arial"/>
                <a:cs typeface="Arial"/>
              </a:rPr>
              <a:t>available </a:t>
            </a:r>
            <a:r>
              <a:rPr sz="2400" spc="-30" dirty="0">
                <a:latin typeface="Arial"/>
                <a:cs typeface="Arial"/>
              </a:rPr>
              <a:t>in the </a:t>
            </a:r>
            <a:r>
              <a:rPr sz="2400" spc="-90" dirty="0">
                <a:latin typeface="Arial"/>
                <a:cs typeface="Arial"/>
              </a:rPr>
              <a:t>specified</a:t>
            </a:r>
            <a:r>
              <a:rPr sz="2400" spc="-505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  <a:p>
            <a:pPr marL="76835">
              <a:lnSpc>
                <a:spcPct val="100000"/>
              </a:lnSpc>
              <a:spcBef>
                <a:spcPts val="1775"/>
              </a:spcBef>
            </a:pPr>
            <a:r>
              <a:rPr sz="2200" spc="-165" dirty="0">
                <a:latin typeface="Arial"/>
                <a:cs typeface="Arial"/>
              </a:rPr>
              <a:t>The </a:t>
            </a:r>
            <a:r>
              <a:rPr sz="2200" spc="-10" dirty="0">
                <a:latin typeface="Courier New"/>
                <a:cs typeface="Courier New"/>
              </a:rPr>
              <a:t>mysql_list_tables()</a:t>
            </a:r>
            <a:r>
              <a:rPr sz="2200" spc="-10" dirty="0">
                <a:latin typeface="Arial"/>
                <a:cs typeface="Arial"/>
              </a:rPr>
              <a:t>function </a:t>
            </a:r>
            <a:r>
              <a:rPr sz="2200" spc="-114" dirty="0">
                <a:latin typeface="Arial"/>
                <a:cs typeface="Arial"/>
              </a:rPr>
              <a:t>is </a:t>
            </a:r>
            <a:r>
              <a:rPr sz="2200" spc="-210" dirty="0">
                <a:latin typeface="Arial"/>
                <a:cs typeface="Arial"/>
              </a:rPr>
              <a:t>as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follows: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424" y="3642741"/>
            <a:ext cx="5868670" cy="1436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  <a:spcBef>
                <a:spcPts val="1720"/>
              </a:spcBef>
            </a:pPr>
            <a:r>
              <a:rPr sz="2000" b="1" spc="-105" dirty="0">
                <a:latin typeface="Trebuchet MS"/>
                <a:cs typeface="Trebuchet MS"/>
              </a:rPr>
              <a:t>database_name </a:t>
            </a:r>
            <a:r>
              <a:rPr sz="2000" spc="-55" dirty="0">
                <a:latin typeface="Arial"/>
                <a:cs typeface="Arial"/>
              </a:rPr>
              <a:t>- </a:t>
            </a:r>
            <a:r>
              <a:rPr sz="2000" spc="-95" dirty="0">
                <a:latin typeface="Arial"/>
                <a:cs typeface="Arial"/>
              </a:rPr>
              <a:t>specifies </a:t>
            </a:r>
            <a:r>
              <a:rPr sz="2000" spc="-2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database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name</a:t>
            </a:r>
            <a:endParaRPr sz="2000">
              <a:latin typeface="Arial"/>
              <a:cs typeface="Arial"/>
            </a:endParaRPr>
          </a:p>
          <a:p>
            <a:pPr marL="457200">
              <a:lnSpc>
                <a:spcPct val="100000"/>
              </a:lnSpc>
              <a:spcBef>
                <a:spcPts val="1700"/>
              </a:spcBef>
            </a:pPr>
            <a:r>
              <a:rPr sz="2000" b="1" spc="-120" dirty="0">
                <a:latin typeface="Trebuchet MS"/>
                <a:cs typeface="Trebuchet MS"/>
              </a:rPr>
              <a:t>link_id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Arial"/>
                <a:cs typeface="Arial"/>
              </a:rPr>
              <a:t>-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specifies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return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value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connection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0600" y="3133725"/>
            <a:ext cx="6172200" cy="44767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15938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255"/>
              </a:spcBef>
            </a:pPr>
            <a:r>
              <a:rPr sz="1400" spc="-5" dirty="0">
                <a:latin typeface="Courier New"/>
                <a:cs typeface="Courier New"/>
              </a:rPr>
              <a:t>mysql_list_tables("database_name",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$link_id);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0600" y="2709672"/>
            <a:ext cx="1981200" cy="39814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19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9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6144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</a:t>
            </a:r>
            <a:r>
              <a:rPr spc="-355" dirty="0"/>
              <a:t> </a:t>
            </a:r>
            <a:r>
              <a:rPr spc="-114" dirty="0"/>
              <a:t>Database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14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6032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6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8200" y="19050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0765" y="1144270"/>
            <a:ext cx="8210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b="1" spc="-5" dirty="0">
                <a:latin typeface="Courier New"/>
                <a:cs typeface="Courier New"/>
              </a:rPr>
              <a:t>listables.php</a:t>
            </a:r>
            <a:r>
              <a:rPr sz="2400" b="1" spc="-940" dirty="0">
                <a:latin typeface="Courier New"/>
                <a:cs typeface="Courier New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-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spc="-300" dirty="0">
                <a:latin typeface="Arial"/>
                <a:cs typeface="Arial"/>
              </a:rPr>
              <a:t>To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list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all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tables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29" dirty="0">
                <a:latin typeface="Arial"/>
                <a:cs typeface="Arial"/>
              </a:rPr>
              <a:t>MySQL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200" y="2328926"/>
            <a:ext cx="6781800" cy="36118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$dbname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'mysql';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if </a:t>
            </a:r>
            <a:r>
              <a:rPr sz="1400" spc="-10" dirty="0">
                <a:latin typeface="Courier New"/>
                <a:cs typeface="Courier New"/>
              </a:rPr>
              <a:t>(!mysql_connect('127.0.0.1', </a:t>
            </a:r>
            <a:r>
              <a:rPr sz="1400" spc="-5" dirty="0">
                <a:latin typeface="Courier New"/>
                <a:cs typeface="Courier New"/>
              </a:rPr>
              <a:t>'root',</a:t>
            </a:r>
            <a:r>
              <a:rPr sz="1400" spc="-10" dirty="0">
                <a:latin typeface="Courier New"/>
                <a:cs typeface="Courier New"/>
              </a:rPr>
              <a:t> ''))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1280"/>
              </a:spcBef>
            </a:pPr>
            <a:r>
              <a:rPr sz="1400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'Could </a:t>
            </a:r>
            <a:r>
              <a:rPr sz="1400" spc="-5" dirty="0">
                <a:latin typeface="Courier New"/>
                <a:cs typeface="Courier New"/>
              </a:rPr>
              <a:t>not connect </a:t>
            </a:r>
            <a:r>
              <a:rPr sz="1400" dirty="0">
                <a:latin typeface="Courier New"/>
                <a:cs typeface="Courier New"/>
              </a:rPr>
              <a:t>to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mysql';</a:t>
            </a:r>
            <a:endParaRPr sz="1400">
              <a:latin typeface="Courier New"/>
              <a:cs typeface="Courier New"/>
            </a:endParaRPr>
          </a:p>
          <a:p>
            <a:pPr marL="175260">
              <a:lnSpc>
                <a:spcPct val="100000"/>
              </a:lnSpc>
              <a:spcBef>
                <a:spcPts val="1290"/>
              </a:spcBef>
            </a:pPr>
            <a:r>
              <a:rPr sz="1400" spc="-5" dirty="0">
                <a:latin typeface="Courier New"/>
                <a:cs typeface="Courier New"/>
              </a:rPr>
              <a:t>exit;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0"/>
              </a:spcBef>
            </a:pPr>
            <a:r>
              <a:rPr sz="1400" spc="-5" dirty="0">
                <a:latin typeface="Courier New"/>
                <a:cs typeface="Courier New"/>
              </a:rPr>
              <a:t>$sql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"SHOW TABLES FROM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$dbname";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$result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mysql_query($sql);</a:t>
            </a:r>
            <a:endParaRPr sz="1400">
              <a:latin typeface="Courier New"/>
              <a:cs typeface="Courier New"/>
            </a:endParaRPr>
          </a:p>
          <a:p>
            <a:pPr marL="6858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dirty="0">
                <a:latin typeface="Courier New"/>
                <a:cs typeface="Courier New"/>
              </a:rPr>
              <a:t>" </a:t>
            </a:r>
            <a:r>
              <a:rPr sz="1400" spc="-5" dirty="0">
                <a:latin typeface="Courier New"/>
                <a:cs typeface="Courier New"/>
              </a:rPr>
              <a:t>The tables from </a:t>
            </a:r>
            <a:r>
              <a:rPr sz="1400" spc="-10" dirty="0">
                <a:latin typeface="Courier New"/>
                <a:cs typeface="Courier New"/>
              </a:rPr>
              <a:t>the </a:t>
            </a:r>
            <a:r>
              <a:rPr sz="1400" spc="-5" dirty="0">
                <a:latin typeface="Courier New"/>
                <a:cs typeface="Courier New"/>
              </a:rPr>
              <a:t>database are: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&lt;br&gt;&lt;br&gt;";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6144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</a:t>
            </a:r>
            <a:r>
              <a:rPr spc="-355" dirty="0"/>
              <a:t> </a:t>
            </a:r>
            <a:r>
              <a:rPr spc="-114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6032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879475"/>
            <a:ext cx="6934200" cy="5118100"/>
          </a:xfrm>
          <a:custGeom>
            <a:avLst/>
            <a:gdLst/>
            <a:ahLst/>
            <a:cxnLst/>
            <a:rect l="l" t="t" r="r" b="b"/>
            <a:pathLst>
              <a:path w="6934200" h="5118100">
                <a:moveTo>
                  <a:pt x="0" y="5118100"/>
                </a:moveTo>
                <a:lnTo>
                  <a:pt x="6934200" y="5118100"/>
                </a:lnTo>
                <a:lnTo>
                  <a:pt x="6934200" y="0"/>
                </a:lnTo>
                <a:lnTo>
                  <a:pt x="0" y="0"/>
                </a:lnTo>
                <a:lnTo>
                  <a:pt x="0" y="51181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3400" y="873125"/>
            <a:ext cx="0" cy="5130800"/>
          </a:xfrm>
          <a:custGeom>
            <a:avLst/>
            <a:gdLst/>
            <a:ahLst/>
            <a:cxnLst/>
            <a:rect l="l" t="t" r="r" b="b"/>
            <a:pathLst>
              <a:path h="5130800">
                <a:moveTo>
                  <a:pt x="0" y="0"/>
                </a:moveTo>
                <a:lnTo>
                  <a:pt x="0" y="5130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467600" y="873125"/>
            <a:ext cx="0" cy="5130800"/>
          </a:xfrm>
          <a:custGeom>
            <a:avLst/>
            <a:gdLst/>
            <a:ahLst/>
            <a:cxnLst/>
            <a:rect l="l" t="t" r="r" b="b"/>
            <a:pathLst>
              <a:path h="5130800">
                <a:moveTo>
                  <a:pt x="0" y="0"/>
                </a:moveTo>
                <a:lnTo>
                  <a:pt x="0" y="51308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27050" y="873125"/>
            <a:ext cx="6946900" cy="12700"/>
          </a:xfrm>
          <a:custGeom>
            <a:avLst/>
            <a:gdLst/>
            <a:ahLst/>
            <a:cxnLst/>
            <a:rect l="l" t="t" r="r" b="b"/>
            <a:pathLst>
              <a:path w="6946900" h="12700">
                <a:moveTo>
                  <a:pt x="0" y="12700"/>
                </a:moveTo>
                <a:lnTo>
                  <a:pt x="6946900" y="12700"/>
                </a:lnTo>
                <a:lnTo>
                  <a:pt x="6946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7050" y="5997575"/>
            <a:ext cx="6946900" cy="0"/>
          </a:xfrm>
          <a:custGeom>
            <a:avLst/>
            <a:gdLst/>
            <a:ahLst/>
            <a:cxnLst/>
            <a:rect l="l" t="t" r="r" b="b"/>
            <a:pathLst>
              <a:path w="6946900">
                <a:moveTo>
                  <a:pt x="0" y="0"/>
                </a:moveTo>
                <a:lnTo>
                  <a:pt x="6946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9280" y="856233"/>
            <a:ext cx="5452110" cy="5134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ourier New"/>
                <a:cs typeface="Courier New"/>
              </a:rPr>
              <a:t>if</a:t>
            </a:r>
            <a:r>
              <a:rPr sz="1400" spc="-10" dirty="0">
                <a:latin typeface="Courier New"/>
                <a:cs typeface="Courier New"/>
              </a:rPr>
              <a:t> (!$result)</a:t>
            </a:r>
            <a:endParaRPr sz="14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1280"/>
              </a:spcBef>
            </a:pPr>
            <a:r>
              <a:rPr sz="1400" spc="-5" dirty="0">
                <a:latin typeface="Courier New"/>
                <a:cs typeface="Courier New"/>
              </a:rPr>
              <a:t>$result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mysql_query($sql);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764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dirty="0">
                <a:latin typeface="Courier New"/>
                <a:cs typeface="Courier New"/>
              </a:rPr>
              <a:t>" </a:t>
            </a:r>
            <a:r>
              <a:rPr sz="1400" spc="-5" dirty="0">
                <a:latin typeface="Courier New"/>
                <a:cs typeface="Courier New"/>
              </a:rPr>
              <a:t>The tables from </a:t>
            </a:r>
            <a:r>
              <a:rPr sz="1400" spc="-10" dirty="0">
                <a:latin typeface="Courier New"/>
                <a:cs typeface="Courier New"/>
              </a:rPr>
              <a:t>the </a:t>
            </a:r>
            <a:r>
              <a:rPr sz="1400" spc="-5" dirty="0">
                <a:latin typeface="Courier New"/>
                <a:cs typeface="Courier New"/>
              </a:rPr>
              <a:t>database are: &lt;br&gt;&lt;br&gt;";  if</a:t>
            </a:r>
            <a:r>
              <a:rPr sz="1400" spc="-10" dirty="0">
                <a:latin typeface="Courier New"/>
                <a:cs typeface="Courier New"/>
              </a:rPr>
              <a:t> (!$result)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echo </a:t>
            </a:r>
            <a:r>
              <a:rPr sz="1400" spc="-5" dirty="0">
                <a:latin typeface="Courier New"/>
                <a:cs typeface="Courier New"/>
              </a:rPr>
              <a:t>"DB </a:t>
            </a:r>
            <a:r>
              <a:rPr sz="1400" spc="-10" dirty="0">
                <a:latin typeface="Courier New"/>
                <a:cs typeface="Courier New"/>
              </a:rPr>
              <a:t>Error, </a:t>
            </a:r>
            <a:r>
              <a:rPr sz="1400" spc="-5" dirty="0">
                <a:latin typeface="Courier New"/>
                <a:cs typeface="Courier New"/>
              </a:rPr>
              <a:t>Unable </a:t>
            </a:r>
            <a:r>
              <a:rPr sz="1400" spc="-1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list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tables&lt;br&gt;";</a:t>
            </a:r>
            <a:endParaRPr sz="1400">
              <a:latin typeface="Courier New"/>
              <a:cs typeface="Courier New"/>
            </a:endParaRPr>
          </a:p>
          <a:p>
            <a:pPr marL="118745" marR="1386840">
              <a:lnSpc>
                <a:spcPct val="1764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'MySQL </a:t>
            </a:r>
            <a:r>
              <a:rPr sz="1400" spc="-5" dirty="0">
                <a:latin typeface="Courier New"/>
                <a:cs typeface="Courier New"/>
              </a:rPr>
              <a:t>Error: </a:t>
            </a:r>
            <a:r>
              <a:rPr sz="1400" dirty="0">
                <a:latin typeface="Courier New"/>
                <a:cs typeface="Courier New"/>
              </a:rPr>
              <a:t>' . </a:t>
            </a:r>
            <a:r>
              <a:rPr sz="1400" spc="-5" dirty="0">
                <a:latin typeface="Courier New"/>
                <a:cs typeface="Courier New"/>
              </a:rPr>
              <a:t>mysql_error();  exit;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while ($row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mysql_fetch_row($result))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"Table: </a:t>
            </a:r>
            <a:r>
              <a:rPr sz="1400" spc="-5" dirty="0">
                <a:latin typeface="Courier New"/>
                <a:cs typeface="Courier New"/>
              </a:rPr>
              <a:t>{$row[0]}&lt;br&gt;";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15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6144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</a:t>
            </a:r>
            <a:r>
              <a:rPr spc="-355" dirty="0"/>
              <a:t> </a:t>
            </a:r>
            <a:r>
              <a:rPr spc="-114" dirty="0"/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6032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599" y="1600108"/>
            <a:ext cx="5202090" cy="41529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96361" y="5868161"/>
            <a:ext cx="4038600" cy="609600"/>
          </a:xfrm>
          <a:custGeom>
            <a:avLst/>
            <a:gdLst/>
            <a:ahLst/>
            <a:cxnLst/>
            <a:rect l="l" t="t" r="r" b="b"/>
            <a:pathLst>
              <a:path w="4038600" h="609600">
                <a:moveTo>
                  <a:pt x="4038600" y="0"/>
                </a:moveTo>
                <a:lnTo>
                  <a:pt x="285495" y="0"/>
                </a:lnTo>
                <a:lnTo>
                  <a:pt x="239172" y="3736"/>
                </a:lnTo>
                <a:lnTo>
                  <a:pt x="195234" y="14552"/>
                </a:lnTo>
                <a:lnTo>
                  <a:pt x="154268" y="31861"/>
                </a:lnTo>
                <a:lnTo>
                  <a:pt x="116860" y="55074"/>
                </a:lnTo>
                <a:lnTo>
                  <a:pt x="83597" y="83605"/>
                </a:lnTo>
                <a:lnTo>
                  <a:pt x="55067" y="116865"/>
                </a:lnTo>
                <a:lnTo>
                  <a:pt x="31855" y="154267"/>
                </a:lnTo>
                <a:lnTo>
                  <a:pt x="14549" y="195223"/>
                </a:lnTo>
                <a:lnTo>
                  <a:pt x="3735" y="239144"/>
                </a:lnTo>
                <a:lnTo>
                  <a:pt x="0" y="285445"/>
                </a:lnTo>
                <a:lnTo>
                  <a:pt x="0" y="609600"/>
                </a:lnTo>
                <a:lnTo>
                  <a:pt x="4038600" y="609600"/>
                </a:lnTo>
                <a:lnTo>
                  <a:pt x="4038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96361" y="5868161"/>
            <a:ext cx="4038600" cy="609600"/>
          </a:xfrm>
          <a:custGeom>
            <a:avLst/>
            <a:gdLst/>
            <a:ahLst/>
            <a:cxnLst/>
            <a:rect l="l" t="t" r="r" b="b"/>
            <a:pathLst>
              <a:path w="4038600" h="609600">
                <a:moveTo>
                  <a:pt x="285495" y="0"/>
                </a:moveTo>
                <a:lnTo>
                  <a:pt x="4038600" y="0"/>
                </a:lnTo>
                <a:lnTo>
                  <a:pt x="4038600" y="609600"/>
                </a:lnTo>
                <a:lnTo>
                  <a:pt x="0" y="609600"/>
                </a:lnTo>
                <a:lnTo>
                  <a:pt x="0" y="285445"/>
                </a:lnTo>
                <a:lnTo>
                  <a:pt x="3735" y="239144"/>
                </a:lnTo>
                <a:lnTo>
                  <a:pt x="14549" y="195223"/>
                </a:lnTo>
                <a:lnTo>
                  <a:pt x="31855" y="154267"/>
                </a:lnTo>
                <a:lnTo>
                  <a:pt x="55067" y="116865"/>
                </a:lnTo>
                <a:lnTo>
                  <a:pt x="83597" y="83605"/>
                </a:lnTo>
                <a:lnTo>
                  <a:pt x="116860" y="55074"/>
                </a:lnTo>
                <a:lnTo>
                  <a:pt x="154268" y="31861"/>
                </a:lnTo>
                <a:lnTo>
                  <a:pt x="195234" y="14552"/>
                </a:lnTo>
                <a:lnTo>
                  <a:pt x="239172" y="3736"/>
                </a:lnTo>
                <a:lnTo>
                  <a:pt x="285495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58414" y="5976620"/>
            <a:ext cx="3542029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tables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available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mysql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sz="1400" spc="-2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listed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stored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 the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$result</a:t>
            </a:r>
            <a:r>
              <a:rPr sz="1400" spc="-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variable.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16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839520" y="1002538"/>
            <a:ext cx="40201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5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991870"/>
            <a:ext cx="7817484" cy="11963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46100" marR="5080" indent="-534035">
              <a:lnSpc>
                <a:spcPct val="103299"/>
              </a:lnSpc>
              <a:spcBef>
                <a:spcPts val="5"/>
              </a:spcBef>
              <a:tabLst>
                <a:tab pos="546100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b="1" spc="-10" dirty="0">
                <a:latin typeface="Courier New"/>
                <a:cs typeface="Courier New"/>
              </a:rPr>
              <a:t>mysql_num_rows()</a:t>
            </a:r>
            <a:r>
              <a:rPr sz="2400" spc="-10" dirty="0">
                <a:latin typeface="Arial"/>
                <a:cs typeface="Arial"/>
              </a:rPr>
              <a:t>- </a:t>
            </a:r>
            <a:r>
              <a:rPr sz="2400" spc="-160" dirty="0">
                <a:latin typeface="Arial"/>
                <a:cs typeface="Arial"/>
              </a:rPr>
              <a:t>This </a:t>
            </a:r>
            <a:r>
              <a:rPr sz="2400" spc="-40" dirty="0">
                <a:latin typeface="Arial"/>
                <a:cs typeface="Arial"/>
              </a:rPr>
              <a:t>function </a:t>
            </a:r>
            <a:r>
              <a:rPr sz="2400" spc="-130" dirty="0">
                <a:latin typeface="Arial"/>
                <a:cs typeface="Arial"/>
              </a:rPr>
              <a:t>displays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3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number 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00" dirty="0">
                <a:latin typeface="Arial"/>
                <a:cs typeface="Arial"/>
              </a:rPr>
              <a:t>rows </a:t>
            </a:r>
            <a:r>
              <a:rPr sz="2400" spc="-85" dirty="0">
                <a:latin typeface="Arial"/>
                <a:cs typeface="Arial"/>
              </a:rPr>
              <a:t>present </a:t>
            </a:r>
            <a:r>
              <a:rPr sz="2400" spc="-30" dirty="0">
                <a:latin typeface="Arial"/>
                <a:cs typeface="Arial"/>
              </a:rPr>
              <a:t>in the</a:t>
            </a:r>
            <a:r>
              <a:rPr sz="2400" spc="-46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specified </a:t>
            </a: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  <a:p>
            <a:pPr marL="81280">
              <a:lnSpc>
                <a:spcPct val="100000"/>
              </a:lnSpc>
              <a:spcBef>
                <a:spcPts val="480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5" dirty="0">
                <a:latin typeface="Courier New"/>
                <a:cs typeface="Courier New"/>
              </a:rPr>
              <a:t>mysql_num_rows()</a:t>
            </a:r>
            <a:r>
              <a:rPr sz="2400" spc="-15" dirty="0">
                <a:latin typeface="Arial"/>
                <a:cs typeface="Arial"/>
              </a:rPr>
              <a:t>function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17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63904" y="3561512"/>
            <a:ext cx="7741284" cy="12033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370840" marR="5080">
              <a:lnSpc>
                <a:spcPct val="120000"/>
              </a:lnSpc>
              <a:spcBef>
                <a:spcPts val="30"/>
              </a:spcBef>
            </a:pPr>
            <a:r>
              <a:rPr sz="2000" b="1" spc="-114" dirty="0">
                <a:latin typeface="Trebuchet MS"/>
                <a:cs typeface="Trebuchet MS"/>
              </a:rPr>
              <a:t>table_name</a:t>
            </a:r>
            <a:r>
              <a:rPr sz="2000" b="1" spc="-155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Arial"/>
                <a:cs typeface="Arial"/>
              </a:rPr>
              <a:t>-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specifies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name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table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for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displaying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number 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rows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80" dirty="0"/>
              <a:t>D</a:t>
            </a:r>
            <a:r>
              <a:rPr spc="-95" dirty="0"/>
              <a:t>a</a:t>
            </a:r>
            <a:r>
              <a:rPr spc="-155" dirty="0"/>
              <a:t>t</a:t>
            </a:r>
            <a:r>
              <a:rPr spc="-110" dirty="0"/>
              <a:t>ab</a:t>
            </a:r>
            <a:r>
              <a:rPr spc="-100" dirty="0"/>
              <a:t>a</a:t>
            </a:r>
            <a:r>
              <a:rPr spc="-135" dirty="0"/>
              <a:t>se</a:t>
            </a:r>
            <a:r>
              <a:rPr dirty="0"/>
              <a:t>	</a:t>
            </a:r>
            <a:r>
              <a:rPr spc="-204" dirty="0"/>
              <a:t>9</a:t>
            </a:r>
            <a:r>
              <a:rPr spc="-155" dirty="0"/>
              <a:t>-</a:t>
            </a:r>
            <a:r>
              <a:rPr spc="-210" dirty="0"/>
              <a:t>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95400" y="3106801"/>
            <a:ext cx="61722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mysql_num_rows("table_name");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400" y="246126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991870"/>
            <a:ext cx="8044180" cy="7696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46100" marR="5080" indent="-534035">
              <a:lnSpc>
                <a:spcPct val="103299"/>
              </a:lnSpc>
              <a:spcBef>
                <a:spcPts val="5"/>
              </a:spcBef>
              <a:tabLst>
                <a:tab pos="546100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b="1" spc="-5" dirty="0">
                <a:latin typeface="Courier New"/>
                <a:cs typeface="Courier New"/>
              </a:rPr>
              <a:t>list_rows.php</a:t>
            </a:r>
            <a:r>
              <a:rPr sz="2400" b="1" spc="-940" dirty="0">
                <a:latin typeface="Courier New"/>
                <a:cs typeface="Courier New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-</a:t>
            </a:r>
            <a:r>
              <a:rPr sz="2400" b="1" spc="-19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Arial"/>
                <a:cs typeface="Arial"/>
              </a:rPr>
              <a:t>Listing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number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rows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from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table 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24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18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80797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50" dirty="0"/>
              <a:t>the</a:t>
            </a:r>
            <a:r>
              <a:rPr spc="-190" dirty="0"/>
              <a:t> </a:t>
            </a:r>
            <a:r>
              <a:rPr spc="-80" dirty="0"/>
              <a:t>D</a:t>
            </a:r>
            <a:r>
              <a:rPr spc="-95" dirty="0"/>
              <a:t>a</a:t>
            </a:r>
            <a:r>
              <a:rPr spc="-155" dirty="0"/>
              <a:t>t</a:t>
            </a:r>
            <a:r>
              <a:rPr spc="-110" dirty="0"/>
              <a:t>ab</a:t>
            </a:r>
            <a:r>
              <a:rPr spc="-100" dirty="0"/>
              <a:t>a</a:t>
            </a:r>
            <a:r>
              <a:rPr spc="-135" dirty="0"/>
              <a:t>se</a:t>
            </a:r>
            <a:r>
              <a:rPr dirty="0"/>
              <a:t>	</a:t>
            </a:r>
            <a:r>
              <a:rPr spc="-204" dirty="0"/>
              <a:t>1</a:t>
            </a:r>
            <a:r>
              <a:rPr spc="-210" dirty="0"/>
              <a:t>0</a:t>
            </a:r>
            <a:r>
              <a:rPr spc="-155" dirty="0"/>
              <a:t>-</a:t>
            </a:r>
            <a:r>
              <a:rPr spc="-210" dirty="0"/>
              <a:t>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400" y="2357627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5400" y="2781300"/>
            <a:ext cx="6172200" cy="308800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8580" marR="775335">
              <a:lnSpc>
                <a:spcPct val="205799"/>
              </a:lnSpc>
              <a:spcBef>
                <a:spcPts val="10"/>
              </a:spcBef>
            </a:pPr>
            <a:r>
              <a:rPr sz="1400" spc="-5" dirty="0">
                <a:latin typeface="Courier New"/>
                <a:cs typeface="Courier New"/>
              </a:rPr>
              <a:t>$connect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10" dirty="0">
                <a:latin typeface="Courier New"/>
                <a:cs typeface="Courier New"/>
              </a:rPr>
              <a:t>mysql_connect("localhost", </a:t>
            </a:r>
            <a:r>
              <a:rPr sz="1400" spc="-5" dirty="0">
                <a:latin typeface="Courier New"/>
                <a:cs typeface="Courier New"/>
              </a:rPr>
              <a:t>"root", "");  mysql_select_db("mysql",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$connect);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$result</a:t>
            </a:r>
            <a:r>
              <a:rPr sz="1400" spc="37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37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mysql_query("SELECT</a:t>
            </a:r>
            <a:r>
              <a:rPr sz="1400" spc="38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*</a:t>
            </a:r>
            <a:r>
              <a:rPr sz="1400" spc="37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FROM</a:t>
            </a:r>
            <a:r>
              <a:rPr sz="1400" spc="37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user",</a:t>
            </a:r>
            <a:r>
              <a:rPr sz="1400" spc="39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$connect);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$rows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mysql_num_rows($result);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50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"The table </a:t>
            </a:r>
            <a:r>
              <a:rPr sz="1400" spc="-5" dirty="0">
                <a:latin typeface="Courier New"/>
                <a:cs typeface="Courier New"/>
              </a:rPr>
              <a:t>contains $rows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rows.&lt;br&gt;";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85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9520" y="1078738"/>
            <a:ext cx="40201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5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6144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30" dirty="0"/>
              <a:t>with </a:t>
            </a:r>
            <a:r>
              <a:rPr spc="-150" dirty="0"/>
              <a:t>the</a:t>
            </a:r>
            <a:r>
              <a:rPr spc="-355" dirty="0"/>
              <a:t> </a:t>
            </a:r>
            <a:r>
              <a:rPr spc="-114" dirty="0"/>
              <a:t>Database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23999" y="1828781"/>
            <a:ext cx="5456566" cy="19248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201161" y="3963161"/>
            <a:ext cx="3886200" cy="533400"/>
          </a:xfrm>
          <a:custGeom>
            <a:avLst/>
            <a:gdLst/>
            <a:ahLst/>
            <a:cxnLst/>
            <a:rect l="l" t="t" r="r" b="b"/>
            <a:pathLst>
              <a:path w="3886200" h="533400">
                <a:moveTo>
                  <a:pt x="3886200" y="0"/>
                </a:moveTo>
                <a:lnTo>
                  <a:pt x="249809" y="0"/>
                </a:lnTo>
                <a:lnTo>
                  <a:pt x="204917" y="4026"/>
                </a:lnTo>
                <a:lnTo>
                  <a:pt x="162660" y="15633"/>
                </a:lnTo>
                <a:lnTo>
                  <a:pt x="123745" y="34115"/>
                </a:lnTo>
                <a:lnTo>
                  <a:pt x="88878" y="58766"/>
                </a:lnTo>
                <a:lnTo>
                  <a:pt x="58766" y="88878"/>
                </a:lnTo>
                <a:lnTo>
                  <a:pt x="34115" y="123745"/>
                </a:lnTo>
                <a:lnTo>
                  <a:pt x="15633" y="162660"/>
                </a:lnTo>
                <a:lnTo>
                  <a:pt x="4026" y="204917"/>
                </a:lnTo>
                <a:lnTo>
                  <a:pt x="0" y="249809"/>
                </a:lnTo>
                <a:lnTo>
                  <a:pt x="0" y="533400"/>
                </a:lnTo>
                <a:lnTo>
                  <a:pt x="3886200" y="533400"/>
                </a:lnTo>
                <a:lnTo>
                  <a:pt x="38862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01161" y="3963161"/>
            <a:ext cx="3886200" cy="533400"/>
          </a:xfrm>
          <a:custGeom>
            <a:avLst/>
            <a:gdLst/>
            <a:ahLst/>
            <a:cxnLst/>
            <a:rect l="l" t="t" r="r" b="b"/>
            <a:pathLst>
              <a:path w="3886200" h="533400">
                <a:moveTo>
                  <a:pt x="249809" y="0"/>
                </a:moveTo>
                <a:lnTo>
                  <a:pt x="3886200" y="0"/>
                </a:lnTo>
                <a:lnTo>
                  <a:pt x="3886200" y="533400"/>
                </a:lnTo>
                <a:lnTo>
                  <a:pt x="0" y="533400"/>
                </a:lnTo>
                <a:lnTo>
                  <a:pt x="0" y="249809"/>
                </a:lnTo>
                <a:lnTo>
                  <a:pt x="4026" y="204917"/>
                </a:lnTo>
                <a:lnTo>
                  <a:pt x="15633" y="162660"/>
                </a:lnTo>
                <a:lnTo>
                  <a:pt x="34115" y="123745"/>
                </a:lnTo>
                <a:lnTo>
                  <a:pt x="58766" y="88878"/>
                </a:lnTo>
                <a:lnTo>
                  <a:pt x="88878" y="58766"/>
                </a:lnTo>
                <a:lnTo>
                  <a:pt x="123745" y="34115"/>
                </a:lnTo>
                <a:lnTo>
                  <a:pt x="162660" y="15633"/>
                </a:lnTo>
                <a:lnTo>
                  <a:pt x="204917" y="4026"/>
                </a:lnTo>
                <a:lnTo>
                  <a:pt x="249809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352927" y="4128896"/>
            <a:ext cx="3308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rows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listed.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19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400" y="3106801"/>
            <a:ext cx="61722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mysql_close($link_id);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20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295400" y="2682239"/>
            <a:ext cx="1981200" cy="39814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20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6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135128"/>
            <a:ext cx="8459470" cy="199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25" dirty="0">
                <a:solidFill>
                  <a:srgbClr val="FFFFFF"/>
                </a:solidFill>
                <a:latin typeface="Trebuchet MS"/>
                <a:cs typeface="Trebuchet MS"/>
              </a:rPr>
              <a:t>Closing </a:t>
            </a:r>
            <a:r>
              <a:rPr sz="2500" b="1" spc="-150" dirty="0">
                <a:solidFill>
                  <a:srgbClr val="FFFFFF"/>
                </a:solidFill>
                <a:latin typeface="Trebuchet MS"/>
                <a:cs typeface="Trebuchet MS"/>
              </a:rPr>
              <a:t>the Connection</a:t>
            </a:r>
            <a:r>
              <a:rPr sz="2500" b="1" spc="-2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180" dirty="0">
                <a:solidFill>
                  <a:srgbClr val="FFFFFF"/>
                </a:solidFill>
                <a:latin typeface="Trebuchet MS"/>
                <a:cs typeface="Trebuchet MS"/>
              </a:rPr>
              <a:t>1-3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>
              <a:latin typeface="Times New Roman"/>
              <a:cs typeface="Times New Roman"/>
            </a:endParaRPr>
          </a:p>
          <a:p>
            <a:pPr marL="698500" marR="5080" indent="-609600">
              <a:lnSpc>
                <a:spcPts val="301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2600" spc="-190" dirty="0">
                <a:latin typeface="Arial"/>
                <a:cs typeface="Arial"/>
              </a:rPr>
              <a:t>The </a:t>
            </a:r>
            <a:r>
              <a:rPr sz="2600" spc="-85" dirty="0">
                <a:latin typeface="Arial"/>
                <a:cs typeface="Arial"/>
              </a:rPr>
              <a:t>connection </a:t>
            </a:r>
            <a:r>
              <a:rPr sz="2600" spc="15" dirty="0">
                <a:latin typeface="Arial"/>
                <a:cs typeface="Arial"/>
              </a:rPr>
              <a:t>with </a:t>
            </a:r>
            <a:r>
              <a:rPr sz="2600" spc="-245" dirty="0">
                <a:latin typeface="Arial"/>
                <a:cs typeface="Arial"/>
              </a:rPr>
              <a:t>MySQL </a:t>
            </a:r>
            <a:r>
              <a:rPr sz="2600" spc="-110" dirty="0">
                <a:latin typeface="Arial"/>
                <a:cs typeface="Arial"/>
              </a:rPr>
              <a:t>server </a:t>
            </a:r>
            <a:r>
              <a:rPr sz="2600" spc="-170" dirty="0">
                <a:latin typeface="Arial"/>
                <a:cs typeface="Arial"/>
              </a:rPr>
              <a:t>can </a:t>
            </a:r>
            <a:r>
              <a:rPr sz="2600" spc="-120" dirty="0">
                <a:latin typeface="Arial"/>
                <a:cs typeface="Arial"/>
              </a:rPr>
              <a:t>be </a:t>
            </a:r>
            <a:r>
              <a:rPr sz="2600" spc="-130" dirty="0">
                <a:latin typeface="Arial"/>
                <a:cs typeface="Arial"/>
              </a:rPr>
              <a:t>closed </a:t>
            </a:r>
            <a:r>
              <a:rPr sz="2600" spc="15" dirty="0">
                <a:latin typeface="Arial"/>
                <a:cs typeface="Arial"/>
              </a:rPr>
              <a:t>with</a:t>
            </a:r>
            <a:r>
              <a:rPr sz="2600" spc="-275" dirty="0">
                <a:latin typeface="Arial"/>
                <a:cs typeface="Arial"/>
              </a:rPr>
              <a:t> </a:t>
            </a:r>
            <a:r>
              <a:rPr sz="2600" spc="-25" dirty="0">
                <a:latin typeface="Arial"/>
                <a:cs typeface="Arial"/>
              </a:rPr>
              <a:t>the  </a:t>
            </a:r>
            <a:r>
              <a:rPr sz="2600" spc="-80" dirty="0">
                <a:latin typeface="Arial"/>
                <a:cs typeface="Arial"/>
              </a:rPr>
              <a:t>help </a:t>
            </a:r>
            <a:r>
              <a:rPr sz="2600" spc="-5" dirty="0">
                <a:latin typeface="Arial"/>
                <a:cs typeface="Arial"/>
              </a:rPr>
              <a:t>of </a:t>
            </a:r>
            <a:r>
              <a:rPr sz="2600" spc="-30" dirty="0">
                <a:latin typeface="Arial"/>
                <a:cs typeface="Arial"/>
              </a:rPr>
              <a:t>the</a:t>
            </a:r>
            <a:r>
              <a:rPr sz="2600" spc="-360" dirty="0">
                <a:latin typeface="Arial"/>
                <a:cs typeface="Arial"/>
              </a:rPr>
              <a:t> </a:t>
            </a:r>
            <a:r>
              <a:rPr sz="2600" spc="-20" dirty="0">
                <a:latin typeface="Courier New"/>
                <a:cs typeface="Courier New"/>
              </a:rPr>
              <a:t>mysql_close()</a:t>
            </a:r>
            <a:r>
              <a:rPr sz="2600" spc="-20" dirty="0">
                <a:latin typeface="Arial"/>
                <a:cs typeface="Arial"/>
              </a:rPr>
              <a:t>function</a:t>
            </a:r>
            <a:endParaRPr sz="2600">
              <a:latin typeface="Arial"/>
              <a:cs typeface="Arial"/>
            </a:endParaRPr>
          </a:p>
          <a:p>
            <a:pPr marL="698500" indent="-609600">
              <a:lnSpc>
                <a:spcPct val="100000"/>
              </a:lnSpc>
              <a:spcBef>
                <a:spcPts val="54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698500" algn="l"/>
                <a:tab pos="699135" algn="l"/>
              </a:tabLst>
            </a:pPr>
            <a:r>
              <a:rPr sz="2600" spc="-185" dirty="0">
                <a:latin typeface="Arial"/>
                <a:cs typeface="Arial"/>
              </a:rPr>
              <a:t>The </a:t>
            </a:r>
            <a:r>
              <a:rPr sz="2600" spc="-15" dirty="0">
                <a:latin typeface="Courier New"/>
                <a:cs typeface="Courier New"/>
              </a:rPr>
              <a:t>mysql_close()</a:t>
            </a:r>
            <a:r>
              <a:rPr sz="2600" spc="-15" dirty="0">
                <a:latin typeface="Arial"/>
                <a:cs typeface="Arial"/>
              </a:rPr>
              <a:t>function </a:t>
            </a:r>
            <a:r>
              <a:rPr sz="2600" spc="-130" dirty="0">
                <a:latin typeface="Arial"/>
                <a:cs typeface="Arial"/>
              </a:rPr>
              <a:t>is </a:t>
            </a:r>
            <a:r>
              <a:rPr sz="2600" spc="-240" dirty="0">
                <a:latin typeface="Arial"/>
                <a:cs typeface="Arial"/>
              </a:rPr>
              <a:t>as</a:t>
            </a:r>
            <a:r>
              <a:rPr sz="2600" spc="-245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follows: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044" y="3546728"/>
            <a:ext cx="712597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652145">
              <a:lnSpc>
                <a:spcPct val="100000"/>
              </a:lnSpc>
              <a:spcBef>
                <a:spcPts val="575"/>
              </a:spcBef>
            </a:pPr>
            <a:r>
              <a:rPr sz="2400" b="1" spc="-145" dirty="0">
                <a:latin typeface="Trebuchet MS"/>
                <a:cs typeface="Trebuchet MS"/>
              </a:rPr>
              <a:t>link_id</a:t>
            </a:r>
            <a:r>
              <a:rPr sz="2400" b="1" spc="-18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Arial"/>
                <a:cs typeface="Arial"/>
              </a:rPr>
              <a:t>-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specifies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return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value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connection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2328926"/>
            <a:ext cx="6172200" cy="37439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7945" marR="775970">
              <a:lnSpc>
                <a:spcPct val="205700"/>
              </a:lnSpc>
              <a:spcBef>
                <a:spcPts val="15"/>
              </a:spcBef>
            </a:pPr>
            <a:r>
              <a:rPr sz="1400" spc="-5" dirty="0">
                <a:latin typeface="Courier New"/>
                <a:cs typeface="Courier New"/>
              </a:rPr>
              <a:t>$connect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mysql_connect("localhost", "root", "");  mysql_select_db("mysql",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$connect);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$result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10" dirty="0">
                <a:latin typeface="Courier New"/>
                <a:cs typeface="Courier New"/>
              </a:rPr>
              <a:t>mysql_query("SELECT </a:t>
            </a:r>
            <a:r>
              <a:rPr sz="1400" dirty="0">
                <a:latin typeface="Courier New"/>
                <a:cs typeface="Courier New"/>
              </a:rPr>
              <a:t>* </a:t>
            </a:r>
            <a:r>
              <a:rPr sz="1400" spc="-5" dirty="0">
                <a:latin typeface="Courier New"/>
                <a:cs typeface="Courier New"/>
              </a:rPr>
              <a:t>FROM </a:t>
            </a:r>
            <a:r>
              <a:rPr sz="1400" spc="-10" dirty="0">
                <a:latin typeface="Courier New"/>
                <a:cs typeface="Courier New"/>
              </a:rPr>
              <a:t>user",</a:t>
            </a:r>
            <a:r>
              <a:rPr sz="1400" spc="4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$connect);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$rows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mysql_num_rows($result);</a:t>
            </a:r>
            <a:endParaRPr sz="1400">
              <a:latin typeface="Courier New"/>
              <a:cs typeface="Courier New"/>
            </a:endParaRPr>
          </a:p>
          <a:p>
            <a:pPr marL="67945" marR="1200785">
              <a:lnSpc>
                <a:spcPts val="3470"/>
              </a:lnSpc>
              <a:spcBef>
                <a:spcPts val="400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"The table </a:t>
            </a:r>
            <a:r>
              <a:rPr sz="1400" spc="-5" dirty="0">
                <a:latin typeface="Courier New"/>
                <a:cs typeface="Courier New"/>
              </a:rPr>
              <a:t>contains $rows rows.&lt;br&gt;&lt;br&gt;";  mysql_close($connect);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375"/>
              </a:spcBef>
            </a:pPr>
            <a:r>
              <a:rPr sz="1400" dirty="0">
                <a:latin typeface="Courier New"/>
                <a:cs typeface="Courier New"/>
              </a:rPr>
              <a:t>echo </a:t>
            </a:r>
            <a:r>
              <a:rPr sz="1400" spc="-5" dirty="0">
                <a:latin typeface="Courier New"/>
                <a:cs typeface="Courier New"/>
              </a:rPr>
              <a:t>"The </a:t>
            </a:r>
            <a:r>
              <a:rPr sz="1400" spc="-10" dirty="0">
                <a:latin typeface="Courier New"/>
                <a:cs typeface="Courier New"/>
              </a:rPr>
              <a:t>connection </a:t>
            </a:r>
            <a:r>
              <a:rPr sz="140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the database has been</a:t>
            </a:r>
            <a:r>
              <a:rPr sz="1400" spc="-8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closed.";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21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5426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5" dirty="0"/>
              <a:t>Closing </a:t>
            </a:r>
            <a:r>
              <a:rPr spc="-150" dirty="0"/>
              <a:t>the Connection</a:t>
            </a:r>
            <a:r>
              <a:rPr spc="-330" dirty="0"/>
              <a:t> </a:t>
            </a:r>
            <a:r>
              <a:rPr spc="-180" dirty="0"/>
              <a:t>2-3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836421"/>
            <a:ext cx="8348345" cy="8324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marR="5080" indent="-342900">
              <a:lnSpc>
                <a:spcPts val="3229"/>
              </a:lnSpc>
              <a:spcBef>
                <a:spcPts val="12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Courier New"/>
                <a:cs typeface="Courier New"/>
              </a:rPr>
              <a:t>conn_close.php</a:t>
            </a:r>
            <a:r>
              <a:rPr sz="2600" b="1" spc="-969" dirty="0">
                <a:latin typeface="Courier New"/>
                <a:cs typeface="Courier New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-</a:t>
            </a:r>
            <a:r>
              <a:rPr sz="2600" b="1" spc="-185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Arial"/>
                <a:cs typeface="Arial"/>
              </a:rPr>
              <a:t>Closing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the</a:t>
            </a:r>
            <a:r>
              <a:rPr sz="2600" spc="-150" dirty="0">
                <a:latin typeface="Arial"/>
                <a:cs typeface="Arial"/>
              </a:rPr>
              <a:t> </a:t>
            </a:r>
            <a:r>
              <a:rPr sz="2600" spc="-85" dirty="0">
                <a:latin typeface="Arial"/>
                <a:cs typeface="Arial"/>
              </a:rPr>
              <a:t>connection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25" dirty="0">
                <a:latin typeface="Arial"/>
                <a:cs typeface="Arial"/>
              </a:rPr>
              <a:t>to</a:t>
            </a:r>
            <a:r>
              <a:rPr sz="2600" spc="-140" dirty="0">
                <a:latin typeface="Arial"/>
                <a:cs typeface="Arial"/>
              </a:rPr>
              <a:t> </a:t>
            </a:r>
            <a:r>
              <a:rPr sz="2600" spc="-30" dirty="0">
                <a:latin typeface="Arial"/>
                <a:cs typeface="Arial"/>
              </a:rPr>
              <a:t>the</a:t>
            </a:r>
            <a:r>
              <a:rPr sz="2600" spc="-145" dirty="0">
                <a:latin typeface="Arial"/>
                <a:cs typeface="Arial"/>
              </a:rPr>
              <a:t> </a:t>
            </a:r>
            <a:r>
              <a:rPr sz="2600" spc="-245" dirty="0">
                <a:latin typeface="Arial"/>
                <a:cs typeface="Arial"/>
              </a:rPr>
              <a:t>MySQL  </a:t>
            </a:r>
            <a:r>
              <a:rPr sz="2600" spc="-140" dirty="0">
                <a:latin typeface="Arial"/>
                <a:cs typeface="Arial"/>
              </a:rPr>
              <a:t>database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19050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35426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25" dirty="0">
                <a:solidFill>
                  <a:srgbClr val="FFFFFF"/>
                </a:solidFill>
                <a:latin typeface="Trebuchet MS"/>
                <a:cs typeface="Trebuchet MS"/>
              </a:rPr>
              <a:t>Closing </a:t>
            </a:r>
            <a:r>
              <a:rPr sz="2500" b="1" spc="-150" dirty="0">
                <a:solidFill>
                  <a:srgbClr val="FFFFFF"/>
                </a:solidFill>
                <a:latin typeface="Trebuchet MS"/>
                <a:cs typeface="Trebuchet MS"/>
              </a:rPr>
              <a:t>the Connection</a:t>
            </a:r>
            <a:r>
              <a:rPr sz="2500" b="1" spc="-3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180" dirty="0">
                <a:solidFill>
                  <a:srgbClr val="FFFFFF"/>
                </a:solidFill>
                <a:latin typeface="Trebuchet MS"/>
                <a:cs typeface="Trebuchet MS"/>
              </a:rPr>
              <a:t>3-3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8216" y="850138"/>
            <a:ext cx="40201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5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52600" y="1600200"/>
            <a:ext cx="5660136" cy="2497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Version </a:t>
            </a:r>
            <a:r>
              <a:rPr spc="-5" dirty="0"/>
              <a:t>1.0 © Aptech</a:t>
            </a:r>
            <a:r>
              <a:rPr spc="10" dirty="0"/>
              <a:t> </a:t>
            </a:r>
            <a:r>
              <a:rPr spc="-10" dirty="0"/>
              <a:t>Limited.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Handling Databases with PHP </a:t>
            </a:r>
            <a:r>
              <a:rPr spc="-5" dirty="0"/>
              <a:t>/ </a:t>
            </a:r>
            <a:r>
              <a:rPr spc="-10" dirty="0"/>
              <a:t>Session </a:t>
            </a:r>
            <a:r>
              <a:rPr spc="-5" dirty="0"/>
              <a:t>18 / </a:t>
            </a:r>
            <a:r>
              <a:rPr spc="-10" dirty="0"/>
              <a:t>Slide </a:t>
            </a:r>
            <a:fld id="{81D60167-4931-47E6-BA6A-407CBD079E47}" type="slidenum">
              <a:rPr spc="-5" dirty="0"/>
              <a:t>22</a:t>
            </a:fld>
            <a:r>
              <a:rPr spc="-5" dirty="0"/>
              <a:t> of</a:t>
            </a:r>
            <a:r>
              <a:rPr spc="45" dirty="0"/>
              <a:t> </a:t>
            </a:r>
            <a:r>
              <a:rPr spc="-10" dirty="0"/>
              <a:t>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773938"/>
            <a:ext cx="8215630" cy="27025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22300" marR="196215" indent="-6096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622300" algn="l"/>
                <a:tab pos="622935" algn="l"/>
              </a:tabLst>
            </a:pPr>
            <a:r>
              <a:rPr sz="2600" spc="-345" dirty="0">
                <a:latin typeface="Arial"/>
                <a:cs typeface="Arial"/>
              </a:rPr>
              <a:t>PHP </a:t>
            </a:r>
            <a:r>
              <a:rPr sz="2600" spc="-100" dirty="0">
                <a:latin typeface="Arial"/>
                <a:cs typeface="Arial"/>
              </a:rPr>
              <a:t>provides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 </a:t>
            </a:r>
            <a:r>
              <a:rPr sz="2600" spc="-65" dirty="0">
                <a:latin typeface="Arial"/>
                <a:cs typeface="Arial"/>
              </a:rPr>
              <a:t>functions </a:t>
            </a:r>
            <a:r>
              <a:rPr sz="2600" spc="-10" dirty="0">
                <a:latin typeface="Arial"/>
                <a:cs typeface="Arial"/>
              </a:rPr>
              <a:t>for </a:t>
            </a:r>
            <a:r>
              <a:rPr sz="2600" spc="-180" dirty="0">
                <a:latin typeface="Arial"/>
                <a:cs typeface="Arial"/>
              </a:rPr>
              <a:t>accessing</a:t>
            </a:r>
            <a:r>
              <a:rPr sz="2600" spc="-450" dirty="0">
                <a:latin typeface="Arial"/>
                <a:cs typeface="Arial"/>
              </a:rPr>
              <a:t> </a:t>
            </a:r>
            <a:r>
              <a:rPr sz="2600" spc="-100" dirty="0">
                <a:latin typeface="Arial"/>
                <a:cs typeface="Arial"/>
              </a:rPr>
              <a:t>data  </a:t>
            </a:r>
            <a:r>
              <a:rPr sz="2600" spc="-25" dirty="0">
                <a:latin typeface="Arial"/>
                <a:cs typeface="Arial"/>
              </a:rPr>
              <a:t>from </a:t>
            </a:r>
            <a:r>
              <a:rPr sz="2600" spc="-30" dirty="0">
                <a:latin typeface="Arial"/>
                <a:cs typeface="Arial"/>
              </a:rPr>
              <a:t>the</a:t>
            </a:r>
            <a:r>
              <a:rPr sz="2600" spc="-280" dirty="0">
                <a:latin typeface="Arial"/>
                <a:cs typeface="Arial"/>
              </a:rPr>
              <a:t> </a:t>
            </a:r>
            <a:r>
              <a:rPr sz="2600" spc="-125" dirty="0">
                <a:latin typeface="Arial"/>
                <a:cs typeface="Arial"/>
              </a:rPr>
              <a:t>database:</a:t>
            </a:r>
            <a:endParaRPr sz="2600">
              <a:latin typeface="Arial"/>
              <a:cs typeface="Arial"/>
            </a:endParaRPr>
          </a:p>
          <a:p>
            <a:pPr marL="1003300" marR="5080" indent="-534035" algn="just">
              <a:lnSpc>
                <a:spcPct val="100000"/>
              </a:lnSpc>
              <a:spcBef>
                <a:spcPts val="1615"/>
              </a:spcBef>
            </a:pPr>
            <a:r>
              <a:rPr sz="1200" spc="38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400" b="1" spc="-10" dirty="0">
                <a:latin typeface="Courier New"/>
                <a:cs typeface="Courier New"/>
              </a:rPr>
              <a:t>mysql_query()</a:t>
            </a:r>
            <a:r>
              <a:rPr sz="2400" spc="-10" dirty="0">
                <a:latin typeface="Arial"/>
                <a:cs typeface="Arial"/>
              </a:rPr>
              <a:t>- </a:t>
            </a:r>
            <a:r>
              <a:rPr sz="2400" spc="-170" dirty="0">
                <a:latin typeface="Arial"/>
                <a:cs typeface="Arial"/>
              </a:rPr>
              <a:t>Executes </a:t>
            </a:r>
            <a:r>
              <a:rPr sz="2400" spc="-229" dirty="0">
                <a:latin typeface="Arial"/>
                <a:cs typeface="Arial"/>
              </a:rPr>
              <a:t>MySQL </a:t>
            </a:r>
            <a:r>
              <a:rPr sz="2400" spc="-75" dirty="0">
                <a:latin typeface="Arial"/>
                <a:cs typeface="Arial"/>
              </a:rPr>
              <a:t>query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50" dirty="0">
                <a:latin typeface="Arial"/>
                <a:cs typeface="Arial"/>
              </a:rPr>
              <a:t>retrieving  </a:t>
            </a:r>
            <a:r>
              <a:rPr sz="2400" spc="-95" dirty="0">
                <a:latin typeface="Arial"/>
                <a:cs typeface="Arial"/>
              </a:rPr>
              <a:t>data </a:t>
            </a:r>
            <a:r>
              <a:rPr sz="2400" spc="-25" dirty="0">
                <a:latin typeface="Arial"/>
                <a:cs typeface="Arial"/>
              </a:rPr>
              <a:t>from </a:t>
            </a:r>
            <a:r>
              <a:rPr sz="2400" spc="-90" dirty="0">
                <a:latin typeface="Arial"/>
                <a:cs typeface="Arial"/>
              </a:rPr>
              <a:t>tables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135" dirty="0">
                <a:latin typeface="Arial"/>
                <a:cs typeface="Arial"/>
              </a:rPr>
              <a:t>commands </a:t>
            </a:r>
            <a:r>
              <a:rPr sz="2400" spc="-155" dirty="0">
                <a:latin typeface="Arial"/>
                <a:cs typeface="Arial"/>
              </a:rPr>
              <a:t>such </a:t>
            </a:r>
            <a:r>
              <a:rPr sz="2400" spc="-225" dirty="0">
                <a:latin typeface="Arial"/>
                <a:cs typeface="Arial"/>
              </a:rPr>
              <a:t>as </a:t>
            </a:r>
            <a:r>
              <a:rPr sz="2400" spc="-15" dirty="0">
                <a:latin typeface="Courier New"/>
                <a:cs typeface="Courier New"/>
              </a:rPr>
              <a:t>SELECT</a:t>
            </a:r>
            <a:r>
              <a:rPr sz="2400" spc="-15" dirty="0">
                <a:latin typeface="Arial"/>
                <a:cs typeface="Arial"/>
              </a:rPr>
              <a:t>, </a:t>
            </a:r>
            <a:r>
              <a:rPr sz="2400" spc="-20" dirty="0">
                <a:latin typeface="Courier New"/>
                <a:cs typeface="Courier New"/>
              </a:rPr>
              <a:t>SHOW</a:t>
            </a:r>
            <a:r>
              <a:rPr sz="2400" spc="-20" dirty="0">
                <a:latin typeface="Arial"/>
                <a:cs typeface="Arial"/>
              </a:rPr>
              <a:t>,  </a:t>
            </a:r>
            <a:r>
              <a:rPr sz="2400" spc="-15" dirty="0">
                <a:latin typeface="Courier New"/>
                <a:cs typeface="Courier New"/>
              </a:rPr>
              <a:t>EXPLAIN</a:t>
            </a:r>
            <a:r>
              <a:rPr sz="2400" spc="-15" dirty="0">
                <a:latin typeface="Arial"/>
                <a:cs typeface="Arial"/>
              </a:rPr>
              <a:t>,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DESCRIBE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spc="-155" dirty="0">
                <a:latin typeface="Arial"/>
                <a:cs typeface="Arial"/>
              </a:rPr>
              <a:t>can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be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used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this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40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538480">
              <a:lnSpc>
                <a:spcPct val="100000"/>
              </a:lnSpc>
              <a:spcBef>
                <a:spcPts val="1695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20" dirty="0">
                <a:latin typeface="Courier New"/>
                <a:cs typeface="Courier New"/>
              </a:rPr>
              <a:t>mysql_query()</a:t>
            </a:r>
            <a:r>
              <a:rPr sz="2400" spc="-20" dirty="0">
                <a:latin typeface="Arial"/>
                <a:cs typeface="Arial"/>
              </a:rPr>
              <a:t>function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23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4629200"/>
            <a:ext cx="7071995" cy="1769110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596265">
              <a:lnSpc>
                <a:spcPct val="100000"/>
              </a:lnSpc>
              <a:spcBef>
                <a:spcPts val="1689"/>
              </a:spcBef>
            </a:pPr>
            <a:r>
              <a:rPr sz="2400" b="1" spc="-150" dirty="0">
                <a:latin typeface="Trebuchet MS"/>
                <a:cs typeface="Trebuchet MS"/>
              </a:rPr>
              <a:t>query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29" dirty="0">
                <a:latin typeface="Arial"/>
                <a:cs typeface="Arial"/>
              </a:rPr>
              <a:t>MySQL</a:t>
            </a:r>
            <a:r>
              <a:rPr sz="2400" spc="-34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query</a:t>
            </a:r>
            <a:endParaRPr sz="2400">
              <a:latin typeface="Arial"/>
              <a:cs typeface="Arial"/>
            </a:endParaRPr>
          </a:p>
          <a:p>
            <a:pPr marL="596265">
              <a:lnSpc>
                <a:spcPct val="100000"/>
              </a:lnSpc>
              <a:spcBef>
                <a:spcPts val="1705"/>
              </a:spcBef>
            </a:pPr>
            <a:r>
              <a:rPr sz="2400" b="1" spc="-145" dirty="0">
                <a:latin typeface="Trebuchet MS"/>
                <a:cs typeface="Trebuchet MS"/>
              </a:rPr>
              <a:t>link_id</a:t>
            </a:r>
            <a:r>
              <a:rPr sz="2400" b="1" spc="-19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Arial"/>
                <a:cs typeface="Arial"/>
              </a:rPr>
              <a:t>-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specifies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return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value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connection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4239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Data </a:t>
            </a:r>
            <a:r>
              <a:rPr spc="-150" dirty="0"/>
              <a:t>Access </a:t>
            </a:r>
            <a:r>
              <a:rPr spc="-155" dirty="0"/>
              <a:t>Functions</a:t>
            </a:r>
            <a:r>
              <a:rPr spc="-335" dirty="0"/>
              <a:t> </a:t>
            </a:r>
            <a:r>
              <a:rPr spc="-185" dirty="0"/>
              <a:t>1-4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95400" y="4326001"/>
            <a:ext cx="6172200" cy="25654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839"/>
              </a:lnSpc>
            </a:pPr>
            <a:r>
              <a:rPr sz="1600" spc="-5" dirty="0">
                <a:latin typeface="Courier New"/>
                <a:cs typeface="Courier New"/>
              </a:rPr>
              <a:t>mysql_query(query,</a:t>
            </a:r>
            <a:r>
              <a:rPr sz="1600" spc="1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Courier New"/>
                <a:cs typeface="Courier New"/>
              </a:rPr>
              <a:t>link_id);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400" y="36576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5741768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Data </a:t>
            </a:r>
            <a:r>
              <a:rPr spc="-150" dirty="0"/>
              <a:t>Access </a:t>
            </a:r>
            <a:r>
              <a:rPr spc="-155" dirty="0"/>
              <a:t>Functions</a:t>
            </a:r>
            <a:r>
              <a:rPr spc="-335" dirty="0"/>
              <a:t> </a:t>
            </a:r>
            <a:r>
              <a:rPr spc="-185" dirty="0"/>
              <a:t>2-4</a:t>
            </a:r>
          </a:p>
        </p:txBody>
      </p:sp>
      <p:sp>
        <p:nvSpPr>
          <p:cNvPr id="3" name="object 3"/>
          <p:cNvSpPr/>
          <p:nvPr/>
        </p:nvSpPr>
        <p:spPr>
          <a:xfrm>
            <a:off x="1295400" y="3329051"/>
            <a:ext cx="0" cy="259079"/>
          </a:xfrm>
          <a:custGeom>
            <a:avLst/>
            <a:gdLst/>
            <a:ahLst/>
            <a:cxnLst/>
            <a:rect l="l" t="t" r="r" b="b"/>
            <a:pathLst>
              <a:path h="259079">
                <a:moveTo>
                  <a:pt x="0" y="0"/>
                </a:moveTo>
                <a:lnTo>
                  <a:pt x="0" y="2586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467600" y="3329051"/>
            <a:ext cx="0" cy="259079"/>
          </a:xfrm>
          <a:custGeom>
            <a:avLst/>
            <a:gdLst/>
            <a:ahLst/>
            <a:cxnLst/>
            <a:rect l="l" t="t" r="r" b="b"/>
            <a:pathLst>
              <a:path h="259079">
                <a:moveTo>
                  <a:pt x="0" y="0"/>
                </a:moveTo>
                <a:lnTo>
                  <a:pt x="0" y="25869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89050" y="3329051"/>
            <a:ext cx="6184900" cy="12700"/>
          </a:xfrm>
          <a:custGeom>
            <a:avLst/>
            <a:gdLst/>
            <a:ahLst/>
            <a:cxnLst/>
            <a:rect l="l" t="t" r="r" b="b"/>
            <a:pathLst>
              <a:path w="6184900" h="12700">
                <a:moveTo>
                  <a:pt x="0" y="12700"/>
                </a:moveTo>
                <a:lnTo>
                  <a:pt x="6184900" y="12700"/>
                </a:lnTo>
                <a:lnTo>
                  <a:pt x="6184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9050" y="3584702"/>
            <a:ext cx="6184900" cy="0"/>
          </a:xfrm>
          <a:custGeom>
            <a:avLst/>
            <a:gdLst/>
            <a:ahLst/>
            <a:cxnLst/>
            <a:rect l="l" t="t" r="r" b="b"/>
            <a:pathLst>
              <a:path w="6184900">
                <a:moveTo>
                  <a:pt x="0" y="0"/>
                </a:moveTo>
                <a:lnTo>
                  <a:pt x="6184900" y="0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64233" y="3355231"/>
            <a:ext cx="3192780" cy="2025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50"/>
              </a:lnSpc>
            </a:pPr>
            <a:r>
              <a:rPr sz="1400" spc="-5" dirty="0">
                <a:latin typeface="Courier New"/>
                <a:cs typeface="Courier New"/>
              </a:rPr>
              <a:t>mysql_</a:t>
            </a:r>
            <a:r>
              <a:rPr sz="1400" spc="-15" dirty="0">
                <a:latin typeface="Courier New"/>
                <a:cs typeface="Courier New"/>
              </a:rPr>
              <a:t>f</a:t>
            </a:r>
            <a:r>
              <a:rPr sz="1400" spc="-5" dirty="0">
                <a:latin typeface="Courier New"/>
                <a:cs typeface="Courier New"/>
              </a:rPr>
              <a:t>etc</a:t>
            </a:r>
            <a:r>
              <a:rPr sz="1400" spc="-20" dirty="0">
                <a:latin typeface="Courier New"/>
                <a:cs typeface="Courier New"/>
              </a:rPr>
              <a:t>h</a:t>
            </a:r>
            <a:r>
              <a:rPr sz="1400" spc="-5" dirty="0">
                <a:latin typeface="Courier New"/>
                <a:cs typeface="Courier New"/>
              </a:rPr>
              <a:t>_r</a:t>
            </a:r>
            <a:r>
              <a:rPr sz="1400" spc="-15" dirty="0">
                <a:latin typeface="Courier New"/>
                <a:cs typeface="Courier New"/>
              </a:rPr>
              <a:t>o</a:t>
            </a:r>
            <a:r>
              <a:rPr sz="1400" spc="-5" dirty="0">
                <a:latin typeface="Courier New"/>
                <a:cs typeface="Courier New"/>
              </a:rPr>
              <a:t>w("tab</a:t>
            </a:r>
            <a:r>
              <a:rPr sz="1400" spc="-15" dirty="0">
                <a:latin typeface="Courier New"/>
                <a:cs typeface="Courier New"/>
              </a:rPr>
              <a:t>l</a:t>
            </a:r>
            <a:r>
              <a:rPr sz="1400" spc="-5" dirty="0">
                <a:latin typeface="Courier New"/>
                <a:cs typeface="Courier New"/>
              </a:rPr>
              <a:t>e_n</a:t>
            </a:r>
            <a:r>
              <a:rPr sz="1400" spc="-20" dirty="0">
                <a:latin typeface="Courier New"/>
                <a:cs typeface="Courier New"/>
              </a:rPr>
              <a:t>a</a:t>
            </a:r>
            <a:r>
              <a:rPr sz="1400" spc="-5" dirty="0">
                <a:latin typeface="Courier New"/>
                <a:cs typeface="Courier New"/>
              </a:rPr>
              <a:t>me</a:t>
            </a:r>
            <a:r>
              <a:rPr sz="1400" spc="-15" dirty="0">
                <a:latin typeface="Courier New"/>
                <a:cs typeface="Courier New"/>
              </a:rPr>
              <a:t>"</a:t>
            </a:r>
            <a:r>
              <a:rPr sz="1400" spc="-5" dirty="0">
                <a:latin typeface="Courier New"/>
                <a:cs typeface="Courier New"/>
              </a:rPr>
              <a:t>)</a:t>
            </a:r>
            <a:r>
              <a:rPr sz="1400" dirty="0"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08936" y="2955876"/>
            <a:ext cx="751840" cy="3079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000" spc="-30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95400" y="3351148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85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467600" y="3351148"/>
            <a:ext cx="0" cy="236854"/>
          </a:xfrm>
          <a:custGeom>
            <a:avLst/>
            <a:gdLst/>
            <a:ahLst/>
            <a:cxnLst/>
            <a:rect l="l" t="t" r="r" b="b"/>
            <a:pathLst>
              <a:path h="236854">
                <a:moveTo>
                  <a:pt x="0" y="0"/>
                </a:moveTo>
                <a:lnTo>
                  <a:pt x="0" y="23685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89050" y="3351148"/>
            <a:ext cx="6184900" cy="12700"/>
          </a:xfrm>
          <a:custGeom>
            <a:avLst/>
            <a:gdLst/>
            <a:ahLst/>
            <a:cxnLst/>
            <a:rect l="l" t="t" r="r" b="b"/>
            <a:pathLst>
              <a:path w="6184900" h="12700">
                <a:moveTo>
                  <a:pt x="0" y="12700"/>
                </a:moveTo>
                <a:lnTo>
                  <a:pt x="6184900" y="12700"/>
                </a:lnTo>
                <a:lnTo>
                  <a:pt x="6184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89050" y="3581653"/>
            <a:ext cx="6184900" cy="0"/>
          </a:xfrm>
          <a:custGeom>
            <a:avLst/>
            <a:gdLst/>
            <a:ahLst/>
            <a:cxnLst/>
            <a:rect l="l" t="t" r="r" b="b"/>
            <a:pathLst>
              <a:path w="6184900">
                <a:moveTo>
                  <a:pt x="0" y="0"/>
                </a:moveTo>
                <a:lnTo>
                  <a:pt x="6184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301750" y="3352800"/>
            <a:ext cx="6159500" cy="22288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0" rIns="0" bIns="0" rtlCol="0">
            <a:spAutoFit/>
          </a:bodyPr>
          <a:lstStyle/>
          <a:p>
            <a:pPr marL="62230">
              <a:lnSpc>
                <a:spcPts val="1645"/>
              </a:lnSpc>
            </a:pPr>
            <a:r>
              <a:rPr sz="1400" spc="-5" dirty="0">
                <a:latin typeface="Courier New"/>
                <a:cs typeface="Courier New"/>
              </a:rPr>
              <a:t>mysql_fetch_array("table_name");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24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14" name="object 14"/>
          <p:cNvSpPr txBox="1"/>
          <p:nvPr/>
        </p:nvSpPr>
        <p:spPr>
          <a:xfrm>
            <a:off x="1295400" y="2900172"/>
            <a:ext cx="1981200" cy="4089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19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9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4540" y="763270"/>
            <a:ext cx="8071484" cy="170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0" marR="5080" indent="-534035" algn="just">
              <a:lnSpc>
                <a:spcPct val="100000"/>
              </a:lnSpc>
              <a:spcBef>
                <a:spcPts val="100"/>
              </a:spcBef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400" b="1" spc="-10" dirty="0">
                <a:latin typeface="Courier New"/>
                <a:cs typeface="Courier New"/>
              </a:rPr>
              <a:t>mysql_fetch_array()</a:t>
            </a:r>
            <a:r>
              <a:rPr sz="2400" spc="-10" dirty="0">
                <a:latin typeface="Arial"/>
                <a:cs typeface="Arial"/>
              </a:rPr>
              <a:t>- </a:t>
            </a:r>
            <a:r>
              <a:rPr sz="2400" spc="-130" dirty="0">
                <a:latin typeface="Arial"/>
                <a:cs typeface="Arial"/>
              </a:rPr>
              <a:t>Retrieves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00" dirty="0">
                <a:latin typeface="Arial"/>
                <a:cs typeface="Arial"/>
              </a:rPr>
              <a:t>rows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table 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210" dirty="0">
                <a:latin typeface="Arial"/>
                <a:cs typeface="Arial"/>
              </a:rPr>
              <a:t>saves </a:t>
            </a:r>
            <a:r>
              <a:rPr sz="2400" spc="75" dirty="0">
                <a:latin typeface="Arial"/>
                <a:cs typeface="Arial"/>
              </a:rPr>
              <a:t>it </a:t>
            </a:r>
            <a:r>
              <a:rPr sz="2400" spc="-225" dirty="0">
                <a:latin typeface="Arial"/>
                <a:cs typeface="Arial"/>
              </a:rPr>
              <a:t>as </a:t>
            </a:r>
            <a:r>
              <a:rPr sz="2400" spc="-130" dirty="0">
                <a:latin typeface="Arial"/>
                <a:cs typeface="Arial"/>
              </a:rPr>
              <a:t>an </a:t>
            </a:r>
            <a:r>
              <a:rPr sz="2400" spc="-125" dirty="0">
                <a:latin typeface="Arial"/>
                <a:cs typeface="Arial"/>
              </a:rPr>
              <a:t>array. </a:t>
            </a:r>
            <a:r>
              <a:rPr sz="2400" spc="35" dirty="0">
                <a:latin typeface="Arial"/>
                <a:cs typeface="Arial"/>
              </a:rPr>
              <a:t>It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130" dirty="0">
                <a:latin typeface="Arial"/>
                <a:cs typeface="Arial"/>
              </a:rPr>
              <a:t>an </a:t>
            </a:r>
            <a:r>
              <a:rPr sz="2400" spc="-95" dirty="0">
                <a:latin typeface="Arial"/>
                <a:cs typeface="Arial"/>
              </a:rPr>
              <a:t>extended </a:t>
            </a:r>
            <a:r>
              <a:rPr sz="2400" spc="-100" dirty="0">
                <a:latin typeface="Arial"/>
                <a:cs typeface="Arial"/>
              </a:rPr>
              <a:t>version </a:t>
            </a:r>
            <a:r>
              <a:rPr sz="2400" spc="-15" dirty="0">
                <a:latin typeface="Arial"/>
                <a:cs typeface="Arial"/>
              </a:rPr>
              <a:t>of  </a:t>
            </a:r>
            <a:r>
              <a:rPr sz="2400" spc="-5" dirty="0">
                <a:latin typeface="Courier New"/>
                <a:cs typeface="Courier New"/>
              </a:rPr>
              <a:t>mysql_fetch_row()</a:t>
            </a:r>
            <a:r>
              <a:rPr sz="2400" spc="-950" dirty="0">
                <a:latin typeface="Courier New"/>
                <a:cs typeface="Courier New"/>
              </a:rPr>
              <a:t> </a:t>
            </a:r>
            <a:r>
              <a:rPr sz="2400" spc="-40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81280">
              <a:lnSpc>
                <a:spcPct val="100000"/>
              </a:lnSpc>
              <a:spcBef>
                <a:spcPts val="1705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5" dirty="0">
                <a:latin typeface="Courier New"/>
                <a:cs typeface="Courier New"/>
              </a:rPr>
              <a:t>mysql_fetch_array()</a:t>
            </a:r>
            <a:r>
              <a:rPr sz="2400" spc="-15" dirty="0">
                <a:latin typeface="Arial"/>
                <a:cs typeface="Arial"/>
              </a:rPr>
              <a:t>function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25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33424" y="3834765"/>
            <a:ext cx="6689725" cy="97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400" b="1" spc="-140" dirty="0">
                <a:latin typeface="Trebuchet MS"/>
                <a:cs typeface="Trebuchet MS"/>
              </a:rPr>
              <a:t>table_name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25" dirty="0">
                <a:latin typeface="Arial"/>
                <a:cs typeface="Arial"/>
              </a:rPr>
              <a:t>name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05" dirty="0">
                <a:latin typeface="Arial"/>
                <a:cs typeface="Arial"/>
              </a:rPr>
              <a:t>selected</a:t>
            </a:r>
            <a:r>
              <a:rPr sz="2400" spc="-50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8320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00290" algn="l"/>
              </a:tabLst>
            </a:pPr>
            <a:r>
              <a:rPr spc="-80" dirty="0"/>
              <a:t>D</a:t>
            </a:r>
            <a:r>
              <a:rPr spc="-90" dirty="0"/>
              <a:t>a</a:t>
            </a:r>
            <a:r>
              <a:rPr spc="-155" dirty="0"/>
              <a:t>t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80" dirty="0"/>
              <a:t>Acc</a:t>
            </a:r>
            <a:r>
              <a:rPr spc="-185" dirty="0"/>
              <a:t>e</a:t>
            </a:r>
            <a:r>
              <a:rPr spc="-85" dirty="0"/>
              <a:t>ss</a:t>
            </a:r>
            <a:r>
              <a:rPr spc="-170" dirty="0"/>
              <a:t> </a:t>
            </a:r>
            <a:r>
              <a:rPr spc="-155" dirty="0"/>
              <a:t>Functions</a:t>
            </a:r>
            <a:r>
              <a:rPr dirty="0"/>
              <a:t>	</a:t>
            </a:r>
            <a:r>
              <a:rPr spc="-204" dirty="0"/>
              <a:t>3</a:t>
            </a:r>
            <a:r>
              <a:rPr spc="-155" dirty="0"/>
              <a:t>-</a:t>
            </a:r>
            <a:r>
              <a:rPr spc="-200" dirty="0"/>
              <a:t>4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25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371600" y="2671826"/>
            <a:ext cx="6172200" cy="224154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mysql_field_len("table_name",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"field_name");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1600" y="2214372"/>
            <a:ext cx="1981200" cy="39814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4540" y="763270"/>
            <a:ext cx="8139430" cy="13392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46100" marR="5080" indent="-534035">
              <a:lnSpc>
                <a:spcPct val="103299"/>
              </a:lnSpc>
              <a:spcBef>
                <a:spcPts val="5"/>
              </a:spcBef>
              <a:tabLst>
                <a:tab pos="546100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b="1" spc="-10" dirty="0">
                <a:latin typeface="Courier New"/>
                <a:cs typeface="Courier New"/>
              </a:rPr>
              <a:t>mysql_field_len()</a:t>
            </a:r>
            <a:r>
              <a:rPr sz="2400" spc="-10" dirty="0">
                <a:latin typeface="Arial"/>
                <a:cs typeface="Arial"/>
              </a:rPr>
              <a:t>-</a:t>
            </a:r>
            <a:r>
              <a:rPr sz="2400" spc="-155" dirty="0">
                <a:latin typeface="Arial"/>
                <a:cs typeface="Arial"/>
              </a:rPr>
              <a:t> Displays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length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specified  </a:t>
            </a:r>
            <a:r>
              <a:rPr sz="2400" spc="-30" dirty="0">
                <a:latin typeface="Arial"/>
                <a:cs typeface="Arial"/>
              </a:rPr>
              <a:t>field</a:t>
            </a:r>
            <a:endParaRPr sz="2400">
              <a:latin typeface="Arial"/>
              <a:cs typeface="Arial"/>
            </a:endParaRPr>
          </a:p>
          <a:p>
            <a:pPr marL="81280">
              <a:lnSpc>
                <a:spcPct val="100000"/>
              </a:lnSpc>
              <a:spcBef>
                <a:spcPts val="1605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5" dirty="0">
                <a:latin typeface="Courier New"/>
                <a:cs typeface="Courier New"/>
              </a:rPr>
              <a:t>mysql_field_len()</a:t>
            </a:r>
            <a:r>
              <a:rPr sz="2400" spc="-15" dirty="0">
                <a:latin typeface="Arial"/>
                <a:cs typeface="Arial"/>
              </a:rPr>
              <a:t>function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3469004"/>
            <a:ext cx="830325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527685">
              <a:lnSpc>
                <a:spcPct val="100000"/>
              </a:lnSpc>
            </a:pPr>
            <a:r>
              <a:rPr sz="2400" b="1" spc="-140" dirty="0">
                <a:latin typeface="Trebuchet MS"/>
                <a:cs typeface="Trebuchet MS"/>
              </a:rPr>
              <a:t>table_name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5" dirty="0">
                <a:latin typeface="Arial"/>
                <a:cs typeface="Arial"/>
              </a:rPr>
              <a:t>table</a:t>
            </a:r>
            <a:r>
              <a:rPr sz="2400" spc="-34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name</a:t>
            </a:r>
            <a:endParaRPr sz="2400">
              <a:latin typeface="Arial"/>
              <a:cs typeface="Arial"/>
            </a:endParaRPr>
          </a:p>
          <a:p>
            <a:pPr marL="546100" marR="5080" indent="-18415">
              <a:lnSpc>
                <a:spcPct val="100000"/>
              </a:lnSpc>
              <a:tabLst>
                <a:tab pos="2096135" algn="l"/>
                <a:tab pos="2324735" algn="l"/>
                <a:tab pos="3526154" algn="l"/>
                <a:tab pos="4076065" algn="l"/>
                <a:tab pos="4757420" algn="l"/>
                <a:tab pos="5596255" algn="l"/>
                <a:tab pos="6085205" algn="l"/>
                <a:tab pos="6957059" algn="l"/>
                <a:tab pos="7507605" algn="l"/>
              </a:tabLst>
            </a:pPr>
            <a:r>
              <a:rPr sz="2400" b="1" spc="-125" dirty="0">
                <a:latin typeface="Trebuchet MS"/>
                <a:cs typeface="Trebuchet MS"/>
              </a:rPr>
              <a:t>fiel</a:t>
            </a:r>
            <a:r>
              <a:rPr sz="2400" b="1" spc="-190" dirty="0">
                <a:latin typeface="Trebuchet MS"/>
                <a:cs typeface="Trebuchet MS"/>
              </a:rPr>
              <a:t>d</a:t>
            </a:r>
            <a:r>
              <a:rPr sz="2400" b="1" spc="-130" dirty="0">
                <a:latin typeface="Trebuchet MS"/>
                <a:cs typeface="Trebuchet MS"/>
              </a:rPr>
              <a:t>_na</a:t>
            </a:r>
            <a:r>
              <a:rPr sz="2400" b="1" spc="-185" dirty="0">
                <a:latin typeface="Trebuchet MS"/>
                <a:cs typeface="Trebuchet MS"/>
              </a:rPr>
              <a:t>m</a:t>
            </a:r>
            <a:r>
              <a:rPr sz="2400" b="1" spc="-175" dirty="0">
                <a:latin typeface="Trebuchet MS"/>
                <a:cs typeface="Trebuchet MS"/>
              </a:rPr>
              <a:t>e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spc="-65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55" dirty="0">
                <a:latin typeface="Arial"/>
                <a:cs typeface="Arial"/>
              </a:rPr>
              <a:t>spec</a:t>
            </a:r>
            <a:r>
              <a:rPr sz="2400" spc="-65" dirty="0">
                <a:latin typeface="Arial"/>
                <a:cs typeface="Arial"/>
              </a:rPr>
              <a:t>i</a:t>
            </a:r>
            <a:r>
              <a:rPr sz="2400" spc="-80" dirty="0">
                <a:latin typeface="Arial"/>
                <a:cs typeface="Arial"/>
              </a:rPr>
              <a:t>fie</a:t>
            </a:r>
            <a:r>
              <a:rPr sz="2400" spc="-105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25" dirty="0">
                <a:latin typeface="Arial"/>
                <a:cs typeface="Arial"/>
              </a:rPr>
              <a:t>fiel</a:t>
            </a:r>
            <a:r>
              <a:rPr sz="2400" spc="-35" dirty="0">
                <a:latin typeface="Arial"/>
                <a:cs typeface="Arial"/>
              </a:rPr>
              <a:t>d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30" dirty="0">
                <a:latin typeface="Arial"/>
                <a:cs typeface="Arial"/>
              </a:rPr>
              <a:t>nam</a:t>
            </a:r>
            <a:r>
              <a:rPr sz="2400" spc="-110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15" dirty="0">
                <a:latin typeface="Arial"/>
                <a:cs typeface="Arial"/>
              </a:rPr>
              <a:t>f</a:t>
            </a:r>
            <a:r>
              <a:rPr sz="2400" spc="-25" dirty="0">
                <a:latin typeface="Arial"/>
                <a:cs typeface="Arial"/>
              </a:rPr>
              <a:t>o</a:t>
            </a:r>
            <a:r>
              <a:rPr sz="2400" spc="-15" dirty="0">
                <a:latin typeface="Arial"/>
                <a:cs typeface="Arial"/>
              </a:rPr>
              <a:t>r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5" dirty="0">
                <a:latin typeface="Arial"/>
                <a:cs typeface="Arial"/>
              </a:rPr>
              <a:t>wh</a:t>
            </a:r>
            <a:r>
              <a:rPr sz="2400" spc="-85" dirty="0">
                <a:latin typeface="Arial"/>
                <a:cs typeface="Arial"/>
              </a:rPr>
              <a:t>ich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60" dirty="0">
                <a:latin typeface="Arial"/>
                <a:cs typeface="Arial"/>
              </a:rPr>
              <a:t>le</a:t>
            </a:r>
            <a:r>
              <a:rPr sz="2400" spc="-95" dirty="0">
                <a:latin typeface="Arial"/>
                <a:cs typeface="Arial"/>
              </a:rPr>
              <a:t>n</a:t>
            </a:r>
            <a:r>
              <a:rPr sz="2400" spc="-250" dirty="0">
                <a:latin typeface="Arial"/>
                <a:cs typeface="Arial"/>
              </a:rPr>
              <a:t>g</a:t>
            </a:r>
            <a:r>
              <a:rPr sz="2400" spc="25" dirty="0">
                <a:latin typeface="Arial"/>
                <a:cs typeface="Arial"/>
              </a:rPr>
              <a:t>th  </a:t>
            </a:r>
            <a:r>
              <a:rPr sz="2400" spc="-145" dirty="0">
                <a:latin typeface="Arial"/>
                <a:cs typeface="Arial"/>
              </a:rPr>
              <a:t>needs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110" dirty="0">
                <a:latin typeface="Arial"/>
                <a:cs typeface="Arial"/>
              </a:rPr>
              <a:t>be</a:t>
            </a:r>
            <a:r>
              <a:rPr sz="2400" spc="-26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displayed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763270"/>
            <a:ext cx="7896859" cy="13392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546100" marR="5080" indent="-534035">
              <a:lnSpc>
                <a:spcPct val="103299"/>
              </a:lnSpc>
              <a:spcBef>
                <a:spcPts val="5"/>
              </a:spcBef>
              <a:tabLst>
                <a:tab pos="546100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b="1" spc="-10" dirty="0">
                <a:latin typeface="Courier New"/>
                <a:cs typeface="Courier New"/>
              </a:rPr>
              <a:t>mysql_num_fields()</a:t>
            </a:r>
            <a:r>
              <a:rPr sz="2400" spc="-10" dirty="0">
                <a:latin typeface="Arial"/>
                <a:cs typeface="Arial"/>
              </a:rPr>
              <a:t>- </a:t>
            </a:r>
            <a:r>
              <a:rPr sz="2400" spc="-155" dirty="0">
                <a:latin typeface="Arial"/>
                <a:cs typeface="Arial"/>
              </a:rPr>
              <a:t>Displays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number </a:t>
            </a:r>
            <a:r>
              <a:rPr sz="2400" spc="-5" dirty="0">
                <a:latin typeface="Arial"/>
                <a:cs typeface="Arial"/>
              </a:rPr>
              <a:t>of</a:t>
            </a:r>
            <a:r>
              <a:rPr sz="2400" spc="-465" dirty="0">
                <a:latin typeface="Arial"/>
                <a:cs typeface="Arial"/>
              </a:rPr>
              <a:t> </a:t>
            </a:r>
            <a:r>
              <a:rPr sz="2400" spc="-65" dirty="0">
                <a:latin typeface="Arial"/>
                <a:cs typeface="Arial"/>
              </a:rPr>
              <a:t>fields </a:t>
            </a:r>
            <a:r>
              <a:rPr sz="2400" spc="-30" dirty="0">
                <a:latin typeface="Arial"/>
                <a:cs typeface="Arial"/>
              </a:rPr>
              <a:t>in  the </a:t>
            </a:r>
            <a:r>
              <a:rPr sz="2400" spc="-90" dirty="0">
                <a:latin typeface="Arial"/>
                <a:cs typeface="Arial"/>
              </a:rPr>
              <a:t>specified</a:t>
            </a:r>
            <a:r>
              <a:rPr sz="2400" spc="-22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  <a:p>
            <a:pPr marL="81280">
              <a:lnSpc>
                <a:spcPct val="100000"/>
              </a:lnSpc>
              <a:spcBef>
                <a:spcPts val="1605"/>
              </a:spcBef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5" dirty="0">
                <a:latin typeface="Courier New"/>
                <a:cs typeface="Courier New"/>
              </a:rPr>
              <a:t>mysql_num_fields()</a:t>
            </a:r>
            <a:r>
              <a:rPr sz="2400" spc="-15" dirty="0">
                <a:latin typeface="Arial"/>
                <a:cs typeface="Arial"/>
              </a:rPr>
              <a:t>function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26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33424" y="3469004"/>
            <a:ext cx="5353685" cy="973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95" dirty="0">
                <a:latin typeface="Arial"/>
                <a:cs typeface="Arial"/>
              </a:rPr>
              <a:t>Where,</a:t>
            </a:r>
            <a:endParaRPr sz="2400">
              <a:latin typeface="Arial"/>
              <a:cs typeface="Arial"/>
            </a:endParaRPr>
          </a:p>
          <a:p>
            <a:pPr marL="583565">
              <a:lnSpc>
                <a:spcPct val="100000"/>
              </a:lnSpc>
              <a:spcBef>
                <a:spcPts val="1705"/>
              </a:spcBef>
            </a:pPr>
            <a:r>
              <a:rPr sz="2400" b="1" spc="-140" dirty="0">
                <a:latin typeface="Trebuchet MS"/>
                <a:cs typeface="Trebuchet MS"/>
              </a:rPr>
              <a:t>table_name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114" dirty="0">
                <a:latin typeface="Arial"/>
                <a:cs typeface="Arial"/>
              </a:rPr>
              <a:t>specifies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5" dirty="0">
                <a:latin typeface="Arial"/>
                <a:cs typeface="Arial"/>
              </a:rPr>
              <a:t>table</a:t>
            </a:r>
            <a:r>
              <a:rPr sz="2400" spc="-320" dirty="0">
                <a:latin typeface="Arial"/>
                <a:cs typeface="Arial"/>
              </a:rPr>
              <a:t> </a:t>
            </a:r>
            <a:r>
              <a:rPr sz="2400" spc="-130" dirty="0">
                <a:latin typeface="Arial"/>
                <a:cs typeface="Arial"/>
              </a:rPr>
              <a:t>name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83209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400290" algn="l"/>
              </a:tabLst>
            </a:pPr>
            <a:r>
              <a:rPr spc="-80" dirty="0"/>
              <a:t>D</a:t>
            </a:r>
            <a:r>
              <a:rPr spc="-90" dirty="0"/>
              <a:t>a</a:t>
            </a:r>
            <a:r>
              <a:rPr spc="-155" dirty="0"/>
              <a:t>t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80" dirty="0"/>
              <a:t>Acc</a:t>
            </a:r>
            <a:r>
              <a:rPr spc="-185" dirty="0"/>
              <a:t>e</a:t>
            </a:r>
            <a:r>
              <a:rPr spc="-85" dirty="0"/>
              <a:t>ss</a:t>
            </a:r>
            <a:r>
              <a:rPr spc="-170" dirty="0"/>
              <a:t> </a:t>
            </a:r>
            <a:r>
              <a:rPr spc="-155" dirty="0"/>
              <a:t>Functions</a:t>
            </a:r>
            <a:r>
              <a:rPr dirty="0"/>
              <a:t>	</a:t>
            </a:r>
            <a:r>
              <a:rPr spc="-204" dirty="0"/>
              <a:t>4</a:t>
            </a:r>
            <a:r>
              <a:rPr spc="-155" dirty="0"/>
              <a:t>-</a:t>
            </a:r>
            <a:r>
              <a:rPr spc="-200" dirty="0"/>
              <a:t>4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95400" y="2366772"/>
            <a:ext cx="1981200" cy="39814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5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400" y="2824226"/>
            <a:ext cx="6172200" cy="224154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mysql_num_fields("table_name");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50138"/>
            <a:ext cx="7410450" cy="18281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7314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20" dirty="0">
                <a:latin typeface="Arial"/>
                <a:cs typeface="Arial"/>
              </a:rPr>
              <a:t>Before </a:t>
            </a:r>
            <a:r>
              <a:rPr sz="2600" spc="-110" dirty="0">
                <a:latin typeface="Arial"/>
                <a:cs typeface="Arial"/>
              </a:rPr>
              <a:t>executing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390" dirty="0">
                <a:latin typeface="Arial"/>
                <a:cs typeface="Arial"/>
              </a:rPr>
              <a:t>SQL </a:t>
            </a:r>
            <a:r>
              <a:rPr sz="2600" spc="-105" dirty="0">
                <a:latin typeface="Arial"/>
                <a:cs typeface="Arial"/>
              </a:rPr>
              <a:t>queries </a:t>
            </a:r>
            <a:r>
              <a:rPr sz="2600" spc="-30" dirty="0">
                <a:latin typeface="Arial"/>
                <a:cs typeface="Arial"/>
              </a:rPr>
              <a:t>in </a:t>
            </a:r>
            <a:r>
              <a:rPr sz="2600" spc="-360" dirty="0">
                <a:latin typeface="Arial"/>
                <a:cs typeface="Arial"/>
              </a:rPr>
              <a:t>PHP,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140" dirty="0">
                <a:latin typeface="Arial"/>
                <a:cs typeface="Arial"/>
              </a:rPr>
              <a:t>database  </a:t>
            </a:r>
            <a:r>
              <a:rPr sz="2600" spc="-85" dirty="0">
                <a:latin typeface="Arial"/>
                <a:cs typeface="Arial"/>
              </a:rPr>
              <a:t>connection must </a:t>
            </a:r>
            <a:r>
              <a:rPr sz="2600" spc="-120" dirty="0">
                <a:latin typeface="Arial"/>
                <a:cs typeface="Arial"/>
              </a:rPr>
              <a:t>be</a:t>
            </a:r>
            <a:r>
              <a:rPr sz="2600" spc="-265" dirty="0">
                <a:latin typeface="Arial"/>
                <a:cs typeface="Arial"/>
              </a:rPr>
              <a:t> </a:t>
            </a:r>
            <a:r>
              <a:rPr sz="2600" spc="-110" dirty="0">
                <a:latin typeface="Arial"/>
                <a:cs typeface="Arial"/>
              </a:rPr>
              <a:t>established</a:t>
            </a:r>
            <a:endParaRPr sz="26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50" dirty="0">
                <a:latin typeface="Arial"/>
                <a:cs typeface="Arial"/>
              </a:rPr>
              <a:t>Create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60" dirty="0">
                <a:latin typeface="Arial"/>
                <a:cs typeface="Arial"/>
              </a:rPr>
              <a:t>table </a:t>
            </a:r>
            <a:r>
              <a:rPr sz="2600" spc="-125" dirty="0">
                <a:latin typeface="Arial"/>
                <a:cs typeface="Arial"/>
              </a:rPr>
              <a:t>named </a:t>
            </a:r>
            <a:r>
              <a:rPr sz="2600" spc="-5" dirty="0">
                <a:latin typeface="Courier New"/>
                <a:cs typeface="Courier New"/>
              </a:rPr>
              <a:t>USER_CONTACT</a:t>
            </a:r>
            <a:r>
              <a:rPr sz="2600" spc="-1220" dirty="0">
                <a:latin typeface="Courier New"/>
                <a:cs typeface="Courier New"/>
              </a:rPr>
              <a:t> </a:t>
            </a:r>
            <a:r>
              <a:rPr sz="2600" spc="-30" dirty="0">
                <a:latin typeface="Arial"/>
                <a:cs typeface="Arial"/>
              </a:rPr>
              <a:t>in the </a:t>
            </a:r>
            <a:r>
              <a:rPr sz="2600" spc="-5" dirty="0">
                <a:latin typeface="Courier New"/>
                <a:cs typeface="Courier New"/>
              </a:rPr>
              <a:t>USER</a:t>
            </a:r>
            <a:endParaRPr sz="26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110"/>
              </a:spcBef>
            </a:pPr>
            <a:r>
              <a:rPr sz="2600" spc="-140" dirty="0">
                <a:latin typeface="Arial"/>
                <a:cs typeface="Arial"/>
              </a:rPr>
              <a:t>database </a:t>
            </a:r>
            <a:r>
              <a:rPr sz="2600" spc="15" dirty="0">
                <a:latin typeface="Arial"/>
                <a:cs typeface="Arial"/>
              </a:rPr>
              <a:t>with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75" dirty="0">
                <a:latin typeface="Arial"/>
                <a:cs typeface="Arial"/>
              </a:rPr>
              <a:t>fields </a:t>
            </a:r>
            <a:r>
              <a:rPr sz="2600" spc="-245" dirty="0">
                <a:latin typeface="Arial"/>
                <a:cs typeface="Arial"/>
              </a:rPr>
              <a:t>as </a:t>
            </a:r>
            <a:r>
              <a:rPr sz="2600" spc="-110" dirty="0">
                <a:latin typeface="Arial"/>
                <a:cs typeface="Arial"/>
              </a:rPr>
              <a:t>shown </a:t>
            </a:r>
            <a:r>
              <a:rPr sz="2600" spc="-30" dirty="0">
                <a:latin typeface="Arial"/>
                <a:cs typeface="Arial"/>
              </a:rPr>
              <a:t>in</a:t>
            </a:r>
            <a:r>
              <a:rPr sz="2600" spc="-420" dirty="0">
                <a:latin typeface="Arial"/>
                <a:cs typeface="Arial"/>
              </a:rPr>
              <a:t> </a:t>
            </a:r>
            <a:r>
              <a:rPr sz="2600" spc="-60" dirty="0">
                <a:latin typeface="Arial"/>
                <a:cs typeface="Arial"/>
              </a:rPr>
              <a:t>table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27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859026" y="2901950"/>
          <a:ext cx="4916170" cy="1546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75" dirty="0">
                          <a:latin typeface="Arial"/>
                          <a:cs typeface="Arial"/>
                        </a:rPr>
                        <a:t>Field </a:t>
                      </a:r>
                      <a:r>
                        <a:rPr sz="1500" spc="-95" dirty="0">
                          <a:latin typeface="Arial"/>
                          <a:cs typeface="Arial"/>
                        </a:rPr>
                        <a:t>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9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15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20" dirty="0">
                          <a:latin typeface="Arial"/>
                          <a:cs typeface="Arial"/>
                        </a:rPr>
                        <a:t>Type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60" dirty="0">
                          <a:latin typeface="Arial"/>
                          <a:cs typeface="Arial"/>
                        </a:rPr>
                        <a:t>Constraint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9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85" dirty="0">
                          <a:latin typeface="Arial"/>
                          <a:cs typeface="Arial"/>
                        </a:rPr>
                        <a:t>USER_ID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14" dirty="0">
                          <a:latin typeface="Arial"/>
                          <a:cs typeface="Arial"/>
                        </a:rPr>
                        <a:t>INT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70" dirty="0">
                          <a:latin typeface="Arial"/>
                          <a:cs typeface="Arial"/>
                        </a:rPr>
                        <a:t>NOT </a:t>
                      </a:r>
                      <a:r>
                        <a:rPr sz="1500" spc="-160" dirty="0">
                          <a:latin typeface="Arial"/>
                          <a:cs typeface="Arial"/>
                        </a:rPr>
                        <a:t>NULL </a:t>
                      </a:r>
                      <a:r>
                        <a:rPr sz="1500" spc="-175" dirty="0">
                          <a:latin typeface="Arial"/>
                          <a:cs typeface="Arial"/>
                        </a:rPr>
                        <a:t>PRIMARY</a:t>
                      </a:r>
                      <a:r>
                        <a:rPr sz="15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254" dirty="0">
                          <a:latin typeface="Arial"/>
                          <a:cs typeface="Arial"/>
                        </a:rPr>
                        <a:t>KEY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80" dirty="0">
                          <a:latin typeface="Arial"/>
                          <a:cs typeface="Arial"/>
                        </a:rPr>
                        <a:t>USER_NAME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40" dirty="0">
                          <a:latin typeface="Arial"/>
                          <a:cs typeface="Arial"/>
                        </a:rPr>
                        <a:t>CHAR(25)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7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1500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500" spc="-160" dirty="0">
                          <a:latin typeface="Arial"/>
                          <a:cs typeface="Arial"/>
                        </a:rPr>
                        <a:t>NULL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2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55" dirty="0">
                          <a:latin typeface="Arial"/>
                          <a:cs typeface="Arial"/>
                        </a:rPr>
                        <a:t>USER_EMAIL_ID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40" dirty="0">
                          <a:latin typeface="Arial"/>
                          <a:cs typeface="Arial"/>
                        </a:rPr>
                        <a:t>CHAR(25)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FDFC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1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939" y="684021"/>
            <a:ext cx="89922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Courier New"/>
                <a:cs typeface="Courier New"/>
              </a:rPr>
              <a:t>mysqltable.php</a:t>
            </a:r>
            <a:r>
              <a:rPr sz="2600" b="1" spc="-1030" dirty="0">
                <a:latin typeface="Courier New"/>
                <a:cs typeface="Courier New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- </a:t>
            </a:r>
            <a:r>
              <a:rPr sz="2400" spc="-300" dirty="0">
                <a:latin typeface="Arial"/>
                <a:cs typeface="Arial"/>
              </a:rPr>
              <a:t>To </a:t>
            </a:r>
            <a:r>
              <a:rPr sz="2400" spc="-95" dirty="0">
                <a:latin typeface="Arial"/>
                <a:cs typeface="Arial"/>
              </a:rPr>
              <a:t>create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55" dirty="0">
                <a:latin typeface="Arial"/>
                <a:cs typeface="Arial"/>
              </a:rPr>
              <a:t>table </a:t>
            </a:r>
            <a:r>
              <a:rPr sz="2400" spc="-125" dirty="0">
                <a:latin typeface="Arial"/>
                <a:cs typeface="Arial"/>
              </a:rPr>
              <a:t>using </a:t>
            </a:r>
            <a:r>
              <a:rPr sz="2400" spc="-365" dirty="0">
                <a:latin typeface="Arial"/>
                <a:cs typeface="Arial"/>
              </a:rPr>
              <a:t>SQL </a:t>
            </a:r>
            <a:r>
              <a:rPr sz="2400" spc="-135" dirty="0">
                <a:latin typeface="Arial"/>
                <a:cs typeface="Arial"/>
              </a:rPr>
              <a:t>commands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330" dirty="0">
                <a:latin typeface="Arial"/>
                <a:cs typeface="Arial"/>
              </a:rPr>
              <a:t>PHP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1220724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2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5" name="object 5"/>
          <p:cNvSpPr/>
          <p:nvPr/>
        </p:nvSpPr>
        <p:spPr>
          <a:xfrm>
            <a:off x="457200" y="1706562"/>
            <a:ext cx="8686800" cy="4267200"/>
          </a:xfrm>
          <a:custGeom>
            <a:avLst/>
            <a:gdLst/>
            <a:ahLst/>
            <a:cxnLst/>
            <a:rect l="l" t="t" r="r" b="b"/>
            <a:pathLst>
              <a:path w="8686800" h="4267200">
                <a:moveTo>
                  <a:pt x="0" y="4267200"/>
                </a:moveTo>
                <a:lnTo>
                  <a:pt x="8686800" y="4267200"/>
                </a:lnTo>
                <a:lnTo>
                  <a:pt x="8686800" y="0"/>
                </a:lnTo>
                <a:lnTo>
                  <a:pt x="0" y="0"/>
                </a:lnTo>
                <a:lnTo>
                  <a:pt x="0" y="42672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1700276"/>
            <a:ext cx="0" cy="4279900"/>
          </a:xfrm>
          <a:custGeom>
            <a:avLst/>
            <a:gdLst/>
            <a:ahLst/>
            <a:cxnLst/>
            <a:rect l="l" t="t" r="r" b="b"/>
            <a:pathLst>
              <a:path h="4279900">
                <a:moveTo>
                  <a:pt x="0" y="0"/>
                </a:moveTo>
                <a:lnTo>
                  <a:pt x="0" y="427983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144000" y="1700276"/>
            <a:ext cx="0" cy="4279900"/>
          </a:xfrm>
          <a:custGeom>
            <a:avLst/>
            <a:gdLst/>
            <a:ahLst/>
            <a:cxnLst/>
            <a:rect l="l" t="t" r="r" b="b"/>
            <a:pathLst>
              <a:path h="4279900">
                <a:moveTo>
                  <a:pt x="0" y="0"/>
                </a:moveTo>
                <a:lnTo>
                  <a:pt x="0" y="427983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50850" y="1700276"/>
            <a:ext cx="8693150" cy="12700"/>
          </a:xfrm>
          <a:custGeom>
            <a:avLst/>
            <a:gdLst/>
            <a:ahLst/>
            <a:cxnLst/>
            <a:rect l="l" t="t" r="r" b="b"/>
            <a:pathLst>
              <a:path w="8693150" h="12700">
                <a:moveTo>
                  <a:pt x="0" y="12700"/>
                </a:moveTo>
                <a:lnTo>
                  <a:pt x="8693150" y="12700"/>
                </a:lnTo>
                <a:lnTo>
                  <a:pt x="869315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50850" y="5973762"/>
            <a:ext cx="8693150" cy="0"/>
          </a:xfrm>
          <a:custGeom>
            <a:avLst/>
            <a:gdLst/>
            <a:ahLst/>
            <a:cxnLst/>
            <a:rect l="l" t="t" r="r" b="b"/>
            <a:pathLst>
              <a:path w="8693150">
                <a:moveTo>
                  <a:pt x="0" y="0"/>
                </a:moveTo>
                <a:lnTo>
                  <a:pt x="86931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13080" y="1672844"/>
            <a:ext cx="8113395" cy="4294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$server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$username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"root";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$password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12700" marR="149415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$connect_mysql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mysql_connect($server, $username, $password);  if($connect_mysql)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"Connection </a:t>
            </a:r>
            <a:r>
              <a:rPr sz="1400" spc="-5" dirty="0">
                <a:latin typeface="Courier New"/>
                <a:cs typeface="Courier New"/>
              </a:rPr>
              <a:t>established&lt;BR&gt;";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4130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die("Unable to connect to the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database&lt;BR&gt;");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$sql_table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"CREATE TABLE USER_CONTACT("."USER_ID </a:t>
            </a:r>
            <a:r>
              <a:rPr sz="1400" spc="-10" dirty="0">
                <a:latin typeface="Courier New"/>
                <a:cs typeface="Courier New"/>
              </a:rPr>
              <a:t>INT </a:t>
            </a:r>
            <a:r>
              <a:rPr sz="1400" spc="-5" dirty="0">
                <a:latin typeface="Courier New"/>
                <a:cs typeface="Courier New"/>
              </a:rPr>
              <a:t>NOT NULL </a:t>
            </a:r>
            <a:r>
              <a:rPr sz="1400" spc="-10" dirty="0">
                <a:latin typeface="Courier New"/>
                <a:cs typeface="Courier New"/>
              </a:rPr>
              <a:t>PRIMARY </a:t>
            </a:r>
            <a:r>
              <a:rPr sz="1400" spc="-5" dirty="0">
                <a:latin typeface="Courier New"/>
                <a:cs typeface="Courier New"/>
              </a:rPr>
              <a:t>KEY,  "."USER_NAME CHAR(25) NOT NULL, "."USER_EMAIL_ID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CHAR(25)".")";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urier New"/>
                <a:cs typeface="Courier New"/>
              </a:rPr>
              <a:t>if(mysql_query($sql_table))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"Table is</a:t>
            </a:r>
            <a:r>
              <a:rPr sz="1400" spc="-5" dirty="0">
                <a:latin typeface="Courier New"/>
                <a:cs typeface="Courier New"/>
              </a:rPr>
              <a:t> created&lt;BR&gt;";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28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6032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838200"/>
            <a:ext cx="7239000" cy="121920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720"/>
              </a:lnSpc>
            </a:pPr>
            <a:r>
              <a:rPr sz="1500" spc="-5" dirty="0">
                <a:latin typeface="Courier New"/>
                <a:cs typeface="Courier New"/>
              </a:rPr>
              <a:t>else</a:t>
            </a:r>
            <a:endParaRPr sz="15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80"/>
              </a:spcBef>
            </a:pPr>
            <a:r>
              <a:rPr sz="1500" dirty="0"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182245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ourier New"/>
                <a:cs typeface="Courier New"/>
              </a:rPr>
              <a:t>die("Unable to create the table&lt;BR&gt;");</a:t>
            </a:r>
            <a:endParaRPr sz="15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85"/>
              </a:spcBef>
            </a:pPr>
            <a:r>
              <a:rPr sz="1500" dirty="0"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Courier New"/>
                <a:cs typeface="Courier New"/>
              </a:rPr>
              <a:t>?&gt;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2222119"/>
            <a:ext cx="402018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5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58161" y="5563361"/>
            <a:ext cx="4800600" cy="533400"/>
          </a:xfrm>
          <a:custGeom>
            <a:avLst/>
            <a:gdLst/>
            <a:ahLst/>
            <a:cxnLst/>
            <a:rect l="l" t="t" r="r" b="b"/>
            <a:pathLst>
              <a:path w="4800600" h="533400">
                <a:moveTo>
                  <a:pt x="4800600" y="0"/>
                </a:moveTo>
                <a:lnTo>
                  <a:pt x="249808" y="0"/>
                </a:lnTo>
                <a:lnTo>
                  <a:pt x="204917" y="4024"/>
                </a:lnTo>
                <a:lnTo>
                  <a:pt x="162660" y="15625"/>
                </a:lnTo>
                <a:lnTo>
                  <a:pt x="123745" y="34100"/>
                </a:lnTo>
                <a:lnTo>
                  <a:pt x="88878" y="58742"/>
                </a:lnTo>
                <a:lnTo>
                  <a:pt x="58766" y="88845"/>
                </a:lnTo>
                <a:lnTo>
                  <a:pt x="34115" y="123705"/>
                </a:lnTo>
                <a:lnTo>
                  <a:pt x="15633" y="162616"/>
                </a:lnTo>
                <a:lnTo>
                  <a:pt x="4026" y="204873"/>
                </a:lnTo>
                <a:lnTo>
                  <a:pt x="0" y="249770"/>
                </a:lnTo>
                <a:lnTo>
                  <a:pt x="0" y="533400"/>
                </a:lnTo>
                <a:lnTo>
                  <a:pt x="4800600" y="533400"/>
                </a:lnTo>
                <a:lnTo>
                  <a:pt x="4800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8161" y="5563361"/>
            <a:ext cx="4800600" cy="533400"/>
          </a:xfrm>
          <a:custGeom>
            <a:avLst/>
            <a:gdLst/>
            <a:ahLst/>
            <a:cxnLst/>
            <a:rect l="l" t="t" r="r" b="b"/>
            <a:pathLst>
              <a:path w="4800600" h="533400">
                <a:moveTo>
                  <a:pt x="249808" y="0"/>
                </a:moveTo>
                <a:lnTo>
                  <a:pt x="4800600" y="0"/>
                </a:lnTo>
                <a:lnTo>
                  <a:pt x="4800600" y="533400"/>
                </a:lnTo>
                <a:lnTo>
                  <a:pt x="0" y="533400"/>
                </a:lnTo>
                <a:lnTo>
                  <a:pt x="0" y="249770"/>
                </a:lnTo>
                <a:lnTo>
                  <a:pt x="4026" y="204873"/>
                </a:lnTo>
                <a:lnTo>
                  <a:pt x="15633" y="162616"/>
                </a:lnTo>
                <a:lnTo>
                  <a:pt x="34115" y="123705"/>
                </a:lnTo>
                <a:lnTo>
                  <a:pt x="58766" y="88845"/>
                </a:lnTo>
                <a:lnTo>
                  <a:pt x="88878" y="58742"/>
                </a:lnTo>
                <a:lnTo>
                  <a:pt x="123745" y="34100"/>
                </a:lnTo>
                <a:lnTo>
                  <a:pt x="162660" y="15625"/>
                </a:lnTo>
                <a:lnTo>
                  <a:pt x="204917" y="4024"/>
                </a:lnTo>
                <a:lnTo>
                  <a:pt x="249808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209545" y="5729427"/>
            <a:ext cx="4424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USER_CONTACT</a:t>
            </a:r>
            <a:r>
              <a:rPr sz="1400" b="1" spc="-5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created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Courier New"/>
                <a:cs typeface="Courier New"/>
              </a:rPr>
              <a:t>USER</a:t>
            </a:r>
            <a:r>
              <a:rPr sz="1400" spc="-5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database.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57400" y="2886455"/>
            <a:ext cx="5568696" cy="25313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29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4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30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839470"/>
            <a:ext cx="7972425" cy="232283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94640" marR="5080" indent="-281940">
              <a:lnSpc>
                <a:spcPct val="103299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294005" algn="l"/>
                <a:tab pos="294640" algn="l"/>
              </a:tabLst>
            </a:pPr>
            <a:r>
              <a:rPr sz="2400" spc="-70" dirty="0">
                <a:latin typeface="Arial"/>
                <a:cs typeface="Arial"/>
              </a:rPr>
              <a:t>In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0" dirty="0">
                <a:latin typeface="Arial"/>
                <a:cs typeface="Arial"/>
              </a:rPr>
              <a:t> code,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USER_CONTACT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Arial"/>
                <a:cs typeface="Arial"/>
              </a:rPr>
              <a:t>table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created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90" dirty="0">
                <a:latin typeface="Arial"/>
                <a:cs typeface="Arial"/>
              </a:rPr>
              <a:t>USER  </a:t>
            </a:r>
            <a:r>
              <a:rPr sz="2400" spc="-130" dirty="0"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  <a:p>
            <a:pPr marL="294640" indent="-281940">
              <a:lnSpc>
                <a:spcPct val="100000"/>
              </a:lnSpc>
              <a:spcBef>
                <a:spcPts val="16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294005" algn="l"/>
                <a:tab pos="29464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55" dirty="0">
                <a:latin typeface="Arial"/>
                <a:cs typeface="Arial"/>
              </a:rPr>
              <a:t>table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90" dirty="0">
                <a:latin typeface="Arial"/>
                <a:cs typeface="Arial"/>
              </a:rPr>
              <a:t>created </a:t>
            </a:r>
            <a:r>
              <a:rPr sz="2400" spc="-125" dirty="0">
                <a:latin typeface="Arial"/>
                <a:cs typeface="Arial"/>
              </a:rPr>
              <a:t>using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5" dirty="0">
                <a:latin typeface="Courier New"/>
                <a:cs typeface="Courier New"/>
              </a:rPr>
              <a:t>CREATE</a:t>
            </a:r>
            <a:r>
              <a:rPr sz="2400" spc="-1255" dirty="0">
                <a:latin typeface="Courier New"/>
                <a:cs typeface="Courier New"/>
              </a:rPr>
              <a:t> </a:t>
            </a:r>
            <a:r>
              <a:rPr sz="2400" spc="-114" dirty="0">
                <a:latin typeface="Arial"/>
                <a:cs typeface="Arial"/>
              </a:rPr>
              <a:t>command </a:t>
            </a:r>
            <a:r>
              <a:rPr sz="2400" spc="-30" dirty="0">
                <a:latin typeface="Arial"/>
                <a:cs typeface="Arial"/>
              </a:rPr>
              <a:t>in </a:t>
            </a:r>
            <a:r>
              <a:rPr sz="2400" spc="-229" dirty="0">
                <a:latin typeface="Arial"/>
                <a:cs typeface="Arial"/>
              </a:rPr>
              <a:t>MySQL</a:t>
            </a:r>
            <a:endParaRPr sz="2400">
              <a:latin typeface="Arial"/>
              <a:cs typeface="Arial"/>
            </a:endParaRPr>
          </a:p>
          <a:p>
            <a:pPr marL="294640" indent="-28194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294005" algn="l"/>
                <a:tab pos="29464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records </a:t>
            </a:r>
            <a:r>
              <a:rPr sz="2400" spc="-30" dirty="0">
                <a:latin typeface="Arial"/>
                <a:cs typeface="Arial"/>
              </a:rPr>
              <a:t>in the </a:t>
            </a:r>
            <a:r>
              <a:rPr sz="2400" spc="-55" dirty="0">
                <a:latin typeface="Arial"/>
                <a:cs typeface="Arial"/>
              </a:rPr>
              <a:t>table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65" dirty="0">
                <a:latin typeface="Arial"/>
                <a:cs typeface="Arial"/>
              </a:rPr>
              <a:t>inserted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484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04" dirty="0">
                <a:latin typeface="Arial"/>
                <a:cs typeface="Arial"/>
              </a:rPr>
              <a:t>HTML </a:t>
            </a:r>
            <a:r>
              <a:rPr sz="2400" spc="-5" dirty="0">
                <a:latin typeface="Courier New"/>
                <a:cs typeface="Courier New"/>
              </a:rPr>
              <a:t>FORM</a:t>
            </a:r>
            <a:endParaRPr sz="2400">
              <a:latin typeface="Courier New"/>
              <a:cs typeface="Courier New"/>
            </a:endParaRPr>
          </a:p>
          <a:p>
            <a:pPr marL="294640">
              <a:lnSpc>
                <a:spcPct val="100000"/>
              </a:lnSpc>
              <a:spcBef>
                <a:spcPts val="290"/>
              </a:spcBef>
            </a:pPr>
            <a:r>
              <a:rPr sz="2400" spc="-55" dirty="0">
                <a:latin typeface="Arial"/>
                <a:cs typeface="Arial"/>
              </a:rPr>
              <a:t>method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603250" y="1752600"/>
          <a:ext cx="6172199" cy="4744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marL="5753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000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Snippet</a:t>
                      </a:r>
                      <a:endParaRPr sz="20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80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75">
                <a:tc gridSpan="2">
                  <a:txBody>
                    <a:bodyPr/>
                    <a:lstStyle/>
                    <a:p>
                      <a:pPr marL="74295">
                        <a:lnSpc>
                          <a:spcPts val="1605"/>
                        </a:lnSpc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&lt;?php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$server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4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"";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55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$username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4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"root";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$password 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14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"";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020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1909445" algn="l"/>
                          <a:tab pos="2360930" algn="l"/>
                        </a:tabLst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$connect_mysql	</a:t>
                      </a:r>
                      <a:r>
                        <a:rPr sz="1400" dirty="0">
                          <a:latin typeface="Courier New"/>
                          <a:cs typeface="Courier New"/>
                        </a:rPr>
                        <a:t>=	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mysql_connect($server,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10" dirty="0">
                          <a:latin typeface="Courier New"/>
                          <a:cs typeface="Courier New"/>
                        </a:rPr>
                        <a:t>$username,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445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655">
                <a:tc gridSpan="2">
                  <a:txBody>
                    <a:bodyPr/>
                    <a:lstStyle/>
                    <a:p>
                      <a:pPr marL="74295">
                        <a:lnSpc>
                          <a:spcPts val="1535"/>
                        </a:lnSpc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$password);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if($connect_mysql)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885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{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155">
                <a:tc gridSpan="2"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echo 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"Connection</a:t>
                      </a:r>
                      <a:r>
                        <a:rPr sz="1400" spc="-1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established.";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155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}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0520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else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155">
                <a:tc gridSpan="2">
                  <a:txBody>
                    <a:bodyPr/>
                    <a:lstStyle/>
                    <a:p>
                      <a:pPr marL="7429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400" dirty="0">
                          <a:latin typeface="Courier New"/>
                          <a:cs typeface="Courier New"/>
                        </a:rPr>
                        <a:t>{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8130">
                <a:tc gridSpan="2"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1400" spc="-5" dirty="0">
                          <a:latin typeface="Courier New"/>
                          <a:cs typeface="Courier New"/>
                        </a:rPr>
                        <a:t>die("Unable </a:t>
                      </a:r>
                      <a:r>
                        <a:rPr sz="1400" spc="-10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4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400" spc="-5" dirty="0">
                          <a:latin typeface="Courier New"/>
                          <a:cs typeface="Courier New"/>
                        </a:rPr>
                        <a:t>connect");</a:t>
                      </a:r>
                      <a:endParaRPr sz="1400">
                        <a:latin typeface="Courier New"/>
                        <a:cs typeface="Courier New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31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5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7340" y="839470"/>
            <a:ext cx="8462010" cy="769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b="1" dirty="0">
                <a:latin typeface="Courier New"/>
                <a:cs typeface="Courier New"/>
              </a:rPr>
              <a:t>usercontact.php</a:t>
            </a:r>
            <a:r>
              <a:rPr sz="2400" b="1" spc="-980" dirty="0">
                <a:latin typeface="Courier New"/>
                <a:cs typeface="Courier New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-</a:t>
            </a:r>
            <a:r>
              <a:rPr sz="2400" b="1" spc="-200" dirty="0">
                <a:latin typeface="Trebuchet MS"/>
                <a:cs typeface="Trebuchet MS"/>
              </a:rPr>
              <a:t> </a:t>
            </a:r>
            <a:r>
              <a:rPr sz="2400" spc="-70" dirty="0">
                <a:latin typeface="Arial"/>
                <a:cs typeface="Arial"/>
              </a:rPr>
              <a:t>Inserting</a:t>
            </a:r>
            <a:r>
              <a:rPr sz="2400" spc="-15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records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in</a:t>
            </a:r>
            <a:r>
              <a:rPr sz="2400" spc="-15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USER_CONTACT</a:t>
            </a:r>
            <a:endParaRPr sz="24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6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32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09600" y="838200"/>
            <a:ext cx="7543800" cy="447357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85"/>
              </a:spcBef>
            </a:pPr>
            <a:r>
              <a:rPr sz="1400" spc="-5" dirty="0">
                <a:latin typeface="Courier New"/>
                <a:cs typeface="Courier New"/>
              </a:rPr>
              <a:t>$db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6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"user";</a:t>
            </a:r>
            <a:endParaRPr sz="1400">
              <a:latin typeface="Courier New"/>
              <a:cs typeface="Courier New"/>
            </a:endParaRPr>
          </a:p>
          <a:p>
            <a:pPr marL="67945" marR="3954779">
              <a:lnSpc>
                <a:spcPts val="2270"/>
              </a:lnSpc>
              <a:spcBef>
                <a:spcPts val="160"/>
              </a:spcBef>
            </a:pPr>
            <a:r>
              <a:rPr sz="1400" spc="-5" dirty="0">
                <a:latin typeface="Courier New"/>
                <a:cs typeface="Courier New"/>
              </a:rPr>
              <a:t>$mysql_db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10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mysql_select_db($db);  if($mysql_db)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41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17830">
              <a:lnSpc>
                <a:spcPct val="100000"/>
              </a:lnSpc>
              <a:spcBef>
                <a:spcPts val="580"/>
              </a:spcBef>
            </a:pPr>
            <a:r>
              <a:rPr sz="1400" spc="-5" dirty="0">
                <a:latin typeface="Courier New"/>
                <a:cs typeface="Courier New"/>
              </a:rPr>
              <a:t>echo "&lt;BR&gt;&lt;BR&gt;Connected </a:t>
            </a:r>
            <a:r>
              <a:rPr sz="1400" spc="-1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database.";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90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7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17830">
              <a:lnSpc>
                <a:spcPct val="100000"/>
              </a:lnSpc>
              <a:spcBef>
                <a:spcPts val="590"/>
              </a:spcBef>
            </a:pPr>
            <a:r>
              <a:rPr sz="1400" spc="-5" dirty="0">
                <a:latin typeface="Courier New"/>
                <a:cs typeface="Courier New"/>
              </a:rPr>
              <a:t>die("Unable to connect to the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database");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9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 marR="1083310">
              <a:lnSpc>
                <a:spcPct val="105000"/>
              </a:lnSpc>
              <a:spcBef>
                <a:spcPts val="490"/>
              </a:spcBef>
            </a:pPr>
            <a:r>
              <a:rPr sz="1400" spc="-5" dirty="0">
                <a:latin typeface="Courier New"/>
                <a:cs typeface="Courier New"/>
              </a:rPr>
              <a:t>$sql_insert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"INSERT </a:t>
            </a:r>
            <a:r>
              <a:rPr sz="1400" spc="-10" dirty="0">
                <a:latin typeface="Courier New"/>
                <a:cs typeface="Courier New"/>
              </a:rPr>
              <a:t>INTO </a:t>
            </a:r>
            <a:r>
              <a:rPr sz="1400" spc="-5" dirty="0">
                <a:latin typeface="Courier New"/>
                <a:cs typeface="Courier New"/>
              </a:rPr>
              <a:t>user_contact (user_id, </a:t>
            </a:r>
            <a:r>
              <a:rPr sz="1400" spc="-10" dirty="0">
                <a:latin typeface="Courier New"/>
                <a:cs typeface="Courier New"/>
              </a:rPr>
              <a:t>user_name,  </a:t>
            </a:r>
            <a:r>
              <a:rPr sz="1400" spc="-5" dirty="0">
                <a:latin typeface="Courier New"/>
                <a:cs typeface="Courier New"/>
              </a:rPr>
              <a:t>user_email_id)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85"/>
              </a:spcBef>
            </a:pPr>
            <a:r>
              <a:rPr sz="1400" spc="-5" dirty="0">
                <a:latin typeface="Courier New"/>
                <a:cs typeface="Courier New"/>
              </a:rPr>
              <a:t>VALUES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(101,'John','john@mail.com')";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90"/>
              </a:spcBef>
            </a:pPr>
            <a:r>
              <a:rPr sz="1400" spc="-5" dirty="0">
                <a:latin typeface="Courier New"/>
                <a:cs typeface="Courier New"/>
              </a:rPr>
              <a:t>$result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mysql_query($sql_insert);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7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33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914400"/>
            <a:ext cx="7696200" cy="3888104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0"/>
              </a:lnSpc>
            </a:pPr>
            <a:r>
              <a:rPr sz="1400" spc="-5" dirty="0">
                <a:latin typeface="Courier New"/>
                <a:cs typeface="Courier New"/>
              </a:rPr>
              <a:t>if($result)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"&lt;BR&gt;&lt;BR&gt;The </a:t>
            </a:r>
            <a:r>
              <a:rPr sz="1400" spc="-5" dirty="0">
                <a:latin typeface="Courier New"/>
                <a:cs typeface="Courier New"/>
              </a:rPr>
              <a:t>records </a:t>
            </a:r>
            <a:r>
              <a:rPr sz="1400" spc="-10" dirty="0">
                <a:latin typeface="Courier New"/>
                <a:cs typeface="Courier New"/>
              </a:rPr>
              <a:t>have </a:t>
            </a:r>
            <a:r>
              <a:rPr sz="1400" spc="-5" dirty="0">
                <a:latin typeface="Courier New"/>
                <a:cs typeface="Courier New"/>
              </a:rPr>
              <a:t>been added to the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table.";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"Unable to </a:t>
            </a:r>
            <a:r>
              <a:rPr sz="1400" spc="-5" dirty="0">
                <a:latin typeface="Courier New"/>
                <a:cs typeface="Courier New"/>
              </a:rPr>
              <a:t>insert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records.";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mysql_error();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616" y="1002538"/>
            <a:ext cx="40239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0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4875" y="1702214"/>
            <a:ext cx="5760343" cy="34534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3809" y="135128"/>
            <a:ext cx="60325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62961" y="5334761"/>
            <a:ext cx="5105400" cy="457200"/>
          </a:xfrm>
          <a:custGeom>
            <a:avLst/>
            <a:gdLst/>
            <a:ahLst/>
            <a:cxnLst/>
            <a:rect l="l" t="t" r="r" b="b"/>
            <a:pathLst>
              <a:path w="5105400" h="457200">
                <a:moveTo>
                  <a:pt x="5105400" y="0"/>
                </a:moveTo>
                <a:lnTo>
                  <a:pt x="214121" y="0"/>
                </a:lnTo>
                <a:lnTo>
                  <a:pt x="165031" y="5656"/>
                </a:lnTo>
                <a:lnTo>
                  <a:pt x="119965" y="21766"/>
                </a:lnTo>
                <a:lnTo>
                  <a:pt x="80207" y="47046"/>
                </a:lnTo>
                <a:lnTo>
                  <a:pt x="47046" y="80207"/>
                </a:lnTo>
                <a:lnTo>
                  <a:pt x="21766" y="119965"/>
                </a:lnTo>
                <a:lnTo>
                  <a:pt x="5656" y="165031"/>
                </a:lnTo>
                <a:lnTo>
                  <a:pt x="0" y="214122"/>
                </a:lnTo>
                <a:lnTo>
                  <a:pt x="0" y="457200"/>
                </a:lnTo>
                <a:lnTo>
                  <a:pt x="5105400" y="457200"/>
                </a:lnTo>
                <a:lnTo>
                  <a:pt x="51054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62961" y="5334761"/>
            <a:ext cx="5105400" cy="457200"/>
          </a:xfrm>
          <a:custGeom>
            <a:avLst/>
            <a:gdLst/>
            <a:ahLst/>
            <a:cxnLst/>
            <a:rect l="l" t="t" r="r" b="b"/>
            <a:pathLst>
              <a:path w="5105400" h="457200">
                <a:moveTo>
                  <a:pt x="214121" y="0"/>
                </a:moveTo>
                <a:lnTo>
                  <a:pt x="5105400" y="0"/>
                </a:lnTo>
                <a:lnTo>
                  <a:pt x="5105400" y="457200"/>
                </a:lnTo>
                <a:lnTo>
                  <a:pt x="0" y="457200"/>
                </a:lnTo>
                <a:lnTo>
                  <a:pt x="0" y="214122"/>
                </a:lnTo>
                <a:lnTo>
                  <a:pt x="5656" y="165031"/>
                </a:lnTo>
                <a:lnTo>
                  <a:pt x="21766" y="119965"/>
                </a:lnTo>
                <a:lnTo>
                  <a:pt x="47046" y="80207"/>
                </a:lnTo>
                <a:lnTo>
                  <a:pt x="80207" y="47046"/>
                </a:lnTo>
                <a:lnTo>
                  <a:pt x="119965" y="21766"/>
                </a:lnTo>
                <a:lnTo>
                  <a:pt x="165031" y="5656"/>
                </a:lnTo>
                <a:lnTo>
                  <a:pt x="214121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04058" y="5457545"/>
            <a:ext cx="45199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Records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inserted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table 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using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INSERT</a:t>
            </a:r>
            <a:r>
              <a:rPr sz="1400" b="1" spc="-7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command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34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39470"/>
            <a:ext cx="8117840" cy="17056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5600" marR="5080" indent="-342900">
              <a:lnSpc>
                <a:spcPct val="103299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45" dirty="0">
                <a:latin typeface="Arial"/>
                <a:cs typeface="Arial"/>
              </a:rPr>
              <a:t>Using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5" dirty="0">
                <a:latin typeface="Courier New"/>
                <a:cs typeface="Courier New"/>
              </a:rPr>
              <a:t>SELECT</a:t>
            </a:r>
            <a:r>
              <a:rPr sz="2400" spc="-1130" dirty="0">
                <a:latin typeface="Courier New"/>
                <a:cs typeface="Courier New"/>
              </a:rPr>
              <a:t> </a:t>
            </a:r>
            <a:r>
              <a:rPr sz="2400" spc="-110" dirty="0">
                <a:latin typeface="Arial"/>
                <a:cs typeface="Arial"/>
              </a:rPr>
              <a:t>command,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95" dirty="0">
                <a:latin typeface="Arial"/>
                <a:cs typeface="Arial"/>
              </a:rPr>
              <a:t>data </a:t>
            </a:r>
            <a:r>
              <a:rPr sz="2400" spc="-155" dirty="0">
                <a:latin typeface="Arial"/>
                <a:cs typeface="Arial"/>
              </a:rPr>
              <a:t>can </a:t>
            </a:r>
            <a:r>
              <a:rPr sz="2400" spc="-110" dirty="0">
                <a:latin typeface="Arial"/>
                <a:cs typeface="Arial"/>
              </a:rPr>
              <a:t>be </a:t>
            </a:r>
            <a:r>
              <a:rPr sz="2400" spc="-180" dirty="0">
                <a:latin typeface="Arial"/>
                <a:cs typeface="Arial"/>
              </a:rPr>
              <a:t>accessed </a:t>
            </a:r>
            <a:r>
              <a:rPr sz="2400" spc="-25" dirty="0">
                <a:latin typeface="Arial"/>
                <a:cs typeface="Arial"/>
              </a:rPr>
              <a:t>from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90" dirty="0">
                <a:latin typeface="Arial"/>
                <a:cs typeface="Arial"/>
              </a:rPr>
              <a:t>tables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b="1" dirty="0">
                <a:latin typeface="Courier New"/>
                <a:cs typeface="Courier New"/>
              </a:rPr>
              <a:t>displaytable.php</a:t>
            </a:r>
            <a:r>
              <a:rPr sz="2400" b="1" spc="-1305" dirty="0">
                <a:latin typeface="Courier New"/>
                <a:cs typeface="Courier New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- </a:t>
            </a:r>
            <a:r>
              <a:rPr sz="2400" spc="-120" dirty="0">
                <a:latin typeface="Arial"/>
                <a:cs typeface="Arial"/>
              </a:rPr>
              <a:t>Displaying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110" dirty="0">
                <a:latin typeface="Arial"/>
                <a:cs typeface="Arial"/>
              </a:rPr>
              <a:t>records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25" dirty="0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ourier New"/>
                <a:cs typeface="Courier New"/>
              </a:rPr>
              <a:t>USER_CONTACT</a:t>
            </a:r>
            <a:r>
              <a:rPr sz="2400" spc="-965" dirty="0">
                <a:latin typeface="Courier New"/>
                <a:cs typeface="Courier New"/>
              </a:rPr>
              <a:t> </a:t>
            </a:r>
            <a:r>
              <a:rPr sz="2400" spc="-55" dirty="0">
                <a:latin typeface="Arial"/>
                <a:cs typeface="Arial"/>
              </a:rPr>
              <a:t>table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from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USER</a:t>
            </a:r>
            <a:r>
              <a:rPr sz="2400" spc="-915" dirty="0">
                <a:latin typeface="Courier New"/>
                <a:cs typeface="Courier New"/>
              </a:rPr>
              <a:t> </a:t>
            </a:r>
            <a:r>
              <a:rPr sz="2400" spc="-130" dirty="0">
                <a:latin typeface="Arial"/>
                <a:cs typeface="Arial"/>
              </a:rPr>
              <a:t>database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3505200"/>
            <a:ext cx="6172200" cy="2569210"/>
          </a:xfrm>
          <a:custGeom>
            <a:avLst/>
            <a:gdLst/>
            <a:ahLst/>
            <a:cxnLst/>
            <a:rect l="l" t="t" r="r" b="b"/>
            <a:pathLst>
              <a:path w="6172200" h="2569210">
                <a:moveTo>
                  <a:pt x="0" y="2569210"/>
                </a:moveTo>
                <a:lnTo>
                  <a:pt x="6172200" y="2569210"/>
                </a:lnTo>
                <a:lnTo>
                  <a:pt x="6172200" y="0"/>
                </a:lnTo>
                <a:lnTo>
                  <a:pt x="0" y="0"/>
                </a:lnTo>
                <a:lnTo>
                  <a:pt x="0" y="256921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81000" y="3498850"/>
            <a:ext cx="0" cy="2581910"/>
          </a:xfrm>
          <a:custGeom>
            <a:avLst/>
            <a:gdLst/>
            <a:ahLst/>
            <a:cxnLst/>
            <a:rect l="l" t="t" r="r" b="b"/>
            <a:pathLst>
              <a:path h="2581910">
                <a:moveTo>
                  <a:pt x="0" y="0"/>
                </a:moveTo>
                <a:lnTo>
                  <a:pt x="0" y="25819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53200" y="3498850"/>
            <a:ext cx="0" cy="2581910"/>
          </a:xfrm>
          <a:custGeom>
            <a:avLst/>
            <a:gdLst/>
            <a:ahLst/>
            <a:cxnLst/>
            <a:rect l="l" t="t" r="r" b="b"/>
            <a:pathLst>
              <a:path h="2581910">
                <a:moveTo>
                  <a:pt x="0" y="0"/>
                </a:moveTo>
                <a:lnTo>
                  <a:pt x="0" y="258191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4650" y="3498850"/>
            <a:ext cx="6184900" cy="12700"/>
          </a:xfrm>
          <a:custGeom>
            <a:avLst/>
            <a:gdLst/>
            <a:ahLst/>
            <a:cxnLst/>
            <a:rect l="l" t="t" r="r" b="b"/>
            <a:pathLst>
              <a:path w="6184900" h="12700">
                <a:moveTo>
                  <a:pt x="0" y="12700"/>
                </a:moveTo>
                <a:lnTo>
                  <a:pt x="6184900" y="12700"/>
                </a:lnTo>
                <a:lnTo>
                  <a:pt x="61849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650" y="6074409"/>
            <a:ext cx="6184900" cy="0"/>
          </a:xfrm>
          <a:custGeom>
            <a:avLst/>
            <a:gdLst/>
            <a:ahLst/>
            <a:cxnLst/>
            <a:rect l="l" t="t" r="r" b="b"/>
            <a:pathLst>
              <a:path w="6184900">
                <a:moveTo>
                  <a:pt x="0" y="0"/>
                </a:moveTo>
                <a:lnTo>
                  <a:pt x="6184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42509" y="5153405"/>
            <a:ext cx="11557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ourier New"/>
                <a:cs typeface="Courier New"/>
              </a:rPr>
              <a:t>$username,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35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9" name="object 9"/>
          <p:cNvSpPr txBox="1"/>
          <p:nvPr/>
        </p:nvSpPr>
        <p:spPr>
          <a:xfrm>
            <a:off x="449580" y="3482720"/>
            <a:ext cx="4685030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ourier New"/>
                <a:cs typeface="Courier New"/>
              </a:rPr>
              <a:t>&lt;?php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r>
              <a:rPr sz="1500" spc="-5" dirty="0">
                <a:latin typeface="Courier New"/>
                <a:cs typeface="Courier New"/>
              </a:rPr>
              <a:t>$server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"";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r>
              <a:rPr sz="1500" spc="-5" dirty="0">
                <a:latin typeface="Courier New"/>
                <a:cs typeface="Courier New"/>
              </a:rPr>
              <a:t>$username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"root";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85"/>
              </a:spcBef>
            </a:pPr>
            <a:r>
              <a:rPr sz="1500" spc="-5" dirty="0">
                <a:latin typeface="Courier New"/>
                <a:cs typeface="Courier New"/>
              </a:rPr>
              <a:t>$password </a:t>
            </a:r>
            <a:r>
              <a:rPr sz="1500" dirty="0">
                <a:latin typeface="Courier New"/>
                <a:cs typeface="Courier New"/>
              </a:rPr>
              <a:t>=</a:t>
            </a:r>
            <a:r>
              <a:rPr sz="1500" spc="-10" dirty="0">
                <a:latin typeface="Courier New"/>
                <a:cs typeface="Courier New"/>
              </a:rPr>
              <a:t> </a:t>
            </a:r>
            <a:r>
              <a:rPr sz="1500" spc="-5" dirty="0">
                <a:latin typeface="Courier New"/>
                <a:cs typeface="Courier New"/>
              </a:rPr>
              <a:t>"";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95"/>
              </a:spcBef>
              <a:tabLst>
                <a:tab pos="1821180" algn="l"/>
                <a:tab pos="2156460" algn="l"/>
              </a:tabLst>
            </a:pPr>
            <a:r>
              <a:rPr sz="1500" spc="-5" dirty="0">
                <a:latin typeface="Courier New"/>
                <a:cs typeface="Courier New"/>
              </a:rPr>
              <a:t>$connect_mysql	</a:t>
            </a:r>
            <a:r>
              <a:rPr sz="1500" dirty="0">
                <a:latin typeface="Courier New"/>
                <a:cs typeface="Courier New"/>
              </a:rPr>
              <a:t>=	</a:t>
            </a:r>
            <a:r>
              <a:rPr sz="1500" spc="-5" dirty="0">
                <a:latin typeface="Courier New"/>
                <a:cs typeface="Courier New"/>
              </a:rPr>
              <a:t>mysql_connect($server,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Courier New"/>
                <a:cs typeface="Courier New"/>
              </a:rPr>
              <a:t>$password);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580" y="5811723"/>
            <a:ext cx="20707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Courier New"/>
                <a:cs typeface="Courier New"/>
              </a:rPr>
              <a:t>if($connect_mysql)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91972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9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1000" y="30480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36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0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762000"/>
            <a:ext cx="6172200" cy="579863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</a:p>
          <a:p>
            <a:pPr marL="67945" marR="2157730" indent="106680">
              <a:lnSpc>
                <a:spcPct val="187900"/>
              </a:lnSpc>
              <a:spcBef>
                <a:spcPts val="10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"Connection established&lt;br&gt;"; </a:t>
            </a:r>
            <a:r>
              <a:rPr sz="1400" dirty="0">
                <a:latin typeface="Courier New"/>
                <a:cs typeface="Courier New"/>
              </a:rPr>
              <a:t>}  </a:t>
            </a:r>
            <a:r>
              <a:rPr sz="1400" spc="-5" dirty="0">
                <a:latin typeface="Courier New"/>
                <a:cs typeface="Courier New"/>
              </a:rPr>
              <a:t>else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die("Unable </a:t>
            </a:r>
            <a:r>
              <a:rPr sz="1400" spc="-10" dirty="0">
                <a:latin typeface="Courier New"/>
                <a:cs typeface="Courier New"/>
              </a:rPr>
              <a:t>to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connect&lt;br&gt;");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lang="en-US" sz="1400" dirty="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lang="en-US" dirty="0">
                <a:latin typeface="Courier New"/>
                <a:cs typeface="Courier New"/>
              </a:rPr>
              <a:t>//$</a:t>
            </a:r>
            <a:r>
              <a:rPr lang="en-US" err="1">
                <a:latin typeface="Courier New"/>
                <a:cs typeface="Courier New"/>
              </a:rPr>
              <a:t>mysqli</a:t>
            </a:r>
            <a:r>
              <a:rPr lang="en-US">
                <a:latin typeface="Courier New"/>
                <a:cs typeface="Courier New"/>
              </a:rPr>
              <a:t>_db</a:t>
            </a:r>
            <a:endParaRPr sz="1400" dirty="0">
              <a:latin typeface="Courier New"/>
              <a:cs typeface="Courier New"/>
            </a:endParaRPr>
          </a:p>
          <a:p>
            <a:pPr marL="67945" marR="2265045">
              <a:lnSpc>
                <a:spcPts val="3170"/>
              </a:lnSpc>
              <a:spcBef>
                <a:spcPts val="350"/>
              </a:spcBef>
            </a:pPr>
            <a:r>
              <a:rPr sz="1400" spc="-5" dirty="0">
                <a:latin typeface="Courier New"/>
                <a:cs typeface="Courier New"/>
              </a:rPr>
              <a:t>$</a:t>
            </a:r>
            <a:r>
              <a:rPr sz="1400" spc="-5" dirty="0" err="1">
                <a:latin typeface="Courier New"/>
                <a:cs typeface="Courier New"/>
              </a:rPr>
              <a:t>mysql_db</a:t>
            </a:r>
            <a:r>
              <a:rPr sz="1400" spc="-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10" dirty="0">
                <a:latin typeface="Courier New"/>
                <a:cs typeface="Courier New"/>
              </a:rPr>
              <a:t>mysql_select_db("USER");  </a:t>
            </a:r>
            <a:r>
              <a:rPr sz="1400" spc="-5" dirty="0">
                <a:latin typeface="Courier New"/>
                <a:cs typeface="Courier New"/>
              </a:rPr>
              <a:t>if($mysql_db)</a:t>
            </a:r>
            <a:endParaRPr sz="1400" dirty="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120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"Connected </a:t>
            </a:r>
            <a:r>
              <a:rPr sz="1400" spc="-5" dirty="0">
                <a:latin typeface="Courier New"/>
                <a:cs typeface="Courier New"/>
              </a:rPr>
              <a:t>to the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database&lt;br&gt;";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 dirty="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die("Unable </a:t>
            </a:r>
            <a:r>
              <a:rPr sz="1400" spc="-1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connect </a:t>
            </a:r>
            <a:r>
              <a:rPr sz="1400" spc="-1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database&lt;br&gt;");</a:t>
            </a:r>
            <a:endParaRPr sz="14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80797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1</a:t>
            </a:r>
            <a:r>
              <a:rPr spc="-210" dirty="0"/>
              <a:t>1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37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914400"/>
            <a:ext cx="7620000" cy="424243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$sql_disp=("SELECT </a:t>
            </a:r>
            <a:r>
              <a:rPr sz="1400" dirty="0">
                <a:latin typeface="Courier New"/>
                <a:cs typeface="Courier New"/>
              </a:rPr>
              <a:t>* </a:t>
            </a:r>
            <a:r>
              <a:rPr sz="1400" spc="-5" dirty="0">
                <a:latin typeface="Courier New"/>
                <a:cs typeface="Courier New"/>
              </a:rPr>
              <a:t>FROM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USER_CONTACT;");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echo "&lt;br&gt;Displaying Records from the USER_CONTACT</a:t>
            </a:r>
            <a:r>
              <a:rPr sz="1400" spc="-6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table:&lt;br&gt;";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$result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mysql_query($sql_disp);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while ($row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mysql_fetch_array($result))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17462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"$row[USER_ID]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"$row[USER_EMAIL_ID]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&lt;br&gt;";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644" y="1018413"/>
            <a:ext cx="40239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5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4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42999" y="1600270"/>
            <a:ext cx="5605075" cy="34867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761" y="5223509"/>
            <a:ext cx="5181600" cy="838200"/>
          </a:xfrm>
          <a:custGeom>
            <a:avLst/>
            <a:gdLst/>
            <a:ahLst/>
            <a:cxnLst/>
            <a:rect l="l" t="t" r="r" b="b"/>
            <a:pathLst>
              <a:path w="5181600" h="838200">
                <a:moveTo>
                  <a:pt x="5181600" y="0"/>
                </a:moveTo>
                <a:lnTo>
                  <a:pt x="392556" y="0"/>
                </a:lnTo>
                <a:lnTo>
                  <a:pt x="343318" y="3058"/>
                </a:lnTo>
                <a:lnTo>
                  <a:pt x="295903" y="11989"/>
                </a:lnTo>
                <a:lnTo>
                  <a:pt x="250681" y="26424"/>
                </a:lnTo>
                <a:lnTo>
                  <a:pt x="208020" y="45995"/>
                </a:lnTo>
                <a:lnTo>
                  <a:pt x="168286" y="70333"/>
                </a:lnTo>
                <a:lnTo>
                  <a:pt x="131849" y="99071"/>
                </a:lnTo>
                <a:lnTo>
                  <a:pt x="99077" y="131840"/>
                </a:lnTo>
                <a:lnTo>
                  <a:pt x="70337" y="168272"/>
                </a:lnTo>
                <a:lnTo>
                  <a:pt x="45997" y="207999"/>
                </a:lnTo>
                <a:lnTo>
                  <a:pt x="26425" y="250653"/>
                </a:lnTo>
                <a:lnTo>
                  <a:pt x="11989" y="295865"/>
                </a:lnTo>
                <a:lnTo>
                  <a:pt x="3058" y="343268"/>
                </a:lnTo>
                <a:lnTo>
                  <a:pt x="0" y="392493"/>
                </a:lnTo>
                <a:lnTo>
                  <a:pt x="0" y="838200"/>
                </a:lnTo>
                <a:lnTo>
                  <a:pt x="5181600" y="838200"/>
                </a:lnTo>
                <a:lnTo>
                  <a:pt x="5181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43761" y="5223509"/>
            <a:ext cx="5181600" cy="838200"/>
          </a:xfrm>
          <a:custGeom>
            <a:avLst/>
            <a:gdLst/>
            <a:ahLst/>
            <a:cxnLst/>
            <a:rect l="l" t="t" r="r" b="b"/>
            <a:pathLst>
              <a:path w="5181600" h="838200">
                <a:moveTo>
                  <a:pt x="392556" y="0"/>
                </a:moveTo>
                <a:lnTo>
                  <a:pt x="5181600" y="0"/>
                </a:lnTo>
                <a:lnTo>
                  <a:pt x="5181600" y="838200"/>
                </a:lnTo>
                <a:lnTo>
                  <a:pt x="0" y="838200"/>
                </a:lnTo>
                <a:lnTo>
                  <a:pt x="0" y="392493"/>
                </a:lnTo>
                <a:lnTo>
                  <a:pt x="3058" y="343268"/>
                </a:lnTo>
                <a:lnTo>
                  <a:pt x="11989" y="295865"/>
                </a:lnTo>
                <a:lnTo>
                  <a:pt x="26425" y="250653"/>
                </a:lnTo>
                <a:lnTo>
                  <a:pt x="45997" y="207999"/>
                </a:lnTo>
                <a:lnTo>
                  <a:pt x="70337" y="168272"/>
                </a:lnTo>
                <a:lnTo>
                  <a:pt x="99077" y="131840"/>
                </a:lnTo>
                <a:lnTo>
                  <a:pt x="131849" y="99071"/>
                </a:lnTo>
                <a:lnTo>
                  <a:pt x="168286" y="70333"/>
                </a:lnTo>
                <a:lnTo>
                  <a:pt x="208020" y="45995"/>
                </a:lnTo>
                <a:lnTo>
                  <a:pt x="250681" y="26424"/>
                </a:lnTo>
                <a:lnTo>
                  <a:pt x="295903" y="11989"/>
                </a:lnTo>
                <a:lnTo>
                  <a:pt x="343318" y="3058"/>
                </a:lnTo>
                <a:lnTo>
                  <a:pt x="392556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36928" y="5456326"/>
            <a:ext cx="479869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records 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such </a:t>
            </a:r>
            <a:r>
              <a:rPr sz="1400" spc="-130" dirty="0">
                <a:solidFill>
                  <a:srgbClr val="FFFFFF"/>
                </a:solidFill>
                <a:latin typeface="Arial"/>
                <a:cs typeface="Arial"/>
              </a:rPr>
              <a:t>as </a:t>
            </a:r>
            <a:r>
              <a:rPr sz="1400" b="1" spc="-10" dirty="0">
                <a:solidFill>
                  <a:srgbClr val="FFFFFF"/>
                </a:solidFill>
                <a:latin typeface="Courier New"/>
                <a:cs typeface="Courier New"/>
              </a:rPr>
              <a:t>USER_ID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1400" b="1" spc="-10" dirty="0">
                <a:solidFill>
                  <a:srgbClr val="FFFFFF"/>
                </a:solidFill>
                <a:latin typeface="Courier New"/>
                <a:cs typeface="Courier New"/>
              </a:rPr>
              <a:t>USER_NAME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USER_EMAIL_ID</a:t>
            </a:r>
            <a:r>
              <a:rPr sz="1400" b="1" spc="-5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USER_CONTACT</a:t>
            </a:r>
            <a:r>
              <a:rPr sz="1400" b="1" spc="-5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are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displayed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38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39470"/>
            <a:ext cx="7772400" cy="133921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5600" marR="5080" indent="-342900">
              <a:lnSpc>
                <a:spcPct val="103299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DELETE</a:t>
            </a:r>
            <a:r>
              <a:rPr sz="2400" spc="-925" dirty="0">
                <a:latin typeface="Courier New"/>
                <a:cs typeface="Courier New"/>
              </a:rPr>
              <a:t> </a:t>
            </a:r>
            <a:r>
              <a:rPr sz="2400" spc="-114" dirty="0">
                <a:latin typeface="Arial"/>
                <a:cs typeface="Arial"/>
              </a:rPr>
              <a:t>and </a:t>
            </a:r>
            <a:r>
              <a:rPr sz="2400" spc="-5" dirty="0">
                <a:latin typeface="Courier New"/>
                <a:cs typeface="Courier New"/>
              </a:rPr>
              <a:t>UPDATE</a:t>
            </a:r>
            <a:r>
              <a:rPr sz="2400" spc="-919" dirty="0">
                <a:latin typeface="Courier New"/>
                <a:cs typeface="Courier New"/>
              </a:rPr>
              <a:t> </a:t>
            </a:r>
            <a:r>
              <a:rPr sz="2400" spc="-135" dirty="0">
                <a:latin typeface="Arial"/>
                <a:cs typeface="Arial"/>
              </a:rPr>
              <a:t>commands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enable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to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45" dirty="0">
                <a:latin typeface="Arial"/>
                <a:cs typeface="Arial"/>
              </a:rPr>
              <a:t>modify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80" dirty="0">
                <a:latin typeface="Arial"/>
                <a:cs typeface="Arial"/>
              </a:rPr>
              <a:t>contents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295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b="1" dirty="0">
                <a:latin typeface="Courier New"/>
                <a:cs typeface="Courier New"/>
              </a:rPr>
              <a:t>delete_record.php</a:t>
            </a:r>
            <a:r>
              <a:rPr sz="2400" b="1" spc="-1195" dirty="0">
                <a:latin typeface="Courier New"/>
                <a:cs typeface="Courier New"/>
              </a:rPr>
              <a:t> </a:t>
            </a:r>
            <a:r>
              <a:rPr sz="2400" spc="-65" dirty="0">
                <a:latin typeface="Arial"/>
                <a:cs typeface="Arial"/>
              </a:rPr>
              <a:t>- </a:t>
            </a:r>
            <a:r>
              <a:rPr sz="2400" spc="-295" dirty="0">
                <a:latin typeface="Arial"/>
                <a:cs typeface="Arial"/>
              </a:rPr>
              <a:t>To </a:t>
            </a:r>
            <a:r>
              <a:rPr sz="2400" spc="-65" dirty="0">
                <a:latin typeface="Arial"/>
                <a:cs typeface="Arial"/>
              </a:rPr>
              <a:t>delete </a:t>
            </a:r>
            <a:r>
              <a:rPr sz="2400" spc="-185" dirty="0">
                <a:latin typeface="Arial"/>
                <a:cs typeface="Arial"/>
              </a:rPr>
              <a:t>a </a:t>
            </a:r>
            <a:r>
              <a:rPr sz="2400" spc="-85" dirty="0">
                <a:latin typeface="Arial"/>
                <a:cs typeface="Arial"/>
              </a:rPr>
              <a:t>record </a:t>
            </a:r>
            <a:r>
              <a:rPr sz="2400" spc="-25" dirty="0">
                <a:latin typeface="Arial"/>
                <a:cs typeface="Arial"/>
              </a:rPr>
              <a:t>from the </a:t>
            </a:r>
            <a:r>
              <a:rPr sz="2400" spc="-55" dirty="0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39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892425"/>
            <a:ext cx="8001000" cy="34391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$server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$username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"root";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$password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7945" marR="1326515">
              <a:lnSpc>
                <a:spcPct val="187900"/>
              </a:lnSpc>
              <a:spcBef>
                <a:spcPts val="10"/>
              </a:spcBef>
            </a:pPr>
            <a:r>
              <a:rPr sz="1400" spc="-5" dirty="0">
                <a:latin typeface="Courier New"/>
                <a:cs typeface="Courier New"/>
              </a:rPr>
              <a:t>$connect_mysql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mysql_connect($server, $username, $password);  if($connect_mysql)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50">
              <a:latin typeface="Times New Roman"/>
              <a:cs typeface="Times New Roman"/>
            </a:endParaRPr>
          </a:p>
          <a:p>
            <a:pPr marL="41719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"Connection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established&lt;br&gt;";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2435351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80797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1</a:t>
            </a:r>
            <a:r>
              <a:rPr spc="-210" dirty="0"/>
              <a:t>3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838200"/>
            <a:ext cx="7543800" cy="5668645"/>
          </a:xfrm>
          <a:custGeom>
            <a:avLst/>
            <a:gdLst/>
            <a:ahLst/>
            <a:cxnLst/>
            <a:rect l="l" t="t" r="r" b="b"/>
            <a:pathLst>
              <a:path w="7543800" h="5668645">
                <a:moveTo>
                  <a:pt x="0" y="5668645"/>
                </a:moveTo>
                <a:lnTo>
                  <a:pt x="7543800" y="5668645"/>
                </a:lnTo>
                <a:lnTo>
                  <a:pt x="7543800" y="0"/>
                </a:lnTo>
                <a:lnTo>
                  <a:pt x="0" y="0"/>
                </a:lnTo>
                <a:lnTo>
                  <a:pt x="0" y="5668645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000" y="831850"/>
            <a:ext cx="0" cy="5681345"/>
          </a:xfrm>
          <a:custGeom>
            <a:avLst/>
            <a:gdLst/>
            <a:ahLst/>
            <a:cxnLst/>
            <a:rect l="l" t="t" r="r" b="b"/>
            <a:pathLst>
              <a:path h="5681345">
                <a:moveTo>
                  <a:pt x="0" y="0"/>
                </a:moveTo>
                <a:lnTo>
                  <a:pt x="0" y="56813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24800" y="831850"/>
            <a:ext cx="0" cy="5681345"/>
          </a:xfrm>
          <a:custGeom>
            <a:avLst/>
            <a:gdLst/>
            <a:ahLst/>
            <a:cxnLst/>
            <a:rect l="l" t="t" r="r" b="b"/>
            <a:pathLst>
              <a:path h="5681345">
                <a:moveTo>
                  <a:pt x="0" y="0"/>
                </a:moveTo>
                <a:lnTo>
                  <a:pt x="0" y="568134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650" y="831850"/>
            <a:ext cx="7556500" cy="12700"/>
          </a:xfrm>
          <a:custGeom>
            <a:avLst/>
            <a:gdLst/>
            <a:ahLst/>
            <a:cxnLst/>
            <a:rect l="l" t="t" r="r" b="b"/>
            <a:pathLst>
              <a:path w="7556500" h="12700">
                <a:moveTo>
                  <a:pt x="0" y="12700"/>
                </a:moveTo>
                <a:lnTo>
                  <a:pt x="7556500" y="12700"/>
                </a:lnTo>
                <a:lnTo>
                  <a:pt x="7556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4650" y="6506844"/>
            <a:ext cx="7556500" cy="0"/>
          </a:xfrm>
          <a:custGeom>
            <a:avLst/>
            <a:gdLst/>
            <a:ahLst/>
            <a:cxnLst/>
            <a:rect l="l" t="t" r="r" b="b"/>
            <a:pathLst>
              <a:path w="7556500">
                <a:moveTo>
                  <a:pt x="0" y="0"/>
                </a:moveTo>
                <a:lnTo>
                  <a:pt x="755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6880" y="728827"/>
            <a:ext cx="6943090" cy="577088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die("Unable </a:t>
            </a:r>
            <a:r>
              <a:rPr sz="1400" spc="-10" dirty="0">
                <a:latin typeface="Courier New"/>
                <a:cs typeface="Courier New"/>
              </a:rPr>
              <a:t>to connect&lt;br&gt;");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 marR="3091180">
              <a:lnSpc>
                <a:spcPct val="140700"/>
              </a:lnSpc>
            </a:pPr>
            <a:r>
              <a:rPr sz="1400" spc="-5" dirty="0">
                <a:latin typeface="Courier New"/>
                <a:cs typeface="Courier New"/>
              </a:rPr>
              <a:t>$mysql_db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9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mysql_select_db("USER");  if($mysql_db)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"Connected </a:t>
            </a:r>
            <a:r>
              <a:rPr sz="1400" spc="-5" dirty="0">
                <a:latin typeface="Courier New"/>
                <a:cs typeface="Courier New"/>
              </a:rPr>
              <a:t>to the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database&lt;br&gt;";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die("Unable </a:t>
            </a:r>
            <a:r>
              <a:rPr sz="1400" spc="-1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connect </a:t>
            </a:r>
            <a:r>
              <a:rPr sz="1400" spc="-10" dirty="0">
                <a:latin typeface="Courier New"/>
                <a:cs typeface="Courier New"/>
              </a:rPr>
              <a:t>to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1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database&lt;br&gt;");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$sql_delete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("DELETE FROM USER_CONTACT WHERE </a:t>
            </a:r>
            <a:r>
              <a:rPr sz="1400" spc="-10" dirty="0">
                <a:latin typeface="Courier New"/>
                <a:cs typeface="Courier New"/>
              </a:rPr>
              <a:t>USER_ID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9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'101'");</a:t>
            </a:r>
            <a:endParaRPr sz="1400">
              <a:latin typeface="Courier New"/>
              <a:cs typeface="Courier New"/>
            </a:endParaRPr>
          </a:p>
          <a:p>
            <a:pPr marL="12700" marR="3196590">
              <a:lnSpc>
                <a:spcPts val="2480"/>
              </a:lnSpc>
              <a:spcBef>
                <a:spcPts val="105"/>
              </a:spcBef>
            </a:pPr>
            <a:r>
              <a:rPr sz="1400" spc="-5" dirty="0">
                <a:latin typeface="Courier New"/>
                <a:cs typeface="Courier New"/>
              </a:rPr>
              <a:t>$result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mysql_query($sql_delete);  if($result)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18745">
              <a:lnSpc>
                <a:spcPct val="100000"/>
              </a:lnSpc>
              <a:spcBef>
                <a:spcPts val="740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"Records </a:t>
            </a:r>
            <a:r>
              <a:rPr sz="1400" spc="-5" dirty="0">
                <a:latin typeface="Courier New"/>
                <a:cs typeface="Courier New"/>
              </a:rPr>
              <a:t>Deleted: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$result&lt;br&gt;";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40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838200"/>
            <a:ext cx="6172200" cy="173164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325"/>
              </a:lnSpc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74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579120">
              <a:lnSpc>
                <a:spcPct val="100000"/>
              </a:lnSpc>
              <a:spcBef>
                <a:spcPts val="75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"RECORDS </a:t>
            </a:r>
            <a:r>
              <a:rPr sz="1400" spc="-5" dirty="0">
                <a:latin typeface="Courier New"/>
                <a:cs typeface="Courier New"/>
              </a:rPr>
              <a:t>NOT FOUND </a:t>
            </a:r>
            <a:r>
              <a:rPr sz="1400" spc="-10" dirty="0">
                <a:latin typeface="Courier New"/>
                <a:cs typeface="Courier New"/>
              </a:rPr>
              <a:t>IN </a:t>
            </a:r>
            <a:r>
              <a:rPr sz="1400" spc="-5" dirty="0">
                <a:latin typeface="Courier New"/>
                <a:cs typeface="Courier New"/>
              </a:rPr>
              <a:t>THE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TABLE&lt;br&gt;";</a:t>
            </a:r>
            <a:endParaRPr sz="1400">
              <a:latin typeface="Courier New"/>
              <a:cs typeface="Courier New"/>
            </a:endParaRPr>
          </a:p>
          <a:p>
            <a:pPr marL="579120">
              <a:lnSpc>
                <a:spcPct val="100000"/>
              </a:lnSpc>
              <a:spcBef>
                <a:spcPts val="740"/>
              </a:spcBef>
            </a:pPr>
            <a:r>
              <a:rPr sz="1400" spc="-5" dirty="0">
                <a:latin typeface="Courier New"/>
                <a:cs typeface="Courier New"/>
              </a:rPr>
              <a:t>mysql_error();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75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75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0616" y="2603119"/>
            <a:ext cx="40239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0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600199" y="3048054"/>
            <a:ext cx="5737189" cy="33297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41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80797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225" dirty="0"/>
              <a:t>E</a:t>
            </a:r>
            <a:r>
              <a:rPr spc="-280" dirty="0"/>
              <a:t>x</a:t>
            </a:r>
            <a:r>
              <a:rPr spc="-185" dirty="0"/>
              <a:t>ec</a:t>
            </a:r>
            <a:r>
              <a:rPr spc="-190" dirty="0"/>
              <a:t>u</a:t>
            </a:r>
            <a:r>
              <a:rPr spc="-120" dirty="0"/>
              <a:t>ting</a:t>
            </a:r>
            <a:r>
              <a:rPr spc="-190" dirty="0"/>
              <a:t> </a:t>
            </a:r>
            <a:r>
              <a:rPr spc="-165" dirty="0"/>
              <a:t>SQL</a:t>
            </a:r>
            <a:r>
              <a:rPr spc="-175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spc="-195" dirty="0"/>
              <a:t> </a:t>
            </a:r>
            <a:r>
              <a:rPr spc="-135" dirty="0"/>
              <a:t>in</a:t>
            </a:r>
            <a:r>
              <a:rPr spc="-190" dirty="0"/>
              <a:t> </a:t>
            </a:r>
            <a:r>
              <a:rPr spc="-135" dirty="0"/>
              <a:t>P</a:t>
            </a:r>
            <a:r>
              <a:rPr spc="-140" dirty="0"/>
              <a:t>HP</a:t>
            </a:r>
            <a:r>
              <a:rPr dirty="0"/>
              <a:t>	</a:t>
            </a:r>
            <a:r>
              <a:rPr spc="-204" dirty="0"/>
              <a:t>1</a:t>
            </a:r>
            <a:r>
              <a:rPr spc="-210" dirty="0"/>
              <a:t>6</a:t>
            </a:r>
            <a:r>
              <a:rPr spc="-155" dirty="0"/>
              <a:t>-</a:t>
            </a:r>
            <a:r>
              <a:rPr spc="-210" dirty="0"/>
              <a:t>18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42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906651"/>
            <a:ext cx="7696200" cy="442785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$server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0"/>
              </a:spcBef>
            </a:pPr>
            <a:r>
              <a:rPr sz="1400" spc="-5" dirty="0">
                <a:latin typeface="Courier New"/>
                <a:cs typeface="Courier New"/>
              </a:rPr>
              <a:t>$username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"root";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$password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$connect_mysql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10" dirty="0">
                <a:latin typeface="Courier New"/>
                <a:cs typeface="Courier New"/>
              </a:rPr>
              <a:t>mysql_connect($server, $username,</a:t>
            </a:r>
            <a:r>
              <a:rPr sz="1400" spc="-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$password);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if($connect_mysql)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47244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"Connection </a:t>
            </a:r>
            <a:r>
              <a:rPr sz="1400" spc="-5" dirty="0">
                <a:latin typeface="Courier New"/>
                <a:cs typeface="Courier New"/>
              </a:rPr>
              <a:t>established&lt;br&gt;";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90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52578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die("Unable to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connect&lt;br&gt;");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 marR="3788410">
              <a:lnSpc>
                <a:spcPts val="2370"/>
              </a:lnSpc>
              <a:spcBef>
                <a:spcPts val="190"/>
              </a:spcBef>
            </a:pPr>
            <a:r>
              <a:rPr sz="1400" spc="-5" dirty="0">
                <a:latin typeface="Courier New"/>
                <a:cs typeface="Courier New"/>
              </a:rPr>
              <a:t>$mysql_db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mysql_select_db("USER");  if($mysql_db)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1449324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836421"/>
            <a:ext cx="8001634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b="1" spc="-5" dirty="0">
                <a:latin typeface="Courier New"/>
                <a:cs typeface="Courier New"/>
              </a:rPr>
              <a:t>update_record.php</a:t>
            </a:r>
            <a:r>
              <a:rPr sz="2600" b="1" spc="-1305" dirty="0">
                <a:latin typeface="Courier New"/>
                <a:cs typeface="Courier New"/>
              </a:rPr>
              <a:t> </a:t>
            </a:r>
            <a:r>
              <a:rPr sz="2600" spc="-70" dirty="0">
                <a:latin typeface="Arial"/>
                <a:cs typeface="Arial"/>
              </a:rPr>
              <a:t>- </a:t>
            </a:r>
            <a:r>
              <a:rPr sz="2600" spc="-90" dirty="0">
                <a:latin typeface="Arial"/>
                <a:cs typeface="Arial"/>
              </a:rPr>
              <a:t>Updating </a:t>
            </a:r>
            <a:r>
              <a:rPr sz="2600" spc="-200" dirty="0">
                <a:latin typeface="Arial"/>
                <a:cs typeface="Arial"/>
              </a:rPr>
              <a:t>a </a:t>
            </a:r>
            <a:r>
              <a:rPr sz="2600" spc="-90" dirty="0">
                <a:latin typeface="Arial"/>
                <a:cs typeface="Arial"/>
              </a:rPr>
              <a:t>record </a:t>
            </a:r>
            <a:r>
              <a:rPr sz="2600" spc="-30" dirty="0">
                <a:latin typeface="Arial"/>
                <a:cs typeface="Arial"/>
              </a:rPr>
              <a:t>in the </a:t>
            </a:r>
            <a:r>
              <a:rPr sz="2600" spc="-60" dirty="0">
                <a:latin typeface="Arial"/>
                <a:cs typeface="Arial"/>
              </a:rPr>
              <a:t>table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0" dirty="0"/>
              <a:t>Executing </a:t>
            </a:r>
            <a:r>
              <a:rPr spc="-165" dirty="0"/>
              <a:t>SQL </a:t>
            </a:r>
            <a:r>
              <a:rPr spc="-140" dirty="0"/>
              <a:t>Queries </a:t>
            </a:r>
            <a:r>
              <a:rPr spc="-135" dirty="0"/>
              <a:t>in</a:t>
            </a:r>
            <a:r>
              <a:rPr spc="-335" dirty="0"/>
              <a:t> </a:t>
            </a:r>
            <a:r>
              <a:rPr spc="-140" dirty="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7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838200"/>
            <a:ext cx="8686800" cy="5638800"/>
          </a:xfrm>
          <a:custGeom>
            <a:avLst/>
            <a:gdLst/>
            <a:ahLst/>
            <a:cxnLst/>
            <a:rect l="l" t="t" r="r" b="b"/>
            <a:pathLst>
              <a:path w="8686800" h="5638800">
                <a:moveTo>
                  <a:pt x="0" y="5638800"/>
                </a:moveTo>
                <a:lnTo>
                  <a:pt x="8686800" y="5638800"/>
                </a:lnTo>
                <a:lnTo>
                  <a:pt x="8686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1000" y="831850"/>
            <a:ext cx="0" cy="5651500"/>
          </a:xfrm>
          <a:custGeom>
            <a:avLst/>
            <a:gdLst/>
            <a:ahLst/>
            <a:cxnLst/>
            <a:rect l="l" t="t" r="r" b="b"/>
            <a:pathLst>
              <a:path h="5651500">
                <a:moveTo>
                  <a:pt x="0" y="0"/>
                </a:moveTo>
                <a:lnTo>
                  <a:pt x="0" y="56515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67800" y="831850"/>
            <a:ext cx="0" cy="5651500"/>
          </a:xfrm>
          <a:custGeom>
            <a:avLst/>
            <a:gdLst/>
            <a:ahLst/>
            <a:cxnLst/>
            <a:rect l="l" t="t" r="r" b="b"/>
            <a:pathLst>
              <a:path h="5651500">
                <a:moveTo>
                  <a:pt x="0" y="0"/>
                </a:moveTo>
                <a:lnTo>
                  <a:pt x="0" y="56515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4650" y="831850"/>
            <a:ext cx="8699500" cy="12700"/>
          </a:xfrm>
          <a:custGeom>
            <a:avLst/>
            <a:gdLst/>
            <a:ahLst/>
            <a:cxnLst/>
            <a:rect l="l" t="t" r="r" b="b"/>
            <a:pathLst>
              <a:path w="8699500" h="12700">
                <a:moveTo>
                  <a:pt x="0" y="12700"/>
                </a:moveTo>
                <a:lnTo>
                  <a:pt x="8699500" y="12700"/>
                </a:lnTo>
                <a:lnTo>
                  <a:pt x="8699500" y="0"/>
                </a:lnTo>
                <a:lnTo>
                  <a:pt x="0" y="0"/>
                </a:lnTo>
                <a:lnTo>
                  <a:pt x="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4650" y="6477000"/>
            <a:ext cx="8699500" cy="0"/>
          </a:xfrm>
          <a:custGeom>
            <a:avLst/>
            <a:gdLst/>
            <a:ahLst/>
            <a:cxnLst/>
            <a:rect l="l" t="t" r="r" b="b"/>
            <a:pathLst>
              <a:path w="8699500">
                <a:moveTo>
                  <a:pt x="0" y="0"/>
                </a:moveTo>
                <a:lnTo>
                  <a:pt x="8699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6880" y="728827"/>
            <a:ext cx="8538845" cy="573087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4516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"Connected </a:t>
            </a:r>
            <a:r>
              <a:rPr sz="1400" spc="-5" dirty="0">
                <a:latin typeface="Courier New"/>
                <a:cs typeface="Courier New"/>
              </a:rPr>
              <a:t>to the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database&lt;br&gt;";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59055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die("Unable to connect to the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database&lt;br&gt;");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$sql_update=("UPDATE USER_CONTACT SET USER_NAME </a:t>
            </a:r>
            <a:r>
              <a:rPr sz="1400" spc="-10" dirty="0">
                <a:latin typeface="Courier New"/>
                <a:cs typeface="Courier New"/>
              </a:rPr>
              <a:t>=’David’ </a:t>
            </a:r>
            <a:r>
              <a:rPr sz="1400" spc="-5" dirty="0">
                <a:latin typeface="Courier New"/>
                <a:cs typeface="Courier New"/>
              </a:rPr>
              <a:t>WHERE USER_ID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=’102’");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spc="-10" dirty="0">
                <a:latin typeface="Courier New"/>
                <a:cs typeface="Courier New"/>
              </a:rPr>
              <a:t>$result=mysql_query($sql_update);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400" spc="-5" dirty="0">
                <a:latin typeface="Courier New"/>
                <a:cs typeface="Courier New"/>
              </a:rPr>
              <a:t>if($result)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52324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"RECORDS </a:t>
            </a:r>
            <a:r>
              <a:rPr sz="1400" spc="-5" dirty="0">
                <a:latin typeface="Courier New"/>
                <a:cs typeface="Courier New"/>
              </a:rPr>
              <a:t>UPDATED:</a:t>
            </a:r>
            <a:r>
              <a:rPr sz="1400" spc="-1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$result&lt;br&gt;";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"UNABLE TO </a:t>
            </a:r>
            <a:r>
              <a:rPr sz="1400" spc="-5" dirty="0">
                <a:latin typeface="Courier New"/>
                <a:cs typeface="Courier New"/>
              </a:rPr>
              <a:t>UPDATE</a:t>
            </a:r>
            <a:r>
              <a:rPr sz="140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RECORDS&lt;br&gt;";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mysql_error();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43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616" y="1002538"/>
            <a:ext cx="40239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0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7340" y="135128"/>
            <a:ext cx="3891279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70" dirty="0">
                <a:solidFill>
                  <a:srgbClr val="FFFFFF"/>
                </a:solidFill>
                <a:latin typeface="Trebuchet MS"/>
                <a:cs typeface="Trebuchet MS"/>
              </a:rPr>
              <a:t>Executing </a:t>
            </a:r>
            <a:r>
              <a:rPr sz="2500" b="1" spc="-165" dirty="0">
                <a:solidFill>
                  <a:srgbClr val="FFFFFF"/>
                </a:solidFill>
                <a:latin typeface="Trebuchet MS"/>
                <a:cs typeface="Trebuchet MS"/>
              </a:rPr>
              <a:t>SQL 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Queries </a:t>
            </a:r>
            <a:r>
              <a:rPr sz="2500" b="1" spc="-135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2500" b="1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500" b="1" spc="-140" dirty="0">
                <a:solidFill>
                  <a:srgbClr val="FFFFFF"/>
                </a:solidFill>
                <a:latin typeface="Trebuchet MS"/>
                <a:cs typeface="Trebuchet MS"/>
              </a:rPr>
              <a:t>PHP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3809" y="135128"/>
            <a:ext cx="7632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8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10" dirty="0">
                <a:solidFill>
                  <a:srgbClr val="FFFFFF"/>
                </a:solidFill>
                <a:latin typeface="Trebuchet MS"/>
                <a:cs typeface="Trebuchet MS"/>
              </a:rPr>
              <a:t>18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2015" y="1815103"/>
            <a:ext cx="5828754" cy="3227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Version </a:t>
            </a:r>
            <a:r>
              <a:rPr spc="-5" dirty="0"/>
              <a:t>1.0 © Aptech</a:t>
            </a:r>
            <a:r>
              <a:rPr spc="10" dirty="0"/>
              <a:t> </a:t>
            </a:r>
            <a:r>
              <a:rPr spc="-10" dirty="0"/>
              <a:t>Limited.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pc="-10" dirty="0"/>
              <a:t>Handling Databases with PHP </a:t>
            </a:r>
            <a:r>
              <a:rPr spc="-5" dirty="0"/>
              <a:t>/ </a:t>
            </a:r>
            <a:r>
              <a:rPr spc="-10" dirty="0"/>
              <a:t>Session </a:t>
            </a:r>
            <a:r>
              <a:rPr spc="-5" dirty="0"/>
              <a:t>18 / </a:t>
            </a:r>
            <a:r>
              <a:rPr spc="-10" dirty="0"/>
              <a:t>Slide </a:t>
            </a:r>
            <a:fld id="{81D60167-4931-47E6-BA6A-407CBD079E47}" type="slidenum">
              <a:rPr spc="-5" dirty="0"/>
              <a:t>44</a:t>
            </a:fld>
            <a:r>
              <a:rPr spc="-5" dirty="0"/>
              <a:t> of</a:t>
            </a:r>
            <a:r>
              <a:rPr spc="45" dirty="0"/>
              <a:t> </a:t>
            </a:r>
            <a:r>
              <a:rPr spc="-10" dirty="0"/>
              <a:t>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7609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20" dirty="0"/>
              <a:t>Buildi</a:t>
            </a:r>
            <a:r>
              <a:rPr spc="-155" dirty="0"/>
              <a:t>n</a:t>
            </a:r>
            <a:r>
              <a:rPr spc="-75" dirty="0"/>
              <a:t>g</a:t>
            </a:r>
            <a:r>
              <a:rPr spc="-210" dirty="0"/>
              <a:t> </a:t>
            </a:r>
            <a:r>
              <a:rPr spc="-110" dirty="0"/>
              <a:t>HTML</a:t>
            </a:r>
            <a:r>
              <a:rPr spc="-180" dirty="0"/>
              <a:t> </a:t>
            </a:r>
            <a:r>
              <a:rPr spc="-490" dirty="0"/>
              <a:t>T</a:t>
            </a:r>
            <a:r>
              <a:rPr spc="-125" dirty="0"/>
              <a:t>abl</a:t>
            </a:r>
            <a:r>
              <a:rPr spc="-150" dirty="0"/>
              <a:t>e</a:t>
            </a:r>
            <a:r>
              <a:rPr spc="-85" dirty="0"/>
              <a:t>s</a:t>
            </a:r>
            <a:r>
              <a:rPr spc="-180" dirty="0"/>
              <a:t> </a:t>
            </a:r>
            <a:r>
              <a:rPr spc="-100" dirty="0"/>
              <a:t>Using</a:t>
            </a:r>
            <a:r>
              <a:rPr spc="-185" dirty="0"/>
              <a:t> </a:t>
            </a:r>
            <a:r>
              <a:rPr spc="-165" dirty="0"/>
              <a:t>SQL</a:t>
            </a:r>
            <a:r>
              <a:rPr spc="-180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dirty="0"/>
              <a:t>	</a:t>
            </a:r>
            <a:r>
              <a:rPr spc="-204" dirty="0"/>
              <a:t>1</a:t>
            </a:r>
            <a:r>
              <a:rPr spc="-155" dirty="0"/>
              <a:t>-</a:t>
            </a:r>
            <a:r>
              <a:rPr spc="-200" dirty="0"/>
              <a:t>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45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851661"/>
            <a:ext cx="8153400" cy="170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210" dirty="0">
                <a:latin typeface="Arial"/>
                <a:cs typeface="Arial"/>
              </a:rPr>
              <a:t>HTML </a:t>
            </a:r>
            <a:r>
              <a:rPr sz="2400" spc="-85" dirty="0">
                <a:latin typeface="Arial"/>
                <a:cs typeface="Arial"/>
              </a:rPr>
              <a:t>supports </a:t>
            </a:r>
            <a:r>
              <a:rPr sz="2400" spc="-130" dirty="0">
                <a:latin typeface="Arial"/>
                <a:cs typeface="Arial"/>
              </a:rPr>
              <a:t>database </a:t>
            </a:r>
            <a:r>
              <a:rPr sz="2400" spc="-65" dirty="0">
                <a:latin typeface="Arial"/>
                <a:cs typeface="Arial"/>
              </a:rPr>
              <a:t>application </a:t>
            </a:r>
            <a:r>
              <a:rPr sz="2400" spc="-100" dirty="0">
                <a:latin typeface="Arial"/>
                <a:cs typeface="Arial"/>
              </a:rPr>
              <a:t>components </a:t>
            </a:r>
            <a:r>
              <a:rPr sz="2400" spc="-10" dirty="0">
                <a:latin typeface="Arial"/>
                <a:cs typeface="Arial"/>
              </a:rPr>
              <a:t>for</a:t>
            </a:r>
            <a:r>
              <a:rPr sz="2400" spc="-175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accessing 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30" dirty="0">
                <a:latin typeface="Arial"/>
                <a:cs typeface="Arial"/>
              </a:rPr>
              <a:t> database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80" dirty="0">
                <a:latin typeface="Arial"/>
                <a:cs typeface="Arial"/>
              </a:rPr>
              <a:t>contents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365" dirty="0">
                <a:latin typeface="Arial"/>
                <a:cs typeface="Arial"/>
              </a:rPr>
              <a:t>SQL </a:t>
            </a:r>
            <a:r>
              <a:rPr sz="2400" spc="-90" dirty="0">
                <a:latin typeface="Arial"/>
                <a:cs typeface="Arial"/>
              </a:rPr>
              <a:t>tables </a:t>
            </a:r>
            <a:r>
              <a:rPr sz="2400" spc="-155" dirty="0">
                <a:latin typeface="Arial"/>
                <a:cs typeface="Arial"/>
              </a:rPr>
              <a:t>can </a:t>
            </a:r>
            <a:r>
              <a:rPr sz="2400" spc="-110" dirty="0">
                <a:latin typeface="Arial"/>
                <a:cs typeface="Arial"/>
              </a:rPr>
              <a:t>be displayed </a:t>
            </a:r>
            <a:r>
              <a:rPr sz="2400" spc="-75" dirty="0">
                <a:latin typeface="Arial"/>
                <a:cs typeface="Arial"/>
              </a:rPr>
              <a:t>on </a:t>
            </a:r>
            <a:r>
              <a:rPr sz="2400" spc="-25" dirty="0">
                <a:latin typeface="Arial"/>
                <a:cs typeface="Arial"/>
              </a:rPr>
              <a:t>the</a:t>
            </a:r>
            <a:r>
              <a:rPr sz="2400" spc="-254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Web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spc="-85" dirty="0">
                <a:latin typeface="Arial"/>
                <a:cs typeface="Arial"/>
              </a:rPr>
              <a:t>browser </a:t>
            </a:r>
            <a:r>
              <a:rPr sz="2400" spc="-105" dirty="0">
                <a:latin typeface="Arial"/>
                <a:cs typeface="Arial"/>
              </a:rPr>
              <a:t>by </a:t>
            </a:r>
            <a:r>
              <a:rPr sz="2400" spc="-65" dirty="0">
                <a:latin typeface="Arial"/>
                <a:cs typeface="Arial"/>
              </a:rPr>
              <a:t>building </a:t>
            </a:r>
            <a:r>
              <a:rPr sz="2400" spc="-130" dirty="0">
                <a:latin typeface="Arial"/>
                <a:cs typeface="Arial"/>
              </a:rPr>
              <a:t>an </a:t>
            </a:r>
            <a:r>
              <a:rPr sz="2400" spc="-204" dirty="0">
                <a:latin typeface="Arial"/>
                <a:cs typeface="Arial"/>
              </a:rPr>
              <a:t>HTML </a:t>
            </a:r>
            <a:r>
              <a:rPr sz="2400" spc="-55" dirty="0">
                <a:latin typeface="Arial"/>
                <a:cs typeface="Arial"/>
              </a:rPr>
              <a:t>table</a:t>
            </a:r>
            <a:r>
              <a:rPr sz="2400" spc="-190" dirty="0">
                <a:latin typeface="Arial"/>
                <a:cs typeface="Arial"/>
              </a:rPr>
              <a:t> </a:t>
            </a:r>
            <a:r>
              <a:rPr sz="2400" spc="-55" dirty="0">
                <a:latin typeface="Arial"/>
                <a:cs typeface="Arial"/>
              </a:rPr>
              <a:t>structure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7609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20" dirty="0"/>
              <a:t>Buildi</a:t>
            </a:r>
            <a:r>
              <a:rPr spc="-155" dirty="0"/>
              <a:t>n</a:t>
            </a:r>
            <a:r>
              <a:rPr spc="-75" dirty="0"/>
              <a:t>g</a:t>
            </a:r>
            <a:r>
              <a:rPr spc="-210" dirty="0"/>
              <a:t> </a:t>
            </a:r>
            <a:r>
              <a:rPr spc="-110" dirty="0"/>
              <a:t>HTML</a:t>
            </a:r>
            <a:r>
              <a:rPr spc="-180" dirty="0"/>
              <a:t> </a:t>
            </a:r>
            <a:r>
              <a:rPr spc="-490" dirty="0"/>
              <a:t>T</a:t>
            </a:r>
            <a:r>
              <a:rPr spc="-125" dirty="0"/>
              <a:t>abl</a:t>
            </a:r>
            <a:r>
              <a:rPr spc="-150" dirty="0"/>
              <a:t>e</a:t>
            </a:r>
            <a:r>
              <a:rPr spc="-85" dirty="0"/>
              <a:t>s</a:t>
            </a:r>
            <a:r>
              <a:rPr spc="-180" dirty="0"/>
              <a:t> </a:t>
            </a:r>
            <a:r>
              <a:rPr spc="-100" dirty="0"/>
              <a:t>Using</a:t>
            </a:r>
            <a:r>
              <a:rPr spc="-185" dirty="0"/>
              <a:t> </a:t>
            </a:r>
            <a:r>
              <a:rPr spc="-165" dirty="0"/>
              <a:t>SQL</a:t>
            </a:r>
            <a:r>
              <a:rPr spc="-180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dirty="0"/>
              <a:t>	</a:t>
            </a:r>
            <a:r>
              <a:rPr spc="-204" dirty="0"/>
              <a:t>2</a:t>
            </a:r>
            <a:r>
              <a:rPr spc="-155" dirty="0"/>
              <a:t>-</a:t>
            </a:r>
            <a:r>
              <a:rPr spc="-200" dirty="0"/>
              <a:t>4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46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7526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000" y="2208148"/>
            <a:ext cx="7162800" cy="38277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$server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0"/>
              </a:spcBef>
            </a:pPr>
            <a:r>
              <a:rPr sz="1400" spc="-5" dirty="0">
                <a:latin typeface="Courier New"/>
                <a:cs typeface="Courier New"/>
              </a:rPr>
              <a:t>$username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"root";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$password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"";</a:t>
            </a:r>
            <a:endParaRPr sz="1400">
              <a:latin typeface="Courier New"/>
              <a:cs typeface="Courier New"/>
            </a:endParaRPr>
          </a:p>
          <a:p>
            <a:pPr marL="67945" marR="488315">
              <a:lnSpc>
                <a:spcPct val="1407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$connect_mysql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mysql_connect($server, $username, $password);  if($connect_mysql)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"Connection</a:t>
            </a:r>
            <a:r>
              <a:rPr sz="1400" spc="-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established";</a:t>
            </a:r>
            <a:endParaRPr sz="1400">
              <a:latin typeface="Courier New"/>
              <a:cs typeface="Courier New"/>
            </a:endParaRPr>
          </a:p>
          <a:p>
            <a:pPr marL="67945" marR="3255010">
              <a:lnSpc>
                <a:spcPts val="2370"/>
              </a:lnSpc>
              <a:spcBef>
                <a:spcPts val="185"/>
              </a:spcBef>
            </a:pPr>
            <a:r>
              <a:rPr sz="1400" spc="-5" dirty="0">
                <a:latin typeface="Courier New"/>
                <a:cs typeface="Courier New"/>
              </a:rPr>
              <a:t>$mysql_db </a:t>
            </a:r>
            <a:r>
              <a:rPr sz="1400" dirty="0">
                <a:latin typeface="Courier New"/>
                <a:cs typeface="Courier New"/>
              </a:rPr>
              <a:t>= </a:t>
            </a:r>
            <a:r>
              <a:rPr sz="1400" spc="-5" dirty="0">
                <a:latin typeface="Courier New"/>
                <a:cs typeface="Courier New"/>
              </a:rPr>
              <a:t>mysql_select_db("USER");  if($mysql_db)</a:t>
            </a:r>
            <a:endParaRPr sz="1400">
              <a:latin typeface="Courier New"/>
              <a:cs typeface="Courier New"/>
            </a:endParaRPr>
          </a:p>
          <a:p>
            <a:pPr marL="174625">
              <a:lnSpc>
                <a:spcPct val="100000"/>
              </a:lnSpc>
              <a:spcBef>
                <a:spcPts val="484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"&lt;BR&gt;&lt;BR&gt;Connected </a:t>
            </a:r>
            <a:r>
              <a:rPr sz="1400" spc="-5" dirty="0">
                <a:latin typeface="Courier New"/>
                <a:cs typeface="Courier New"/>
              </a:rPr>
              <a:t>to the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database&lt;BR&gt;&lt;BR&gt;";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685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"&lt;TABLE </a:t>
            </a:r>
            <a:r>
              <a:rPr sz="1400" spc="-5" dirty="0">
                <a:latin typeface="Courier New"/>
                <a:cs typeface="Courier New"/>
              </a:rPr>
              <a:t>BORDER BGCOLOR="WHITE"&gt;";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839470"/>
            <a:ext cx="8527415" cy="75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86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  <a:tab pos="4216400" algn="l"/>
                <a:tab pos="5624830" algn="l"/>
                <a:tab pos="6061075" algn="l"/>
                <a:tab pos="6623050" algn="l"/>
                <a:tab pos="7694930" algn="l"/>
                <a:tab pos="8098790" algn="l"/>
              </a:tabLst>
            </a:pPr>
            <a:r>
              <a:rPr sz="2400" b="1" spc="-5" dirty="0">
                <a:latin typeface="Courier New"/>
                <a:cs typeface="Courier New"/>
              </a:rPr>
              <a:t>dis</a:t>
            </a:r>
            <a:r>
              <a:rPr sz="2400" b="1" spc="5" dirty="0">
                <a:latin typeface="Courier New"/>
                <a:cs typeface="Courier New"/>
              </a:rPr>
              <a:t>p</a:t>
            </a:r>
            <a:r>
              <a:rPr sz="2400" b="1" spc="-5" dirty="0">
                <a:latin typeface="Courier New"/>
                <a:cs typeface="Courier New"/>
              </a:rPr>
              <a:t>lay</a:t>
            </a:r>
            <a:r>
              <a:rPr sz="2400" b="1" spc="-15" dirty="0">
                <a:latin typeface="Courier New"/>
                <a:cs typeface="Courier New"/>
              </a:rPr>
              <a:t>_</a:t>
            </a:r>
            <a:r>
              <a:rPr sz="2400" b="1" spc="-5" dirty="0">
                <a:latin typeface="Courier New"/>
                <a:cs typeface="Courier New"/>
              </a:rPr>
              <a:t>rec</a:t>
            </a:r>
            <a:r>
              <a:rPr sz="2400" b="1" spc="5" dirty="0">
                <a:latin typeface="Courier New"/>
                <a:cs typeface="Courier New"/>
              </a:rPr>
              <a:t>o</a:t>
            </a:r>
            <a:r>
              <a:rPr sz="2400" b="1" spc="-5" dirty="0">
                <a:latin typeface="Courier New"/>
                <a:cs typeface="Courier New"/>
              </a:rPr>
              <a:t>rd</a:t>
            </a:r>
            <a:r>
              <a:rPr sz="2400" b="1" spc="-35" dirty="0">
                <a:latin typeface="Courier New"/>
                <a:cs typeface="Courier New"/>
              </a:rPr>
              <a:t>s</a:t>
            </a:r>
            <a:r>
              <a:rPr sz="2400" b="1" spc="-15" dirty="0">
                <a:latin typeface="Courier New"/>
                <a:cs typeface="Courier New"/>
              </a:rPr>
              <a:t>.</a:t>
            </a:r>
            <a:r>
              <a:rPr sz="2400" b="1" spc="-5" dirty="0">
                <a:latin typeface="Courier New"/>
                <a:cs typeface="Courier New"/>
              </a:rPr>
              <a:t>ph</a:t>
            </a:r>
            <a:r>
              <a:rPr sz="2400" b="1" dirty="0">
                <a:latin typeface="Courier New"/>
                <a:cs typeface="Courier New"/>
              </a:rPr>
              <a:t>p</a:t>
            </a:r>
            <a:r>
              <a:rPr sz="2400" b="1" spc="-265" dirty="0">
                <a:latin typeface="Courier New"/>
                <a:cs typeface="Courier New"/>
              </a:rPr>
              <a:t> </a:t>
            </a:r>
            <a:r>
              <a:rPr sz="2400" b="1" spc="-150" dirty="0">
                <a:latin typeface="Trebuchet MS"/>
                <a:cs typeface="Trebuchet MS"/>
              </a:rPr>
              <a:t>-</a:t>
            </a:r>
            <a:r>
              <a:rPr sz="2400" b="1" dirty="0">
                <a:latin typeface="Trebuchet MS"/>
                <a:cs typeface="Trebuchet MS"/>
              </a:rPr>
              <a:t>	</a:t>
            </a:r>
            <a:r>
              <a:rPr sz="2400" spc="-125" dirty="0">
                <a:latin typeface="Arial"/>
                <a:cs typeface="Arial"/>
              </a:rPr>
              <a:t>Displ</a:t>
            </a:r>
            <a:r>
              <a:rPr sz="2400" spc="-200" dirty="0">
                <a:latin typeface="Arial"/>
                <a:cs typeface="Arial"/>
              </a:rPr>
              <a:t>a</a:t>
            </a:r>
            <a:r>
              <a:rPr sz="2400" spc="-95" dirty="0">
                <a:latin typeface="Arial"/>
                <a:cs typeface="Arial"/>
              </a:rPr>
              <a:t>ying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85" dirty="0">
                <a:latin typeface="Arial"/>
                <a:cs typeface="Arial"/>
              </a:rPr>
              <a:t>al</a:t>
            </a:r>
            <a:r>
              <a:rPr sz="2400" spc="15" dirty="0">
                <a:latin typeface="Arial"/>
                <a:cs typeface="Arial"/>
              </a:rPr>
              <a:t>l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20" dirty="0">
                <a:latin typeface="Arial"/>
                <a:cs typeface="Arial"/>
              </a:rPr>
              <a:t>t</a:t>
            </a:r>
            <a:r>
              <a:rPr sz="2400" spc="25" dirty="0">
                <a:latin typeface="Arial"/>
                <a:cs typeface="Arial"/>
              </a:rPr>
              <a:t>h</a:t>
            </a:r>
            <a:r>
              <a:rPr sz="2400" spc="-14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	r</a:t>
            </a:r>
            <a:r>
              <a:rPr sz="2400" spc="-175" dirty="0">
                <a:latin typeface="Arial"/>
                <a:cs typeface="Arial"/>
              </a:rPr>
              <a:t>e</a:t>
            </a:r>
            <a:r>
              <a:rPr sz="2400" spc="-170" dirty="0">
                <a:latin typeface="Arial"/>
                <a:cs typeface="Arial"/>
              </a:rPr>
              <a:t>c</a:t>
            </a:r>
            <a:r>
              <a:rPr sz="2400" spc="-25" dirty="0">
                <a:latin typeface="Arial"/>
                <a:cs typeface="Arial"/>
              </a:rPr>
              <a:t>o</a:t>
            </a:r>
            <a:r>
              <a:rPr sz="2400" spc="-55" dirty="0">
                <a:latin typeface="Arial"/>
                <a:cs typeface="Arial"/>
              </a:rPr>
              <a:t>r</a:t>
            </a:r>
            <a:r>
              <a:rPr sz="2400" spc="-185" dirty="0">
                <a:latin typeface="Arial"/>
                <a:cs typeface="Arial"/>
              </a:rPr>
              <a:t>d</a:t>
            </a:r>
            <a:r>
              <a:rPr sz="2400" spc="-16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	o</a:t>
            </a:r>
            <a:r>
              <a:rPr sz="2400" spc="-5" dirty="0">
                <a:latin typeface="Arial"/>
                <a:cs typeface="Arial"/>
              </a:rPr>
              <a:t>f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20" dirty="0">
                <a:latin typeface="Arial"/>
                <a:cs typeface="Arial"/>
              </a:rPr>
              <a:t>t</a:t>
            </a:r>
            <a:r>
              <a:rPr sz="2400" spc="45" dirty="0">
                <a:latin typeface="Arial"/>
                <a:cs typeface="Arial"/>
              </a:rPr>
              <a:t>h</a:t>
            </a:r>
            <a:r>
              <a:rPr sz="2400" spc="-145" dirty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60"/>
              </a:lnSpc>
            </a:pPr>
            <a:r>
              <a:rPr sz="2400" spc="-5" dirty="0">
                <a:latin typeface="Courier New"/>
                <a:cs typeface="Courier New"/>
              </a:rPr>
              <a:t>user_contact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7609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20" dirty="0"/>
              <a:t>Buildi</a:t>
            </a:r>
            <a:r>
              <a:rPr spc="-155" dirty="0"/>
              <a:t>n</a:t>
            </a:r>
            <a:r>
              <a:rPr spc="-75" dirty="0"/>
              <a:t>g</a:t>
            </a:r>
            <a:r>
              <a:rPr spc="-210" dirty="0"/>
              <a:t> </a:t>
            </a:r>
            <a:r>
              <a:rPr spc="-110" dirty="0"/>
              <a:t>HTML</a:t>
            </a:r>
            <a:r>
              <a:rPr spc="-180" dirty="0"/>
              <a:t> </a:t>
            </a:r>
            <a:r>
              <a:rPr spc="-490" dirty="0"/>
              <a:t>T</a:t>
            </a:r>
            <a:r>
              <a:rPr spc="-125" dirty="0"/>
              <a:t>abl</a:t>
            </a:r>
            <a:r>
              <a:rPr spc="-150" dirty="0"/>
              <a:t>e</a:t>
            </a:r>
            <a:r>
              <a:rPr spc="-85" dirty="0"/>
              <a:t>s</a:t>
            </a:r>
            <a:r>
              <a:rPr spc="-180" dirty="0"/>
              <a:t> </a:t>
            </a:r>
            <a:r>
              <a:rPr spc="-100" dirty="0"/>
              <a:t>Using</a:t>
            </a:r>
            <a:r>
              <a:rPr spc="-185" dirty="0"/>
              <a:t> </a:t>
            </a:r>
            <a:r>
              <a:rPr spc="-165" dirty="0"/>
              <a:t>SQL</a:t>
            </a:r>
            <a:r>
              <a:rPr spc="-180" dirty="0"/>
              <a:t> </a:t>
            </a:r>
            <a:r>
              <a:rPr spc="-140" dirty="0"/>
              <a:t>Qu</a:t>
            </a:r>
            <a:r>
              <a:rPr spc="-114" dirty="0"/>
              <a:t>e</a:t>
            </a:r>
            <a:r>
              <a:rPr spc="-150" dirty="0"/>
              <a:t>rie</a:t>
            </a:r>
            <a:r>
              <a:rPr spc="-145" dirty="0"/>
              <a:t>s</a:t>
            </a:r>
            <a:r>
              <a:rPr dirty="0"/>
              <a:t>	</a:t>
            </a:r>
            <a:r>
              <a:rPr spc="-204" dirty="0"/>
              <a:t>3</a:t>
            </a:r>
            <a:r>
              <a:rPr spc="-155" dirty="0"/>
              <a:t>-</a:t>
            </a:r>
            <a:r>
              <a:rPr spc="-200" dirty="0"/>
              <a:t>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47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838200"/>
            <a:ext cx="8001000" cy="424243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"&lt;TR&gt;&lt;TH&gt;USER_ID&lt;TH&gt;&lt;TH&gt;USER_NAME&lt;TH&gt;&lt;TH&gt;USER_EMAIL_ID</a:t>
            </a:r>
            <a:r>
              <a:rPr sz="1400" spc="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&lt;/TH&gt;";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"&lt;DBQUERY q&gt; select </a:t>
            </a:r>
            <a:r>
              <a:rPr sz="1400" dirty="0">
                <a:latin typeface="Courier New"/>
                <a:cs typeface="Courier New"/>
              </a:rPr>
              <a:t>* </a:t>
            </a:r>
            <a:r>
              <a:rPr sz="1400" spc="-5" dirty="0">
                <a:latin typeface="Courier New"/>
                <a:cs typeface="Courier New"/>
              </a:rPr>
              <a:t>FROM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USER_CONTACT";</a:t>
            </a:r>
            <a:endParaRPr sz="1400">
              <a:latin typeface="Courier New"/>
              <a:cs typeface="Courier New"/>
            </a:endParaRPr>
          </a:p>
          <a:p>
            <a:pPr marL="67945" marR="582930">
              <a:lnSpc>
                <a:spcPts val="3170"/>
              </a:lnSpc>
              <a:spcBef>
                <a:spcPts val="340"/>
              </a:spcBef>
            </a:pPr>
            <a:r>
              <a:rPr sz="1400" spc="-5" dirty="0">
                <a:latin typeface="Courier New"/>
                <a:cs typeface="Courier New"/>
              </a:rPr>
              <a:t>echo "&lt;DBROW&gt;&lt;TR&gt;&lt;TD&gt;&lt;? </a:t>
            </a:r>
            <a:r>
              <a:rPr sz="1400" spc="-10" dirty="0">
                <a:latin typeface="Courier New"/>
                <a:cs typeface="Courier New"/>
              </a:rPr>
              <a:t>q.USER_ID&gt;&lt;/TD&gt;&lt;TD&gt;&lt;? q.USER_NAME&gt;&lt;/TD&gt;&lt;TD&gt;&lt;?  </a:t>
            </a:r>
            <a:r>
              <a:rPr sz="1400" spc="-5" dirty="0">
                <a:latin typeface="Courier New"/>
                <a:cs typeface="Courier New"/>
              </a:rPr>
              <a:t>q.USER_EMAIL_ID&gt;&lt;/TD&gt;&lt;/TR&gt;";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135"/>
              </a:spcBef>
            </a:pPr>
            <a:r>
              <a:rPr sz="1400" spc="-5" dirty="0">
                <a:latin typeface="Courier New"/>
                <a:cs typeface="Courier New"/>
              </a:rPr>
              <a:t>echo</a:t>
            </a:r>
            <a:r>
              <a:rPr sz="1400" spc="-10" dirty="0">
                <a:latin typeface="Courier New"/>
                <a:cs typeface="Courier New"/>
              </a:rPr>
              <a:t> "&lt;/DBQUERY&gt;";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echo</a:t>
            </a:r>
            <a:r>
              <a:rPr sz="1400" spc="-10" dirty="0">
                <a:latin typeface="Courier New"/>
                <a:cs typeface="Courier New"/>
              </a:rPr>
              <a:t> "&lt;/TR&gt;";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echo</a:t>
            </a:r>
            <a:r>
              <a:rPr sz="1400" spc="-10" dirty="0">
                <a:latin typeface="Courier New"/>
                <a:cs typeface="Courier New"/>
              </a:rPr>
              <a:t> "&lt;/TABLE&gt;";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0616" y="1002538"/>
            <a:ext cx="402399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60" dirty="0">
                <a:latin typeface="Arial"/>
                <a:cs typeface="Arial"/>
              </a:rPr>
              <a:t>Displays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50" dirty="0">
                <a:latin typeface="Arial"/>
                <a:cs typeface="Arial"/>
              </a:rPr>
              <a:t>following</a:t>
            </a:r>
            <a:r>
              <a:rPr sz="2600" spc="-27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output:</a:t>
            </a:r>
            <a:endParaRPr sz="2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530923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Building </a:t>
            </a:r>
            <a:r>
              <a:rPr spc="-110" dirty="0"/>
              <a:t>HTML </a:t>
            </a:r>
            <a:r>
              <a:rPr spc="-185" dirty="0"/>
              <a:t>Tables </a:t>
            </a:r>
            <a:r>
              <a:rPr spc="-100" dirty="0"/>
              <a:t>Using </a:t>
            </a:r>
            <a:r>
              <a:rPr spc="-165" dirty="0"/>
              <a:t>SQL</a:t>
            </a:r>
            <a:r>
              <a:rPr spc="-434" dirty="0"/>
              <a:t> </a:t>
            </a:r>
            <a:r>
              <a:rPr spc="-140" dirty="0"/>
              <a:t>Queries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6295" y="1757190"/>
            <a:ext cx="5896268" cy="33421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7761" y="5258561"/>
            <a:ext cx="4876800" cy="762000"/>
          </a:xfrm>
          <a:custGeom>
            <a:avLst/>
            <a:gdLst/>
            <a:ahLst/>
            <a:cxnLst/>
            <a:rect l="l" t="t" r="r" b="b"/>
            <a:pathLst>
              <a:path w="4876800" h="762000">
                <a:moveTo>
                  <a:pt x="4876800" y="0"/>
                </a:moveTo>
                <a:lnTo>
                  <a:pt x="356869" y="0"/>
                </a:lnTo>
                <a:lnTo>
                  <a:pt x="308442" y="3257"/>
                </a:lnTo>
                <a:lnTo>
                  <a:pt x="261996" y="12746"/>
                </a:lnTo>
                <a:lnTo>
                  <a:pt x="217955" y="28042"/>
                </a:lnTo>
                <a:lnTo>
                  <a:pt x="176746" y="48719"/>
                </a:lnTo>
                <a:lnTo>
                  <a:pt x="138793" y="74351"/>
                </a:lnTo>
                <a:lnTo>
                  <a:pt x="104520" y="104514"/>
                </a:lnTo>
                <a:lnTo>
                  <a:pt x="74355" y="138782"/>
                </a:lnTo>
                <a:lnTo>
                  <a:pt x="48720" y="176731"/>
                </a:lnTo>
                <a:lnTo>
                  <a:pt x="28043" y="217934"/>
                </a:lnTo>
                <a:lnTo>
                  <a:pt x="12747" y="261966"/>
                </a:lnTo>
                <a:lnTo>
                  <a:pt x="3257" y="308403"/>
                </a:lnTo>
                <a:lnTo>
                  <a:pt x="0" y="356819"/>
                </a:lnTo>
                <a:lnTo>
                  <a:pt x="0" y="762000"/>
                </a:lnTo>
                <a:lnTo>
                  <a:pt x="4876800" y="762000"/>
                </a:lnTo>
                <a:lnTo>
                  <a:pt x="48768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67761" y="5258561"/>
            <a:ext cx="4876800" cy="762000"/>
          </a:xfrm>
          <a:custGeom>
            <a:avLst/>
            <a:gdLst/>
            <a:ahLst/>
            <a:cxnLst/>
            <a:rect l="l" t="t" r="r" b="b"/>
            <a:pathLst>
              <a:path w="4876800" h="762000">
                <a:moveTo>
                  <a:pt x="356869" y="0"/>
                </a:moveTo>
                <a:lnTo>
                  <a:pt x="4876800" y="0"/>
                </a:lnTo>
                <a:lnTo>
                  <a:pt x="4876800" y="762000"/>
                </a:lnTo>
                <a:lnTo>
                  <a:pt x="0" y="762000"/>
                </a:lnTo>
                <a:lnTo>
                  <a:pt x="0" y="356819"/>
                </a:lnTo>
                <a:lnTo>
                  <a:pt x="3257" y="308403"/>
                </a:lnTo>
                <a:lnTo>
                  <a:pt x="12747" y="261966"/>
                </a:lnTo>
                <a:lnTo>
                  <a:pt x="28043" y="217934"/>
                </a:lnTo>
                <a:lnTo>
                  <a:pt x="48720" y="176731"/>
                </a:lnTo>
                <a:lnTo>
                  <a:pt x="74355" y="138782"/>
                </a:lnTo>
                <a:lnTo>
                  <a:pt x="104520" y="104514"/>
                </a:lnTo>
                <a:lnTo>
                  <a:pt x="138793" y="74351"/>
                </a:lnTo>
                <a:lnTo>
                  <a:pt x="176746" y="48719"/>
                </a:lnTo>
                <a:lnTo>
                  <a:pt x="217955" y="28042"/>
                </a:lnTo>
                <a:lnTo>
                  <a:pt x="261996" y="12746"/>
                </a:lnTo>
                <a:lnTo>
                  <a:pt x="308442" y="3257"/>
                </a:lnTo>
                <a:lnTo>
                  <a:pt x="356869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50895" y="5447791"/>
            <a:ext cx="4554220" cy="45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Displays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user_contact</a:t>
            </a:r>
            <a:r>
              <a:rPr sz="1400" b="1" spc="-55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browser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-35" dirty="0">
                <a:solidFill>
                  <a:srgbClr val="FFFFFF"/>
                </a:solidFill>
                <a:latin typeface="Arial"/>
                <a:cs typeface="Arial"/>
              </a:rPr>
              <a:t>tabular</a:t>
            </a:r>
            <a:r>
              <a:rPr sz="1400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format.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48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7609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Summa</a:t>
            </a:r>
            <a:r>
              <a:rPr spc="-75" dirty="0"/>
              <a:t>r</a:t>
            </a:r>
            <a:r>
              <a:rPr spc="-155" dirty="0"/>
              <a:t>y</a:t>
            </a:r>
            <a:r>
              <a:rPr dirty="0"/>
              <a:t>	</a:t>
            </a:r>
            <a:r>
              <a:rPr spc="-204" dirty="0"/>
              <a:t>1</a:t>
            </a:r>
            <a:r>
              <a:rPr spc="-155" dirty="0"/>
              <a:t>-</a:t>
            </a:r>
            <a:r>
              <a:rPr spc="-20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49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775461"/>
            <a:ext cx="8135620" cy="5280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048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55" dirty="0">
                <a:latin typeface="Arial"/>
                <a:cs typeface="Arial"/>
              </a:rPr>
              <a:t>Database </a:t>
            </a:r>
            <a:r>
              <a:rPr sz="2400" spc="-225" dirty="0">
                <a:latin typeface="Arial"/>
                <a:cs typeface="Arial"/>
              </a:rPr>
              <a:t>APIs </a:t>
            </a:r>
            <a:r>
              <a:rPr sz="2400" spc="-105" dirty="0">
                <a:latin typeface="Arial"/>
                <a:cs typeface="Arial"/>
              </a:rPr>
              <a:t>enable developers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dirty="0">
                <a:latin typeface="Arial"/>
                <a:cs typeface="Arial"/>
              </a:rPr>
              <a:t>write </a:t>
            </a:r>
            <a:r>
              <a:rPr sz="2400" spc="-85" dirty="0">
                <a:latin typeface="Arial"/>
                <a:cs typeface="Arial"/>
              </a:rPr>
              <a:t>applications </a:t>
            </a:r>
            <a:r>
              <a:rPr sz="2400" spc="-5" dirty="0">
                <a:latin typeface="Arial"/>
                <a:cs typeface="Arial"/>
              </a:rPr>
              <a:t>that</a:t>
            </a:r>
            <a:r>
              <a:rPr sz="2400" spc="-315" dirty="0">
                <a:latin typeface="Arial"/>
                <a:cs typeface="Arial"/>
              </a:rPr>
              <a:t> </a:t>
            </a:r>
            <a:r>
              <a:rPr sz="2400" spc="-110" dirty="0">
                <a:latin typeface="Arial"/>
                <a:cs typeface="Arial"/>
              </a:rPr>
              <a:t>are  </a:t>
            </a:r>
            <a:r>
              <a:rPr sz="2400" spc="-100" dirty="0">
                <a:latin typeface="Arial"/>
                <a:cs typeface="Arial"/>
              </a:rPr>
              <a:t>movable </a:t>
            </a:r>
            <a:r>
              <a:rPr sz="2400" spc="-20" dirty="0">
                <a:latin typeface="Arial"/>
                <a:cs typeface="Arial"/>
              </a:rPr>
              <a:t>or </a:t>
            </a:r>
            <a:r>
              <a:rPr sz="2400" spc="-114" dirty="0">
                <a:latin typeface="Arial"/>
                <a:cs typeface="Arial"/>
              </a:rPr>
              <a:t>easily </a:t>
            </a:r>
            <a:r>
              <a:rPr sz="2400" spc="-145" dirty="0">
                <a:latin typeface="Arial"/>
                <a:cs typeface="Arial"/>
              </a:rPr>
              <a:t>accessible </a:t>
            </a:r>
            <a:r>
              <a:rPr sz="2400" spc="-70" dirty="0">
                <a:latin typeface="Arial"/>
                <a:cs typeface="Arial"/>
              </a:rPr>
              <a:t>between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30" dirty="0">
                <a:latin typeface="Arial"/>
                <a:cs typeface="Arial"/>
              </a:rPr>
              <a:t>database</a:t>
            </a:r>
            <a:r>
              <a:rPr sz="2400" spc="-385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products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00" dirty="0">
                <a:latin typeface="Arial"/>
                <a:cs typeface="Arial"/>
              </a:rPr>
              <a:t>common </a:t>
            </a:r>
            <a:r>
              <a:rPr sz="2400" spc="-130" dirty="0">
                <a:latin typeface="Arial"/>
                <a:cs typeface="Arial"/>
              </a:rPr>
              <a:t>database </a:t>
            </a:r>
            <a:r>
              <a:rPr sz="2400" spc="-225" dirty="0">
                <a:latin typeface="Arial"/>
                <a:cs typeface="Arial"/>
              </a:rPr>
              <a:t>APIs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80" dirty="0">
                <a:latin typeface="Arial"/>
                <a:cs typeface="Arial"/>
              </a:rPr>
              <a:t>Native-Interface, </a:t>
            </a:r>
            <a:r>
              <a:rPr sz="2400" spc="-280" dirty="0">
                <a:latin typeface="Arial"/>
                <a:cs typeface="Arial"/>
              </a:rPr>
              <a:t>ODBC,</a:t>
            </a:r>
            <a:r>
              <a:rPr sz="2400" spc="-95" dirty="0">
                <a:latin typeface="Arial"/>
                <a:cs typeface="Arial"/>
              </a:rPr>
              <a:t> </a:t>
            </a:r>
            <a:r>
              <a:rPr sz="2400" spc="-305" dirty="0">
                <a:latin typeface="Arial"/>
                <a:cs typeface="Arial"/>
              </a:rPr>
              <a:t>JDBC,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345" dirty="0">
                <a:latin typeface="Arial"/>
                <a:cs typeface="Arial"/>
              </a:rPr>
              <a:t>CORBA</a:t>
            </a:r>
            <a:endParaRPr sz="2400">
              <a:latin typeface="Arial"/>
              <a:cs typeface="Arial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5600" algn="l"/>
              </a:tabLst>
            </a:pP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95" dirty="0">
                <a:latin typeface="Arial"/>
                <a:cs typeface="Arial"/>
              </a:rPr>
              <a:t>connected </a:t>
            </a:r>
            <a:r>
              <a:rPr sz="2400" spc="20" dirty="0">
                <a:latin typeface="Arial"/>
                <a:cs typeface="Arial"/>
              </a:rPr>
              <a:t>to </a:t>
            </a:r>
            <a:r>
              <a:rPr sz="2400" spc="-229" dirty="0">
                <a:latin typeface="Arial"/>
                <a:cs typeface="Arial"/>
              </a:rPr>
              <a:t>MySQL </a:t>
            </a:r>
            <a:r>
              <a:rPr sz="2400" spc="-125" dirty="0">
                <a:latin typeface="Arial"/>
                <a:cs typeface="Arial"/>
              </a:rPr>
              <a:t>using </a:t>
            </a:r>
            <a:r>
              <a:rPr sz="2400" spc="-45" dirty="0">
                <a:latin typeface="Arial"/>
                <a:cs typeface="Arial"/>
              </a:rPr>
              <a:t>three </a:t>
            </a:r>
            <a:r>
              <a:rPr sz="2400" spc="-95" dirty="0">
                <a:latin typeface="Arial"/>
                <a:cs typeface="Arial"/>
              </a:rPr>
              <a:t>arguments: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229" dirty="0">
                <a:latin typeface="Arial"/>
                <a:cs typeface="Arial"/>
              </a:rPr>
              <a:t>MySQL  </a:t>
            </a:r>
            <a:r>
              <a:rPr sz="2400" spc="-100" dirty="0">
                <a:latin typeface="Arial"/>
                <a:cs typeface="Arial"/>
              </a:rPr>
              <a:t>server </a:t>
            </a:r>
            <a:r>
              <a:rPr sz="2400" spc="-80" dirty="0">
                <a:latin typeface="Arial"/>
                <a:cs typeface="Arial"/>
              </a:rPr>
              <a:t>host </a:t>
            </a:r>
            <a:r>
              <a:rPr sz="2400" spc="-110" dirty="0">
                <a:latin typeface="Arial"/>
                <a:cs typeface="Arial"/>
              </a:rPr>
              <a:t>name,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225" dirty="0">
                <a:latin typeface="Arial"/>
                <a:cs typeface="Arial"/>
              </a:rPr>
              <a:t>MySQL </a:t>
            </a:r>
            <a:r>
              <a:rPr sz="2400" spc="-114" dirty="0">
                <a:latin typeface="Arial"/>
                <a:cs typeface="Arial"/>
              </a:rPr>
              <a:t>user name, </a:t>
            </a:r>
            <a:r>
              <a:rPr sz="2400" spc="-110" dirty="0">
                <a:latin typeface="Arial"/>
                <a:cs typeface="Arial"/>
              </a:rPr>
              <a:t>and </a:t>
            </a:r>
            <a:r>
              <a:rPr sz="2400" spc="-25" dirty="0">
                <a:latin typeface="Arial"/>
                <a:cs typeface="Arial"/>
              </a:rPr>
              <a:t>the </a:t>
            </a:r>
            <a:r>
              <a:rPr sz="2400" spc="-225" dirty="0">
                <a:latin typeface="Arial"/>
                <a:cs typeface="Arial"/>
              </a:rPr>
              <a:t>MySQL </a:t>
            </a:r>
            <a:r>
              <a:rPr sz="2400" spc="-114" dirty="0">
                <a:latin typeface="Arial"/>
                <a:cs typeface="Arial"/>
              </a:rPr>
              <a:t>user  </a:t>
            </a:r>
            <a:r>
              <a:rPr sz="2400" spc="-125" dirty="0">
                <a:latin typeface="Arial"/>
                <a:cs typeface="Arial"/>
              </a:rPr>
              <a:t>password</a:t>
            </a:r>
            <a:endParaRPr sz="2400">
              <a:latin typeface="Arial"/>
              <a:cs typeface="Arial"/>
            </a:endParaRPr>
          </a:p>
          <a:p>
            <a:pPr marL="355600" marR="14097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connection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server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100" dirty="0">
                <a:latin typeface="Arial"/>
                <a:cs typeface="Arial"/>
              </a:rPr>
              <a:t>established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help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of  </a:t>
            </a:r>
            <a:r>
              <a:rPr sz="2400" spc="-100" dirty="0">
                <a:latin typeface="Arial"/>
                <a:cs typeface="Arial"/>
              </a:rPr>
              <a:t>mysql_connect()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355600" marR="692785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45" dirty="0">
                <a:latin typeface="Arial"/>
                <a:cs typeface="Arial"/>
              </a:rPr>
              <a:t>basic </a:t>
            </a: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-60" dirty="0">
                <a:latin typeface="Arial"/>
                <a:cs typeface="Arial"/>
              </a:rPr>
              <a:t>functions </a:t>
            </a:r>
            <a:r>
              <a:rPr sz="2400" spc="-5" dirty="0">
                <a:latin typeface="Arial"/>
                <a:cs typeface="Arial"/>
              </a:rPr>
              <a:t>that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145" dirty="0">
                <a:latin typeface="Arial"/>
                <a:cs typeface="Arial"/>
              </a:rPr>
              <a:t>used </a:t>
            </a:r>
            <a:r>
              <a:rPr sz="2400" spc="15" dirty="0">
                <a:latin typeface="Arial"/>
                <a:cs typeface="Arial"/>
              </a:rPr>
              <a:t>with </a:t>
            </a:r>
            <a:r>
              <a:rPr sz="2400" spc="-95" dirty="0">
                <a:latin typeface="Arial"/>
                <a:cs typeface="Arial"/>
              </a:rPr>
              <a:t>respect </a:t>
            </a:r>
            <a:r>
              <a:rPr sz="2400" spc="20" dirty="0">
                <a:latin typeface="Arial"/>
                <a:cs typeface="Arial"/>
              </a:rPr>
              <a:t>to</a:t>
            </a:r>
            <a:r>
              <a:rPr sz="2400" spc="-21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130" dirty="0">
                <a:latin typeface="Arial"/>
                <a:cs typeface="Arial"/>
              </a:rPr>
              <a:t>database </a:t>
            </a:r>
            <a:r>
              <a:rPr sz="2400" spc="-90" dirty="0">
                <a:latin typeface="Arial"/>
                <a:cs typeface="Arial"/>
              </a:rPr>
              <a:t>are: </a:t>
            </a:r>
            <a:r>
              <a:rPr sz="2400" spc="-95" dirty="0">
                <a:latin typeface="Arial"/>
                <a:cs typeface="Arial"/>
              </a:rPr>
              <a:t>mysql_list_dbs(), </a:t>
            </a:r>
            <a:r>
              <a:rPr sz="2400" spc="-105" dirty="0">
                <a:latin typeface="Arial"/>
                <a:cs typeface="Arial"/>
              </a:rPr>
              <a:t>mysql_select_db(),  </a:t>
            </a:r>
            <a:r>
              <a:rPr sz="2400" spc="-90" dirty="0">
                <a:latin typeface="Arial"/>
                <a:cs typeface="Arial"/>
              </a:rPr>
              <a:t>mysql_list_tables(),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95" dirty="0"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mysql_num_rows()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135128"/>
            <a:ext cx="776097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Summa</a:t>
            </a:r>
            <a:r>
              <a:rPr spc="-75" dirty="0"/>
              <a:t>r</a:t>
            </a:r>
            <a:r>
              <a:rPr spc="-155" dirty="0"/>
              <a:t>y</a:t>
            </a:r>
            <a:r>
              <a:rPr dirty="0"/>
              <a:t>	</a:t>
            </a:r>
            <a:r>
              <a:rPr spc="-204" dirty="0"/>
              <a:t>2</a:t>
            </a:r>
            <a:r>
              <a:rPr spc="-155" dirty="0"/>
              <a:t>-</a:t>
            </a:r>
            <a:r>
              <a:rPr spc="-200" dirty="0"/>
              <a:t>2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307340" y="6693644"/>
            <a:ext cx="1377314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700" b="0" i="0" kern="120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0"/>
              <a:t>Version </a:t>
            </a:r>
            <a:r>
              <a:rPr lang="en-US" spc="-5"/>
              <a:t>1.0 © Aptech</a:t>
            </a:r>
            <a:r>
              <a:rPr lang="en-US" spc="10"/>
              <a:t> </a:t>
            </a:r>
            <a:r>
              <a:rPr lang="en-US" spc="-10"/>
              <a:t>Limited.</a:t>
            </a:r>
            <a:endParaRPr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5703189" y="6692994"/>
            <a:ext cx="3319779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pc="-10"/>
              <a:t>Handling Databases with PHP </a:t>
            </a:r>
            <a:r>
              <a:rPr lang="en-US" spc="-5"/>
              <a:t>/ </a:t>
            </a:r>
            <a:r>
              <a:rPr lang="en-US" spc="-10"/>
              <a:t>Session </a:t>
            </a:r>
            <a:r>
              <a:rPr lang="en-US" spc="-5"/>
              <a:t>18 / </a:t>
            </a:r>
            <a:r>
              <a:rPr lang="en-US" spc="-10"/>
              <a:t>Slide </a:t>
            </a:r>
            <a:fld id="{81D60167-4931-47E6-BA6A-407CBD079E47}" type="slidenum">
              <a:rPr lang="en-US" spc="-5" smtClean="0"/>
              <a:pPr marL="12700">
                <a:lnSpc>
                  <a:spcPct val="100000"/>
                </a:lnSpc>
                <a:spcBef>
                  <a:spcPts val="20"/>
                </a:spcBef>
              </a:pPr>
              <a:t>50</a:t>
            </a:fld>
            <a:r>
              <a:rPr lang="en-US" spc="-5"/>
              <a:t> of</a:t>
            </a:r>
            <a:r>
              <a:rPr lang="en-US" spc="45"/>
              <a:t> </a:t>
            </a:r>
            <a:r>
              <a:rPr lang="en-US" spc="-10"/>
              <a:t>50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775461"/>
            <a:ext cx="7840980" cy="1937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92735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120" dirty="0">
                <a:latin typeface="Arial"/>
                <a:cs typeface="Arial"/>
              </a:rPr>
              <a:t>mysql_close() </a:t>
            </a:r>
            <a:r>
              <a:rPr sz="2400" spc="-35" dirty="0">
                <a:latin typeface="Arial"/>
                <a:cs typeface="Arial"/>
              </a:rPr>
              <a:t>function </a:t>
            </a:r>
            <a:r>
              <a:rPr sz="2400" spc="-150" dirty="0">
                <a:latin typeface="Arial"/>
                <a:cs typeface="Arial"/>
              </a:rPr>
              <a:t>closes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75" dirty="0">
                <a:latin typeface="Arial"/>
                <a:cs typeface="Arial"/>
              </a:rPr>
              <a:t>connection </a:t>
            </a:r>
            <a:r>
              <a:rPr sz="2400" spc="15" dirty="0">
                <a:latin typeface="Arial"/>
                <a:cs typeface="Arial"/>
              </a:rPr>
              <a:t>with</a:t>
            </a:r>
            <a:r>
              <a:rPr sz="2400" spc="-31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the  </a:t>
            </a:r>
            <a:r>
              <a:rPr sz="2400" spc="-229" dirty="0">
                <a:latin typeface="Arial"/>
                <a:cs typeface="Arial"/>
              </a:rPr>
              <a:t>MySQL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100" dirty="0">
                <a:latin typeface="Arial"/>
                <a:cs typeface="Arial"/>
              </a:rPr>
              <a:t>server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ts val="2595"/>
              </a:lnSpc>
              <a:spcBef>
                <a:spcPts val="118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90" dirty="0">
                <a:latin typeface="Arial"/>
                <a:cs typeface="Arial"/>
              </a:rPr>
              <a:t>data </a:t>
            </a:r>
            <a:r>
              <a:rPr sz="2400" spc="-204" dirty="0">
                <a:latin typeface="Arial"/>
                <a:cs typeface="Arial"/>
              </a:rPr>
              <a:t>access </a:t>
            </a:r>
            <a:r>
              <a:rPr sz="2400" spc="-60" dirty="0">
                <a:latin typeface="Arial"/>
                <a:cs typeface="Arial"/>
              </a:rPr>
              <a:t>functions </a:t>
            </a:r>
            <a:r>
              <a:rPr sz="2400" spc="-140" dirty="0">
                <a:latin typeface="Arial"/>
                <a:cs typeface="Arial"/>
              </a:rPr>
              <a:t>used </a:t>
            </a:r>
            <a:r>
              <a:rPr sz="2400" spc="-25" dirty="0">
                <a:latin typeface="Arial"/>
                <a:cs typeface="Arial"/>
              </a:rPr>
              <a:t>in </a:t>
            </a:r>
            <a:r>
              <a:rPr sz="2400" spc="-320" dirty="0">
                <a:latin typeface="Arial"/>
                <a:cs typeface="Arial"/>
              </a:rPr>
              <a:t>PHP </a:t>
            </a:r>
            <a:r>
              <a:rPr sz="2400" spc="-85" dirty="0">
                <a:latin typeface="Arial"/>
                <a:cs typeface="Arial"/>
              </a:rPr>
              <a:t>are: </a:t>
            </a:r>
            <a:r>
              <a:rPr sz="2400" spc="-95" dirty="0">
                <a:latin typeface="Arial"/>
                <a:cs typeface="Arial"/>
              </a:rPr>
              <a:t>mysql_query()</a:t>
            </a:r>
            <a:r>
              <a:rPr sz="2400" spc="-434" dirty="0">
                <a:latin typeface="Arial"/>
                <a:cs typeface="Arial"/>
              </a:rPr>
              <a:t> </a:t>
            </a:r>
            <a:r>
              <a:rPr sz="2400" spc="-70" dirty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95"/>
              </a:lnSpc>
            </a:pPr>
            <a:r>
              <a:rPr sz="2400" spc="-90" dirty="0">
                <a:latin typeface="Arial"/>
                <a:cs typeface="Arial"/>
              </a:rPr>
              <a:t>mysql_fetch_array(),mysql_fetch_row(),</a:t>
            </a:r>
            <a:r>
              <a:rPr sz="2400" spc="-145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mysql_fetch_field(),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0"/>
              </a:spcBef>
            </a:pPr>
            <a:r>
              <a:rPr sz="2400" spc="-80" dirty="0">
                <a:latin typeface="Arial"/>
                <a:cs typeface="Arial"/>
              </a:rPr>
              <a:t>mysql_field_len(), </a:t>
            </a:r>
            <a:r>
              <a:rPr sz="2400" spc="-114" dirty="0">
                <a:latin typeface="Arial"/>
                <a:cs typeface="Arial"/>
              </a:rPr>
              <a:t>and</a:t>
            </a:r>
            <a:r>
              <a:rPr sz="2400" spc="-185" dirty="0">
                <a:latin typeface="Arial"/>
                <a:cs typeface="Arial"/>
              </a:rPr>
              <a:t> </a:t>
            </a:r>
            <a:r>
              <a:rPr sz="2400" spc="-90" dirty="0">
                <a:latin typeface="Arial"/>
                <a:cs typeface="Arial"/>
              </a:rPr>
              <a:t>mysql_num_fields()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4305</Words>
  <Application>Microsoft Office PowerPoint</Application>
  <PresentationFormat>On-screen Show (4:3)</PresentationFormat>
  <Paragraphs>633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Calibri</vt:lpstr>
      <vt:lpstr>Courier New</vt:lpstr>
      <vt:lpstr>Tahoma</vt:lpstr>
      <vt:lpstr>Times New Roman</vt:lpstr>
      <vt:lpstr>Trebuchet MS</vt:lpstr>
      <vt:lpstr>Verdana</vt:lpstr>
      <vt:lpstr>Wingdings</vt:lpstr>
      <vt:lpstr>Gear Drives</vt:lpstr>
      <vt:lpstr>Handling Databases with PHP</vt:lpstr>
      <vt:lpstr>PowerPoint Presentation</vt:lpstr>
      <vt:lpstr>PowerPoint Presentation</vt:lpstr>
      <vt:lpstr>PowerPoint Presentation</vt:lpstr>
      <vt:lpstr>PowerPoint Presentation</vt:lpstr>
      <vt:lpstr>Connecting to the MySQL Server</vt:lpstr>
      <vt:lpstr>Connecting to the MySQL Server</vt:lpstr>
      <vt:lpstr>Connecting to the MySQL Server</vt:lpstr>
      <vt:lpstr>PowerPoint Presentation</vt:lpstr>
      <vt:lpstr>Working with the Database 2-11</vt:lpstr>
      <vt:lpstr>Working with the Database 3-11</vt:lpstr>
      <vt:lpstr>Working with the Database 4-11</vt:lpstr>
      <vt:lpstr>Working with the Database 5-11</vt:lpstr>
      <vt:lpstr>Working with the Database</vt:lpstr>
      <vt:lpstr>Working with the Database</vt:lpstr>
      <vt:lpstr>Working with the Database</vt:lpstr>
      <vt:lpstr>Working with the Database 9-11</vt:lpstr>
      <vt:lpstr>Working with the Database 10-11</vt:lpstr>
      <vt:lpstr>Working with the Database</vt:lpstr>
      <vt:lpstr>PowerPoint Presentation</vt:lpstr>
      <vt:lpstr>Closing the Connection 2-3</vt:lpstr>
      <vt:lpstr>PowerPoint Presentation</vt:lpstr>
      <vt:lpstr>Data Access Functions 1-4</vt:lpstr>
      <vt:lpstr>Data Access Functions 2-4</vt:lpstr>
      <vt:lpstr>Data Access Functions 3-4</vt:lpstr>
      <vt:lpstr>Data Access Functions 4-4</vt:lpstr>
      <vt:lpstr>Executing SQL Queries in PHP 1-18</vt:lpstr>
      <vt:lpstr>Executing SQL Queries in PHP 2-18</vt:lpstr>
      <vt:lpstr>Executing SQL Queries in PHP</vt:lpstr>
      <vt:lpstr>Executing SQL Queries in PHP 4-18</vt:lpstr>
      <vt:lpstr>Executing SQL Queries in PHP 5-18</vt:lpstr>
      <vt:lpstr>Executing SQL Queries in PHP 6-18</vt:lpstr>
      <vt:lpstr>Executing SQL Queries in PHP 7-18</vt:lpstr>
      <vt:lpstr>Executing SQL Queries in PHP</vt:lpstr>
      <vt:lpstr>Executing SQL Queries in PHP 9-18</vt:lpstr>
      <vt:lpstr>Executing SQL Queries in PHP</vt:lpstr>
      <vt:lpstr>Executing SQL Queries in PHP 11-18</vt:lpstr>
      <vt:lpstr>Executing SQL Queries in PHP</vt:lpstr>
      <vt:lpstr>Executing SQL Queries in PHP 13-18</vt:lpstr>
      <vt:lpstr>Executing SQL Queries in PHP</vt:lpstr>
      <vt:lpstr>Executing SQL Queries in PHP</vt:lpstr>
      <vt:lpstr>Executing SQL Queries in PHP 16-18</vt:lpstr>
      <vt:lpstr>Executing SQL Queries in PHP</vt:lpstr>
      <vt:lpstr>PowerPoint Presentation</vt:lpstr>
      <vt:lpstr>Building HTML Tables Using SQL Queries 1-4</vt:lpstr>
      <vt:lpstr>Building HTML Tables Using SQL Queries 2-4</vt:lpstr>
      <vt:lpstr>Building HTML Tables Using SQL Queries 3-4</vt:lpstr>
      <vt:lpstr>Building HTML Tables Using SQL Queries</vt:lpstr>
      <vt:lpstr>Summary 1-2</vt:lpstr>
      <vt:lpstr>Summary 2-2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Momina Wasiq</dc:creator>
  <cp:lastModifiedBy>Momina</cp:lastModifiedBy>
  <cp:revision>65</cp:revision>
  <dcterms:created xsi:type="dcterms:W3CDTF">2018-09-20T14:50:16Z</dcterms:created>
  <dcterms:modified xsi:type="dcterms:W3CDTF">2019-10-28T06:26:33Z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1033-10.2.0.7456</vt:lpwstr>
  </property>
</Properties>
</file>